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Good morning / good afternoon. My name is Rattanakorn Rattanaroj — most people call me Jan. I'm a Pharm.D. graduate from Srinakarinwirot University with a GPA of 3.50, and I'm genuinely excited to be here today as a candidate for the Medical Representative role on the Clexane portfolio.</a:t>
            </a:r>
          </a:p>
          <a:p>
            <a:endParaRPr lang="zh-CN" dirty="0"/>
          </a:p>
          <a:p>
            <a:r>
              <a:rPr lang="zh-CN" dirty="0"/>
              <a:t>Let me give you a quick picture of who I am. I have a strong pharmaceutical science background — I understand how drugs work at a molecular level, how they move through the body, and how to interpret the clinical trial data that physicians rely on. That foundation lets me walk into a cardiologist's office and have a real conversation about anti-Xa activity, not just read from a detail aid.</a:t>
            </a:r>
          </a:p>
          <a:p>
            <a:endParaRPr lang="zh-CN" dirty="0"/>
          </a:p>
          <a:p>
            <a:r>
              <a:rPr lang="zh-CN" dirty="0"/>
              <a:t>More importantly, I've already done this job. During my internship at Roche Thailand, I conducted solo physician visits across Ramathibodi, Bhumibol Adulyadej, and EENT Hospital. I planned my own call cycles, managed follow-up schedules, and handled objections in real clinical settings — not in a classroom.</a:t>
            </a:r>
          </a:p>
          <a:p>
            <a:endParaRPr lang="zh-CN" dirty="0"/>
          </a:p>
          <a:p>
            <a:r>
              <a:rPr lang="zh-CN" dirty="0"/>
              <a:t>Finally, I want to work on Clexane specifically because the evidence base is exceptional and the unmet need in Thailand's acute care settings is real. I want to be the MR who bridges that gap for physicians at PMK and beyond.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I've done my homework on Clexane, so let me walk you through what I believe a great MR needs to know about this product.</a:t>
            </a:r>
          </a:p>
          <a:p>
            <a:endParaRPr lang="zh-CN" dirty="0"/>
          </a:p>
          <a:p>
            <a:r>
              <a:rPr lang="zh-CN" dirty="0"/>
              <a:t>On the mechanism side: Clexane is a low-molecular-weight heparin that works by binding antithrombin III and amplifying its inhibition of Factor Xa. The key ratio is about 3.8 to 1 — anti-Xa over anti-IIa activity. That selectivity is what gives Clexane its predictable dose-response and makes routine monitoring unnecessary in most patients. From a pharmacokinetics standpoint, subcutaneous bioavailability is around 92%, anti-Xa peaks at 3 to 5 hours, and the half-life is about 4.5 hours. Weight-based dosing — 1 mg/kg twice daily for therapeutic use — is straightforward.</a:t>
            </a:r>
          </a:p>
          <a:p>
            <a:endParaRPr lang="zh-CN" dirty="0"/>
          </a:p>
          <a:p>
            <a:r>
              <a:rPr lang="zh-CN" dirty="0"/>
              <a:t>In terms of indications, Clexane covers VTE prophylaxis in surgical and medical patients, DVT and PE treatment, ACS adjunct therapy based on ESSENCE and SYNERGY trial data, and is the anticoagulant of choice in pregnancy because it does not cross the placenta.</a:t>
            </a:r>
          </a:p>
          <a:p>
            <a:endParaRPr lang="zh-CN" dirty="0"/>
          </a:p>
          <a:p>
            <a:r>
              <a:rPr lang="zh-CN" dirty="0"/>
              <a:t>When I'm talking to a physician about why Clexane versus UFH, the key messages are: no aPTT monitoring, once or twice daily injection instead of a continuous IV drip, lower HIT risk, and outpatient use. Versus DOACs, I emphasize renal safety, pregnancy use, reversibility with protamine, decades of RCT evidence, and national drug list availability in Thailand.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slide shows you exactly who I plan to call on and why. I've segmented my target physicians into five groups across two tiers.</a:t>
            </a:r>
          </a:p>
          <a:p>
            <a:endParaRPr lang="zh-CN" dirty="0"/>
          </a:p>
          <a:p>
            <a:r>
              <a:rPr lang="zh-CN" dirty="0"/>
              <a:t>Tier A — my highest-priority call targets — are orthopedic surgeons, cardiologists, and ward pharmacists. Orthopedic surgeons at PMK are a natural fit because hip and knee replacement surgery requires post-op VTE prophylaxis, and Clexane is the ACCP-recommended LMWH of choice. My key message to them is simple: predictable dosing, no lab monitoring, and the patient can self-inject at home — which means cleaner discharge planning and less nursing burden.</a:t>
            </a:r>
          </a:p>
          <a:p>
            <a:endParaRPr lang="zh-CN" dirty="0"/>
          </a:p>
          <a:p>
            <a:r>
              <a:rPr lang="zh-CN" dirty="0"/>
              <a:t>Cardiologists are priority A because of the ACS indication. The ESSENCE and TIMI 11B trial data are compelling — Clexane reduced recurrent ischemia versus UFH. I would lead with those trial names and outcomes rather than a generic product pitch.</a:t>
            </a:r>
          </a:p>
          <a:p>
            <a:endParaRPr lang="zh-CN" dirty="0"/>
          </a:p>
          <a:p>
            <a:r>
              <a:rPr lang="zh-CN" dirty="0"/>
              <a:t>Ward pharmacists are a unique call point I want to highlight. As a Pharm.D. myself, I speak their language — PK, dosing adjustment, drug interaction review. Pharmacists often control formulary inclusion and protocol design. Engaging them as clinical partners, not just gatekeepers, multiplies my reach to every physician on the ward.</a:t>
            </a:r>
          </a:p>
          <a:p>
            <a:endParaRPr lang="zh-CN" dirty="0"/>
          </a:p>
          <a:p>
            <a:r>
              <a:rPr lang="zh-CN" dirty="0"/>
              <a:t>Tier B are internal medicine physicians and nephrologists. For internists, my message centers on the MEDENOX trial showing 63% VTE reduction with prophylaxis in acutely ill medical patients. I'll use the Padua Prediction Score as a tool to help them identify eligible patients and link it directly to the Clexane 40 mg protocol.</a:t>
            </a:r>
          </a:p>
          <a:p>
            <a:endParaRPr lang="zh-CN" dirty="0"/>
          </a:p>
          <a:p>
            <a:r>
              <a:rPr lang="zh-CN" dirty="0"/>
              <a:t>For nephrologists, the key is the renal dose-adjustment story — Clexane is usable in CKD down to CrCl 15 with monitoring, which is where DOACs are often contraindicated. I'll address the renal concern proactively rather than waiting for an objection.</a:t>
            </a:r>
          </a:p>
          <a:p>
            <a:endParaRPr lang="zh-CN" dirty="0"/>
          </a:p>
          <a:p>
            <a:r>
              <a:rPr lang="zh-CN" dirty="0"/>
              <a:t>The bottom line on this slide: I know not just who to call, but what clinical problem each specialty is trying to solve, and how Clexane solves it. That's how I turn product knowledge into prescribing behavior.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Before I go into the field, I need to know the competitive environment — because a physician may be using UFH, or a DOAC, or even Fragmin, and I need to be ready to position Clexane intelligently in every one of those conversations.</a:t>
            </a:r>
          </a:p>
          <a:p>
            <a:endParaRPr lang="zh-CN" dirty="0"/>
          </a:p>
          <a:p>
            <a:r>
              <a:rPr lang="zh-CN" dirty="0"/>
              <a:t>Let me walk through the four key comparators.</a:t>
            </a:r>
          </a:p>
          <a:p>
            <a:endParaRPr lang="zh-CN" dirty="0"/>
          </a:p>
          <a:p>
            <a:r>
              <a:rPr lang="zh-CN" dirty="0"/>
              <a:t>Unfractionated heparin — UFH — is still common in acute care because it's cheap and familiar. But it has real drawbacks: unpredictable pharmacokinetics that require continuous aPTT monitoring, a higher risk of heparin-induced thrombocytopenia, and an IV drip that ties the patient to the ward. Clexane removes all three of those burdens.</a:t>
            </a:r>
          </a:p>
          <a:p>
            <a:endParaRPr lang="zh-CN" dirty="0"/>
          </a:p>
          <a:p>
            <a:r>
              <a:rPr lang="zh-CN" dirty="0"/>
              <a:t>Fragmin — dalteparin — is our most direct LMWH competitor. I give it credit: it has a good VTE prophylaxis and cancer-VTE track record. But Clexane has stronger cardiology positioning through the ESSENCE and TIMI 11B trials. In the ACS call, Clexane has data that Fragmin simply doesn't match.</a:t>
            </a:r>
          </a:p>
          <a:p>
            <a:endParaRPr lang="zh-CN" dirty="0"/>
          </a:p>
          <a:p>
            <a:r>
              <a:rPr lang="zh-CN" dirty="0"/>
              <a:t>For the DOACs — Xarelto and Eliquis — these are increasingly prescribed and I won't dismiss them. They're convenient oral agents with strong AF and VTE trial data. But they have three structural limitations I can lean on confidently: they're contraindicated or require caution in severe CKD, they have no reliable reversal agent available in Thailand, and they must be stopped before surgery — which is exactly where Clexane steps in as the peri-operative bridge.</a:t>
            </a:r>
          </a:p>
          <a:p>
            <a:endParaRPr lang="zh-CN" dirty="0"/>
          </a:p>
          <a:p>
            <a:r>
              <a:rPr lang="zh-CN" dirty="0"/>
              <a:t>The positioning I take into every call: Clexane is not trying to fight the DOAC revolution for long-term outpatient AF. Clexane owns the acute hospital setting, the operating room corridor, the dialysis ward, and the pregnancy ward. Those are the spaces I will defend and grow.</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My target territory centers on PMK — Phramongkutklao Hospital — which I see as the anchor account for the Clexane role. It has high volume across cardiology, orthopedics, and general surgery, which are all major Clexane-using specialties.</a:t>
            </a:r>
          </a:p>
          <a:p>
            <a:endParaRPr lang="zh-CN" dirty="0"/>
          </a:p>
          <a:p>
            <a:r>
              <a:rPr lang="zh-CN" dirty="0"/>
              <a:t>From PMK, I would build out to Ramathibodi — where I already have relationships from my Roche internship — and Bhumibol Adulyadej Hospital, which has a significant trauma and surgical caseload. Chulalongkorn offers an academic KOL opportunity. Phyathai and the Paolo network would be a Tier 2 pipeline for later in the year.</a:t>
            </a:r>
          </a:p>
          <a:p>
            <a:endParaRPr lang="zh-CN" dirty="0"/>
          </a:p>
          <a:p>
            <a:r>
              <a:rPr lang="zh-CN" dirty="0"/>
              <a:t>For physician prioritization, I would start with Priority A accounts: cardiologists at PMK for the ACS use case, and orthopedic surgeons at PMK for post-operative VTE prophylaxis. Both are twice-weekly call targets. Priority B would be internists at Ramathibodi and hematologists at Chulalongkorn — weekly visits once the PMK relationships are established.</a:t>
            </a:r>
          </a:p>
          <a:p>
            <a:endParaRPr lang="zh-CN" dirty="0"/>
          </a:p>
          <a:p>
            <a:r>
              <a:rPr lang="zh-CN" dirty="0"/>
              <a:t>My Roche experience matters here specifically because I know how to navigate a busy academic hospital. I know the gatekeeper structure, the scheduling rhythm, and how to be respectful of physician time while still being effective.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slide shows how I structure every physician call — from preparation before I walk in to analysis after I leave.</a:t>
            </a:r>
          </a:p>
          <a:p>
            <a:endParaRPr lang="zh-CN" dirty="0"/>
          </a:p>
          <a:p>
            <a:r>
              <a:rPr lang="zh-CN" dirty="0"/>
              <a:t>Before the call: Pre-Call Preparation is non-negotiable. I review the physician's specialty, patient caseload, and prescribing patterns. I prepare the one or two clinical data points most relevant to their patients. I know who the gatekeeper is and what time of day to visit. This is what separates a prepared MR from one who shows up and wings it.</a:t>
            </a:r>
          </a:p>
          <a:p>
            <a:endParaRPr lang="zh-CN" dirty="0"/>
          </a:p>
          <a:p>
            <a:r>
              <a:rPr lang="zh-CN" dirty="0"/>
              <a:t>In the call, I move through four stages. Opening is about building rapport quickly and setting a clear agenda — "I have 5 minutes of evidence I think is relevant to your cardiac patients. May I share it?" That gets permission and sets expectations.</a:t>
            </a:r>
          </a:p>
          <a:p>
            <a:endParaRPr lang="zh-CN" dirty="0"/>
          </a:p>
          <a:p>
            <a:r>
              <a:rPr lang="zh-CN" dirty="0"/>
              <a:t>Probing is where I spend most of my listening energy. I ask open questions: "What challenges do you face with anticoagulation management in your ward?" I want to understand their specific unmet need before I present anything.</a:t>
            </a:r>
          </a:p>
          <a:p>
            <a:endParaRPr lang="zh-CN" dirty="0"/>
          </a:p>
          <a:p>
            <a:r>
              <a:rPr lang="zh-CN" dirty="0"/>
              <a:t>Presentation is where I connect Clexane's evidence directly to the need I just uncovered. If they said monitoring is burdensome, I lead with no-aPTT. If they said patients struggle to come back for follow-up, I lead with self-injection and outpatient use.</a:t>
            </a:r>
          </a:p>
          <a:p>
            <a:endParaRPr lang="zh-CN" dirty="0"/>
          </a:p>
          <a:p>
            <a:r>
              <a:rPr lang="zh-CN" dirty="0"/>
              <a:t>The key to this slide is the two-way cycle between Probing and Presentation. These are NOT linear stages — they loop. If a physician raises an objection during Presentation, I cycle back to Probing to understand the objection more deeply before responding. If they ask questions, that tells me I need more data in my Presentation. The cycle repeats until the physician's need is fully satisfied.</a:t>
            </a:r>
          </a:p>
          <a:p>
            <a:endParaRPr lang="zh-CN" dirty="0"/>
          </a:p>
          <a:p>
            <a:r>
              <a:rPr lang="zh-CN" dirty="0"/>
              <a:t>Closing is where I secure a concrete next step — a trial prescription, a follow-up appointment, agreement to present at a department meeting. I always leave with a yes on something.</a:t>
            </a:r>
          </a:p>
          <a:p>
            <a:endParaRPr lang="zh-CN" dirty="0"/>
          </a:p>
          <a:p>
            <a:r>
              <a:rPr lang="zh-CN" dirty="0"/>
              <a:t>After the call: Post-Call Analysis is when I update my CRM notes, identify what went well and what to refine, and plan the next call sequence. Great MRs learn and adjust after every visit.</a:t>
            </a:r>
          </a:p>
          <a:p>
            <a:endParaRPr lang="zh-CN" dirty="0"/>
          </a:p>
          <a:p>
            <a:r>
              <a:rPr lang="zh-CN" dirty="0"/>
              <a:t>Communication Skills — active listening, empathy, reading non-verbal cues — is the invisible thread that runs through every stage. It's what makes the clinical knowledge land with a real physician in a real conversation.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 want to be honest in this section because I believe self-awareness is as important in an MR as it is in a pharmacist.</a:t>
            </a:r>
          </a:p>
          <a:p>
            <a:endParaRPr lang="zh-CN" dirty="0"/>
          </a:p>
          <a:p>
            <a:r>
              <a:rPr lang="zh-CN" dirty="0"/>
              <a:t>My three strengths: First, my pharmaceutical science foundation. I can explain Clexane's mechanism to a hematologist with genuine depth — that builds physician trust faster than a product brochure. Second, real MR field experience. I didn't just observe visits during my Roche internship; I conducted them independently. I know how to manage a call, handle an objection, and leave with a next step. Third, communication and empathy — I'm comfortable talking science with a senior physician and also adapting my language for a ward pharmacist. That range matters in real territory work.</a:t>
            </a:r>
          </a:p>
          <a:p>
            <a:endParaRPr lang="zh-CN" dirty="0"/>
          </a:p>
          <a:p>
            <a:r>
              <a:rPr lang="zh-CN" dirty="0"/>
              <a:t>On development areas: I'm honest that I don't have specific Clexane MR history — but I've addressed that through self-study on the prescribing information and the ESSENCE and SYNERGY trial data. My second area is formal CRM systems — my internship used manual tracking. I'm confident I'll pick up DKSH's system quickly because I'm detail-oriented and organized.</a:t>
            </a:r>
          </a:p>
          <a:p>
            <a:endParaRPr lang="zh-CN" dirty="0"/>
          </a:p>
          <a:p>
            <a:r>
              <a:rPr lang="zh-CN" dirty="0"/>
              <a:t>I want DKSH to see me as a head start, not a blank slate. The learning curve on product specifics is short. What takes years to build — clinical credibility with physicians and the discipline to work a territory independently — I already have.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Thank you sincerely for the time and for the opportunity to present today.</a:t>
            </a:r>
          </a:p>
          <a:p>
            <a:endParaRPr lang="zh-CN" dirty="0"/>
          </a:p>
          <a:p>
            <a:r>
              <a:rPr lang="zh-CN" dirty="0"/>
              <a:t>I came in prepared because Clexane matters. This product has strong evidence, a clear place in Thai acute care medicine, and I want to be the person who brings that message to PMK and the broader Bangkok network.</a:t>
            </a:r>
          </a:p>
          <a:p>
            <a:endParaRPr lang="zh-CN" dirty="0"/>
          </a:p>
          <a:p>
            <a:r>
              <a:rPr lang="zh-CN" dirty="0"/>
              <a:t>If there's one thing I want you to take from this deck, it's that I can be trusted to represent Clexane® credibly on day one — and to grow into a top MR within the first year.</a:t>
            </a:r>
          </a:p>
          <a:p>
            <a:endParaRPr lang="zh-CN" dirty="0"/>
          </a:p>
          <a:p>
            <a:r>
              <a:rPr lang="zh-CN" dirty="0"/>
              <a:t>I welcome any questions. And I'm ready.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3810000" cy="6496050"/>
          </a:xfrm>
          <a:prstGeom prst="rect">
            <a:avLst/>
          </a:prstGeom>
          <a:solidFill>
            <a:srgbClr val="F5F5F5"/>
          </a:solidFill>
          <a:ln>
            <a:noFill/>
          </a:ln>
        </p:spPr>
      </p:sp>
      <p:sp>
        <p:nvSpPr>
          <p:cNvPr id="4" name="Rectangle 4"/>
          <p:cNvSpPr/>
          <p:nvPr/>
        </p:nvSpPr>
        <p:spPr>
          <a:xfrm>
            <a:off x="0" y="0"/>
            <a:ext cx="3810000" cy="47625"/>
          </a:xfrm>
          <a:prstGeom prst="rect">
            <a:avLst/>
          </a:prstGeom>
          <a:solidFill>
            <a:srgbClr val="AE232F"/>
          </a:solidFill>
          <a:ln>
            <a:noFill/>
          </a:ln>
        </p:spPr>
      </p:sp>
      <p:sp>
        <p:nvSpPr>
          <p:cNvPr id="5" name="Rectangle 5"/>
          <p:cNvSpPr/>
          <p:nvPr/>
        </p:nvSpPr>
        <p:spPr>
          <a:xfrm>
            <a:off x="3810000" y="0"/>
            <a:ext cx="76200" cy="6496050"/>
          </a:xfrm>
          <a:prstGeom prst="rect">
            <a:avLst/>
          </a:prstGeom>
          <a:solidFill>
            <a:srgbClr val="AE232F"/>
          </a:solidFill>
          <a:ln>
            <a:noFill/>
          </a:ln>
        </p:spPr>
      </p:sp>
      <p:sp>
        <p:nvSpPr>
          <p:cNvPr id="6" name="Rectangle 6"/>
          <p:cNvSpPr/>
          <p:nvPr/>
        </p:nvSpPr>
        <p:spPr>
          <a:xfrm>
            <a:off x="3886200" y="0"/>
            <a:ext cx="8305800" cy="47625"/>
          </a:xfrm>
          <a:prstGeom prst="rect">
            <a:avLst/>
          </a:prstGeom>
          <a:solidFill>
            <a:srgbClr val="8A1B25"/>
          </a:solidFill>
          <a:ln>
            <a:noFill/>
          </a:ln>
        </p:spPr>
      </p:sp>
      <p:grpSp>
        <p:nvGrpSpPr>
          <p:cNvPr id="11" name="Group 11"/>
          <p:cNvGrpSpPr/>
          <p:nvPr/>
        </p:nvGrpSpPr>
        <p:grpSpPr>
          <a:xfrm>
            <a:off x="666750" y="400050"/>
            <a:ext cx="2476500" cy="2790825"/>
            <a:chOff x="666750" y="400050"/>
            <a:chExt cx="2476500" cy="2790825"/>
          </a:xfrm>
        </p:grpSpPr>
        <p:sp>
          <p:nvSpPr>
            <p:cNvPr id="7" name="Rectangle 7"/>
            <p:cNvSpPr/>
            <p:nvPr/>
          </p:nvSpPr>
          <p:spPr>
            <a:xfrm>
              <a:off x="666750" y="400050"/>
              <a:ext cx="2476500" cy="2790825"/>
            </a:xfrm>
            <a:prstGeom prst="roundRect">
              <a:avLst>
                <a:gd name="adj" fmla="val 4615"/>
              </a:avLst>
            </a:prstGeom>
            <a:solidFill>
              <a:srgbClr val="F9E5E7"/>
            </a:solidFill>
            <a:ln w="19050">
              <a:solidFill>
                <a:srgbClr val="AE232F"/>
              </a:solidFill>
            </a:ln>
          </p:spPr>
        </p:sp>
        <p:sp>
          <p:nvSpPr>
            <p:cNvPr id="8" name="Ellipse 8"/>
            <p:cNvSpPr/>
            <p:nvPr/>
          </p:nvSpPr>
          <p:spPr>
            <a:xfrm>
              <a:off x="1409700" y="790575"/>
              <a:ext cx="990600" cy="990600"/>
            </a:xfrm>
            <a:prstGeom prst="ellipse">
              <a:avLst/>
            </a:prstGeom>
            <a:solidFill>
              <a:srgbClr val="AE232F">
                <a:alpha val="12000"/>
              </a:srgbClr>
            </a:solidFill>
            <a:ln>
              <a:noFill/>
            </a:ln>
          </p:spPr>
        </p:sp>
        <p:sp>
          <p:nvSpPr>
            <p:cNvPr id="9" name="Ellipse 9"/>
            <p:cNvSpPr/>
            <p:nvPr/>
          </p:nvSpPr>
          <p:spPr>
            <a:xfrm>
              <a:off x="1219200" y="2095500"/>
              <a:ext cx="1371600" cy="990600"/>
            </a:xfrm>
            <a:prstGeom prst="ellipse">
              <a:avLst/>
            </a:prstGeom>
            <a:solidFill>
              <a:srgbClr val="AE232F">
                <a:alpha val="8000"/>
              </a:srgbClr>
            </a:solidFill>
            <a:ln>
              <a:noFill/>
            </a:ln>
          </p:spPr>
        </p:sp>
        <p:sp>
          <p:nvSpPr>
            <p:cNvPr id="10" name="TextBox 10"/>
            <p:cNvSpPr txBox="1"/>
            <p:nvPr/>
          </p:nvSpPr>
          <p:spPr>
            <a:xfrm>
              <a:off x="1479816" y="2904649"/>
              <a:ext cx="850368" cy="198120"/>
            </a:xfrm>
            <a:prstGeom prst="rect">
              <a:avLst/>
            </a:prstGeom>
            <a:noFill/>
            <a:ln>
              <a:noFill/>
            </a:ln>
          </p:spPr>
          <p:txBody>
            <a:bodyPr wrap="none" lIns="0" tIns="0" rIns="0" bIns="0" anchor="t" anchorCtr="0">
              <a:spAutoFit/>
            </a:bodyPr>
            <a:lstStyle/>
            <a:p>
              <a:pPr algn="ctr"/>
              <a:r>
                <a:rPr lang="zh-CN" sz="975" i="1" dirty="0">
                  <a:solidFill>
                    <a:srgbClr val="888888"/>
                  </a:solidFill>
                  <a:latin typeface="Arial"/>
                  <a:ea typeface="Microsoft YaHei"/>
                  <a:cs typeface="Arial"/>
                </a:rPr>
                <a:t>[Photo: Jan]</a:t>
              </a:r>
            </a:p>
          </p:txBody>
        </p:sp>
      </p:grpSp>
      <p:grpSp>
        <p:nvGrpSpPr>
          <p:cNvPr id="15" name="Group 15"/>
          <p:cNvGrpSpPr/>
          <p:nvPr/>
        </p:nvGrpSpPr>
        <p:grpSpPr>
          <a:xfrm>
            <a:off x="915238" y="3375660"/>
            <a:ext cx="1979524" cy="641509"/>
            <a:chOff x="915238" y="3375660"/>
            <a:chExt cx="1979524" cy="641509"/>
          </a:xfrm>
        </p:grpSpPr>
        <p:sp>
          <p:nvSpPr>
            <p:cNvPr id="12" name="TextBox 12"/>
            <p:cNvSpPr txBox="1"/>
            <p:nvPr/>
          </p:nvSpPr>
          <p:spPr>
            <a:xfrm>
              <a:off x="915238" y="3375660"/>
              <a:ext cx="1979524" cy="243840"/>
            </a:xfrm>
            <a:prstGeom prst="rect">
              <a:avLst/>
            </a:prstGeom>
            <a:noFill/>
            <a:ln>
              <a:noFill/>
            </a:ln>
          </p:spPr>
          <p:txBody>
            <a:bodyPr wrap="none" lIns="0" tIns="0" rIns="0" bIns="0" anchor="t" anchorCtr="0">
              <a:spAutoFit/>
            </a:bodyPr>
            <a:lstStyle/>
            <a:p>
              <a:pPr algn="ctr"/>
              <a:r>
                <a:rPr lang="zh-CN" sz="1200" b="1" dirty="0">
                  <a:solidFill>
                    <a:srgbClr val="1A1A1A"/>
                  </a:solidFill>
                  <a:latin typeface="Arial"/>
                  <a:ea typeface="Microsoft YaHei"/>
                  <a:cs typeface="Arial"/>
                </a:rPr>
                <a:t>Rattanakorn Rattanaroj</a:t>
              </a:r>
            </a:p>
          </p:txBody>
        </p:sp>
        <p:sp>
          <p:nvSpPr>
            <p:cNvPr id="13" name="TextBox 13"/>
            <p:cNvSpPr txBox="1"/>
            <p:nvPr/>
          </p:nvSpPr>
          <p:spPr>
            <a:xfrm>
              <a:off x="1658731" y="3585210"/>
              <a:ext cx="492538" cy="243840"/>
            </a:xfrm>
            <a:prstGeom prst="rect">
              <a:avLst/>
            </a:prstGeom>
            <a:noFill/>
            <a:ln>
              <a:noFill/>
            </a:ln>
          </p:spPr>
          <p:txBody>
            <a:bodyPr wrap="none" lIns="0" tIns="0" rIns="0" bIns="0" anchor="t" anchorCtr="0">
              <a:spAutoFit/>
            </a:bodyPr>
            <a:lstStyle/>
            <a:p>
              <a:pPr algn="ctr"/>
              <a:r>
                <a:rPr lang="zh-CN" sz="1200" b="1" dirty="0">
                  <a:solidFill>
                    <a:srgbClr val="AE232F"/>
                  </a:solidFill>
                  <a:latin typeface="Arial"/>
                  <a:ea typeface="Microsoft YaHei"/>
                  <a:cs typeface="Arial"/>
                </a:rPr>
                <a:t>(Jan)</a:t>
              </a:r>
            </a:p>
          </p:txBody>
        </p:sp>
        <p:sp>
          <p:nvSpPr>
            <p:cNvPr id="14" name="TextBox 14"/>
            <p:cNvSpPr txBox="1"/>
            <p:nvPr/>
          </p:nvSpPr>
          <p:spPr>
            <a:xfrm>
              <a:off x="1125522" y="3819049"/>
              <a:ext cx="1558957" cy="198120"/>
            </a:xfrm>
            <a:prstGeom prst="rect">
              <a:avLst/>
            </a:prstGeom>
            <a:noFill/>
            <a:ln>
              <a:noFill/>
            </a:ln>
          </p:spPr>
          <p:txBody>
            <a:bodyPr wrap="none" lIns="0" tIns="0" rIns="0" bIns="0" anchor="t" anchorCtr="0">
              <a:spAutoFit/>
            </a:bodyPr>
            <a:lstStyle/>
            <a:p>
              <a:pPr algn="ctr"/>
              <a:r>
                <a:rPr lang="zh-CN" sz="975" dirty="0">
                  <a:solidFill>
                    <a:srgbClr val="555555"/>
                  </a:solidFill>
                  <a:latin typeface="Arial"/>
                  <a:ea typeface="Microsoft YaHei"/>
                  <a:cs typeface="Arial"/>
                </a:rPr>
                <a:t>Pharm.D. | MR Candidate</a:t>
              </a:r>
            </a:p>
          </p:txBody>
        </p:sp>
      </p:grpSp>
      <p:grpSp>
        <p:nvGrpSpPr>
          <p:cNvPr id="20" name="Group 20"/>
          <p:cNvGrpSpPr/>
          <p:nvPr/>
        </p:nvGrpSpPr>
        <p:grpSpPr>
          <a:xfrm>
            <a:off x="666750" y="4095750"/>
            <a:ext cx="2476500" cy="1838325"/>
            <a:chOff x="666750" y="4095750"/>
            <a:chExt cx="2476500" cy="1838325"/>
          </a:xfrm>
        </p:grpSpPr>
        <p:sp>
          <p:nvSpPr>
            <p:cNvPr id="16" name="Line 16"/>
            <p:cNvSpPr/>
            <p:nvPr/>
          </p:nvSpPr>
          <p:spPr>
            <a:xfrm>
              <a:off x="666750" y="4095750"/>
              <a:ext cx="2476500" cy="9525"/>
            </a:xfrm>
            <a:custGeom>
              <a:avLst/>
              <a:gdLst/>
              <a:ahLst/>
              <a:cxnLst/>
              <a:rect l="l" t="t" r="r" b="b"/>
              <a:pathLst>
                <a:path w="2476500" h="9525">
                  <a:moveTo>
                    <a:pt x="0" y="0"/>
                  </a:moveTo>
                  <a:lnTo>
                    <a:pt x="2476500" y="0"/>
                  </a:lnTo>
                </a:path>
              </a:pathLst>
            </a:custGeom>
            <a:noFill/>
            <a:ln w="9525">
              <a:solidFill>
                <a:srgbClr val="E0E0E0"/>
              </a:solidFill>
            </a:ln>
          </p:spPr>
        </p:sp>
        <p:sp>
          <p:nvSpPr>
            <p:cNvPr id="17" name="TextBox 17"/>
            <p:cNvSpPr txBox="1"/>
            <p:nvPr/>
          </p:nvSpPr>
          <p:spPr>
            <a:xfrm>
              <a:off x="1137476" y="4217670"/>
              <a:ext cx="1535049" cy="182880"/>
            </a:xfrm>
            <a:prstGeom prst="rect">
              <a:avLst/>
            </a:prstGeom>
            <a:noFill/>
            <a:ln>
              <a:noFill/>
            </a:ln>
          </p:spPr>
          <p:txBody>
            <a:bodyPr wrap="none" lIns="0" tIns="0" rIns="0" bIns="0" anchor="t" anchorCtr="0">
              <a:spAutoFit/>
            </a:bodyPr>
            <a:lstStyle/>
            <a:p>
              <a:pPr algn="ctr"/>
              <a:r>
                <a:rPr lang="zh-CN" sz="900" dirty="0">
                  <a:solidFill>
                    <a:srgbClr val="555555"/>
                  </a:solidFill>
                  <a:latin typeface="Arial"/>
                  <a:ea typeface="Microsoft YaHei"/>
                  <a:cs typeface="Arial"/>
                </a:rPr>
                <a:t>Rattanaroj.jan@gmail.com</a:t>
              </a:r>
            </a:p>
          </p:txBody>
        </p:sp>
        <p:sp>
          <p:nvSpPr>
            <p:cNvPr id="18" name="TextBox 18"/>
            <p:cNvSpPr txBox="1"/>
            <p:nvPr/>
          </p:nvSpPr>
          <p:spPr>
            <a:xfrm>
              <a:off x="1497521" y="4417695"/>
              <a:ext cx="814959" cy="182880"/>
            </a:xfrm>
            <a:prstGeom prst="rect">
              <a:avLst/>
            </a:prstGeom>
            <a:noFill/>
            <a:ln>
              <a:noFill/>
            </a:ln>
          </p:spPr>
          <p:txBody>
            <a:bodyPr wrap="none" lIns="0" tIns="0" rIns="0" bIns="0" anchor="t" anchorCtr="0">
              <a:spAutoFit/>
            </a:bodyPr>
            <a:lstStyle/>
            <a:p>
              <a:pPr algn="ctr"/>
              <a:r>
                <a:rPr lang="zh-CN" sz="900" dirty="0">
                  <a:solidFill>
                    <a:srgbClr val="555555"/>
                  </a:solidFill>
                  <a:latin typeface="Arial"/>
                  <a:ea typeface="Microsoft YaHei"/>
                  <a:cs typeface="Arial"/>
                </a:rPr>
                <a:t>080-045-0821</a:t>
              </a:r>
            </a:p>
          </p:txBody>
        </p:sp>
        <p:sp>
          <p:nvSpPr>
            <p:cNvPr id="19" name="Rectangle 19"/>
            <p:cNvSpPr/>
            <p:nvPr/>
          </p:nvSpPr>
          <p:spPr>
            <a:xfrm>
              <a:off x="1333500" y="5905500"/>
              <a:ext cx="1143000" cy="28575"/>
            </a:xfrm>
            <a:prstGeom prst="roundRect">
              <a:avLst>
                <a:gd name="adj" fmla="val 33333"/>
              </a:avLst>
            </a:prstGeom>
            <a:solidFill>
              <a:srgbClr val="AE232F">
                <a:alpha val="40000"/>
              </a:srgbClr>
            </a:solidFill>
            <a:ln>
              <a:noFill/>
            </a:ln>
          </p:spPr>
        </p:sp>
      </p:grpSp>
      <p:grpSp>
        <p:nvGrpSpPr>
          <p:cNvPr id="25" name="Group 25"/>
          <p:cNvGrpSpPr/>
          <p:nvPr/>
        </p:nvGrpSpPr>
        <p:grpSpPr>
          <a:xfrm>
            <a:off x="4093845" y="193358"/>
            <a:ext cx="7640955" cy="844867"/>
            <a:chOff x="4093845" y="193358"/>
            <a:chExt cx="7640955" cy="844867"/>
          </a:xfrm>
        </p:grpSpPr>
        <p:sp>
          <p:nvSpPr>
            <p:cNvPr id="21" name="TextBox 21"/>
            <p:cNvSpPr txBox="1"/>
            <p:nvPr/>
          </p:nvSpPr>
          <p:spPr>
            <a:xfrm>
              <a:off x="4093845" y="193358"/>
              <a:ext cx="3013027" cy="640080"/>
            </a:xfrm>
            <a:prstGeom prst="rect">
              <a:avLst/>
            </a:prstGeom>
            <a:noFill/>
            <a:ln>
              <a:noFill/>
            </a:ln>
          </p:spPr>
          <p:txBody>
            <a:bodyPr wrap="none" lIns="0" tIns="0" rIns="0" bIns="0" anchor="t" anchorCtr="0">
              <a:spAutoFit/>
            </a:bodyPr>
            <a:lstStyle/>
            <a:p>
              <a:pPr algn="l"/>
              <a:r>
                <a:rPr lang="zh-CN" sz="3150" b="1" dirty="0">
                  <a:solidFill>
                    <a:srgbClr val="AE232F"/>
                  </a:solidFill>
                  <a:latin typeface="Arial"/>
                  <a:ea typeface="Microsoft YaHei"/>
                  <a:cs typeface="Arial"/>
                </a:rPr>
                <a:t>Hello, I'm Jan</a:t>
              </a:r>
            </a:p>
          </p:txBody>
        </p:sp>
        <p:sp>
          <p:nvSpPr>
            <p:cNvPr id="22" name="Rectangle 22"/>
            <p:cNvSpPr/>
            <p:nvPr/>
          </p:nvSpPr>
          <p:spPr>
            <a:xfrm>
              <a:off x="4133850" y="647700"/>
              <a:ext cx="5619750" cy="257175"/>
            </a:xfrm>
            <a:prstGeom prst="roundRect">
              <a:avLst>
                <a:gd name="adj" fmla="val 48148"/>
              </a:avLst>
            </a:prstGeom>
            <a:solidFill>
              <a:srgbClr val="AE232F">
                <a:alpha val="8000"/>
              </a:srgbClr>
            </a:solidFill>
            <a:ln>
              <a:noFill/>
            </a:ln>
          </p:spPr>
        </p:sp>
        <p:sp>
          <p:nvSpPr>
            <p:cNvPr id="23" name="TextBox 23"/>
            <p:cNvSpPr txBox="1"/>
            <p:nvPr/>
          </p:nvSpPr>
          <p:spPr>
            <a:xfrm>
              <a:off x="5589722" y="705802"/>
              <a:ext cx="2708005" cy="213360"/>
            </a:xfrm>
            <a:prstGeom prst="rect">
              <a:avLst/>
            </a:prstGeom>
            <a:noFill/>
            <a:ln>
              <a:noFill/>
            </a:ln>
          </p:spPr>
          <p:txBody>
            <a:bodyPr wrap="none" lIns="0" tIns="0" rIns="0" bIns="0" anchor="t" anchorCtr="0">
              <a:spAutoFit/>
            </a:bodyPr>
            <a:lstStyle/>
            <a:p>
              <a:pPr algn="ctr"/>
              <a:r>
                <a:rPr lang="zh-CN" sz="1050" dirty="0">
                  <a:solidFill>
                    <a:srgbClr val="AE232F"/>
                  </a:solidFill>
                  <a:latin typeface="Arial"/>
                  <a:ea typeface="Microsoft YaHei"/>
                  <a:cs typeface="Arial"/>
                </a:rPr>
                <a:t>MR Candidate · DKSH Thailand · Clexane®</a:t>
              </a:r>
            </a:p>
          </p:txBody>
        </p:sp>
        <p:sp>
          <p:nvSpPr>
            <p:cNvPr id="24" name="Line 24"/>
            <p:cNvSpPr/>
            <p:nvPr/>
          </p:nvSpPr>
          <p:spPr>
            <a:xfrm>
              <a:off x="4133850" y="1028700"/>
              <a:ext cx="7600950" cy="9525"/>
            </a:xfrm>
            <a:custGeom>
              <a:avLst/>
              <a:gdLst/>
              <a:ahLst/>
              <a:cxnLst/>
              <a:rect l="l" t="t" r="r" b="b"/>
              <a:pathLst>
                <a:path w="7600950" h="9525">
                  <a:moveTo>
                    <a:pt x="0" y="0"/>
                  </a:moveTo>
                  <a:lnTo>
                    <a:pt x="7600950" y="0"/>
                  </a:lnTo>
                </a:path>
              </a:pathLst>
            </a:custGeom>
            <a:noFill/>
            <a:ln w="9525">
              <a:solidFill>
                <a:srgbClr val="E0E0E0"/>
              </a:solidFill>
            </a:ln>
          </p:spPr>
        </p:sp>
      </p:grpSp>
      <p:grpSp>
        <p:nvGrpSpPr>
          <p:cNvPr id="33" name="Group 33"/>
          <p:cNvGrpSpPr/>
          <p:nvPr/>
        </p:nvGrpSpPr>
        <p:grpSpPr>
          <a:xfrm>
            <a:off x="4133850" y="1162050"/>
            <a:ext cx="4954524" cy="1381125"/>
            <a:chOff x="4133850" y="1162050"/>
            <a:chExt cx="4954524" cy="1381125"/>
          </a:xfrm>
        </p:grpSpPr>
        <p:sp>
          <p:nvSpPr>
            <p:cNvPr id="26" name="Rectangle 26"/>
            <p:cNvSpPr/>
            <p:nvPr/>
          </p:nvSpPr>
          <p:spPr>
            <a:xfrm>
              <a:off x="4133850" y="1162050"/>
              <a:ext cx="38100" cy="1381125"/>
            </a:xfrm>
            <a:prstGeom prst="roundRect">
              <a:avLst>
                <a:gd name="adj" fmla="val 50000"/>
              </a:avLst>
            </a:prstGeom>
            <a:solidFill>
              <a:srgbClr val="AE232F"/>
            </a:solidFill>
            <a:ln>
              <a:noFill/>
            </a:ln>
          </p:spPr>
        </p:sp>
        <p:sp>
          <p:nvSpPr>
            <p:cNvPr id="27" name="Ellipse 27"/>
            <p:cNvSpPr/>
            <p:nvPr/>
          </p:nvSpPr>
          <p:spPr>
            <a:xfrm>
              <a:off x="4210050" y="1247775"/>
              <a:ext cx="419100" cy="419100"/>
            </a:xfrm>
            <a:prstGeom prst="ellipse">
              <a:avLst/>
            </a:prstGeom>
            <a:solidFill>
              <a:srgbClr val="F9E5E7"/>
            </a:solidFill>
            <a:ln>
              <a:noFill/>
            </a:ln>
          </p:spPr>
        </p:sp>
        <p:sp>
          <p:nvSpPr>
            <p:cNvPr id="28" name="Freeform 28"/>
            <p:cNvSpPr/>
            <p:nvPr/>
          </p:nvSpPr>
          <p:spPr>
            <a:xfrm>
              <a:off x="4312825" y="1381125"/>
              <a:ext cx="211550" cy="152400"/>
            </a:xfrm>
            <a:custGeom>
              <a:avLst/>
              <a:gdLst/>
              <a:ahLst/>
              <a:cxnLst/>
              <a:rect l="l" t="t" r="r" b="b"/>
              <a:pathLst>
                <a:path w="211550" h="152400">
                  <a:moveTo>
                    <a:pt x="173450" y="89830"/>
                  </a:moveTo>
                  <a:lnTo>
                    <a:pt x="173450" y="114300"/>
                  </a:lnTo>
                  <a:cubicBezTo>
                    <a:pt x="173450" y="137141"/>
                    <a:pt x="142923" y="152400"/>
                    <a:pt x="106775" y="152400"/>
                  </a:cubicBezTo>
                  <a:cubicBezTo>
                    <a:pt x="70628" y="152400"/>
                    <a:pt x="40100" y="137141"/>
                    <a:pt x="40100" y="114300"/>
                  </a:cubicBezTo>
                  <a:lnTo>
                    <a:pt x="40100" y="89830"/>
                  </a:lnTo>
                  <a:lnTo>
                    <a:pt x="96164" y="112252"/>
                  </a:lnTo>
                  <a:cubicBezTo>
                    <a:pt x="102273" y="114698"/>
                    <a:pt x="109039" y="114960"/>
                    <a:pt x="115319" y="112995"/>
                  </a:cubicBezTo>
                  <a:lnTo>
                    <a:pt x="117386" y="112252"/>
                  </a:lnTo>
                  <a:close/>
                  <a:moveTo>
                    <a:pt x="192500" y="61684"/>
                  </a:moveTo>
                  <a:lnTo>
                    <a:pt x="110309" y="94564"/>
                  </a:lnTo>
                  <a:cubicBezTo>
                    <a:pt x="108040" y="95471"/>
                    <a:pt x="105510" y="95471"/>
                    <a:pt x="103241" y="94564"/>
                  </a:cubicBezTo>
                  <a:lnTo>
                    <a:pt x="7991" y="56464"/>
                  </a:lnTo>
                  <a:cubicBezTo>
                    <a:pt x="0" y="53273"/>
                    <a:pt x="0" y="41977"/>
                    <a:pt x="7991" y="38786"/>
                  </a:cubicBezTo>
                  <a:lnTo>
                    <a:pt x="103241" y="686"/>
                  </a:lnTo>
                  <a:cubicBezTo>
                    <a:pt x="103990" y="385"/>
                    <a:pt x="104775" y="180"/>
                    <a:pt x="105575" y="76"/>
                  </a:cubicBezTo>
                  <a:lnTo>
                    <a:pt x="106775" y="0"/>
                  </a:lnTo>
                  <a:lnTo>
                    <a:pt x="107975" y="76"/>
                  </a:lnTo>
                  <a:cubicBezTo>
                    <a:pt x="108776" y="180"/>
                    <a:pt x="109560" y="385"/>
                    <a:pt x="110309" y="686"/>
                  </a:cubicBezTo>
                  <a:lnTo>
                    <a:pt x="205864" y="38910"/>
                  </a:lnTo>
                  <a:lnTo>
                    <a:pt x="206893" y="39433"/>
                  </a:lnTo>
                  <a:lnTo>
                    <a:pt x="207835" y="40081"/>
                  </a:lnTo>
                  <a:lnTo>
                    <a:pt x="208674" y="40805"/>
                  </a:lnTo>
                  <a:lnTo>
                    <a:pt x="209388" y="41586"/>
                  </a:lnTo>
                  <a:lnTo>
                    <a:pt x="209721" y="42005"/>
                  </a:lnTo>
                  <a:lnTo>
                    <a:pt x="210417" y="43101"/>
                  </a:lnTo>
                  <a:lnTo>
                    <a:pt x="210912" y="44196"/>
                  </a:lnTo>
                  <a:lnTo>
                    <a:pt x="211236" y="45168"/>
                  </a:lnTo>
                  <a:lnTo>
                    <a:pt x="211474" y="46453"/>
                  </a:lnTo>
                  <a:lnTo>
                    <a:pt x="211531" y="47006"/>
                  </a:lnTo>
                  <a:lnTo>
                    <a:pt x="211550" y="104775"/>
                  </a:lnTo>
                  <a:cubicBezTo>
                    <a:pt x="211550" y="110036"/>
                    <a:pt x="207286" y="114300"/>
                    <a:pt x="202025" y="114300"/>
                  </a:cubicBezTo>
                  <a:cubicBezTo>
                    <a:pt x="196765" y="114300"/>
                    <a:pt x="192500" y="110036"/>
                    <a:pt x="192500" y="104775"/>
                  </a:cubicBezTo>
                  <a:close/>
                </a:path>
              </a:pathLst>
            </a:custGeom>
            <a:solidFill>
              <a:srgbClr val="AE232F"/>
            </a:solidFill>
            <a:ln>
              <a:noFill/>
            </a:ln>
          </p:spPr>
        </p:sp>
        <p:sp>
          <p:nvSpPr>
            <p:cNvPr id="29" name="TextBox 29"/>
            <p:cNvSpPr txBox="1"/>
            <p:nvPr/>
          </p:nvSpPr>
          <p:spPr>
            <a:xfrm>
              <a:off x="4747260" y="1365885"/>
              <a:ext cx="1593075" cy="243840"/>
            </a:xfrm>
            <a:prstGeom prst="rect">
              <a:avLst/>
            </a:prstGeom>
            <a:noFill/>
            <a:ln>
              <a:noFill/>
            </a:ln>
          </p:spPr>
          <p:txBody>
            <a:bodyPr wrap="none" lIns="0" tIns="0" rIns="0" bIns="0" anchor="t" anchorCtr="0">
              <a:spAutoFit/>
            </a:bodyPr>
            <a:lstStyle/>
            <a:p>
              <a:pPr algn="l"/>
              <a:r>
                <a:rPr lang="zh-CN" sz="1200" b="1" dirty="0">
                  <a:solidFill>
                    <a:srgbClr val="AE232F"/>
                  </a:solidFill>
                  <a:latin typeface="Arial"/>
                  <a:ea typeface="Microsoft YaHei"/>
                  <a:cs typeface="Arial"/>
                </a:rPr>
                <a:t>Pharma Background</a:t>
              </a:r>
            </a:p>
          </p:txBody>
        </p:sp>
        <p:sp>
          <p:nvSpPr>
            <p:cNvPr id="30" name="TextBox 30"/>
            <p:cNvSpPr txBox="1"/>
            <p:nvPr/>
          </p:nvSpPr>
          <p:spPr>
            <a:xfrm>
              <a:off x="4749165" y="1591628"/>
              <a:ext cx="3599217"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Pharm.D. (GPA 3.50) — Srinakarinwirot University</a:t>
              </a:r>
            </a:p>
          </p:txBody>
        </p:sp>
        <p:sp>
          <p:nvSpPr>
            <p:cNvPr id="31" name="TextBox 31"/>
            <p:cNvSpPr txBox="1"/>
            <p:nvPr/>
          </p:nvSpPr>
          <p:spPr>
            <a:xfrm>
              <a:off x="4749165" y="1782128"/>
              <a:ext cx="3828145"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Deep knowledge of drug mechanisms, pharmacokinetics,</a:t>
              </a:r>
            </a:p>
          </p:txBody>
        </p:sp>
        <p:sp>
          <p:nvSpPr>
            <p:cNvPr id="32" name="TextBox 32"/>
            <p:cNvSpPr txBox="1"/>
            <p:nvPr/>
          </p:nvSpPr>
          <p:spPr>
            <a:xfrm>
              <a:off x="4749165" y="1963102"/>
              <a:ext cx="4339209"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and clinical data — ready to communicate science to physicians.</a:t>
              </a:r>
            </a:p>
          </p:txBody>
        </p:sp>
      </p:grpSp>
      <p:grpSp>
        <p:nvGrpSpPr>
          <p:cNvPr id="41" name="Group 41"/>
          <p:cNvGrpSpPr/>
          <p:nvPr/>
        </p:nvGrpSpPr>
        <p:grpSpPr>
          <a:xfrm>
            <a:off x="4133850" y="2743200"/>
            <a:ext cx="5262562" cy="1381125"/>
            <a:chOff x="4133850" y="2743200"/>
            <a:chExt cx="5262562" cy="1381125"/>
          </a:xfrm>
        </p:grpSpPr>
        <p:sp>
          <p:nvSpPr>
            <p:cNvPr id="34" name="Rectangle 34"/>
            <p:cNvSpPr/>
            <p:nvPr/>
          </p:nvSpPr>
          <p:spPr>
            <a:xfrm>
              <a:off x="4133850" y="2743200"/>
              <a:ext cx="38100" cy="1381125"/>
            </a:xfrm>
            <a:prstGeom prst="roundRect">
              <a:avLst>
                <a:gd name="adj" fmla="val 50000"/>
              </a:avLst>
            </a:prstGeom>
            <a:solidFill>
              <a:srgbClr val="AE232F"/>
            </a:solidFill>
            <a:ln>
              <a:noFill/>
            </a:ln>
          </p:spPr>
        </p:sp>
        <p:sp>
          <p:nvSpPr>
            <p:cNvPr id="35" name="Ellipse 35"/>
            <p:cNvSpPr/>
            <p:nvPr/>
          </p:nvSpPr>
          <p:spPr>
            <a:xfrm>
              <a:off x="4210050" y="2828925"/>
              <a:ext cx="419100" cy="419100"/>
            </a:xfrm>
            <a:prstGeom prst="ellipse">
              <a:avLst/>
            </a:prstGeom>
            <a:solidFill>
              <a:srgbClr val="F9E5E7"/>
            </a:solidFill>
            <a:ln>
              <a:noFill/>
            </a:ln>
          </p:spPr>
        </p:sp>
        <p:sp>
          <p:nvSpPr>
            <p:cNvPr id="36" name="Freeform 36"/>
            <p:cNvSpPr/>
            <p:nvPr/>
          </p:nvSpPr>
          <p:spPr>
            <a:xfrm>
              <a:off x="4324350" y="2943225"/>
              <a:ext cx="190500" cy="180975"/>
            </a:xfrm>
            <a:custGeom>
              <a:avLst/>
              <a:gdLst/>
              <a:ahLst/>
              <a:cxnLst/>
              <a:rect l="l" t="t" r="r" b="b"/>
              <a:pathLst>
                <a:path w="190500" h="180975">
                  <a:moveTo>
                    <a:pt x="190500" y="109328"/>
                  </a:moveTo>
                  <a:lnTo>
                    <a:pt x="190500" y="152400"/>
                  </a:lnTo>
                  <a:cubicBezTo>
                    <a:pt x="190500" y="168182"/>
                    <a:pt x="177707" y="180975"/>
                    <a:pt x="161925" y="180975"/>
                  </a:cubicBezTo>
                  <a:lnTo>
                    <a:pt x="28575" y="180975"/>
                  </a:lnTo>
                  <a:cubicBezTo>
                    <a:pt x="12793" y="180975"/>
                    <a:pt x="0" y="168182"/>
                    <a:pt x="0" y="152400"/>
                  </a:cubicBezTo>
                  <a:lnTo>
                    <a:pt x="0" y="109328"/>
                  </a:lnTo>
                  <a:lnTo>
                    <a:pt x="5267" y="111966"/>
                  </a:lnTo>
                  <a:cubicBezTo>
                    <a:pt x="61879" y="140482"/>
                    <a:pt x="128656" y="140475"/>
                    <a:pt x="185261" y="111947"/>
                  </a:cubicBezTo>
                  <a:lnTo>
                    <a:pt x="190500" y="109328"/>
                  </a:lnTo>
                  <a:close/>
                  <a:moveTo>
                    <a:pt x="114300" y="0"/>
                  </a:moveTo>
                  <a:cubicBezTo>
                    <a:pt x="130082" y="0"/>
                    <a:pt x="142875" y="12793"/>
                    <a:pt x="142875" y="28575"/>
                  </a:cubicBezTo>
                  <a:lnTo>
                    <a:pt x="142875" y="38100"/>
                  </a:lnTo>
                  <a:lnTo>
                    <a:pt x="161925" y="38100"/>
                  </a:lnTo>
                  <a:cubicBezTo>
                    <a:pt x="177707" y="38100"/>
                    <a:pt x="190500" y="50893"/>
                    <a:pt x="190500" y="66675"/>
                  </a:cubicBezTo>
                  <a:lnTo>
                    <a:pt x="190500" y="88030"/>
                  </a:lnTo>
                  <a:lnTo>
                    <a:pt x="176717" y="94926"/>
                  </a:lnTo>
                  <a:cubicBezTo>
                    <a:pt x="126742" y="120116"/>
                    <a:pt x="67925" y="120770"/>
                    <a:pt x="17402" y="96698"/>
                  </a:cubicBezTo>
                  <a:lnTo>
                    <a:pt x="11240" y="93650"/>
                  </a:lnTo>
                  <a:lnTo>
                    <a:pt x="0" y="88030"/>
                  </a:lnTo>
                  <a:lnTo>
                    <a:pt x="0" y="66675"/>
                  </a:lnTo>
                  <a:cubicBezTo>
                    <a:pt x="0" y="50893"/>
                    <a:pt x="12793" y="38100"/>
                    <a:pt x="28575" y="38100"/>
                  </a:cubicBezTo>
                  <a:lnTo>
                    <a:pt x="47625" y="38100"/>
                  </a:lnTo>
                  <a:lnTo>
                    <a:pt x="47625" y="28575"/>
                  </a:lnTo>
                  <a:cubicBezTo>
                    <a:pt x="47625" y="12793"/>
                    <a:pt x="60418" y="0"/>
                    <a:pt x="76200" y="0"/>
                  </a:cubicBezTo>
                  <a:lnTo>
                    <a:pt x="114300" y="0"/>
                  </a:lnTo>
                  <a:close/>
                  <a:moveTo>
                    <a:pt x="95250" y="76200"/>
                  </a:moveTo>
                  <a:cubicBezTo>
                    <a:pt x="89989" y="76200"/>
                    <a:pt x="85725" y="80464"/>
                    <a:pt x="85725" y="85725"/>
                  </a:cubicBezTo>
                  <a:cubicBezTo>
                    <a:pt x="85708" y="89128"/>
                    <a:pt x="87508" y="92281"/>
                    <a:pt x="90446" y="93998"/>
                  </a:cubicBezTo>
                  <a:cubicBezTo>
                    <a:pt x="93385" y="95714"/>
                    <a:pt x="97016" y="95732"/>
                    <a:pt x="99971" y="94045"/>
                  </a:cubicBezTo>
                  <a:cubicBezTo>
                    <a:pt x="102927" y="92359"/>
                    <a:pt x="104758" y="89223"/>
                    <a:pt x="104775" y="85820"/>
                  </a:cubicBezTo>
                  <a:cubicBezTo>
                    <a:pt x="104775" y="80467"/>
                    <a:pt x="100508" y="76200"/>
                    <a:pt x="95250" y="76200"/>
                  </a:cubicBezTo>
                  <a:close/>
                  <a:moveTo>
                    <a:pt x="114300" y="19050"/>
                  </a:moveTo>
                  <a:lnTo>
                    <a:pt x="76200" y="19050"/>
                  </a:lnTo>
                  <a:cubicBezTo>
                    <a:pt x="70939" y="19050"/>
                    <a:pt x="66675" y="23314"/>
                    <a:pt x="66675" y="28575"/>
                  </a:cubicBezTo>
                  <a:lnTo>
                    <a:pt x="66675" y="38100"/>
                  </a:lnTo>
                  <a:lnTo>
                    <a:pt x="123825" y="38100"/>
                  </a:lnTo>
                  <a:lnTo>
                    <a:pt x="123825" y="28575"/>
                  </a:lnTo>
                  <a:cubicBezTo>
                    <a:pt x="123825" y="23314"/>
                    <a:pt x="119561" y="19050"/>
                    <a:pt x="114300" y="19050"/>
                  </a:cubicBezTo>
                  <a:close/>
                </a:path>
              </a:pathLst>
            </a:custGeom>
            <a:solidFill>
              <a:srgbClr val="AE232F"/>
            </a:solidFill>
            <a:ln>
              <a:noFill/>
            </a:ln>
          </p:spPr>
        </p:sp>
        <p:sp>
          <p:nvSpPr>
            <p:cNvPr id="37" name="TextBox 37"/>
            <p:cNvSpPr txBox="1"/>
            <p:nvPr/>
          </p:nvSpPr>
          <p:spPr>
            <a:xfrm>
              <a:off x="4747260" y="2947035"/>
              <a:ext cx="1719091" cy="243840"/>
            </a:xfrm>
            <a:prstGeom prst="rect">
              <a:avLst/>
            </a:prstGeom>
            <a:noFill/>
            <a:ln>
              <a:noFill/>
            </a:ln>
          </p:spPr>
          <p:txBody>
            <a:bodyPr wrap="none" lIns="0" tIns="0" rIns="0" bIns="0" anchor="t" anchorCtr="0">
              <a:spAutoFit/>
            </a:bodyPr>
            <a:lstStyle/>
            <a:p>
              <a:pPr algn="l"/>
              <a:r>
                <a:rPr lang="zh-CN" sz="1200" b="1" dirty="0">
                  <a:solidFill>
                    <a:srgbClr val="AE232F"/>
                  </a:solidFill>
                  <a:latin typeface="Arial"/>
                  <a:ea typeface="Microsoft YaHei"/>
                  <a:cs typeface="Arial"/>
                </a:rPr>
                <a:t>Real Field Experience</a:t>
              </a:r>
            </a:p>
          </p:txBody>
        </p:sp>
        <p:sp>
          <p:nvSpPr>
            <p:cNvPr id="38" name="TextBox 38"/>
            <p:cNvSpPr txBox="1"/>
            <p:nvPr/>
          </p:nvSpPr>
          <p:spPr>
            <a:xfrm>
              <a:off x="4749165" y="3172778"/>
              <a:ext cx="3591866"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MR Intern at Roche Thailand — solo physician visits</a:t>
              </a:r>
            </a:p>
          </p:txBody>
        </p:sp>
        <p:sp>
          <p:nvSpPr>
            <p:cNvPr id="39" name="TextBox 39"/>
            <p:cNvSpPr txBox="1"/>
            <p:nvPr/>
          </p:nvSpPr>
          <p:spPr>
            <a:xfrm>
              <a:off x="4749165" y="3363278"/>
              <a:ext cx="3751135"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across Ramathibodi, Bhumibol Adulyadej &amp; EENT Hospital</a:t>
              </a:r>
            </a:p>
          </p:txBody>
        </p:sp>
        <p:sp>
          <p:nvSpPr>
            <p:cNvPr id="40" name="TextBox 40"/>
            <p:cNvSpPr txBox="1"/>
            <p:nvPr/>
          </p:nvSpPr>
          <p:spPr>
            <a:xfrm>
              <a:off x="4749165" y="3544252"/>
              <a:ext cx="4647247"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Planned call cycles and managed physician follow-ups independently.</a:t>
              </a:r>
            </a:p>
          </p:txBody>
        </p:sp>
      </p:grpSp>
      <p:grpSp>
        <p:nvGrpSpPr>
          <p:cNvPr id="49" name="Group 49"/>
          <p:cNvGrpSpPr/>
          <p:nvPr/>
        </p:nvGrpSpPr>
        <p:grpSpPr>
          <a:xfrm>
            <a:off x="4133850" y="4343400"/>
            <a:ext cx="4905518" cy="1381125"/>
            <a:chOff x="4133850" y="4343400"/>
            <a:chExt cx="4905518" cy="1381125"/>
          </a:xfrm>
        </p:grpSpPr>
        <p:sp>
          <p:nvSpPr>
            <p:cNvPr id="42" name="Rectangle 42"/>
            <p:cNvSpPr/>
            <p:nvPr/>
          </p:nvSpPr>
          <p:spPr>
            <a:xfrm>
              <a:off x="4133850" y="4343400"/>
              <a:ext cx="38100" cy="1381125"/>
            </a:xfrm>
            <a:prstGeom prst="roundRect">
              <a:avLst>
                <a:gd name="adj" fmla="val 50000"/>
              </a:avLst>
            </a:prstGeom>
            <a:solidFill>
              <a:srgbClr val="AE232F"/>
            </a:solidFill>
            <a:ln>
              <a:noFill/>
            </a:ln>
          </p:spPr>
        </p:sp>
        <p:sp>
          <p:nvSpPr>
            <p:cNvPr id="43" name="Ellipse 43"/>
            <p:cNvSpPr/>
            <p:nvPr/>
          </p:nvSpPr>
          <p:spPr>
            <a:xfrm>
              <a:off x="4210050" y="4429125"/>
              <a:ext cx="419100" cy="419100"/>
            </a:xfrm>
            <a:prstGeom prst="ellipse">
              <a:avLst/>
            </a:prstGeom>
            <a:solidFill>
              <a:srgbClr val="F9E5E7"/>
            </a:solidFill>
            <a:ln>
              <a:noFill/>
            </a:ln>
          </p:spPr>
        </p:sp>
        <p:sp>
          <p:nvSpPr>
            <p:cNvPr id="44" name="Freeform 44"/>
            <p:cNvSpPr/>
            <p:nvPr/>
          </p:nvSpPr>
          <p:spPr>
            <a:xfrm>
              <a:off x="4320418" y="4550745"/>
              <a:ext cx="198107" cy="174587"/>
            </a:xfrm>
            <a:custGeom>
              <a:avLst/>
              <a:gdLst/>
              <a:ahLst/>
              <a:cxnLst/>
              <a:rect l="l" t="t" r="r" b="b"/>
              <a:pathLst>
                <a:path w="198107" h="174587">
                  <a:moveTo>
                    <a:pt x="51357" y="2909"/>
                  </a:moveTo>
                  <a:cubicBezTo>
                    <a:pt x="68432" y="0"/>
                    <a:pt x="85906" y="4992"/>
                    <a:pt x="98867" y="16483"/>
                  </a:cubicBezTo>
                  <a:lnTo>
                    <a:pt x="99220" y="16797"/>
                  </a:lnTo>
                  <a:lnTo>
                    <a:pt x="99544" y="16511"/>
                  </a:lnTo>
                  <a:cubicBezTo>
                    <a:pt x="111899" y="5668"/>
                    <a:pt x="128325" y="671"/>
                    <a:pt x="144625" y="2795"/>
                  </a:cubicBezTo>
                  <a:lnTo>
                    <a:pt x="146969" y="3138"/>
                  </a:lnTo>
                  <a:cubicBezTo>
                    <a:pt x="167660" y="6711"/>
                    <a:pt x="184726" y="21342"/>
                    <a:pt x="191416" y="41246"/>
                  </a:cubicBezTo>
                  <a:cubicBezTo>
                    <a:pt x="198107" y="61149"/>
                    <a:pt x="193343" y="83119"/>
                    <a:pt x="179011" y="98464"/>
                  </a:cubicBezTo>
                  <a:lnTo>
                    <a:pt x="177296" y="100226"/>
                  </a:lnTo>
                  <a:lnTo>
                    <a:pt x="176839" y="100617"/>
                  </a:lnTo>
                  <a:lnTo>
                    <a:pt x="105878" y="170902"/>
                  </a:lnTo>
                  <a:cubicBezTo>
                    <a:pt x="102491" y="174254"/>
                    <a:pt x="97149" y="174587"/>
                    <a:pt x="93371" y="171683"/>
                  </a:cubicBezTo>
                  <a:lnTo>
                    <a:pt x="92476" y="170902"/>
                  </a:lnTo>
                  <a:lnTo>
                    <a:pt x="21105" y="100207"/>
                  </a:lnTo>
                  <a:cubicBezTo>
                    <a:pt x="5688" y="85207"/>
                    <a:pt x="0" y="62820"/>
                    <a:pt x="6386" y="42279"/>
                  </a:cubicBezTo>
                  <a:cubicBezTo>
                    <a:pt x="12773" y="21739"/>
                    <a:pt x="30152" y="6524"/>
                    <a:pt x="51357" y="2909"/>
                  </a:cubicBezTo>
                  <a:close/>
                </a:path>
              </a:pathLst>
            </a:custGeom>
            <a:solidFill>
              <a:srgbClr val="AE232F"/>
            </a:solidFill>
            <a:ln>
              <a:noFill/>
            </a:ln>
          </p:spPr>
        </p:sp>
        <p:sp>
          <p:nvSpPr>
            <p:cNvPr id="45" name="TextBox 45"/>
            <p:cNvSpPr txBox="1"/>
            <p:nvPr/>
          </p:nvSpPr>
          <p:spPr>
            <a:xfrm>
              <a:off x="4747260" y="4547235"/>
              <a:ext cx="1651883" cy="243840"/>
            </a:xfrm>
            <a:prstGeom prst="rect">
              <a:avLst/>
            </a:prstGeom>
            <a:noFill/>
            <a:ln>
              <a:noFill/>
            </a:ln>
          </p:spPr>
          <p:txBody>
            <a:bodyPr wrap="none" lIns="0" tIns="0" rIns="0" bIns="0" anchor="t" anchorCtr="0">
              <a:spAutoFit/>
            </a:bodyPr>
            <a:lstStyle/>
            <a:p>
              <a:pPr algn="l"/>
              <a:r>
                <a:rPr lang="zh-CN" sz="1200" b="1" dirty="0">
                  <a:solidFill>
                    <a:srgbClr val="AE232F"/>
                  </a:solidFill>
                  <a:latin typeface="Arial"/>
                  <a:ea typeface="Microsoft YaHei"/>
                  <a:cs typeface="Arial"/>
                </a:rPr>
                <a:t>Why DKSH / Clexane?</a:t>
              </a:r>
            </a:p>
          </p:txBody>
        </p:sp>
        <p:sp>
          <p:nvSpPr>
            <p:cNvPr id="46" name="TextBox 46"/>
            <p:cNvSpPr txBox="1"/>
            <p:nvPr/>
          </p:nvSpPr>
          <p:spPr>
            <a:xfrm>
              <a:off x="4749165" y="4772978"/>
              <a:ext cx="4290203"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Clexane has strong clinical evidence in acute care settings.</a:t>
              </a:r>
            </a:p>
          </p:txBody>
        </p:sp>
        <p:sp>
          <p:nvSpPr>
            <p:cNvPr id="47" name="TextBox 47"/>
            <p:cNvSpPr txBox="1"/>
            <p:nvPr/>
          </p:nvSpPr>
          <p:spPr>
            <a:xfrm>
              <a:off x="4749165" y="4963478"/>
              <a:ext cx="3387090"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I want to be the MR who translates that evidence</a:t>
              </a:r>
            </a:p>
          </p:txBody>
        </p:sp>
        <p:sp>
          <p:nvSpPr>
            <p:cNvPr id="48" name="TextBox 48"/>
            <p:cNvSpPr txBox="1"/>
            <p:nvPr/>
          </p:nvSpPr>
          <p:spPr>
            <a:xfrm>
              <a:off x="4749165" y="5144452"/>
              <a:ext cx="3289078"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into real prescribing change at PMK and beyond.</a:t>
              </a:r>
            </a:p>
          </p:txBody>
        </p:sp>
      </p:grpSp>
      <p:grpSp>
        <p:nvGrpSpPr>
          <p:cNvPr id="52" name="Group 52"/>
          <p:cNvGrpSpPr/>
          <p:nvPr/>
        </p:nvGrpSpPr>
        <p:grpSpPr>
          <a:xfrm>
            <a:off x="0" y="6496050"/>
            <a:ext cx="12192000" cy="361950"/>
            <a:chOff x="0" y="6496050"/>
            <a:chExt cx="12192000" cy="361950"/>
          </a:xfrm>
        </p:grpSpPr>
        <p:sp>
          <p:nvSpPr>
            <p:cNvPr id="50" name="Rectangle 50"/>
            <p:cNvSpPr/>
            <p:nvPr/>
          </p:nvSpPr>
          <p:spPr>
            <a:xfrm>
              <a:off x="0" y="6496050"/>
              <a:ext cx="12192000" cy="361950"/>
            </a:xfrm>
            <a:prstGeom prst="rect">
              <a:avLst/>
            </a:prstGeom>
            <a:solidFill>
              <a:srgbClr val="AE232F"/>
            </a:solidFill>
            <a:ln>
              <a:noFill/>
            </a:ln>
          </p:spPr>
        </p:sp>
        <p:sp>
          <p:nvSpPr>
            <p:cNvPr id="51" name="TextBox 51"/>
            <p:cNvSpPr txBox="1"/>
            <p:nvPr/>
          </p:nvSpPr>
          <p:spPr>
            <a:xfrm>
              <a:off x="4128325" y="6627495"/>
              <a:ext cx="3935349"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Rattanakorn Rattanaroj | Rattanaroj.jan@gmail.com | 080-045-0821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400"/>
                                        <p:tgtEl>
                                          <p:spTgt spid="15"/>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slide(fromBottom)">
                                      <p:cBhvr>
                                        <p:cTn id="15" dur="400"/>
                                        <p:tgtEl>
                                          <p:spTgt spid="20"/>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image">
                                      <p:cBhvr>
                                        <p:cTn id="19" dur="400"/>
                                        <p:tgtEl>
                                          <p:spTgt spid="33"/>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fade">
                                      <p:cBhvr>
                                        <p:cTn id="23" dur="400"/>
                                        <p:tgtEl>
                                          <p:spTgt spid="41"/>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left)">
                                      <p:cBhvr>
                                        <p:cTn id="27"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20" grpId="0"/>
      <p:bldP spid="33" grpId="0"/>
      <p:bldP spid="41" grpId="0"/>
      <p:bldP spid="4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42950"/>
          </a:xfrm>
          <a:prstGeom prst="rect">
            <a:avLst/>
          </a:prstGeom>
          <a:solidFill>
            <a:srgbClr val="AE232F"/>
          </a:solidFill>
          <a:ln>
            <a:noFill/>
          </a:ln>
        </p:spPr>
      </p:sp>
      <p:sp>
        <p:nvSpPr>
          <p:cNvPr id="4" name="Rectangle 4"/>
          <p:cNvSpPr/>
          <p:nvPr/>
        </p:nvSpPr>
        <p:spPr>
          <a:xfrm>
            <a:off x="266700" y="171450"/>
            <a:ext cx="304800" cy="304800"/>
          </a:xfrm>
          <a:prstGeom prst="roundRect">
            <a:avLst>
              <a:gd name="adj" fmla="val 18750"/>
            </a:avLst>
          </a:prstGeom>
          <a:solidFill>
            <a:srgbClr val="8A1B25"/>
          </a:solidFill>
          <a:ln>
            <a:noFill/>
          </a:ln>
        </p:spPr>
      </p:sp>
      <p:sp>
        <p:nvSpPr>
          <p:cNvPr id="5" name="TextBox 5"/>
          <p:cNvSpPr txBox="1"/>
          <p:nvPr/>
        </p:nvSpPr>
        <p:spPr>
          <a:xfrm>
            <a:off x="318177" y="250031"/>
            <a:ext cx="20184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02</a:t>
            </a:r>
          </a:p>
        </p:txBody>
      </p:sp>
      <p:sp>
        <p:nvSpPr>
          <p:cNvPr id="6" name="TextBox 6"/>
          <p:cNvSpPr txBox="1"/>
          <p:nvPr/>
        </p:nvSpPr>
        <p:spPr>
          <a:xfrm>
            <a:off x="718185" y="208598"/>
            <a:ext cx="6302011"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a:ea typeface="Microsoft YaHei"/>
                <a:cs typeface="Arial"/>
              </a:rPr>
              <a:t>Clexane® (Enoxaparin) — What You Need to Know</a:t>
            </a:r>
          </a:p>
        </p:txBody>
      </p:sp>
      <p:sp>
        <p:nvSpPr>
          <p:cNvPr id="7" name="TextBox 7"/>
          <p:cNvSpPr txBox="1"/>
          <p:nvPr/>
        </p:nvSpPr>
        <p:spPr>
          <a:xfrm>
            <a:off x="730568" y="504349"/>
            <a:ext cx="2683597" cy="198120"/>
          </a:xfrm>
          <a:prstGeom prst="rect">
            <a:avLst/>
          </a:prstGeom>
          <a:noFill/>
          <a:ln>
            <a:noFill/>
          </a:ln>
        </p:spPr>
        <p:txBody>
          <a:bodyPr wrap="none" lIns="0" tIns="0" rIns="0" bIns="0" anchor="t" anchorCtr="0">
            <a:spAutoFit/>
          </a:bodyPr>
          <a:lstStyle/>
          <a:p>
            <a:pPr algn="l"/>
            <a:r>
              <a:rPr lang="zh-CN" sz="975" dirty="0">
                <a:solidFill>
                  <a:srgbClr val="F9E5E7"/>
                </a:solidFill>
                <a:latin typeface="Arial"/>
                <a:ea typeface="Microsoft YaHei"/>
                <a:cs typeface="Arial"/>
              </a:rPr>
              <a:t>Mechanism · Indications · Differentiators</a:t>
            </a:r>
          </a:p>
        </p:txBody>
      </p:sp>
      <p:grpSp>
        <p:nvGrpSpPr>
          <p:cNvPr id="31" name="Group 31"/>
          <p:cNvGrpSpPr/>
          <p:nvPr/>
        </p:nvGrpSpPr>
        <p:grpSpPr>
          <a:xfrm>
            <a:off x="342900" y="857250"/>
            <a:ext cx="3543300" cy="5467350"/>
            <a:chOff x="342900" y="857250"/>
            <a:chExt cx="3543300" cy="5467350"/>
          </a:xfrm>
          <a:effectLst>
            <a:outerShdw blurRad="76200" dist="19050" dir="5400000" algn="ctr" rotWithShape="0">
              <a:srgbClr val="000000">
                <a:alpha val="5250"/>
              </a:srgbClr>
            </a:outerShdw>
          </a:effectLst>
        </p:grpSpPr>
        <p:sp>
          <p:nvSpPr>
            <p:cNvPr id="8" name="Rectangle 8"/>
            <p:cNvSpPr/>
            <p:nvPr/>
          </p:nvSpPr>
          <p:spPr>
            <a:xfrm>
              <a:off x="342900" y="876300"/>
              <a:ext cx="3543300" cy="5448300"/>
            </a:xfrm>
            <a:prstGeom prst="roundRect">
              <a:avLst>
                <a:gd name="adj" fmla="val 2688"/>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9" name="Freeform 9"/>
            <p:cNvSpPr/>
            <p:nvPr/>
          </p:nvSpPr>
          <p:spPr>
            <a:xfrm>
              <a:off x="342900" y="876300"/>
              <a:ext cx="3543300" cy="666750"/>
            </a:xfrm>
            <a:custGeom>
              <a:avLst/>
              <a:gdLst/>
              <a:ahLst/>
              <a:cxnLst/>
              <a:rect l="l" t="t" r="r" b="b"/>
              <a:pathLst>
                <a:path w="3543300" h="666750">
                  <a:moveTo>
                    <a:pt x="0" y="95250"/>
                  </a:moveTo>
                  <a:cubicBezTo>
                    <a:pt x="0" y="31750"/>
                    <a:pt x="31750" y="0"/>
                    <a:pt x="95250" y="0"/>
                  </a:cubicBezTo>
                  <a:lnTo>
                    <a:pt x="3448050" y="0"/>
                  </a:lnTo>
                  <a:cubicBezTo>
                    <a:pt x="3511550" y="0"/>
                    <a:pt x="3543300" y="31750"/>
                    <a:pt x="3543300" y="95250"/>
                  </a:cubicBezTo>
                  <a:lnTo>
                    <a:pt x="3543300" y="666750"/>
                  </a:lnTo>
                  <a:cubicBezTo>
                    <a:pt x="3543300" y="666750"/>
                    <a:pt x="2952750" y="666750"/>
                    <a:pt x="1771650" y="666750"/>
                  </a:cubicBezTo>
                  <a:cubicBezTo>
                    <a:pt x="590550" y="666750"/>
                    <a:pt x="0" y="666750"/>
                    <a:pt x="0" y="666750"/>
                  </a:cubicBezTo>
                  <a:close/>
                </a:path>
              </a:pathLst>
            </a:custGeom>
            <a:solidFill>
              <a:srgbClr val="AE232F"/>
            </a:solidFill>
            <a:ln>
              <a:noFill/>
            </a:ln>
            <a:effectLst>
              <a:outerShdw blurRad="76200" dist="19050" dir="5400000" algn="ctr" rotWithShape="0">
                <a:srgbClr val="000000">
                  <a:alpha val="5250"/>
                </a:srgbClr>
              </a:outerShdw>
            </a:effectLst>
          </p:spPr>
        </p:sp>
        <p:sp>
          <p:nvSpPr>
            <p:cNvPr id="10" name="Ellipse 10"/>
            <p:cNvSpPr/>
            <p:nvPr/>
          </p:nvSpPr>
          <p:spPr>
            <a:xfrm>
              <a:off x="1885950" y="857250"/>
              <a:ext cx="457200" cy="457200"/>
            </a:xfrm>
            <a:prstGeom prst="ellipse">
              <a:avLst/>
            </a:prstGeom>
            <a:solidFill>
              <a:srgbClr val="8A1B25"/>
            </a:solidFill>
            <a:ln>
              <a:noFill/>
            </a:ln>
            <a:effectLst>
              <a:outerShdw blurRad="76200" dist="19050" dir="5400000" algn="ctr" rotWithShape="0">
                <a:srgbClr val="000000">
                  <a:alpha val="5250"/>
                </a:srgbClr>
              </a:outerShdw>
            </a:effectLst>
          </p:spPr>
        </p:sp>
        <p:sp>
          <p:nvSpPr>
            <p:cNvPr id="11" name="Freeform 11"/>
            <p:cNvSpPr/>
            <p:nvPr/>
          </p:nvSpPr>
          <p:spPr>
            <a:xfrm>
              <a:off x="2046526" y="990600"/>
              <a:ext cx="135742" cy="190500"/>
            </a:xfrm>
            <a:custGeom>
              <a:avLst/>
              <a:gdLst/>
              <a:ahLst/>
              <a:cxnLst/>
              <a:rect l="l" t="t" r="r" b="b"/>
              <a:pathLst>
                <a:path w="135742" h="190500">
                  <a:moveTo>
                    <a:pt x="96599" y="0"/>
                  </a:moveTo>
                  <a:cubicBezTo>
                    <a:pt x="101860" y="0"/>
                    <a:pt x="106124" y="4264"/>
                    <a:pt x="106124" y="9525"/>
                  </a:cubicBezTo>
                  <a:cubicBezTo>
                    <a:pt x="106124" y="14786"/>
                    <a:pt x="101860" y="19050"/>
                    <a:pt x="96599" y="19050"/>
                  </a:cubicBezTo>
                  <a:lnTo>
                    <a:pt x="96599" y="65018"/>
                  </a:lnTo>
                  <a:lnTo>
                    <a:pt x="134052" y="168021"/>
                  </a:lnTo>
                  <a:lnTo>
                    <a:pt x="134375" y="168754"/>
                  </a:lnTo>
                  <a:cubicBezTo>
                    <a:pt x="135742" y="172420"/>
                    <a:pt x="135735" y="176457"/>
                    <a:pt x="134356" y="180118"/>
                  </a:cubicBezTo>
                  <a:lnTo>
                    <a:pt x="133690" y="181661"/>
                  </a:lnTo>
                  <a:cubicBezTo>
                    <a:pt x="131414" y="186206"/>
                    <a:pt x="127136" y="189420"/>
                    <a:pt x="122136" y="190338"/>
                  </a:cubicBezTo>
                  <a:lnTo>
                    <a:pt x="120412" y="190500"/>
                  </a:lnTo>
                  <a:lnTo>
                    <a:pt x="15637" y="190500"/>
                  </a:lnTo>
                  <a:lnTo>
                    <a:pt x="13913" y="190338"/>
                  </a:lnTo>
                  <a:cubicBezTo>
                    <a:pt x="9204" y="189471"/>
                    <a:pt x="5121" y="186565"/>
                    <a:pt x="2759" y="182401"/>
                  </a:cubicBezTo>
                  <a:cubicBezTo>
                    <a:pt x="398" y="178236"/>
                    <a:pt x="0" y="173240"/>
                    <a:pt x="1673" y="168754"/>
                  </a:cubicBezTo>
                  <a:lnTo>
                    <a:pt x="2045" y="167897"/>
                  </a:lnTo>
                  <a:lnTo>
                    <a:pt x="39449" y="64989"/>
                  </a:lnTo>
                  <a:lnTo>
                    <a:pt x="39449" y="19050"/>
                  </a:lnTo>
                  <a:cubicBezTo>
                    <a:pt x="34189" y="19050"/>
                    <a:pt x="29924" y="14786"/>
                    <a:pt x="29924" y="9525"/>
                  </a:cubicBezTo>
                  <a:cubicBezTo>
                    <a:pt x="29924" y="4264"/>
                    <a:pt x="34189" y="0"/>
                    <a:pt x="39449" y="0"/>
                  </a:cubicBezTo>
                  <a:lnTo>
                    <a:pt x="96599" y="0"/>
                  </a:lnTo>
                  <a:close/>
                  <a:moveTo>
                    <a:pt x="77549" y="19050"/>
                  </a:moveTo>
                  <a:lnTo>
                    <a:pt x="58499" y="19050"/>
                  </a:lnTo>
                  <a:lnTo>
                    <a:pt x="58499" y="57150"/>
                  </a:lnTo>
                  <a:lnTo>
                    <a:pt x="77549" y="57150"/>
                  </a:lnTo>
                  <a:lnTo>
                    <a:pt x="77549" y="19050"/>
                  </a:lnTo>
                  <a:close/>
                </a:path>
              </a:pathLst>
            </a:custGeom>
            <a:solidFill>
              <a:srgbClr val="FFFFFF"/>
            </a:solidFill>
            <a:ln>
              <a:noFill/>
            </a:ln>
            <a:effectLst>
              <a:outerShdw blurRad="76200" dist="19050" dir="5400000" algn="ctr" rotWithShape="0">
                <a:srgbClr val="000000">
                  <a:alpha val="5250"/>
                </a:srgbClr>
              </a:outerShdw>
            </a:effectLst>
          </p:spPr>
        </p:sp>
        <p:sp>
          <p:nvSpPr>
            <p:cNvPr id="12" name="TextBox 12"/>
            <p:cNvSpPr txBox="1"/>
            <p:nvPr/>
          </p:nvSpPr>
          <p:spPr>
            <a:xfrm>
              <a:off x="1377150" y="1248728"/>
              <a:ext cx="1474801" cy="21336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1050" b="1" dirty="0">
                  <a:solidFill>
                    <a:srgbClr val="FFFFFF"/>
                  </a:solidFill>
                  <a:latin typeface="Arial"/>
                  <a:ea typeface="Microsoft YaHei"/>
                  <a:cs typeface="Arial"/>
                </a:rPr>
                <a:t>Mechanism of Action</a:t>
              </a:r>
            </a:p>
          </p:txBody>
        </p:sp>
        <p:sp>
          <p:nvSpPr>
            <p:cNvPr id="13" name="TextBox 13"/>
            <p:cNvSpPr txBox="1"/>
            <p:nvPr/>
          </p:nvSpPr>
          <p:spPr>
            <a:xfrm>
              <a:off x="521018" y="1723549"/>
              <a:ext cx="2202212" cy="19812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75" b="1" dirty="0">
                  <a:solidFill>
                    <a:srgbClr val="AE232F"/>
                  </a:solidFill>
                  <a:latin typeface="Arial"/>
                  <a:ea typeface="Microsoft YaHei"/>
                  <a:cs typeface="Arial"/>
                </a:rPr>
                <a:t>LMWH — Targeted Anticoagulation</a:t>
              </a:r>
            </a:p>
          </p:txBody>
        </p:sp>
        <p:sp>
          <p:nvSpPr>
            <p:cNvPr id="14" name="TextBox 14"/>
            <p:cNvSpPr txBox="1"/>
            <p:nvPr/>
          </p:nvSpPr>
          <p:spPr>
            <a:xfrm>
              <a:off x="521970" y="1950720"/>
              <a:ext cx="1805083"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Binds antithrombin III (AT III)</a:t>
              </a:r>
            </a:p>
          </p:txBody>
        </p:sp>
        <p:sp>
          <p:nvSpPr>
            <p:cNvPr id="15" name="TextBox 15"/>
            <p:cNvSpPr txBox="1"/>
            <p:nvPr/>
          </p:nvSpPr>
          <p:spPr>
            <a:xfrm>
              <a:off x="521970" y="2131695"/>
              <a:ext cx="2033111"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Potentiates AT III activity ~1,000×</a:t>
              </a:r>
            </a:p>
          </p:txBody>
        </p:sp>
        <p:sp>
          <p:nvSpPr>
            <p:cNvPr id="16" name="TextBox 16"/>
            <p:cNvSpPr txBox="1"/>
            <p:nvPr/>
          </p:nvSpPr>
          <p:spPr>
            <a:xfrm>
              <a:off x="521970" y="2379345"/>
              <a:ext cx="1835086"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Inhibits Factor Xa selectively</a:t>
              </a:r>
            </a:p>
          </p:txBody>
        </p:sp>
        <p:sp>
          <p:nvSpPr>
            <p:cNvPr id="17" name="TextBox 17"/>
            <p:cNvSpPr txBox="1"/>
            <p:nvPr/>
          </p:nvSpPr>
          <p:spPr>
            <a:xfrm>
              <a:off x="521970" y="2560320"/>
              <a:ext cx="1835086"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Anti-Xa : Anti-IIa ratio ≈ 3.8:1</a:t>
              </a:r>
            </a:p>
          </p:txBody>
        </p:sp>
        <p:sp>
          <p:nvSpPr>
            <p:cNvPr id="18" name="TextBox 18"/>
            <p:cNvSpPr txBox="1"/>
            <p:nvPr/>
          </p:nvSpPr>
          <p:spPr>
            <a:xfrm>
              <a:off x="521970" y="2807970"/>
              <a:ext cx="2285143"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Predictable subcutaneous absorption</a:t>
              </a:r>
            </a:p>
          </p:txBody>
        </p:sp>
        <p:sp>
          <p:nvSpPr>
            <p:cNvPr id="19" name="TextBox 19"/>
            <p:cNvSpPr txBox="1"/>
            <p:nvPr/>
          </p:nvSpPr>
          <p:spPr>
            <a:xfrm>
              <a:off x="521970" y="2988945"/>
              <a:ext cx="1157002"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Bioavailability ~92%</a:t>
              </a:r>
            </a:p>
          </p:txBody>
        </p:sp>
        <p:sp>
          <p:nvSpPr>
            <p:cNvPr id="20" name="Line 20"/>
            <p:cNvSpPr/>
            <p:nvPr/>
          </p:nvSpPr>
          <p:spPr>
            <a:xfrm>
              <a:off x="533400" y="3257550"/>
              <a:ext cx="3162300" cy="9525"/>
            </a:xfrm>
            <a:custGeom>
              <a:avLst/>
              <a:gdLst/>
              <a:ahLst/>
              <a:cxnLst/>
              <a:rect l="l" t="t" r="r" b="b"/>
              <a:pathLst>
                <a:path w="3162300" h="9525">
                  <a:moveTo>
                    <a:pt x="0" y="0"/>
                  </a:moveTo>
                  <a:lnTo>
                    <a:pt x="3162300" y="0"/>
                  </a:lnTo>
                </a:path>
              </a:pathLst>
            </a:custGeom>
            <a:noFill/>
            <a:ln w="9525">
              <a:solidFill>
                <a:srgbClr val="E0E0E0"/>
              </a:solidFill>
            </a:ln>
          </p:spPr>
        </p:sp>
        <p:sp>
          <p:nvSpPr>
            <p:cNvPr id="21" name="TextBox 21"/>
            <p:cNvSpPr txBox="1"/>
            <p:nvPr/>
          </p:nvSpPr>
          <p:spPr>
            <a:xfrm>
              <a:off x="521018" y="3380899"/>
              <a:ext cx="1185160" cy="19812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75" b="1" dirty="0">
                  <a:solidFill>
                    <a:srgbClr val="AE232F"/>
                  </a:solidFill>
                  <a:latin typeface="Arial"/>
                  <a:ea typeface="Microsoft YaHei"/>
                  <a:cs typeface="Arial"/>
                </a:rPr>
                <a:t>Pharmacokinetics</a:t>
              </a:r>
            </a:p>
          </p:txBody>
        </p:sp>
        <p:sp>
          <p:nvSpPr>
            <p:cNvPr id="22" name="TextBox 22"/>
            <p:cNvSpPr txBox="1"/>
            <p:nvPr/>
          </p:nvSpPr>
          <p:spPr>
            <a:xfrm>
              <a:off x="521970" y="3598545"/>
              <a:ext cx="2117122"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Onset: anti-Xa peak at 3–5 h (SC)</a:t>
              </a:r>
            </a:p>
          </p:txBody>
        </p:sp>
        <p:sp>
          <p:nvSpPr>
            <p:cNvPr id="23" name="TextBox 23"/>
            <p:cNvSpPr txBox="1"/>
            <p:nvPr/>
          </p:nvSpPr>
          <p:spPr>
            <a:xfrm>
              <a:off x="521970" y="3808095"/>
              <a:ext cx="2135124"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Half-life: ~4.5 h (renally cleared)</a:t>
              </a:r>
            </a:p>
          </p:txBody>
        </p:sp>
        <p:sp>
          <p:nvSpPr>
            <p:cNvPr id="24" name="TextBox 24"/>
            <p:cNvSpPr txBox="1"/>
            <p:nvPr/>
          </p:nvSpPr>
          <p:spPr>
            <a:xfrm>
              <a:off x="521970" y="4017645"/>
              <a:ext cx="2171128"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Weight-based dosing: 1 mg/kg q12h</a:t>
              </a:r>
            </a:p>
          </p:txBody>
        </p:sp>
        <p:sp>
          <p:nvSpPr>
            <p:cNvPr id="25" name="TextBox 25"/>
            <p:cNvSpPr txBox="1"/>
            <p:nvPr/>
          </p:nvSpPr>
          <p:spPr>
            <a:xfrm>
              <a:off x="521970" y="4227195"/>
              <a:ext cx="1943100"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or 1.5 mg/kg q24h (therapeutic)</a:t>
              </a:r>
            </a:p>
          </p:txBody>
        </p:sp>
        <p:sp>
          <p:nvSpPr>
            <p:cNvPr id="26" name="TextBox 26"/>
            <p:cNvSpPr txBox="1"/>
            <p:nvPr/>
          </p:nvSpPr>
          <p:spPr>
            <a:xfrm>
              <a:off x="521970" y="4436745"/>
              <a:ext cx="1817084"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No routine monitoring needed</a:t>
              </a:r>
            </a:p>
          </p:txBody>
        </p:sp>
        <p:sp>
          <p:nvSpPr>
            <p:cNvPr id="27" name="TextBox 27"/>
            <p:cNvSpPr txBox="1"/>
            <p:nvPr/>
          </p:nvSpPr>
          <p:spPr>
            <a:xfrm>
              <a:off x="521970" y="4646295"/>
              <a:ext cx="1319022"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(unlike UFH with aPTT)</a:t>
              </a:r>
            </a:p>
          </p:txBody>
        </p:sp>
        <p:sp>
          <p:nvSpPr>
            <p:cNvPr id="28" name="Rectangle 28"/>
            <p:cNvSpPr/>
            <p:nvPr/>
          </p:nvSpPr>
          <p:spPr>
            <a:xfrm>
              <a:off x="533400" y="5029200"/>
              <a:ext cx="3352800" cy="419100"/>
            </a:xfrm>
            <a:prstGeom prst="roundRect">
              <a:avLst>
                <a:gd name="adj" fmla="val 13636"/>
              </a:avLst>
            </a:prstGeom>
            <a:solidFill>
              <a:srgbClr val="F9E5E7"/>
            </a:solidFill>
            <a:ln>
              <a:noFill/>
            </a:ln>
            <a:effectLst>
              <a:outerShdw blurRad="76200" dist="19050" dir="5400000" algn="ctr" rotWithShape="0">
                <a:srgbClr val="000000">
                  <a:alpha val="5250"/>
                </a:srgbClr>
              </a:outerShdw>
            </a:effectLst>
          </p:spPr>
        </p:sp>
        <p:sp>
          <p:nvSpPr>
            <p:cNvPr id="29" name="TextBox 29"/>
            <p:cNvSpPr txBox="1"/>
            <p:nvPr/>
          </p:nvSpPr>
          <p:spPr>
            <a:xfrm>
              <a:off x="1196545" y="5103495"/>
              <a:ext cx="2026510"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900" b="1" dirty="0">
                  <a:solidFill>
                    <a:srgbClr val="AE232F"/>
                  </a:solidFill>
                  <a:latin typeface="Arial"/>
                  <a:ea typeface="Microsoft YaHei"/>
                  <a:cs typeface="Arial"/>
                </a:rPr>
                <a:t>Key talking point for physicians:</a:t>
              </a:r>
            </a:p>
          </p:txBody>
        </p:sp>
        <p:sp>
          <p:nvSpPr>
            <p:cNvPr id="30" name="TextBox 30"/>
            <p:cNvSpPr txBox="1"/>
            <p:nvPr/>
          </p:nvSpPr>
          <p:spPr>
            <a:xfrm>
              <a:off x="813149" y="5273516"/>
              <a:ext cx="2793302"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dirty="0">
                  <a:solidFill>
                    <a:srgbClr val="555555"/>
                  </a:solidFill>
                  <a:latin typeface="Arial"/>
                  <a:ea typeface="Microsoft YaHei"/>
                  <a:cs typeface="Arial"/>
                </a:rPr>
                <a:t>"Predictable PK = safe dose without lab monitoring"</a:t>
              </a:r>
            </a:p>
          </p:txBody>
        </p:sp>
      </p:grpSp>
      <p:grpSp>
        <p:nvGrpSpPr>
          <p:cNvPr id="69" name="Group 69"/>
          <p:cNvGrpSpPr/>
          <p:nvPr/>
        </p:nvGrpSpPr>
        <p:grpSpPr>
          <a:xfrm>
            <a:off x="4114800" y="857250"/>
            <a:ext cx="3543300" cy="5467350"/>
            <a:chOff x="4114800" y="857250"/>
            <a:chExt cx="3543300" cy="5467350"/>
          </a:xfrm>
          <a:effectLst>
            <a:outerShdw blurRad="76200" dist="19050" dir="5400000" algn="ctr" rotWithShape="0">
              <a:srgbClr val="000000">
                <a:alpha val="5250"/>
              </a:srgbClr>
            </a:outerShdw>
          </a:effectLst>
        </p:grpSpPr>
        <p:sp>
          <p:nvSpPr>
            <p:cNvPr id="32" name="Rectangle 32"/>
            <p:cNvSpPr/>
            <p:nvPr/>
          </p:nvSpPr>
          <p:spPr>
            <a:xfrm>
              <a:off x="4114800" y="876300"/>
              <a:ext cx="3543300" cy="5448300"/>
            </a:xfrm>
            <a:prstGeom prst="roundRect">
              <a:avLst>
                <a:gd name="adj" fmla="val 2688"/>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33" name="Freeform 33"/>
            <p:cNvSpPr/>
            <p:nvPr/>
          </p:nvSpPr>
          <p:spPr>
            <a:xfrm>
              <a:off x="4114800" y="876300"/>
              <a:ext cx="3543300" cy="666750"/>
            </a:xfrm>
            <a:custGeom>
              <a:avLst/>
              <a:gdLst/>
              <a:ahLst/>
              <a:cxnLst/>
              <a:rect l="l" t="t" r="r" b="b"/>
              <a:pathLst>
                <a:path w="3543300" h="666750">
                  <a:moveTo>
                    <a:pt x="0" y="95250"/>
                  </a:moveTo>
                  <a:cubicBezTo>
                    <a:pt x="0" y="31750"/>
                    <a:pt x="31750" y="0"/>
                    <a:pt x="95250" y="0"/>
                  </a:cubicBezTo>
                  <a:lnTo>
                    <a:pt x="3448050" y="0"/>
                  </a:lnTo>
                  <a:cubicBezTo>
                    <a:pt x="3511550" y="0"/>
                    <a:pt x="3543300" y="31750"/>
                    <a:pt x="3543300" y="95250"/>
                  </a:cubicBezTo>
                  <a:lnTo>
                    <a:pt x="3543300" y="666750"/>
                  </a:lnTo>
                  <a:cubicBezTo>
                    <a:pt x="3543300" y="666750"/>
                    <a:pt x="2952750" y="666750"/>
                    <a:pt x="1771650" y="666750"/>
                  </a:cubicBezTo>
                  <a:cubicBezTo>
                    <a:pt x="590550" y="666750"/>
                    <a:pt x="0" y="666750"/>
                    <a:pt x="0" y="666750"/>
                  </a:cubicBezTo>
                  <a:close/>
                </a:path>
              </a:pathLst>
            </a:custGeom>
            <a:solidFill>
              <a:srgbClr val="AE232F"/>
            </a:solidFill>
            <a:ln>
              <a:noFill/>
            </a:ln>
            <a:effectLst>
              <a:outerShdw blurRad="76200" dist="19050" dir="5400000" algn="ctr" rotWithShape="0">
                <a:srgbClr val="000000">
                  <a:alpha val="5250"/>
                </a:srgbClr>
              </a:outerShdw>
            </a:effectLst>
          </p:spPr>
        </p:sp>
        <p:sp>
          <p:nvSpPr>
            <p:cNvPr id="34" name="Ellipse 34"/>
            <p:cNvSpPr/>
            <p:nvPr/>
          </p:nvSpPr>
          <p:spPr>
            <a:xfrm>
              <a:off x="5657850" y="857250"/>
              <a:ext cx="457200" cy="457200"/>
            </a:xfrm>
            <a:prstGeom prst="ellipse">
              <a:avLst/>
            </a:prstGeom>
            <a:solidFill>
              <a:srgbClr val="8A1B25"/>
            </a:solidFill>
            <a:ln>
              <a:noFill/>
            </a:ln>
            <a:effectLst>
              <a:outerShdw blurRad="76200" dist="19050" dir="5400000" algn="ctr" rotWithShape="0">
                <a:srgbClr val="000000">
                  <a:alpha val="5250"/>
                </a:srgbClr>
              </a:outerShdw>
            </a:effectLst>
          </p:spPr>
        </p:sp>
        <p:sp>
          <p:nvSpPr>
            <p:cNvPr id="35" name="Freeform 35"/>
            <p:cNvSpPr/>
            <p:nvPr/>
          </p:nvSpPr>
          <p:spPr>
            <a:xfrm>
              <a:off x="5810248" y="990600"/>
              <a:ext cx="152404" cy="190500"/>
            </a:xfrm>
            <a:custGeom>
              <a:avLst/>
              <a:gdLst/>
              <a:ahLst/>
              <a:cxnLst/>
              <a:rect l="l" t="t" r="r" b="b"/>
              <a:pathLst>
                <a:path w="152404" h="190500">
                  <a:moveTo>
                    <a:pt x="133324" y="20669"/>
                  </a:moveTo>
                  <a:cubicBezTo>
                    <a:pt x="144757" y="24698"/>
                    <a:pt x="152404" y="35502"/>
                    <a:pt x="152402" y="47625"/>
                  </a:cubicBezTo>
                  <a:lnTo>
                    <a:pt x="152402" y="161925"/>
                  </a:lnTo>
                  <a:cubicBezTo>
                    <a:pt x="152402" y="177707"/>
                    <a:pt x="139609" y="190500"/>
                    <a:pt x="123827" y="190500"/>
                  </a:cubicBezTo>
                  <a:lnTo>
                    <a:pt x="28577" y="190500"/>
                  </a:lnTo>
                  <a:cubicBezTo>
                    <a:pt x="12796" y="190500"/>
                    <a:pt x="2" y="177707"/>
                    <a:pt x="2" y="161925"/>
                  </a:cubicBezTo>
                  <a:lnTo>
                    <a:pt x="2" y="47625"/>
                  </a:lnTo>
                  <a:cubicBezTo>
                    <a:pt x="0" y="35502"/>
                    <a:pt x="7647" y="24698"/>
                    <a:pt x="19081" y="20669"/>
                  </a:cubicBezTo>
                  <a:cubicBezTo>
                    <a:pt x="19948" y="41065"/>
                    <a:pt x="36738" y="57153"/>
                    <a:pt x="57152" y="57150"/>
                  </a:cubicBezTo>
                  <a:lnTo>
                    <a:pt x="95252" y="57150"/>
                  </a:lnTo>
                  <a:cubicBezTo>
                    <a:pt x="114809" y="57152"/>
                    <a:pt x="131191" y="42346"/>
                    <a:pt x="133162" y="22889"/>
                  </a:cubicBezTo>
                  <a:close/>
                  <a:moveTo>
                    <a:pt x="98043" y="88516"/>
                  </a:moveTo>
                  <a:lnTo>
                    <a:pt x="66677" y="119872"/>
                  </a:lnTo>
                  <a:lnTo>
                    <a:pt x="54361" y="107566"/>
                  </a:lnTo>
                  <a:cubicBezTo>
                    <a:pt x="51970" y="105090"/>
                    <a:pt x="48428" y="104097"/>
                    <a:pt x="45098" y="104968"/>
                  </a:cubicBezTo>
                  <a:cubicBezTo>
                    <a:pt x="41768" y="105840"/>
                    <a:pt x="39167" y="108441"/>
                    <a:pt x="38295" y="111771"/>
                  </a:cubicBezTo>
                  <a:cubicBezTo>
                    <a:pt x="37424" y="115101"/>
                    <a:pt x="38417" y="118643"/>
                    <a:pt x="40893" y="121034"/>
                  </a:cubicBezTo>
                  <a:lnTo>
                    <a:pt x="59943" y="140084"/>
                  </a:lnTo>
                  <a:cubicBezTo>
                    <a:pt x="63662" y="143803"/>
                    <a:pt x="69692" y="143803"/>
                    <a:pt x="73411" y="140084"/>
                  </a:cubicBezTo>
                  <a:lnTo>
                    <a:pt x="111511" y="101984"/>
                  </a:lnTo>
                  <a:cubicBezTo>
                    <a:pt x="115121" y="98247"/>
                    <a:pt x="115069" y="92306"/>
                    <a:pt x="111395" y="88632"/>
                  </a:cubicBezTo>
                  <a:cubicBezTo>
                    <a:pt x="107721" y="84958"/>
                    <a:pt x="101780" y="84906"/>
                    <a:pt x="98043" y="88516"/>
                  </a:cubicBezTo>
                  <a:moveTo>
                    <a:pt x="95252" y="0"/>
                  </a:moveTo>
                  <a:cubicBezTo>
                    <a:pt x="105773" y="0"/>
                    <a:pt x="114302" y="8529"/>
                    <a:pt x="114302" y="19050"/>
                  </a:cubicBezTo>
                  <a:cubicBezTo>
                    <a:pt x="114302" y="29571"/>
                    <a:pt x="105773" y="38100"/>
                    <a:pt x="95252" y="38100"/>
                  </a:cubicBezTo>
                  <a:lnTo>
                    <a:pt x="57152" y="38100"/>
                  </a:lnTo>
                  <a:cubicBezTo>
                    <a:pt x="46631" y="38100"/>
                    <a:pt x="38102" y="29571"/>
                    <a:pt x="38102" y="19050"/>
                  </a:cubicBezTo>
                  <a:cubicBezTo>
                    <a:pt x="38102" y="8529"/>
                    <a:pt x="46631" y="0"/>
                    <a:pt x="57152" y="0"/>
                  </a:cubicBezTo>
                  <a:close/>
                </a:path>
              </a:pathLst>
            </a:custGeom>
            <a:solidFill>
              <a:srgbClr val="FFFFFF"/>
            </a:solidFill>
            <a:ln>
              <a:noFill/>
            </a:ln>
            <a:effectLst>
              <a:outerShdw blurRad="76200" dist="19050" dir="5400000" algn="ctr" rotWithShape="0">
                <a:srgbClr val="000000">
                  <a:alpha val="5250"/>
                </a:srgbClr>
              </a:outerShdw>
            </a:effectLst>
          </p:spPr>
        </p:sp>
        <p:sp>
          <p:nvSpPr>
            <p:cNvPr id="36" name="TextBox 36"/>
            <p:cNvSpPr txBox="1"/>
            <p:nvPr/>
          </p:nvSpPr>
          <p:spPr>
            <a:xfrm>
              <a:off x="5340173" y="1248728"/>
              <a:ext cx="1092553" cy="21336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1050" b="1" dirty="0">
                  <a:solidFill>
                    <a:srgbClr val="FFFFFF"/>
                  </a:solidFill>
                  <a:latin typeface="Arial"/>
                  <a:ea typeface="Microsoft YaHei"/>
                  <a:cs typeface="Arial"/>
                </a:rPr>
                <a:t>Key Indications</a:t>
              </a:r>
            </a:p>
          </p:txBody>
        </p:sp>
        <p:sp>
          <p:nvSpPr>
            <p:cNvPr id="37" name="Rectangle 37"/>
            <p:cNvSpPr/>
            <p:nvPr/>
          </p:nvSpPr>
          <p:spPr>
            <a:xfrm>
              <a:off x="4305300" y="1714500"/>
              <a:ext cx="190500" cy="190500"/>
            </a:xfrm>
            <a:prstGeom prst="roundRect">
              <a:avLst>
                <a:gd name="adj" fmla="val 20000"/>
              </a:avLst>
            </a:prstGeom>
            <a:solidFill>
              <a:srgbClr val="AE232F"/>
            </a:solidFill>
            <a:ln>
              <a:noFill/>
            </a:ln>
            <a:effectLst>
              <a:outerShdw blurRad="76200" dist="19050" dir="5400000" algn="ctr" rotWithShape="0">
                <a:srgbClr val="000000">
                  <a:alpha val="5250"/>
                </a:srgbClr>
              </a:outerShdw>
            </a:effectLst>
          </p:spPr>
        </p:sp>
        <p:sp>
          <p:nvSpPr>
            <p:cNvPr id="38" name="TextBox 38"/>
            <p:cNvSpPr txBox="1"/>
            <p:nvPr/>
          </p:nvSpPr>
          <p:spPr>
            <a:xfrm>
              <a:off x="4358306" y="1758791"/>
              <a:ext cx="84488"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b="1" dirty="0">
                  <a:solidFill>
                    <a:srgbClr val="FFFFFF"/>
                  </a:solidFill>
                  <a:latin typeface="Arial"/>
                  <a:ea typeface="Microsoft YaHei"/>
                  <a:cs typeface="Arial"/>
                </a:rPr>
                <a:t>1</a:t>
              </a:r>
            </a:p>
          </p:txBody>
        </p:sp>
        <p:sp>
          <p:nvSpPr>
            <p:cNvPr id="39" name="TextBox 39"/>
            <p:cNvSpPr txBox="1"/>
            <p:nvPr/>
          </p:nvSpPr>
          <p:spPr>
            <a:xfrm>
              <a:off x="4559618" y="1723549"/>
              <a:ext cx="1048643" cy="19812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75" b="1" dirty="0">
                  <a:solidFill>
                    <a:srgbClr val="1A1A1A"/>
                  </a:solidFill>
                  <a:latin typeface="Arial"/>
                  <a:ea typeface="Microsoft YaHei"/>
                  <a:cs typeface="Arial"/>
                </a:rPr>
                <a:t>VTE Prophylaxis</a:t>
              </a:r>
            </a:p>
          </p:txBody>
        </p:sp>
        <p:sp>
          <p:nvSpPr>
            <p:cNvPr id="40" name="TextBox 40"/>
            <p:cNvSpPr txBox="1"/>
            <p:nvPr/>
          </p:nvSpPr>
          <p:spPr>
            <a:xfrm>
              <a:off x="4561522" y="1892141"/>
              <a:ext cx="2540270"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825" dirty="0">
                  <a:solidFill>
                    <a:srgbClr val="555555"/>
                  </a:solidFill>
                  <a:latin typeface="Arial"/>
                  <a:ea typeface="Microsoft YaHei"/>
                  <a:cs typeface="Arial"/>
                </a:rPr>
                <a:t>Orthopedic, general surgery, medical patients</a:t>
              </a:r>
            </a:p>
          </p:txBody>
        </p:sp>
        <p:sp>
          <p:nvSpPr>
            <p:cNvPr id="41" name="Line 41"/>
            <p:cNvSpPr/>
            <p:nvPr/>
          </p:nvSpPr>
          <p:spPr>
            <a:xfrm>
              <a:off x="4305300" y="2133600"/>
              <a:ext cx="3162300" cy="9525"/>
            </a:xfrm>
            <a:custGeom>
              <a:avLst/>
              <a:gdLst/>
              <a:ahLst/>
              <a:cxnLst/>
              <a:rect l="l" t="t" r="r" b="b"/>
              <a:pathLst>
                <a:path w="3162300" h="9525">
                  <a:moveTo>
                    <a:pt x="0" y="0"/>
                  </a:moveTo>
                  <a:lnTo>
                    <a:pt x="3162300" y="0"/>
                  </a:lnTo>
                </a:path>
              </a:pathLst>
            </a:custGeom>
            <a:noFill/>
            <a:ln w="9525">
              <a:solidFill>
                <a:srgbClr val="F5F5F5"/>
              </a:solidFill>
            </a:ln>
          </p:spPr>
        </p:sp>
        <p:sp>
          <p:nvSpPr>
            <p:cNvPr id="42" name="Rectangle 42"/>
            <p:cNvSpPr/>
            <p:nvPr/>
          </p:nvSpPr>
          <p:spPr>
            <a:xfrm>
              <a:off x="4305300" y="2228850"/>
              <a:ext cx="190500" cy="190500"/>
            </a:xfrm>
            <a:prstGeom prst="roundRect">
              <a:avLst>
                <a:gd name="adj" fmla="val 20000"/>
              </a:avLst>
            </a:prstGeom>
            <a:solidFill>
              <a:srgbClr val="AE232F"/>
            </a:solidFill>
            <a:ln>
              <a:noFill/>
            </a:ln>
            <a:effectLst>
              <a:outerShdw blurRad="76200" dist="19050" dir="5400000" algn="ctr" rotWithShape="0">
                <a:srgbClr val="000000">
                  <a:alpha val="5250"/>
                </a:srgbClr>
              </a:outerShdw>
            </a:effectLst>
          </p:spPr>
        </p:sp>
        <p:sp>
          <p:nvSpPr>
            <p:cNvPr id="43" name="TextBox 43"/>
            <p:cNvSpPr txBox="1"/>
            <p:nvPr/>
          </p:nvSpPr>
          <p:spPr>
            <a:xfrm>
              <a:off x="4358306" y="2273141"/>
              <a:ext cx="84488"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b="1" dirty="0">
                  <a:solidFill>
                    <a:srgbClr val="FFFFFF"/>
                  </a:solidFill>
                  <a:latin typeface="Arial"/>
                  <a:ea typeface="Microsoft YaHei"/>
                  <a:cs typeface="Arial"/>
                </a:rPr>
                <a:t>2</a:t>
              </a:r>
            </a:p>
          </p:txBody>
        </p:sp>
        <p:sp>
          <p:nvSpPr>
            <p:cNvPr id="44" name="TextBox 44"/>
            <p:cNvSpPr txBox="1"/>
            <p:nvPr/>
          </p:nvSpPr>
          <p:spPr>
            <a:xfrm>
              <a:off x="4559618" y="2237899"/>
              <a:ext cx="994036" cy="19812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75" b="1" dirty="0">
                  <a:solidFill>
                    <a:srgbClr val="1A1A1A"/>
                  </a:solidFill>
                  <a:latin typeface="Arial"/>
                  <a:ea typeface="Microsoft YaHei"/>
                  <a:cs typeface="Arial"/>
                </a:rPr>
                <a:t>DVT Treatment</a:t>
              </a:r>
            </a:p>
          </p:txBody>
        </p:sp>
        <p:sp>
          <p:nvSpPr>
            <p:cNvPr id="45" name="TextBox 45"/>
            <p:cNvSpPr txBox="1"/>
            <p:nvPr/>
          </p:nvSpPr>
          <p:spPr>
            <a:xfrm>
              <a:off x="4561522" y="2406491"/>
              <a:ext cx="2463260"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825" dirty="0">
                  <a:solidFill>
                    <a:srgbClr val="555555"/>
                  </a:solidFill>
                  <a:latin typeface="Arial"/>
                  <a:ea typeface="Microsoft YaHei"/>
                  <a:cs typeface="Arial"/>
                </a:rPr>
                <a:t>Deep vein thrombosis — inpatient &amp; outpatient</a:t>
              </a:r>
            </a:p>
          </p:txBody>
        </p:sp>
        <p:sp>
          <p:nvSpPr>
            <p:cNvPr id="46" name="Line 46"/>
            <p:cNvSpPr/>
            <p:nvPr/>
          </p:nvSpPr>
          <p:spPr>
            <a:xfrm>
              <a:off x="4305300" y="2647950"/>
              <a:ext cx="3162300" cy="9525"/>
            </a:xfrm>
            <a:custGeom>
              <a:avLst/>
              <a:gdLst/>
              <a:ahLst/>
              <a:cxnLst/>
              <a:rect l="l" t="t" r="r" b="b"/>
              <a:pathLst>
                <a:path w="3162300" h="9525">
                  <a:moveTo>
                    <a:pt x="0" y="0"/>
                  </a:moveTo>
                  <a:lnTo>
                    <a:pt x="3162300" y="0"/>
                  </a:lnTo>
                </a:path>
              </a:pathLst>
            </a:custGeom>
            <a:noFill/>
            <a:ln w="9525">
              <a:solidFill>
                <a:srgbClr val="F5F5F5"/>
              </a:solidFill>
            </a:ln>
          </p:spPr>
        </p:sp>
        <p:sp>
          <p:nvSpPr>
            <p:cNvPr id="47" name="Rectangle 47"/>
            <p:cNvSpPr/>
            <p:nvPr/>
          </p:nvSpPr>
          <p:spPr>
            <a:xfrm>
              <a:off x="4305300" y="2743200"/>
              <a:ext cx="190500" cy="190500"/>
            </a:xfrm>
            <a:prstGeom prst="roundRect">
              <a:avLst>
                <a:gd name="adj" fmla="val 20000"/>
              </a:avLst>
            </a:prstGeom>
            <a:solidFill>
              <a:srgbClr val="AE232F"/>
            </a:solidFill>
            <a:ln>
              <a:noFill/>
            </a:ln>
            <a:effectLst>
              <a:outerShdw blurRad="76200" dist="19050" dir="5400000" algn="ctr" rotWithShape="0">
                <a:srgbClr val="000000">
                  <a:alpha val="5250"/>
                </a:srgbClr>
              </a:outerShdw>
            </a:effectLst>
          </p:spPr>
        </p:sp>
        <p:sp>
          <p:nvSpPr>
            <p:cNvPr id="48" name="TextBox 48"/>
            <p:cNvSpPr txBox="1"/>
            <p:nvPr/>
          </p:nvSpPr>
          <p:spPr>
            <a:xfrm>
              <a:off x="4358306" y="2787491"/>
              <a:ext cx="84488"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b="1" dirty="0">
                  <a:solidFill>
                    <a:srgbClr val="FFFFFF"/>
                  </a:solidFill>
                  <a:latin typeface="Arial"/>
                  <a:ea typeface="Microsoft YaHei"/>
                  <a:cs typeface="Arial"/>
                </a:rPr>
                <a:t>3</a:t>
              </a:r>
            </a:p>
          </p:txBody>
        </p:sp>
        <p:sp>
          <p:nvSpPr>
            <p:cNvPr id="49" name="TextBox 49"/>
            <p:cNvSpPr txBox="1"/>
            <p:nvPr/>
          </p:nvSpPr>
          <p:spPr>
            <a:xfrm>
              <a:off x="4559618" y="2752249"/>
              <a:ext cx="918952" cy="19812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75" b="1" dirty="0">
                  <a:solidFill>
                    <a:srgbClr val="1A1A1A"/>
                  </a:solidFill>
                  <a:latin typeface="Arial"/>
                  <a:ea typeface="Microsoft YaHei"/>
                  <a:cs typeface="Arial"/>
                </a:rPr>
                <a:t>PE Treatment</a:t>
              </a:r>
            </a:p>
          </p:txBody>
        </p:sp>
        <p:sp>
          <p:nvSpPr>
            <p:cNvPr id="50" name="TextBox 50"/>
            <p:cNvSpPr txBox="1"/>
            <p:nvPr/>
          </p:nvSpPr>
          <p:spPr>
            <a:xfrm>
              <a:off x="4561522" y="2920841"/>
              <a:ext cx="2545771"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825" dirty="0">
                  <a:solidFill>
                    <a:srgbClr val="555555"/>
                  </a:solidFill>
                  <a:latin typeface="Arial"/>
                  <a:ea typeface="Microsoft YaHei"/>
                  <a:cs typeface="Arial"/>
                </a:rPr>
                <a:t>Pulmonary embolism with hemodynamic stability</a:t>
              </a:r>
            </a:p>
          </p:txBody>
        </p:sp>
        <p:sp>
          <p:nvSpPr>
            <p:cNvPr id="51" name="Line 51"/>
            <p:cNvSpPr/>
            <p:nvPr/>
          </p:nvSpPr>
          <p:spPr>
            <a:xfrm>
              <a:off x="4305300" y="3162300"/>
              <a:ext cx="3162300" cy="9525"/>
            </a:xfrm>
            <a:custGeom>
              <a:avLst/>
              <a:gdLst/>
              <a:ahLst/>
              <a:cxnLst/>
              <a:rect l="l" t="t" r="r" b="b"/>
              <a:pathLst>
                <a:path w="3162300" h="9525">
                  <a:moveTo>
                    <a:pt x="0" y="0"/>
                  </a:moveTo>
                  <a:lnTo>
                    <a:pt x="3162300" y="0"/>
                  </a:lnTo>
                </a:path>
              </a:pathLst>
            </a:custGeom>
            <a:noFill/>
            <a:ln w="9525">
              <a:solidFill>
                <a:srgbClr val="F5F5F5"/>
              </a:solidFill>
            </a:ln>
          </p:spPr>
        </p:sp>
        <p:sp>
          <p:nvSpPr>
            <p:cNvPr id="52" name="Rectangle 52"/>
            <p:cNvSpPr/>
            <p:nvPr/>
          </p:nvSpPr>
          <p:spPr>
            <a:xfrm>
              <a:off x="4305300" y="3257550"/>
              <a:ext cx="190500" cy="190500"/>
            </a:xfrm>
            <a:prstGeom prst="roundRect">
              <a:avLst>
                <a:gd name="adj" fmla="val 20000"/>
              </a:avLst>
            </a:prstGeom>
            <a:solidFill>
              <a:srgbClr val="AE232F"/>
            </a:solidFill>
            <a:ln>
              <a:noFill/>
            </a:ln>
            <a:effectLst>
              <a:outerShdw blurRad="76200" dist="19050" dir="5400000" algn="ctr" rotWithShape="0">
                <a:srgbClr val="000000">
                  <a:alpha val="5250"/>
                </a:srgbClr>
              </a:outerShdw>
            </a:effectLst>
          </p:spPr>
        </p:sp>
        <p:sp>
          <p:nvSpPr>
            <p:cNvPr id="53" name="TextBox 53"/>
            <p:cNvSpPr txBox="1"/>
            <p:nvPr/>
          </p:nvSpPr>
          <p:spPr>
            <a:xfrm>
              <a:off x="4358306" y="3301841"/>
              <a:ext cx="84488"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b="1" dirty="0">
                  <a:solidFill>
                    <a:srgbClr val="FFFFFF"/>
                  </a:solidFill>
                  <a:latin typeface="Arial"/>
                  <a:ea typeface="Microsoft YaHei"/>
                  <a:cs typeface="Arial"/>
                </a:rPr>
                <a:t>4</a:t>
              </a:r>
            </a:p>
          </p:txBody>
        </p:sp>
        <p:sp>
          <p:nvSpPr>
            <p:cNvPr id="54" name="TextBox 54"/>
            <p:cNvSpPr txBox="1"/>
            <p:nvPr/>
          </p:nvSpPr>
          <p:spPr>
            <a:xfrm>
              <a:off x="4559618" y="3266599"/>
              <a:ext cx="1308025" cy="19812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75" b="1" dirty="0">
                  <a:solidFill>
                    <a:srgbClr val="1A1A1A"/>
                  </a:solidFill>
                  <a:latin typeface="Arial"/>
                  <a:ea typeface="Microsoft YaHei"/>
                  <a:cs typeface="Arial"/>
                </a:rPr>
                <a:t>ACS / STEMI Adjunct</a:t>
              </a:r>
            </a:p>
          </p:txBody>
        </p:sp>
        <p:sp>
          <p:nvSpPr>
            <p:cNvPr id="55" name="TextBox 55"/>
            <p:cNvSpPr txBox="1"/>
            <p:nvPr/>
          </p:nvSpPr>
          <p:spPr>
            <a:xfrm>
              <a:off x="4561522" y="3435191"/>
              <a:ext cx="2353247"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825" dirty="0">
                  <a:solidFill>
                    <a:srgbClr val="555555"/>
                  </a:solidFill>
                  <a:latin typeface="Arial"/>
                  <a:ea typeface="Microsoft YaHei"/>
                  <a:cs typeface="Arial"/>
                </a:rPr>
                <a:t>UA/NSTEMI: 1 mg/kg SC q12h (ESSENCE data)</a:t>
              </a:r>
            </a:p>
          </p:txBody>
        </p:sp>
        <p:sp>
          <p:nvSpPr>
            <p:cNvPr id="56" name="Line 56"/>
            <p:cNvSpPr/>
            <p:nvPr/>
          </p:nvSpPr>
          <p:spPr>
            <a:xfrm>
              <a:off x="4305300" y="3676650"/>
              <a:ext cx="3162300" cy="9525"/>
            </a:xfrm>
            <a:custGeom>
              <a:avLst/>
              <a:gdLst/>
              <a:ahLst/>
              <a:cxnLst/>
              <a:rect l="l" t="t" r="r" b="b"/>
              <a:pathLst>
                <a:path w="3162300" h="9525">
                  <a:moveTo>
                    <a:pt x="0" y="0"/>
                  </a:moveTo>
                  <a:lnTo>
                    <a:pt x="3162300" y="0"/>
                  </a:lnTo>
                </a:path>
              </a:pathLst>
            </a:custGeom>
            <a:noFill/>
            <a:ln w="9525">
              <a:solidFill>
                <a:srgbClr val="F5F5F5"/>
              </a:solidFill>
            </a:ln>
          </p:spPr>
        </p:sp>
        <p:sp>
          <p:nvSpPr>
            <p:cNvPr id="57" name="Rectangle 57"/>
            <p:cNvSpPr/>
            <p:nvPr/>
          </p:nvSpPr>
          <p:spPr>
            <a:xfrm>
              <a:off x="4305300" y="3771900"/>
              <a:ext cx="190500" cy="190500"/>
            </a:xfrm>
            <a:prstGeom prst="roundRect">
              <a:avLst>
                <a:gd name="adj" fmla="val 20000"/>
              </a:avLst>
            </a:prstGeom>
            <a:solidFill>
              <a:srgbClr val="AE232F"/>
            </a:solidFill>
            <a:ln>
              <a:noFill/>
            </a:ln>
            <a:effectLst>
              <a:outerShdw blurRad="76200" dist="19050" dir="5400000" algn="ctr" rotWithShape="0">
                <a:srgbClr val="000000">
                  <a:alpha val="5250"/>
                </a:srgbClr>
              </a:outerShdw>
            </a:effectLst>
          </p:spPr>
        </p:sp>
        <p:sp>
          <p:nvSpPr>
            <p:cNvPr id="58" name="TextBox 58"/>
            <p:cNvSpPr txBox="1"/>
            <p:nvPr/>
          </p:nvSpPr>
          <p:spPr>
            <a:xfrm>
              <a:off x="4358306" y="3816191"/>
              <a:ext cx="84488"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b="1" dirty="0">
                  <a:solidFill>
                    <a:srgbClr val="FFFFFF"/>
                  </a:solidFill>
                  <a:latin typeface="Arial"/>
                  <a:ea typeface="Microsoft YaHei"/>
                  <a:cs typeface="Arial"/>
                </a:rPr>
                <a:t>5</a:t>
              </a:r>
            </a:p>
          </p:txBody>
        </p:sp>
        <p:sp>
          <p:nvSpPr>
            <p:cNvPr id="59" name="TextBox 59"/>
            <p:cNvSpPr txBox="1"/>
            <p:nvPr/>
          </p:nvSpPr>
          <p:spPr>
            <a:xfrm>
              <a:off x="4559618" y="3780949"/>
              <a:ext cx="1116902" cy="19812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75" b="1" dirty="0">
                  <a:solidFill>
                    <a:srgbClr val="1A1A1A"/>
                  </a:solidFill>
                  <a:latin typeface="Arial"/>
                  <a:ea typeface="Microsoft YaHei"/>
                  <a:cs typeface="Arial"/>
                </a:rPr>
                <a:t>Pregnancy (VTE)</a:t>
              </a:r>
            </a:p>
          </p:txBody>
        </p:sp>
        <p:sp>
          <p:nvSpPr>
            <p:cNvPr id="60" name="TextBox 60"/>
            <p:cNvSpPr txBox="1"/>
            <p:nvPr/>
          </p:nvSpPr>
          <p:spPr>
            <a:xfrm>
              <a:off x="4561522" y="3949541"/>
              <a:ext cx="2204728"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825" dirty="0">
                  <a:solidFill>
                    <a:srgbClr val="555555"/>
                  </a:solidFill>
                  <a:latin typeface="Arial"/>
                  <a:ea typeface="Microsoft YaHei"/>
                  <a:cs typeface="Arial"/>
                </a:rPr>
                <a:t>LMWH of choice; does not cross placenta</a:t>
              </a:r>
            </a:p>
          </p:txBody>
        </p:sp>
        <p:sp>
          <p:nvSpPr>
            <p:cNvPr id="61" name="Line 61"/>
            <p:cNvSpPr/>
            <p:nvPr/>
          </p:nvSpPr>
          <p:spPr>
            <a:xfrm>
              <a:off x="4305300" y="4191000"/>
              <a:ext cx="3162300" cy="9525"/>
            </a:xfrm>
            <a:custGeom>
              <a:avLst/>
              <a:gdLst/>
              <a:ahLst/>
              <a:cxnLst/>
              <a:rect l="l" t="t" r="r" b="b"/>
              <a:pathLst>
                <a:path w="3162300" h="9525">
                  <a:moveTo>
                    <a:pt x="0" y="0"/>
                  </a:moveTo>
                  <a:lnTo>
                    <a:pt x="3162300" y="0"/>
                  </a:lnTo>
                </a:path>
              </a:pathLst>
            </a:custGeom>
            <a:noFill/>
            <a:ln w="9525">
              <a:solidFill>
                <a:srgbClr val="F5F5F5"/>
              </a:solidFill>
            </a:ln>
          </p:spPr>
        </p:sp>
        <p:sp>
          <p:nvSpPr>
            <p:cNvPr id="62" name="Rectangle 62"/>
            <p:cNvSpPr/>
            <p:nvPr/>
          </p:nvSpPr>
          <p:spPr>
            <a:xfrm>
              <a:off x="4305300" y="4286250"/>
              <a:ext cx="3162300" cy="552450"/>
            </a:xfrm>
            <a:prstGeom prst="roundRect">
              <a:avLst>
                <a:gd name="adj" fmla="val 10345"/>
              </a:avLst>
            </a:prstGeom>
            <a:solidFill>
              <a:srgbClr val="F5F5F5"/>
            </a:solidFill>
            <a:ln>
              <a:noFill/>
            </a:ln>
            <a:effectLst>
              <a:outerShdw blurRad="76200" dist="19050" dir="5400000" algn="ctr" rotWithShape="0">
                <a:srgbClr val="000000">
                  <a:alpha val="5250"/>
                </a:srgbClr>
              </a:outerShdw>
            </a:effectLst>
          </p:spPr>
        </p:sp>
        <p:sp>
          <p:nvSpPr>
            <p:cNvPr id="63" name="TextBox 63"/>
            <p:cNvSpPr txBox="1"/>
            <p:nvPr/>
          </p:nvSpPr>
          <p:spPr>
            <a:xfrm>
              <a:off x="5125226" y="4379595"/>
              <a:ext cx="1522447"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900" b="1" dirty="0">
                  <a:solidFill>
                    <a:srgbClr val="AE232F"/>
                  </a:solidFill>
                  <a:latin typeface="Arial"/>
                  <a:ea typeface="Microsoft YaHei"/>
                  <a:cs typeface="Arial"/>
                </a:rPr>
                <a:t>Relevant at PMK Hospital</a:t>
              </a:r>
            </a:p>
          </p:txBody>
        </p:sp>
        <p:sp>
          <p:nvSpPr>
            <p:cNvPr id="64" name="TextBox 64"/>
            <p:cNvSpPr txBox="1"/>
            <p:nvPr/>
          </p:nvSpPr>
          <p:spPr>
            <a:xfrm>
              <a:off x="4795087" y="4549616"/>
              <a:ext cx="2182725"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dirty="0">
                  <a:solidFill>
                    <a:srgbClr val="555555"/>
                  </a:solidFill>
                  <a:latin typeface="Arial"/>
                  <a:ea typeface="Microsoft YaHei"/>
                  <a:cs typeface="Arial"/>
                </a:rPr>
                <a:t>High volume of ACS, orthopedic surgery,</a:t>
              </a:r>
            </a:p>
          </p:txBody>
        </p:sp>
        <p:sp>
          <p:nvSpPr>
            <p:cNvPr id="65" name="TextBox 65"/>
            <p:cNvSpPr txBox="1"/>
            <p:nvPr/>
          </p:nvSpPr>
          <p:spPr>
            <a:xfrm>
              <a:off x="4830842" y="4692491"/>
              <a:ext cx="2111216"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dirty="0">
                  <a:solidFill>
                    <a:srgbClr val="555555"/>
                  </a:solidFill>
                  <a:latin typeface="Arial"/>
                  <a:ea typeface="Microsoft YaHei"/>
                  <a:cs typeface="Arial"/>
                </a:rPr>
                <a:t>and ICU patients — all key Clexane users</a:t>
              </a:r>
            </a:p>
          </p:txBody>
        </p:sp>
        <p:sp>
          <p:nvSpPr>
            <p:cNvPr id="66" name="Rectangle 66"/>
            <p:cNvSpPr/>
            <p:nvPr/>
          </p:nvSpPr>
          <p:spPr>
            <a:xfrm>
              <a:off x="4305300" y="5029200"/>
              <a:ext cx="3162300" cy="419100"/>
            </a:xfrm>
            <a:prstGeom prst="roundRect">
              <a:avLst>
                <a:gd name="adj" fmla="val 13636"/>
              </a:avLst>
            </a:prstGeom>
            <a:solidFill>
              <a:srgbClr val="F9E5E7"/>
            </a:solidFill>
            <a:ln>
              <a:noFill/>
            </a:ln>
            <a:effectLst>
              <a:outerShdw blurRad="76200" dist="19050" dir="5400000" algn="ctr" rotWithShape="0">
                <a:srgbClr val="000000">
                  <a:alpha val="5250"/>
                </a:srgbClr>
              </a:outerShdw>
            </a:effectLst>
          </p:spPr>
        </p:sp>
        <p:sp>
          <p:nvSpPr>
            <p:cNvPr id="67" name="TextBox 67"/>
            <p:cNvSpPr txBox="1"/>
            <p:nvPr/>
          </p:nvSpPr>
          <p:spPr>
            <a:xfrm>
              <a:off x="5348904" y="5103495"/>
              <a:ext cx="1075092"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900" b="1" dirty="0">
                  <a:solidFill>
                    <a:srgbClr val="AE232F"/>
                  </a:solidFill>
                  <a:latin typeface="Arial"/>
                  <a:ea typeface="Microsoft YaHei"/>
                  <a:cs typeface="Arial"/>
                </a:rPr>
                <a:t>Guideline backed:</a:t>
              </a:r>
            </a:p>
          </p:txBody>
        </p:sp>
        <p:sp>
          <p:nvSpPr>
            <p:cNvPr id="68" name="TextBox 68"/>
            <p:cNvSpPr txBox="1"/>
            <p:nvPr/>
          </p:nvSpPr>
          <p:spPr>
            <a:xfrm>
              <a:off x="4619065" y="5273516"/>
              <a:ext cx="2534769"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dirty="0">
                  <a:solidFill>
                    <a:srgbClr val="555555"/>
                  </a:solidFill>
                  <a:latin typeface="Arial"/>
                  <a:ea typeface="Microsoft YaHei"/>
                  <a:cs typeface="Arial"/>
                </a:rPr>
                <a:t>ACC/AHA · ESC · ACCP anticoagulation guidelines</a:t>
              </a:r>
            </a:p>
          </p:txBody>
        </p:sp>
      </p:grpSp>
      <p:grpSp>
        <p:nvGrpSpPr>
          <p:cNvPr id="94" name="Group 94"/>
          <p:cNvGrpSpPr/>
          <p:nvPr/>
        </p:nvGrpSpPr>
        <p:grpSpPr>
          <a:xfrm>
            <a:off x="7886700" y="857250"/>
            <a:ext cx="4000500" cy="5467350"/>
            <a:chOff x="7886700" y="857250"/>
            <a:chExt cx="4000500" cy="5467350"/>
          </a:xfrm>
          <a:effectLst>
            <a:outerShdw blurRad="76200" dist="19050" dir="5400000" algn="ctr" rotWithShape="0">
              <a:srgbClr val="000000">
                <a:alpha val="5250"/>
              </a:srgbClr>
            </a:outerShdw>
          </a:effectLst>
        </p:grpSpPr>
        <p:sp>
          <p:nvSpPr>
            <p:cNvPr id="70" name="Rectangle 70"/>
            <p:cNvSpPr/>
            <p:nvPr/>
          </p:nvSpPr>
          <p:spPr>
            <a:xfrm>
              <a:off x="7886700" y="876300"/>
              <a:ext cx="4000500" cy="5448300"/>
            </a:xfrm>
            <a:prstGeom prst="roundRect">
              <a:avLst>
                <a:gd name="adj" fmla="val 2381"/>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71" name="Freeform 71"/>
            <p:cNvSpPr/>
            <p:nvPr/>
          </p:nvSpPr>
          <p:spPr>
            <a:xfrm>
              <a:off x="7886700" y="876300"/>
              <a:ext cx="4000500" cy="666750"/>
            </a:xfrm>
            <a:custGeom>
              <a:avLst/>
              <a:gdLst/>
              <a:ahLst/>
              <a:cxnLst/>
              <a:rect l="l" t="t" r="r" b="b"/>
              <a:pathLst>
                <a:path w="4000500" h="666750">
                  <a:moveTo>
                    <a:pt x="0" y="95250"/>
                  </a:moveTo>
                  <a:cubicBezTo>
                    <a:pt x="0" y="31750"/>
                    <a:pt x="31750" y="0"/>
                    <a:pt x="95250" y="0"/>
                  </a:cubicBezTo>
                  <a:lnTo>
                    <a:pt x="3905250" y="0"/>
                  </a:lnTo>
                  <a:cubicBezTo>
                    <a:pt x="3968750" y="0"/>
                    <a:pt x="4000500" y="31750"/>
                    <a:pt x="4000500" y="95250"/>
                  </a:cubicBezTo>
                  <a:lnTo>
                    <a:pt x="4000500" y="666750"/>
                  </a:lnTo>
                  <a:cubicBezTo>
                    <a:pt x="4000500" y="666750"/>
                    <a:pt x="3333750" y="666750"/>
                    <a:pt x="2000250" y="666750"/>
                  </a:cubicBezTo>
                  <a:cubicBezTo>
                    <a:pt x="666750" y="666750"/>
                    <a:pt x="0" y="666750"/>
                    <a:pt x="0" y="666750"/>
                  </a:cubicBezTo>
                  <a:close/>
                </a:path>
              </a:pathLst>
            </a:custGeom>
            <a:solidFill>
              <a:srgbClr val="AE232F"/>
            </a:solidFill>
            <a:ln>
              <a:noFill/>
            </a:ln>
            <a:effectLst>
              <a:outerShdw blurRad="76200" dist="19050" dir="5400000" algn="ctr" rotWithShape="0">
                <a:srgbClr val="000000">
                  <a:alpha val="5250"/>
                </a:srgbClr>
              </a:outerShdw>
            </a:effectLst>
          </p:spPr>
        </p:sp>
        <p:sp>
          <p:nvSpPr>
            <p:cNvPr id="72" name="Ellipse 72"/>
            <p:cNvSpPr/>
            <p:nvPr/>
          </p:nvSpPr>
          <p:spPr>
            <a:xfrm>
              <a:off x="9658350" y="857250"/>
              <a:ext cx="457200" cy="457200"/>
            </a:xfrm>
            <a:prstGeom prst="ellipse">
              <a:avLst/>
            </a:prstGeom>
            <a:solidFill>
              <a:srgbClr val="8A1B25"/>
            </a:solidFill>
            <a:ln>
              <a:noFill/>
            </a:ln>
            <a:effectLst>
              <a:outerShdw blurRad="76200" dist="19050" dir="5400000" algn="ctr" rotWithShape="0">
                <a:srgbClr val="000000">
                  <a:alpha val="5250"/>
                </a:srgbClr>
              </a:outerShdw>
            </a:effectLst>
          </p:spPr>
        </p:sp>
        <p:sp>
          <p:nvSpPr>
            <p:cNvPr id="73" name="Freeform 73"/>
            <p:cNvSpPr/>
            <p:nvPr/>
          </p:nvSpPr>
          <p:spPr>
            <a:xfrm>
              <a:off x="9787387" y="990600"/>
              <a:ext cx="199117" cy="190602"/>
            </a:xfrm>
            <a:custGeom>
              <a:avLst/>
              <a:gdLst/>
              <a:ahLst/>
              <a:cxnLst/>
              <a:rect l="l" t="t" r="r" b="b"/>
              <a:pathLst>
                <a:path w="199117" h="190602">
                  <a:moveTo>
                    <a:pt x="99544" y="0"/>
                  </a:moveTo>
                  <a:lnTo>
                    <a:pt x="100668" y="67"/>
                  </a:lnTo>
                  <a:lnTo>
                    <a:pt x="101230" y="143"/>
                  </a:lnTo>
                  <a:lnTo>
                    <a:pt x="101811" y="267"/>
                  </a:lnTo>
                  <a:lnTo>
                    <a:pt x="102868" y="591"/>
                  </a:lnTo>
                  <a:cubicBezTo>
                    <a:pt x="103598" y="860"/>
                    <a:pt x="104293" y="1218"/>
                    <a:pt x="104935" y="1657"/>
                  </a:cubicBezTo>
                  <a:lnTo>
                    <a:pt x="105926" y="2438"/>
                  </a:lnTo>
                  <a:lnTo>
                    <a:pt x="108354" y="4515"/>
                  </a:lnTo>
                  <a:cubicBezTo>
                    <a:pt x="127569" y="20475"/>
                    <a:pt x="151854" y="29045"/>
                    <a:pt x="176830" y="28680"/>
                  </a:cubicBezTo>
                  <a:lnTo>
                    <a:pt x="180087" y="28585"/>
                  </a:lnTo>
                  <a:cubicBezTo>
                    <a:pt x="184470" y="28385"/>
                    <a:pt x="188423" y="31204"/>
                    <a:pt x="189660" y="35414"/>
                  </a:cubicBezTo>
                  <a:cubicBezTo>
                    <a:pt x="199117" y="67583"/>
                    <a:pt x="195123" y="102211"/>
                    <a:pt x="178593" y="131383"/>
                  </a:cubicBezTo>
                  <a:cubicBezTo>
                    <a:pt x="162063" y="160555"/>
                    <a:pt x="134409" y="181776"/>
                    <a:pt x="101954" y="190195"/>
                  </a:cubicBezTo>
                  <a:cubicBezTo>
                    <a:pt x="100386" y="190602"/>
                    <a:pt x="98740" y="190602"/>
                    <a:pt x="97172" y="190195"/>
                  </a:cubicBezTo>
                  <a:cubicBezTo>
                    <a:pt x="64715" y="181778"/>
                    <a:pt x="37059" y="160558"/>
                    <a:pt x="20527" y="131386"/>
                  </a:cubicBezTo>
                  <a:cubicBezTo>
                    <a:pt x="3994" y="102213"/>
                    <a:pt x="0" y="67584"/>
                    <a:pt x="9456" y="35414"/>
                  </a:cubicBezTo>
                  <a:cubicBezTo>
                    <a:pt x="10693" y="31204"/>
                    <a:pt x="14646" y="28385"/>
                    <a:pt x="19029" y="28585"/>
                  </a:cubicBezTo>
                  <a:cubicBezTo>
                    <a:pt x="45103" y="29776"/>
                    <a:pt x="70684" y="21193"/>
                    <a:pt x="90762" y="4515"/>
                  </a:cubicBezTo>
                  <a:lnTo>
                    <a:pt x="93267" y="2372"/>
                  </a:lnTo>
                  <a:lnTo>
                    <a:pt x="94181" y="1657"/>
                  </a:lnTo>
                  <a:cubicBezTo>
                    <a:pt x="94824" y="1218"/>
                    <a:pt x="95518" y="860"/>
                    <a:pt x="96248" y="591"/>
                  </a:cubicBezTo>
                  <a:lnTo>
                    <a:pt x="97315" y="267"/>
                  </a:lnTo>
                  <a:cubicBezTo>
                    <a:pt x="97688" y="177"/>
                    <a:pt x="98067" y="110"/>
                    <a:pt x="98448" y="67"/>
                  </a:cubicBezTo>
                  <a:lnTo>
                    <a:pt x="99544" y="0"/>
                  </a:lnTo>
                  <a:close/>
                  <a:moveTo>
                    <a:pt x="134882" y="69466"/>
                  </a:moveTo>
                  <a:cubicBezTo>
                    <a:pt x="133095" y="67677"/>
                    <a:pt x="130671" y="66672"/>
                    <a:pt x="128143" y="66672"/>
                  </a:cubicBezTo>
                  <a:cubicBezTo>
                    <a:pt x="125615" y="66672"/>
                    <a:pt x="123190" y="67677"/>
                    <a:pt x="121404" y="69466"/>
                  </a:cubicBezTo>
                  <a:lnTo>
                    <a:pt x="90038" y="100822"/>
                  </a:lnTo>
                  <a:lnTo>
                    <a:pt x="77722" y="88516"/>
                  </a:lnTo>
                  <a:lnTo>
                    <a:pt x="76827" y="87725"/>
                  </a:lnTo>
                  <a:cubicBezTo>
                    <a:pt x="72854" y="84653"/>
                    <a:pt x="67178" y="85194"/>
                    <a:pt x="63856" y="88961"/>
                  </a:cubicBezTo>
                  <a:cubicBezTo>
                    <a:pt x="60534" y="92728"/>
                    <a:pt x="60708" y="98427"/>
                    <a:pt x="64254" y="101984"/>
                  </a:cubicBezTo>
                  <a:lnTo>
                    <a:pt x="83304" y="121034"/>
                  </a:lnTo>
                  <a:lnTo>
                    <a:pt x="84199" y="121825"/>
                  </a:lnTo>
                  <a:cubicBezTo>
                    <a:pt x="87991" y="124766"/>
                    <a:pt x="93379" y="124427"/>
                    <a:pt x="96772" y="121034"/>
                  </a:cubicBezTo>
                  <a:lnTo>
                    <a:pt x="134872" y="82934"/>
                  </a:lnTo>
                  <a:lnTo>
                    <a:pt x="135663" y="82039"/>
                  </a:lnTo>
                  <a:cubicBezTo>
                    <a:pt x="138604" y="78247"/>
                    <a:pt x="138265" y="72859"/>
                    <a:pt x="134872" y="69466"/>
                  </a:cubicBezTo>
                  <a:close/>
                </a:path>
              </a:pathLst>
            </a:custGeom>
            <a:solidFill>
              <a:srgbClr val="FFFFFF"/>
            </a:solidFill>
            <a:ln>
              <a:noFill/>
            </a:ln>
            <a:effectLst>
              <a:outerShdw blurRad="76200" dist="19050" dir="5400000" algn="ctr" rotWithShape="0">
                <a:srgbClr val="000000">
                  <a:alpha val="5250"/>
                </a:srgbClr>
              </a:outerShdw>
            </a:effectLst>
          </p:spPr>
        </p:sp>
        <p:sp>
          <p:nvSpPr>
            <p:cNvPr id="74" name="TextBox 74"/>
            <p:cNvSpPr txBox="1"/>
            <p:nvPr/>
          </p:nvSpPr>
          <p:spPr>
            <a:xfrm>
              <a:off x="9303919" y="1248728"/>
              <a:ext cx="1166062" cy="21336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1050" b="1" dirty="0">
                  <a:solidFill>
                    <a:srgbClr val="FFFFFF"/>
                  </a:solidFill>
                  <a:latin typeface="Arial"/>
                  <a:ea typeface="Microsoft YaHei"/>
                  <a:cs typeface="Arial"/>
                </a:rPr>
                <a:t>Differentiators</a:t>
              </a:r>
            </a:p>
          </p:txBody>
        </p:sp>
        <p:sp>
          <p:nvSpPr>
            <p:cNvPr id="75" name="TextBox 75"/>
            <p:cNvSpPr txBox="1"/>
            <p:nvPr/>
          </p:nvSpPr>
          <p:spPr>
            <a:xfrm>
              <a:off x="8064818" y="1685449"/>
              <a:ext cx="2789236" cy="19812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75" b="1" dirty="0">
                  <a:solidFill>
                    <a:srgbClr val="AE232F"/>
                  </a:solidFill>
                  <a:latin typeface="Arial"/>
                  <a:ea typeface="Microsoft YaHei"/>
                  <a:cs typeface="Arial"/>
                </a:rPr>
                <a:t>Clexane vs. Unfractionated Heparin (UFH)</a:t>
              </a:r>
            </a:p>
          </p:txBody>
        </p:sp>
        <p:sp>
          <p:nvSpPr>
            <p:cNvPr id="76" name="TextBox 76"/>
            <p:cNvSpPr txBox="1"/>
            <p:nvPr/>
          </p:nvSpPr>
          <p:spPr>
            <a:xfrm>
              <a:off x="8065770" y="1903095"/>
              <a:ext cx="1751076"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No aPTT monitoring required</a:t>
              </a:r>
            </a:p>
          </p:txBody>
        </p:sp>
        <p:sp>
          <p:nvSpPr>
            <p:cNvPr id="77" name="TextBox 77"/>
            <p:cNvSpPr txBox="1"/>
            <p:nvPr/>
          </p:nvSpPr>
          <p:spPr>
            <a:xfrm>
              <a:off x="8065770" y="2093595"/>
              <a:ext cx="2585180"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Once or twice daily SC (vs. continuous IV)</a:t>
              </a:r>
            </a:p>
          </p:txBody>
        </p:sp>
        <p:sp>
          <p:nvSpPr>
            <p:cNvPr id="78" name="TextBox 78"/>
            <p:cNvSpPr txBox="1"/>
            <p:nvPr/>
          </p:nvSpPr>
          <p:spPr>
            <a:xfrm>
              <a:off x="8065770" y="2284095"/>
              <a:ext cx="2153126"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Lower risk of HIT (heparin-induced</a:t>
              </a:r>
            </a:p>
          </p:txBody>
        </p:sp>
        <p:sp>
          <p:nvSpPr>
            <p:cNvPr id="79" name="TextBox 79"/>
            <p:cNvSpPr txBox="1"/>
            <p:nvPr/>
          </p:nvSpPr>
          <p:spPr>
            <a:xfrm>
              <a:off x="8065770" y="2455545"/>
              <a:ext cx="1138999"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thrombocytopenia)</a:t>
              </a:r>
            </a:p>
          </p:txBody>
        </p:sp>
        <p:sp>
          <p:nvSpPr>
            <p:cNvPr id="80" name="TextBox 80"/>
            <p:cNvSpPr txBox="1"/>
            <p:nvPr/>
          </p:nvSpPr>
          <p:spPr>
            <a:xfrm>
              <a:off x="8065770" y="2646045"/>
              <a:ext cx="2009108"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More predictable dose-response</a:t>
              </a:r>
            </a:p>
          </p:txBody>
        </p:sp>
        <p:sp>
          <p:nvSpPr>
            <p:cNvPr id="81" name="TextBox 81"/>
            <p:cNvSpPr txBox="1"/>
            <p:nvPr/>
          </p:nvSpPr>
          <p:spPr>
            <a:xfrm>
              <a:off x="8065770" y="2836545"/>
              <a:ext cx="2129123"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Can be used in outpatient settings</a:t>
              </a:r>
            </a:p>
          </p:txBody>
        </p:sp>
        <p:sp>
          <p:nvSpPr>
            <p:cNvPr id="82" name="Line 82"/>
            <p:cNvSpPr/>
            <p:nvPr/>
          </p:nvSpPr>
          <p:spPr>
            <a:xfrm>
              <a:off x="8077200" y="3105150"/>
              <a:ext cx="3619500" cy="9525"/>
            </a:xfrm>
            <a:custGeom>
              <a:avLst/>
              <a:gdLst/>
              <a:ahLst/>
              <a:cxnLst/>
              <a:rect l="l" t="t" r="r" b="b"/>
              <a:pathLst>
                <a:path w="3619500" h="9525">
                  <a:moveTo>
                    <a:pt x="0" y="0"/>
                  </a:moveTo>
                  <a:lnTo>
                    <a:pt x="3619500" y="0"/>
                  </a:lnTo>
                </a:path>
              </a:pathLst>
            </a:custGeom>
            <a:noFill/>
            <a:ln w="9525">
              <a:solidFill>
                <a:srgbClr val="E0E0E0"/>
              </a:solidFill>
            </a:ln>
          </p:spPr>
        </p:sp>
        <p:sp>
          <p:nvSpPr>
            <p:cNvPr id="83" name="TextBox 83"/>
            <p:cNvSpPr txBox="1"/>
            <p:nvPr/>
          </p:nvSpPr>
          <p:spPr>
            <a:xfrm>
              <a:off x="8064818" y="3209449"/>
              <a:ext cx="2932578" cy="19812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75" b="1" dirty="0">
                  <a:solidFill>
                    <a:srgbClr val="AE232F"/>
                  </a:solidFill>
                  <a:latin typeface="Arial"/>
                  <a:ea typeface="Microsoft YaHei"/>
                  <a:cs typeface="Arial"/>
                </a:rPr>
                <a:t>Clexane vs. DOACs (Rivaroxaban / Apixaban)</a:t>
              </a:r>
            </a:p>
          </p:txBody>
        </p:sp>
        <p:sp>
          <p:nvSpPr>
            <p:cNvPr id="84" name="TextBox 84"/>
            <p:cNvSpPr txBox="1"/>
            <p:nvPr/>
          </p:nvSpPr>
          <p:spPr>
            <a:xfrm>
              <a:off x="8065770" y="3427095"/>
              <a:ext cx="2345150"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Safe in severe renal impairment (eGFR</a:t>
              </a:r>
            </a:p>
          </p:txBody>
        </p:sp>
        <p:sp>
          <p:nvSpPr>
            <p:cNvPr id="85" name="TextBox 85"/>
            <p:cNvSpPr txBox="1"/>
            <p:nvPr/>
          </p:nvSpPr>
          <p:spPr>
            <a:xfrm>
              <a:off x="8065770" y="3598545"/>
              <a:ext cx="2177129"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adjusted) vs. DOACs contraindicated</a:t>
              </a:r>
            </a:p>
          </p:txBody>
        </p:sp>
        <p:sp>
          <p:nvSpPr>
            <p:cNvPr id="86" name="TextBox 86"/>
            <p:cNvSpPr txBox="1"/>
            <p:nvPr/>
          </p:nvSpPr>
          <p:spPr>
            <a:xfrm>
              <a:off x="8065770" y="3789045"/>
              <a:ext cx="2111121"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Reversible with protamine sulfate</a:t>
              </a:r>
            </a:p>
          </p:txBody>
        </p:sp>
        <p:sp>
          <p:nvSpPr>
            <p:cNvPr id="87" name="TextBox 87"/>
            <p:cNvSpPr txBox="1"/>
            <p:nvPr/>
          </p:nvSpPr>
          <p:spPr>
            <a:xfrm>
              <a:off x="8065770" y="3979545"/>
              <a:ext cx="2477167"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Safe in pregnancy (DOACs not approved)</a:t>
              </a:r>
            </a:p>
          </p:txBody>
        </p:sp>
        <p:sp>
          <p:nvSpPr>
            <p:cNvPr id="88" name="TextBox 88"/>
            <p:cNvSpPr txBox="1"/>
            <p:nvPr/>
          </p:nvSpPr>
          <p:spPr>
            <a:xfrm>
              <a:off x="8065770" y="4170045"/>
              <a:ext cx="2519172"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Decades of RCT evidence &amp; real-world use</a:t>
              </a:r>
            </a:p>
          </p:txBody>
        </p:sp>
        <p:sp>
          <p:nvSpPr>
            <p:cNvPr id="89" name="TextBox 89"/>
            <p:cNvSpPr txBox="1"/>
            <p:nvPr/>
          </p:nvSpPr>
          <p:spPr>
            <a:xfrm>
              <a:off x="8065770" y="4360545"/>
              <a:ext cx="2111121"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Available on Thai national drug list</a:t>
              </a:r>
            </a:p>
          </p:txBody>
        </p:sp>
        <p:sp>
          <p:nvSpPr>
            <p:cNvPr id="90" name="Rectangle 90"/>
            <p:cNvSpPr/>
            <p:nvPr/>
          </p:nvSpPr>
          <p:spPr>
            <a:xfrm>
              <a:off x="8077200" y="4705350"/>
              <a:ext cx="3619500" cy="609600"/>
            </a:xfrm>
            <a:prstGeom prst="roundRect">
              <a:avLst>
                <a:gd name="adj" fmla="val 9375"/>
              </a:avLst>
            </a:prstGeom>
            <a:solidFill>
              <a:srgbClr val="F9E5E7"/>
            </a:solidFill>
            <a:ln>
              <a:noFill/>
            </a:ln>
            <a:effectLst>
              <a:outerShdw blurRad="76200" dist="19050" dir="5400000" algn="ctr" rotWithShape="0">
                <a:srgbClr val="000000">
                  <a:alpha val="5250"/>
                </a:srgbClr>
              </a:outerShdw>
            </a:effectLst>
          </p:spPr>
        </p:sp>
        <p:sp>
          <p:nvSpPr>
            <p:cNvPr id="91" name="TextBox 91"/>
            <p:cNvSpPr txBox="1"/>
            <p:nvPr/>
          </p:nvSpPr>
          <p:spPr>
            <a:xfrm>
              <a:off x="8760281" y="4798695"/>
              <a:ext cx="2253339"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900" b="1" dirty="0">
                  <a:solidFill>
                    <a:srgbClr val="AE232F"/>
                  </a:solidFill>
                  <a:latin typeface="Arial"/>
                  <a:ea typeface="Microsoft YaHei"/>
                  <a:cs typeface="Arial"/>
                </a:rPr>
                <a:t>Brand insight for MR conversations:</a:t>
              </a:r>
            </a:p>
          </p:txBody>
        </p:sp>
        <p:sp>
          <p:nvSpPr>
            <p:cNvPr id="92" name="TextBox 92"/>
            <p:cNvSpPr txBox="1"/>
            <p:nvPr/>
          </p:nvSpPr>
          <p:spPr>
            <a:xfrm>
              <a:off x="8693825" y="4978241"/>
              <a:ext cx="2386251"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dirty="0">
                  <a:solidFill>
                    <a:srgbClr val="555555"/>
                  </a:solidFill>
                  <a:latin typeface="Arial"/>
                  <a:ea typeface="Microsoft YaHei"/>
                  <a:cs typeface="Arial"/>
                </a:rPr>
                <a:t>"Clexane is the only LMWH with both breadth</a:t>
              </a:r>
            </a:p>
          </p:txBody>
        </p:sp>
        <p:sp>
          <p:nvSpPr>
            <p:cNvPr id="93" name="TextBox 93"/>
            <p:cNvSpPr txBox="1"/>
            <p:nvPr/>
          </p:nvSpPr>
          <p:spPr>
            <a:xfrm>
              <a:off x="8776335" y="5130641"/>
              <a:ext cx="2221230"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dirty="0">
                  <a:solidFill>
                    <a:srgbClr val="555555"/>
                  </a:solidFill>
                  <a:latin typeface="Arial"/>
                  <a:ea typeface="Microsoft YaHei"/>
                  <a:cs typeface="Arial"/>
                </a:rPr>
                <a:t>of evidence and ease of outpatient use."</a:t>
              </a:r>
            </a:p>
          </p:txBody>
        </p:sp>
      </p:grpSp>
      <p:grpSp>
        <p:nvGrpSpPr>
          <p:cNvPr id="97" name="Group 97"/>
          <p:cNvGrpSpPr/>
          <p:nvPr/>
        </p:nvGrpSpPr>
        <p:grpSpPr>
          <a:xfrm>
            <a:off x="0" y="6496050"/>
            <a:ext cx="12192000" cy="361950"/>
            <a:chOff x="0" y="6496050"/>
            <a:chExt cx="12192000" cy="361950"/>
          </a:xfrm>
        </p:grpSpPr>
        <p:sp>
          <p:nvSpPr>
            <p:cNvPr id="95" name="Rectangle 95"/>
            <p:cNvSpPr/>
            <p:nvPr/>
          </p:nvSpPr>
          <p:spPr>
            <a:xfrm>
              <a:off x="0" y="6496050"/>
              <a:ext cx="12192000" cy="361950"/>
            </a:xfrm>
            <a:prstGeom prst="rect">
              <a:avLst/>
            </a:prstGeom>
            <a:solidFill>
              <a:srgbClr val="AE232F"/>
            </a:solidFill>
            <a:ln>
              <a:noFill/>
            </a:ln>
          </p:spPr>
        </p:sp>
        <p:sp>
          <p:nvSpPr>
            <p:cNvPr id="96" name="TextBox 96"/>
            <p:cNvSpPr txBox="1"/>
            <p:nvPr/>
          </p:nvSpPr>
          <p:spPr>
            <a:xfrm>
              <a:off x="4128325" y="6627495"/>
              <a:ext cx="3935349"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Rattanakorn Rattanaroj | Rattanaroj.jan@gmail.com | 080-045-0821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slide(fromBottom)">
                                      <p:cBhvr>
                                        <p:cTn id="7" dur="400"/>
                                        <p:tgtEl>
                                          <p:spTgt spid="31"/>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69"/>
                                        </p:tgtEl>
                                        <p:attrNameLst>
                                          <p:attrName>style.visibility</p:attrName>
                                        </p:attrNameLst>
                                      </p:cBhvr>
                                      <p:to>
                                        <p:strVal val="visible"/>
                                      </p:to>
                                    </p:set>
                                    <p:animEffect transition="in" filter="image">
                                      <p:cBhvr>
                                        <p:cTn id="11" dur="400"/>
                                        <p:tgtEl>
                                          <p:spTgt spid="69"/>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94"/>
                                        </p:tgtEl>
                                        <p:attrNameLst>
                                          <p:attrName>style.visibility</p:attrName>
                                        </p:attrNameLst>
                                      </p:cBhvr>
                                      <p:to>
                                        <p:strVal val="visible"/>
                                      </p:to>
                                    </p:set>
                                    <p:animEffect transition="in" filter="fade">
                                      <p:cBhvr>
                                        <p:cTn id="15" dur="4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69" grpId="0"/>
      <p:bldP spid="9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42950"/>
          </a:xfrm>
          <a:prstGeom prst="rect">
            <a:avLst/>
          </a:prstGeom>
          <a:solidFill>
            <a:srgbClr val="AE232F"/>
          </a:solidFill>
          <a:ln>
            <a:noFill/>
          </a:ln>
        </p:spPr>
      </p:sp>
      <p:sp>
        <p:nvSpPr>
          <p:cNvPr id="4" name="Rectangle 4"/>
          <p:cNvSpPr/>
          <p:nvPr/>
        </p:nvSpPr>
        <p:spPr>
          <a:xfrm>
            <a:off x="266700" y="171450"/>
            <a:ext cx="304800" cy="304800"/>
          </a:xfrm>
          <a:prstGeom prst="roundRect">
            <a:avLst>
              <a:gd name="adj" fmla="val 18750"/>
            </a:avLst>
          </a:prstGeom>
          <a:solidFill>
            <a:srgbClr val="8A1B25"/>
          </a:solidFill>
          <a:ln>
            <a:noFill/>
          </a:ln>
        </p:spPr>
      </p:sp>
      <p:sp>
        <p:nvSpPr>
          <p:cNvPr id="5" name="TextBox 5"/>
          <p:cNvSpPr txBox="1"/>
          <p:nvPr/>
        </p:nvSpPr>
        <p:spPr>
          <a:xfrm>
            <a:off x="318177" y="250031"/>
            <a:ext cx="20184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07</a:t>
            </a:r>
          </a:p>
        </p:txBody>
      </p:sp>
      <p:sp>
        <p:nvSpPr>
          <p:cNvPr id="6" name="TextBox 6"/>
          <p:cNvSpPr txBox="1"/>
          <p:nvPr/>
        </p:nvSpPr>
        <p:spPr>
          <a:xfrm>
            <a:off x="718185" y="208598"/>
            <a:ext cx="5742292"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a:ea typeface="Microsoft YaHei"/>
                <a:cs typeface="Arial"/>
              </a:rPr>
              <a:t>Who I Call On — Target Physician Specialties</a:t>
            </a:r>
          </a:p>
        </p:txBody>
      </p:sp>
      <p:sp>
        <p:nvSpPr>
          <p:cNvPr id="7" name="TextBox 7"/>
          <p:cNvSpPr txBox="1"/>
          <p:nvPr/>
        </p:nvSpPr>
        <p:spPr>
          <a:xfrm>
            <a:off x="730568" y="504349"/>
            <a:ext cx="5179909" cy="198120"/>
          </a:xfrm>
          <a:prstGeom prst="rect">
            <a:avLst/>
          </a:prstGeom>
          <a:noFill/>
          <a:ln>
            <a:noFill/>
          </a:ln>
        </p:spPr>
        <p:txBody>
          <a:bodyPr wrap="none" lIns="0" tIns="0" rIns="0" bIns="0" anchor="t" anchorCtr="0">
            <a:spAutoFit/>
          </a:bodyPr>
          <a:lstStyle/>
          <a:p>
            <a:pPr algn="l"/>
            <a:r>
              <a:rPr lang="zh-CN" sz="975" dirty="0">
                <a:solidFill>
                  <a:srgbClr val="F9E5E7"/>
                </a:solidFill>
                <a:latin typeface="Arial"/>
                <a:ea typeface="Microsoft YaHei"/>
                <a:cs typeface="Arial"/>
              </a:rPr>
              <a:t>Five key stakeholder groups · Tier A priority calls · Clinical partnership approach</a:t>
            </a:r>
          </a:p>
        </p:txBody>
      </p:sp>
      <p:grpSp>
        <p:nvGrpSpPr>
          <p:cNvPr id="22" name="Group 22"/>
          <p:cNvGrpSpPr/>
          <p:nvPr/>
        </p:nvGrpSpPr>
        <p:grpSpPr>
          <a:xfrm>
            <a:off x="342900" y="876300"/>
            <a:ext cx="6085523" cy="1600200"/>
            <a:chOff x="342900" y="876300"/>
            <a:chExt cx="6085523" cy="1600200"/>
          </a:xfrm>
          <a:effectLst>
            <a:outerShdw blurRad="76200" dist="19050" dir="5400000" algn="ctr" rotWithShape="0">
              <a:srgbClr val="000000">
                <a:alpha val="5250"/>
              </a:srgbClr>
            </a:outerShdw>
          </a:effectLst>
        </p:grpSpPr>
        <p:sp>
          <p:nvSpPr>
            <p:cNvPr id="8" name="Rectangle 8"/>
            <p:cNvSpPr/>
            <p:nvPr/>
          </p:nvSpPr>
          <p:spPr>
            <a:xfrm>
              <a:off x="342900" y="876300"/>
              <a:ext cx="5695950" cy="1600200"/>
            </a:xfrm>
            <a:prstGeom prst="roundRect">
              <a:avLst>
                <a:gd name="adj" fmla="val 4762"/>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9" name="Rectangle 9"/>
            <p:cNvSpPr/>
            <p:nvPr/>
          </p:nvSpPr>
          <p:spPr>
            <a:xfrm>
              <a:off x="342900" y="876300"/>
              <a:ext cx="47625" cy="1600200"/>
            </a:xfrm>
            <a:prstGeom prst="roundRect">
              <a:avLst>
                <a:gd name="adj" fmla="val 50000"/>
              </a:avLst>
            </a:prstGeom>
            <a:solidFill>
              <a:srgbClr val="AE232F"/>
            </a:solidFill>
            <a:ln>
              <a:noFill/>
            </a:ln>
            <a:effectLst>
              <a:outerShdw blurRad="76200" dist="19050" dir="5400000" algn="ctr" rotWithShape="0">
                <a:srgbClr val="000000">
                  <a:alpha val="5250"/>
                </a:srgbClr>
              </a:outerShdw>
            </a:effectLst>
          </p:spPr>
        </p:sp>
        <p:sp>
          <p:nvSpPr>
            <p:cNvPr id="10" name="Rectangle 10"/>
            <p:cNvSpPr/>
            <p:nvPr/>
          </p:nvSpPr>
          <p:spPr>
            <a:xfrm>
              <a:off x="5467350" y="952500"/>
              <a:ext cx="457200" cy="209550"/>
            </a:xfrm>
            <a:prstGeom prst="roundRect">
              <a:avLst>
                <a:gd name="adj" fmla="val 18182"/>
              </a:avLst>
            </a:prstGeom>
            <a:solidFill>
              <a:srgbClr val="AE232F"/>
            </a:solidFill>
            <a:ln>
              <a:noFill/>
            </a:ln>
            <a:effectLst>
              <a:outerShdw blurRad="76200" dist="19050" dir="5400000" algn="ctr" rotWithShape="0">
                <a:srgbClr val="000000">
                  <a:alpha val="5250"/>
                </a:srgbClr>
              </a:outerShdw>
            </a:effectLst>
          </p:spPr>
        </p:sp>
        <p:sp>
          <p:nvSpPr>
            <p:cNvPr id="11" name="TextBox 11"/>
            <p:cNvSpPr txBox="1"/>
            <p:nvPr/>
          </p:nvSpPr>
          <p:spPr>
            <a:xfrm>
              <a:off x="5523752" y="1006316"/>
              <a:ext cx="344395"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b="1" dirty="0">
                  <a:solidFill>
                    <a:srgbClr val="FFFFFF"/>
                  </a:solidFill>
                  <a:latin typeface="Arial"/>
                  <a:ea typeface="Microsoft YaHei"/>
                  <a:cs typeface="Arial"/>
                </a:rPr>
                <a:t>Tier A</a:t>
              </a:r>
            </a:p>
          </p:txBody>
        </p:sp>
        <p:sp>
          <p:nvSpPr>
            <p:cNvPr id="12" name="Ellipse 12"/>
            <p:cNvSpPr/>
            <p:nvPr/>
          </p:nvSpPr>
          <p:spPr>
            <a:xfrm>
              <a:off x="476250" y="990600"/>
              <a:ext cx="419100" cy="419100"/>
            </a:xfrm>
            <a:prstGeom prst="ellipse">
              <a:avLst/>
            </a:prstGeom>
            <a:solidFill>
              <a:srgbClr val="F9E5E7"/>
            </a:solidFill>
            <a:ln>
              <a:noFill/>
            </a:ln>
            <a:effectLst>
              <a:outerShdw blurRad="76200" dist="19050" dir="5400000" algn="ctr" rotWithShape="0">
                <a:srgbClr val="000000">
                  <a:alpha val="5250"/>
                </a:srgbClr>
              </a:outerShdw>
            </a:effectLst>
          </p:spPr>
        </p:sp>
        <p:sp>
          <p:nvSpPr>
            <p:cNvPr id="13" name="Freeform 13"/>
            <p:cNvSpPr/>
            <p:nvPr/>
          </p:nvSpPr>
          <p:spPr>
            <a:xfrm>
              <a:off x="590550" y="1104900"/>
              <a:ext cx="190500" cy="190500"/>
            </a:xfrm>
            <a:custGeom>
              <a:avLst/>
              <a:gdLst/>
              <a:ahLst/>
              <a:cxnLst/>
              <a:rect l="l" t="t" r="r" b="b"/>
              <a:pathLst>
                <a:path w="190500" h="190500">
                  <a:moveTo>
                    <a:pt x="95250" y="0"/>
                  </a:moveTo>
                  <a:cubicBezTo>
                    <a:pt x="147857" y="0"/>
                    <a:pt x="190500" y="42643"/>
                    <a:pt x="190500" y="95250"/>
                  </a:cubicBezTo>
                  <a:cubicBezTo>
                    <a:pt x="190500" y="147855"/>
                    <a:pt x="147855" y="190500"/>
                    <a:pt x="95250" y="190500"/>
                  </a:cubicBezTo>
                  <a:cubicBezTo>
                    <a:pt x="42645" y="190500"/>
                    <a:pt x="0" y="147855"/>
                    <a:pt x="0" y="95250"/>
                  </a:cubicBezTo>
                  <a:lnTo>
                    <a:pt x="38" y="92583"/>
                  </a:lnTo>
                  <a:cubicBezTo>
                    <a:pt x="1448" y="41215"/>
                    <a:pt x="43529" y="0"/>
                    <a:pt x="95250" y="0"/>
                  </a:cubicBezTo>
                  <a:moveTo>
                    <a:pt x="114300" y="47625"/>
                  </a:moveTo>
                  <a:cubicBezTo>
                    <a:pt x="109039" y="47625"/>
                    <a:pt x="104775" y="51889"/>
                    <a:pt x="104775" y="57150"/>
                  </a:cubicBezTo>
                  <a:lnTo>
                    <a:pt x="104775" y="85715"/>
                  </a:lnTo>
                  <a:lnTo>
                    <a:pt x="85725" y="85715"/>
                  </a:lnTo>
                  <a:lnTo>
                    <a:pt x="85725" y="57150"/>
                  </a:lnTo>
                  <a:cubicBezTo>
                    <a:pt x="85724" y="52321"/>
                    <a:pt x="82110" y="48257"/>
                    <a:pt x="77314" y="47692"/>
                  </a:cubicBezTo>
                  <a:lnTo>
                    <a:pt x="76200" y="47625"/>
                  </a:lnTo>
                  <a:cubicBezTo>
                    <a:pt x="70939" y="47625"/>
                    <a:pt x="66675" y="51889"/>
                    <a:pt x="66675" y="57150"/>
                  </a:cubicBezTo>
                  <a:lnTo>
                    <a:pt x="66675" y="133350"/>
                  </a:lnTo>
                  <a:cubicBezTo>
                    <a:pt x="66675" y="138611"/>
                    <a:pt x="70939" y="142875"/>
                    <a:pt x="76200" y="142875"/>
                  </a:cubicBezTo>
                  <a:cubicBezTo>
                    <a:pt x="81461" y="142875"/>
                    <a:pt x="85725" y="138611"/>
                    <a:pt x="85725" y="133350"/>
                  </a:cubicBezTo>
                  <a:lnTo>
                    <a:pt x="85725" y="104765"/>
                  </a:lnTo>
                  <a:lnTo>
                    <a:pt x="104775" y="104765"/>
                  </a:lnTo>
                  <a:lnTo>
                    <a:pt x="104775" y="133350"/>
                  </a:lnTo>
                  <a:cubicBezTo>
                    <a:pt x="104776" y="138179"/>
                    <a:pt x="108390" y="142243"/>
                    <a:pt x="113186" y="142808"/>
                  </a:cubicBezTo>
                  <a:lnTo>
                    <a:pt x="114300" y="142875"/>
                  </a:lnTo>
                  <a:cubicBezTo>
                    <a:pt x="119561" y="142875"/>
                    <a:pt x="123825" y="138611"/>
                    <a:pt x="123825" y="133350"/>
                  </a:cubicBezTo>
                  <a:lnTo>
                    <a:pt x="123825" y="57150"/>
                  </a:lnTo>
                  <a:cubicBezTo>
                    <a:pt x="123825" y="51889"/>
                    <a:pt x="119561" y="47625"/>
                    <a:pt x="114300" y="47625"/>
                  </a:cubicBezTo>
                </a:path>
              </a:pathLst>
            </a:custGeom>
            <a:solidFill>
              <a:srgbClr val="AE232F"/>
            </a:solidFill>
            <a:ln>
              <a:noFill/>
            </a:ln>
            <a:effectLst>
              <a:outerShdw blurRad="76200" dist="19050" dir="5400000" algn="ctr" rotWithShape="0">
                <a:srgbClr val="000000">
                  <a:alpha val="5250"/>
                </a:srgbClr>
              </a:outerShdw>
            </a:effectLst>
          </p:spPr>
        </p:sp>
        <p:sp>
          <p:nvSpPr>
            <p:cNvPr id="14" name="TextBox 14"/>
            <p:cNvSpPr txBox="1"/>
            <p:nvPr/>
          </p:nvSpPr>
          <p:spPr>
            <a:xfrm>
              <a:off x="995362" y="1021556"/>
              <a:ext cx="1540764" cy="22860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1125" b="1" dirty="0">
                  <a:solidFill>
                    <a:srgbClr val="1A1A1A"/>
                  </a:solidFill>
                  <a:latin typeface="Arial"/>
                  <a:ea typeface="Microsoft YaHei"/>
                  <a:cs typeface="Arial"/>
                </a:rPr>
                <a:t>Orthopedic Surgeon</a:t>
              </a:r>
            </a:p>
          </p:txBody>
        </p:sp>
        <p:sp>
          <p:nvSpPr>
            <p:cNvPr id="15" name="TextBox 15"/>
            <p:cNvSpPr txBox="1"/>
            <p:nvPr/>
          </p:nvSpPr>
          <p:spPr>
            <a:xfrm>
              <a:off x="999172" y="1225391"/>
              <a:ext cx="3740520"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825" b="1" dirty="0">
                  <a:solidFill>
                    <a:srgbClr val="AE232F"/>
                  </a:solidFill>
                  <a:latin typeface="Arial"/>
                  <a:ea typeface="Microsoft YaHei"/>
                  <a:cs typeface="Arial"/>
                </a:rPr>
                <a:t>Clexane role: DVT prophylaxis post Hip &amp; Knee Replacement surgery</a:t>
              </a:r>
            </a:p>
          </p:txBody>
        </p:sp>
        <p:sp>
          <p:nvSpPr>
            <p:cNvPr id="16" name="Line 16"/>
            <p:cNvSpPr/>
            <p:nvPr/>
          </p:nvSpPr>
          <p:spPr>
            <a:xfrm>
              <a:off x="476250" y="1438275"/>
              <a:ext cx="5448300" cy="9525"/>
            </a:xfrm>
            <a:custGeom>
              <a:avLst/>
              <a:gdLst/>
              <a:ahLst/>
              <a:cxnLst/>
              <a:rect l="l" t="t" r="r" b="b"/>
              <a:pathLst>
                <a:path w="5448300" h="9525">
                  <a:moveTo>
                    <a:pt x="0" y="0"/>
                  </a:moveTo>
                  <a:lnTo>
                    <a:pt x="5448300" y="0"/>
                  </a:lnTo>
                </a:path>
              </a:pathLst>
            </a:custGeom>
            <a:noFill/>
            <a:ln w="9525">
              <a:solidFill>
                <a:srgbClr val="F5F5F5"/>
              </a:solidFill>
            </a:ln>
          </p:spPr>
        </p:sp>
        <p:sp>
          <p:nvSpPr>
            <p:cNvPr id="17" name="TextBox 17"/>
            <p:cNvSpPr txBox="1"/>
            <p:nvPr/>
          </p:nvSpPr>
          <p:spPr>
            <a:xfrm>
              <a:off x="464820" y="1503045"/>
              <a:ext cx="848263"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b="1" dirty="0">
                  <a:solidFill>
                    <a:srgbClr val="555555"/>
                  </a:solidFill>
                  <a:latin typeface="Arial"/>
                  <a:ea typeface="Microsoft YaHei"/>
                  <a:cs typeface="Arial"/>
                </a:rPr>
                <a:t>Key message:</a:t>
              </a:r>
            </a:p>
          </p:txBody>
        </p:sp>
        <p:sp>
          <p:nvSpPr>
            <p:cNvPr id="18" name="TextBox 18"/>
            <p:cNvSpPr txBox="1"/>
            <p:nvPr/>
          </p:nvSpPr>
          <p:spPr>
            <a:xfrm>
              <a:off x="464820" y="1674495"/>
              <a:ext cx="5285518"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Predictable dosing, no aPTT monitoring — patient can self-inject at home after discharge.</a:t>
              </a:r>
            </a:p>
          </p:txBody>
        </p:sp>
        <p:sp>
          <p:nvSpPr>
            <p:cNvPr id="19" name="TextBox 19"/>
            <p:cNvSpPr txBox="1"/>
            <p:nvPr/>
          </p:nvSpPr>
          <p:spPr>
            <a:xfrm>
              <a:off x="464820" y="1826895"/>
              <a:ext cx="4577429"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Reduces nursing burden and enables same-day or next-day discharge planning.</a:t>
              </a:r>
            </a:p>
          </p:txBody>
        </p:sp>
        <p:sp>
          <p:nvSpPr>
            <p:cNvPr id="20" name="TextBox 20"/>
            <p:cNvSpPr txBox="1"/>
            <p:nvPr/>
          </p:nvSpPr>
          <p:spPr>
            <a:xfrm>
              <a:off x="464820" y="1998345"/>
              <a:ext cx="4787456"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Clinical guideline: ACCP 2022 — LMWH preferred over UFH for hip/knee prophylaxis.</a:t>
              </a:r>
            </a:p>
          </p:txBody>
        </p:sp>
        <p:sp>
          <p:nvSpPr>
            <p:cNvPr id="21" name="TextBox 21"/>
            <p:cNvSpPr txBox="1"/>
            <p:nvPr/>
          </p:nvSpPr>
          <p:spPr>
            <a:xfrm>
              <a:off x="464820" y="2169795"/>
              <a:ext cx="5963603"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Duration: 10–14 days (knee) or up to 35 days (hip) — extended outpatient use fits Clexane perfectly.</a:t>
              </a:r>
            </a:p>
          </p:txBody>
        </p:sp>
      </p:grpSp>
      <p:grpSp>
        <p:nvGrpSpPr>
          <p:cNvPr id="37" name="Group 37"/>
          <p:cNvGrpSpPr/>
          <p:nvPr/>
        </p:nvGrpSpPr>
        <p:grpSpPr>
          <a:xfrm>
            <a:off x="342900" y="2590800"/>
            <a:ext cx="5695950" cy="1600200"/>
            <a:chOff x="342900" y="2590800"/>
            <a:chExt cx="5695950" cy="1600200"/>
          </a:xfrm>
          <a:effectLst>
            <a:outerShdw blurRad="76200" dist="19050" dir="5400000" algn="ctr" rotWithShape="0">
              <a:srgbClr val="000000">
                <a:alpha val="5250"/>
              </a:srgbClr>
            </a:outerShdw>
          </a:effectLst>
        </p:grpSpPr>
        <p:sp>
          <p:nvSpPr>
            <p:cNvPr id="23" name="Rectangle 23"/>
            <p:cNvSpPr/>
            <p:nvPr/>
          </p:nvSpPr>
          <p:spPr>
            <a:xfrm>
              <a:off x="342900" y="2590800"/>
              <a:ext cx="5695950" cy="1600200"/>
            </a:xfrm>
            <a:prstGeom prst="roundRect">
              <a:avLst>
                <a:gd name="adj" fmla="val 4762"/>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24" name="Rectangle 24"/>
            <p:cNvSpPr/>
            <p:nvPr/>
          </p:nvSpPr>
          <p:spPr>
            <a:xfrm>
              <a:off x="342900" y="2590800"/>
              <a:ext cx="47625" cy="1600200"/>
            </a:xfrm>
            <a:prstGeom prst="roundRect">
              <a:avLst>
                <a:gd name="adj" fmla="val 50000"/>
              </a:avLst>
            </a:prstGeom>
            <a:solidFill>
              <a:srgbClr val="AE232F"/>
            </a:solidFill>
            <a:ln>
              <a:noFill/>
            </a:ln>
            <a:effectLst>
              <a:outerShdw blurRad="76200" dist="19050" dir="5400000" algn="ctr" rotWithShape="0">
                <a:srgbClr val="000000">
                  <a:alpha val="5250"/>
                </a:srgbClr>
              </a:outerShdw>
            </a:effectLst>
          </p:spPr>
        </p:sp>
        <p:sp>
          <p:nvSpPr>
            <p:cNvPr id="25" name="Rectangle 25"/>
            <p:cNvSpPr/>
            <p:nvPr/>
          </p:nvSpPr>
          <p:spPr>
            <a:xfrm>
              <a:off x="5467350" y="2667000"/>
              <a:ext cx="457200" cy="209550"/>
            </a:xfrm>
            <a:prstGeom prst="roundRect">
              <a:avLst>
                <a:gd name="adj" fmla="val 18182"/>
              </a:avLst>
            </a:prstGeom>
            <a:solidFill>
              <a:srgbClr val="AE232F"/>
            </a:solidFill>
            <a:ln>
              <a:noFill/>
            </a:ln>
            <a:effectLst>
              <a:outerShdw blurRad="76200" dist="19050" dir="5400000" algn="ctr" rotWithShape="0">
                <a:srgbClr val="000000">
                  <a:alpha val="5250"/>
                </a:srgbClr>
              </a:outerShdw>
            </a:effectLst>
          </p:spPr>
        </p:sp>
        <p:sp>
          <p:nvSpPr>
            <p:cNvPr id="26" name="TextBox 26"/>
            <p:cNvSpPr txBox="1"/>
            <p:nvPr/>
          </p:nvSpPr>
          <p:spPr>
            <a:xfrm>
              <a:off x="5523752" y="2720816"/>
              <a:ext cx="344395"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b="1" dirty="0">
                  <a:solidFill>
                    <a:srgbClr val="FFFFFF"/>
                  </a:solidFill>
                  <a:latin typeface="Arial"/>
                  <a:ea typeface="Microsoft YaHei"/>
                  <a:cs typeface="Arial"/>
                </a:rPr>
                <a:t>Tier A</a:t>
              </a:r>
            </a:p>
          </p:txBody>
        </p:sp>
        <p:sp>
          <p:nvSpPr>
            <p:cNvPr id="27" name="Ellipse 27"/>
            <p:cNvSpPr/>
            <p:nvPr/>
          </p:nvSpPr>
          <p:spPr>
            <a:xfrm>
              <a:off x="476250" y="2705100"/>
              <a:ext cx="419100" cy="419100"/>
            </a:xfrm>
            <a:prstGeom prst="ellipse">
              <a:avLst/>
            </a:prstGeom>
            <a:solidFill>
              <a:srgbClr val="F9E5E7"/>
            </a:solidFill>
            <a:ln>
              <a:noFill/>
            </a:ln>
            <a:effectLst>
              <a:outerShdw blurRad="76200" dist="19050" dir="5400000" algn="ctr" rotWithShape="0">
                <a:srgbClr val="000000">
                  <a:alpha val="5250"/>
                </a:srgbClr>
              </a:outerShdw>
            </a:effectLst>
          </p:spPr>
        </p:sp>
        <p:sp>
          <p:nvSpPr>
            <p:cNvPr id="28" name="Freeform 28"/>
            <p:cNvSpPr/>
            <p:nvPr/>
          </p:nvSpPr>
          <p:spPr>
            <a:xfrm>
              <a:off x="586618" y="2826720"/>
              <a:ext cx="198107" cy="174587"/>
            </a:xfrm>
            <a:custGeom>
              <a:avLst/>
              <a:gdLst/>
              <a:ahLst/>
              <a:cxnLst/>
              <a:rect l="l" t="t" r="r" b="b"/>
              <a:pathLst>
                <a:path w="198107" h="174587">
                  <a:moveTo>
                    <a:pt x="51357" y="2909"/>
                  </a:moveTo>
                  <a:cubicBezTo>
                    <a:pt x="68432" y="0"/>
                    <a:pt x="85906" y="4992"/>
                    <a:pt x="98867" y="16483"/>
                  </a:cubicBezTo>
                  <a:lnTo>
                    <a:pt x="99220" y="16797"/>
                  </a:lnTo>
                  <a:lnTo>
                    <a:pt x="99544" y="16511"/>
                  </a:lnTo>
                  <a:cubicBezTo>
                    <a:pt x="111899" y="5668"/>
                    <a:pt x="128325" y="671"/>
                    <a:pt x="144625" y="2795"/>
                  </a:cubicBezTo>
                  <a:lnTo>
                    <a:pt x="146969" y="3138"/>
                  </a:lnTo>
                  <a:cubicBezTo>
                    <a:pt x="167660" y="6711"/>
                    <a:pt x="184726" y="21342"/>
                    <a:pt x="191416" y="41246"/>
                  </a:cubicBezTo>
                  <a:cubicBezTo>
                    <a:pt x="198107" y="61149"/>
                    <a:pt x="193343" y="83119"/>
                    <a:pt x="179011" y="98464"/>
                  </a:cubicBezTo>
                  <a:lnTo>
                    <a:pt x="177296" y="100226"/>
                  </a:lnTo>
                  <a:lnTo>
                    <a:pt x="176839" y="100617"/>
                  </a:lnTo>
                  <a:lnTo>
                    <a:pt x="105878" y="170902"/>
                  </a:lnTo>
                  <a:cubicBezTo>
                    <a:pt x="102491" y="174254"/>
                    <a:pt x="97149" y="174587"/>
                    <a:pt x="93371" y="171683"/>
                  </a:cubicBezTo>
                  <a:lnTo>
                    <a:pt x="92476" y="170902"/>
                  </a:lnTo>
                  <a:lnTo>
                    <a:pt x="21105" y="100207"/>
                  </a:lnTo>
                  <a:cubicBezTo>
                    <a:pt x="5688" y="85207"/>
                    <a:pt x="0" y="62820"/>
                    <a:pt x="6386" y="42279"/>
                  </a:cubicBezTo>
                  <a:cubicBezTo>
                    <a:pt x="12773" y="21739"/>
                    <a:pt x="30152" y="6524"/>
                    <a:pt x="51357" y="2909"/>
                  </a:cubicBezTo>
                  <a:close/>
                </a:path>
              </a:pathLst>
            </a:custGeom>
            <a:solidFill>
              <a:srgbClr val="AE232F"/>
            </a:solidFill>
            <a:ln>
              <a:noFill/>
            </a:ln>
            <a:effectLst>
              <a:outerShdw blurRad="76200" dist="19050" dir="5400000" algn="ctr" rotWithShape="0">
                <a:srgbClr val="000000">
                  <a:alpha val="5250"/>
                </a:srgbClr>
              </a:outerShdw>
            </a:effectLst>
          </p:spPr>
        </p:sp>
        <p:sp>
          <p:nvSpPr>
            <p:cNvPr id="29" name="TextBox 29"/>
            <p:cNvSpPr txBox="1"/>
            <p:nvPr/>
          </p:nvSpPr>
          <p:spPr>
            <a:xfrm>
              <a:off x="995362" y="2736056"/>
              <a:ext cx="950065" cy="22860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1125" b="1" dirty="0">
                  <a:solidFill>
                    <a:srgbClr val="1A1A1A"/>
                  </a:solidFill>
                  <a:latin typeface="Arial"/>
                  <a:ea typeface="Microsoft YaHei"/>
                  <a:cs typeface="Arial"/>
                </a:rPr>
                <a:t>Cardiologist</a:t>
              </a:r>
            </a:p>
          </p:txBody>
        </p:sp>
        <p:sp>
          <p:nvSpPr>
            <p:cNvPr id="30" name="TextBox 30"/>
            <p:cNvSpPr txBox="1"/>
            <p:nvPr/>
          </p:nvSpPr>
          <p:spPr>
            <a:xfrm>
              <a:off x="999172" y="2939891"/>
              <a:ext cx="4497139"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825" b="1" dirty="0">
                  <a:solidFill>
                    <a:srgbClr val="AE232F"/>
                  </a:solidFill>
                  <a:latin typeface="Arial"/>
                  <a:ea typeface="Microsoft YaHei"/>
                  <a:cs typeface="Arial"/>
                </a:rPr>
                <a:t>Clexane role: ACS management (UA / NSTEMI) + post-PCI bridging anticoagulation</a:t>
              </a:r>
            </a:p>
          </p:txBody>
        </p:sp>
        <p:sp>
          <p:nvSpPr>
            <p:cNvPr id="31" name="Line 31"/>
            <p:cNvSpPr/>
            <p:nvPr/>
          </p:nvSpPr>
          <p:spPr>
            <a:xfrm>
              <a:off x="476250" y="3152775"/>
              <a:ext cx="5448300" cy="9525"/>
            </a:xfrm>
            <a:custGeom>
              <a:avLst/>
              <a:gdLst/>
              <a:ahLst/>
              <a:cxnLst/>
              <a:rect l="l" t="t" r="r" b="b"/>
              <a:pathLst>
                <a:path w="5448300" h="9525">
                  <a:moveTo>
                    <a:pt x="0" y="0"/>
                  </a:moveTo>
                  <a:lnTo>
                    <a:pt x="5448300" y="0"/>
                  </a:lnTo>
                </a:path>
              </a:pathLst>
            </a:custGeom>
            <a:noFill/>
            <a:ln w="9525">
              <a:solidFill>
                <a:srgbClr val="F5F5F5"/>
              </a:solidFill>
            </a:ln>
          </p:spPr>
        </p:sp>
        <p:sp>
          <p:nvSpPr>
            <p:cNvPr id="32" name="TextBox 32"/>
            <p:cNvSpPr txBox="1"/>
            <p:nvPr/>
          </p:nvSpPr>
          <p:spPr>
            <a:xfrm>
              <a:off x="464820" y="3217545"/>
              <a:ext cx="848263"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b="1" dirty="0">
                  <a:solidFill>
                    <a:srgbClr val="555555"/>
                  </a:solidFill>
                  <a:latin typeface="Arial"/>
                  <a:ea typeface="Microsoft YaHei"/>
                  <a:cs typeface="Arial"/>
                </a:rPr>
                <a:t>Key message:</a:t>
              </a:r>
            </a:p>
          </p:txBody>
        </p:sp>
        <p:sp>
          <p:nvSpPr>
            <p:cNvPr id="33" name="TextBox 33"/>
            <p:cNvSpPr txBox="1"/>
            <p:nvPr/>
          </p:nvSpPr>
          <p:spPr>
            <a:xfrm>
              <a:off x="464820" y="3388995"/>
              <a:ext cx="4457414"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ESSENCE &amp; TIMI 11B trial evidence — Clexane superior to UFH in ACS outcomes.</a:t>
              </a:r>
            </a:p>
          </p:txBody>
        </p:sp>
        <p:sp>
          <p:nvSpPr>
            <p:cNvPr id="34" name="TextBox 34"/>
            <p:cNvSpPr txBox="1"/>
            <p:nvPr/>
          </p:nvSpPr>
          <p:spPr>
            <a:xfrm>
              <a:off x="464820" y="3560445"/>
              <a:ext cx="4757452"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Reduces recurrent ischemia by ~20%. No drip, no aPTT — simplified CCU workflow.</a:t>
              </a:r>
            </a:p>
          </p:txBody>
        </p:sp>
        <p:sp>
          <p:nvSpPr>
            <p:cNvPr id="35" name="TextBox 35"/>
            <p:cNvSpPr txBox="1"/>
            <p:nvPr/>
          </p:nvSpPr>
          <p:spPr>
            <a:xfrm>
              <a:off x="464820" y="3731895"/>
              <a:ext cx="4565428"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Post-PCI: overlap bridging until oral anticoagulants reach therapeutic range.</a:t>
              </a:r>
            </a:p>
          </p:txBody>
        </p:sp>
        <p:sp>
          <p:nvSpPr>
            <p:cNvPr id="36" name="TextBox 36"/>
            <p:cNvSpPr txBox="1"/>
            <p:nvPr/>
          </p:nvSpPr>
          <p:spPr>
            <a:xfrm>
              <a:off x="464820" y="3903345"/>
              <a:ext cx="4343400"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ACC/AHA Class I recommendation for enoxaparin in UA/NSTEMI management.</a:t>
              </a:r>
            </a:p>
          </p:txBody>
        </p:sp>
      </p:grpSp>
      <p:grpSp>
        <p:nvGrpSpPr>
          <p:cNvPr id="53" name="Group 53"/>
          <p:cNvGrpSpPr/>
          <p:nvPr/>
        </p:nvGrpSpPr>
        <p:grpSpPr>
          <a:xfrm>
            <a:off x="342900" y="4305300"/>
            <a:ext cx="5695950" cy="1600200"/>
            <a:chOff x="342900" y="4305300"/>
            <a:chExt cx="5695950" cy="1600200"/>
          </a:xfrm>
          <a:effectLst>
            <a:outerShdw blurRad="76200" dist="19050" dir="5400000" algn="ctr" rotWithShape="0">
              <a:srgbClr val="000000">
                <a:alpha val="5250"/>
              </a:srgbClr>
            </a:outerShdw>
          </a:effectLst>
        </p:grpSpPr>
        <p:sp>
          <p:nvSpPr>
            <p:cNvPr id="38" name="Rectangle 38"/>
            <p:cNvSpPr/>
            <p:nvPr/>
          </p:nvSpPr>
          <p:spPr>
            <a:xfrm>
              <a:off x="342900" y="4305300"/>
              <a:ext cx="5695950" cy="1600200"/>
            </a:xfrm>
            <a:prstGeom prst="roundRect">
              <a:avLst>
                <a:gd name="adj" fmla="val 4762"/>
              </a:avLst>
            </a:prstGeom>
            <a:solidFill>
              <a:srgbClr val="FFFFFF"/>
            </a:solidFill>
            <a:ln w="14288">
              <a:solidFill>
                <a:srgbClr val="AE232F"/>
              </a:solidFill>
            </a:ln>
            <a:effectLst>
              <a:outerShdw blurRad="76200" dist="19050" dir="5400000" algn="ctr" rotWithShape="0">
                <a:srgbClr val="000000">
                  <a:alpha val="5250"/>
                </a:srgbClr>
              </a:outerShdw>
            </a:effectLst>
          </p:spPr>
        </p:sp>
        <p:sp>
          <p:nvSpPr>
            <p:cNvPr id="39" name="Rectangle 39"/>
            <p:cNvSpPr/>
            <p:nvPr/>
          </p:nvSpPr>
          <p:spPr>
            <a:xfrm>
              <a:off x="342900" y="4305300"/>
              <a:ext cx="47625" cy="1600200"/>
            </a:xfrm>
            <a:prstGeom prst="roundRect">
              <a:avLst>
                <a:gd name="adj" fmla="val 50000"/>
              </a:avLst>
            </a:prstGeom>
            <a:solidFill>
              <a:srgbClr val="AE232F"/>
            </a:solidFill>
            <a:ln>
              <a:noFill/>
            </a:ln>
            <a:effectLst>
              <a:outerShdw blurRad="76200" dist="19050" dir="5400000" algn="ctr" rotWithShape="0">
                <a:srgbClr val="000000">
                  <a:alpha val="5250"/>
                </a:srgbClr>
              </a:outerShdw>
            </a:effectLst>
          </p:spPr>
        </p:sp>
        <p:sp>
          <p:nvSpPr>
            <p:cNvPr id="40" name="Rectangle 40"/>
            <p:cNvSpPr/>
            <p:nvPr/>
          </p:nvSpPr>
          <p:spPr>
            <a:xfrm>
              <a:off x="5467350" y="4381500"/>
              <a:ext cx="457200" cy="209550"/>
            </a:xfrm>
            <a:prstGeom prst="roundRect">
              <a:avLst>
                <a:gd name="adj" fmla="val 18182"/>
              </a:avLst>
            </a:prstGeom>
            <a:solidFill>
              <a:srgbClr val="AE232F"/>
            </a:solidFill>
            <a:ln>
              <a:noFill/>
            </a:ln>
            <a:effectLst>
              <a:outerShdw blurRad="76200" dist="19050" dir="5400000" algn="ctr" rotWithShape="0">
                <a:srgbClr val="000000">
                  <a:alpha val="5250"/>
                </a:srgbClr>
              </a:outerShdw>
            </a:effectLst>
          </p:spPr>
        </p:sp>
        <p:sp>
          <p:nvSpPr>
            <p:cNvPr id="41" name="TextBox 41"/>
            <p:cNvSpPr txBox="1"/>
            <p:nvPr/>
          </p:nvSpPr>
          <p:spPr>
            <a:xfrm>
              <a:off x="5523752" y="4435316"/>
              <a:ext cx="344395"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b="1" dirty="0">
                  <a:solidFill>
                    <a:srgbClr val="FFFFFF"/>
                  </a:solidFill>
                  <a:latin typeface="Arial"/>
                  <a:ea typeface="Microsoft YaHei"/>
                  <a:cs typeface="Arial"/>
                </a:rPr>
                <a:t>Tier A</a:t>
              </a:r>
            </a:p>
          </p:txBody>
        </p:sp>
        <p:sp>
          <p:nvSpPr>
            <p:cNvPr id="42" name="Rectangle 42"/>
            <p:cNvSpPr/>
            <p:nvPr/>
          </p:nvSpPr>
          <p:spPr>
            <a:xfrm>
              <a:off x="342900" y="4305300"/>
              <a:ext cx="5695950" cy="1600200"/>
            </a:xfrm>
            <a:prstGeom prst="roundRect">
              <a:avLst>
                <a:gd name="adj" fmla="val 4762"/>
              </a:avLst>
            </a:prstGeom>
            <a:solidFill>
              <a:srgbClr val="F9E5E7">
                <a:alpha val="15000"/>
              </a:srgbClr>
            </a:solidFill>
            <a:ln>
              <a:noFill/>
            </a:ln>
            <a:effectLst>
              <a:outerShdw blurRad="76200" dist="19050" dir="5400000" algn="ctr" rotWithShape="0">
                <a:srgbClr val="000000">
                  <a:alpha val="5250"/>
                </a:srgbClr>
              </a:outerShdw>
            </a:effectLst>
          </p:spPr>
        </p:sp>
        <p:sp>
          <p:nvSpPr>
            <p:cNvPr id="43" name="Ellipse 43"/>
            <p:cNvSpPr/>
            <p:nvPr/>
          </p:nvSpPr>
          <p:spPr>
            <a:xfrm>
              <a:off x="476250" y="4419600"/>
              <a:ext cx="419100" cy="419100"/>
            </a:xfrm>
            <a:prstGeom prst="ellipse">
              <a:avLst/>
            </a:prstGeom>
            <a:solidFill>
              <a:srgbClr val="F9E5E7"/>
            </a:solidFill>
            <a:ln>
              <a:noFill/>
            </a:ln>
            <a:effectLst>
              <a:outerShdw blurRad="76200" dist="19050" dir="5400000" algn="ctr" rotWithShape="0">
                <a:srgbClr val="000000">
                  <a:alpha val="5250"/>
                </a:srgbClr>
              </a:outerShdw>
            </a:effectLst>
          </p:spPr>
        </p:sp>
        <p:sp>
          <p:nvSpPr>
            <p:cNvPr id="44" name="Freeform 44"/>
            <p:cNvSpPr/>
            <p:nvPr/>
          </p:nvSpPr>
          <p:spPr>
            <a:xfrm>
              <a:off x="609598" y="4533900"/>
              <a:ext cx="152404" cy="190500"/>
            </a:xfrm>
            <a:custGeom>
              <a:avLst/>
              <a:gdLst/>
              <a:ahLst/>
              <a:cxnLst/>
              <a:rect l="l" t="t" r="r" b="b"/>
              <a:pathLst>
                <a:path w="152404" h="190500">
                  <a:moveTo>
                    <a:pt x="133324" y="20669"/>
                  </a:moveTo>
                  <a:cubicBezTo>
                    <a:pt x="144757" y="24698"/>
                    <a:pt x="152404" y="35502"/>
                    <a:pt x="152402" y="47625"/>
                  </a:cubicBezTo>
                  <a:lnTo>
                    <a:pt x="152402" y="161925"/>
                  </a:lnTo>
                  <a:cubicBezTo>
                    <a:pt x="152402" y="177707"/>
                    <a:pt x="139609" y="190500"/>
                    <a:pt x="123827" y="190500"/>
                  </a:cubicBezTo>
                  <a:lnTo>
                    <a:pt x="28577" y="190500"/>
                  </a:lnTo>
                  <a:cubicBezTo>
                    <a:pt x="12796" y="190500"/>
                    <a:pt x="2" y="177707"/>
                    <a:pt x="2" y="161925"/>
                  </a:cubicBezTo>
                  <a:lnTo>
                    <a:pt x="2" y="47625"/>
                  </a:lnTo>
                  <a:cubicBezTo>
                    <a:pt x="0" y="35502"/>
                    <a:pt x="7647" y="24698"/>
                    <a:pt x="19081" y="20669"/>
                  </a:cubicBezTo>
                  <a:cubicBezTo>
                    <a:pt x="19948" y="41065"/>
                    <a:pt x="36738" y="57153"/>
                    <a:pt x="57152" y="57150"/>
                  </a:cubicBezTo>
                  <a:lnTo>
                    <a:pt x="95252" y="57150"/>
                  </a:lnTo>
                  <a:cubicBezTo>
                    <a:pt x="114809" y="57152"/>
                    <a:pt x="131191" y="42346"/>
                    <a:pt x="133162" y="22889"/>
                  </a:cubicBezTo>
                  <a:close/>
                  <a:moveTo>
                    <a:pt x="98043" y="88516"/>
                  </a:moveTo>
                  <a:lnTo>
                    <a:pt x="66677" y="119872"/>
                  </a:lnTo>
                  <a:lnTo>
                    <a:pt x="54361" y="107566"/>
                  </a:lnTo>
                  <a:cubicBezTo>
                    <a:pt x="51970" y="105090"/>
                    <a:pt x="48428" y="104097"/>
                    <a:pt x="45098" y="104968"/>
                  </a:cubicBezTo>
                  <a:cubicBezTo>
                    <a:pt x="41768" y="105840"/>
                    <a:pt x="39167" y="108441"/>
                    <a:pt x="38295" y="111771"/>
                  </a:cubicBezTo>
                  <a:cubicBezTo>
                    <a:pt x="37424" y="115101"/>
                    <a:pt x="38417" y="118643"/>
                    <a:pt x="40893" y="121034"/>
                  </a:cubicBezTo>
                  <a:lnTo>
                    <a:pt x="59943" y="140084"/>
                  </a:lnTo>
                  <a:cubicBezTo>
                    <a:pt x="63662" y="143803"/>
                    <a:pt x="69692" y="143803"/>
                    <a:pt x="73411" y="140084"/>
                  </a:cubicBezTo>
                  <a:lnTo>
                    <a:pt x="111511" y="101984"/>
                  </a:lnTo>
                  <a:cubicBezTo>
                    <a:pt x="115121" y="98247"/>
                    <a:pt x="115069" y="92306"/>
                    <a:pt x="111395" y="88632"/>
                  </a:cubicBezTo>
                  <a:cubicBezTo>
                    <a:pt x="107721" y="84958"/>
                    <a:pt x="101780" y="84906"/>
                    <a:pt x="98043" y="88516"/>
                  </a:cubicBezTo>
                  <a:moveTo>
                    <a:pt x="95252" y="0"/>
                  </a:moveTo>
                  <a:cubicBezTo>
                    <a:pt x="105773" y="0"/>
                    <a:pt x="114302" y="8529"/>
                    <a:pt x="114302" y="19050"/>
                  </a:cubicBezTo>
                  <a:cubicBezTo>
                    <a:pt x="114302" y="29571"/>
                    <a:pt x="105773" y="38100"/>
                    <a:pt x="95252" y="38100"/>
                  </a:cubicBezTo>
                  <a:lnTo>
                    <a:pt x="57152" y="38100"/>
                  </a:lnTo>
                  <a:cubicBezTo>
                    <a:pt x="46631" y="38100"/>
                    <a:pt x="38102" y="29571"/>
                    <a:pt x="38102" y="19050"/>
                  </a:cubicBezTo>
                  <a:cubicBezTo>
                    <a:pt x="38102" y="8529"/>
                    <a:pt x="46631" y="0"/>
                    <a:pt x="57152" y="0"/>
                  </a:cubicBezTo>
                  <a:close/>
                </a:path>
              </a:pathLst>
            </a:custGeom>
            <a:solidFill>
              <a:srgbClr val="AE232F"/>
            </a:solidFill>
            <a:ln>
              <a:noFill/>
            </a:ln>
            <a:effectLst>
              <a:outerShdw blurRad="76200" dist="19050" dir="5400000" algn="ctr" rotWithShape="0">
                <a:srgbClr val="000000">
                  <a:alpha val="5250"/>
                </a:srgbClr>
              </a:outerShdw>
            </a:effectLst>
          </p:spPr>
        </p:sp>
        <p:sp>
          <p:nvSpPr>
            <p:cNvPr id="45" name="TextBox 45"/>
            <p:cNvSpPr txBox="1"/>
            <p:nvPr/>
          </p:nvSpPr>
          <p:spPr>
            <a:xfrm>
              <a:off x="995362" y="4450556"/>
              <a:ext cx="1312360" cy="22860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1125" b="1" dirty="0">
                  <a:solidFill>
                    <a:srgbClr val="1A1A1A"/>
                  </a:solidFill>
                  <a:latin typeface="Arial"/>
                  <a:ea typeface="Microsoft YaHei"/>
                  <a:cs typeface="Arial"/>
                </a:rPr>
                <a:t>Ward Pharmacist</a:t>
              </a:r>
            </a:p>
          </p:txBody>
        </p:sp>
        <p:sp>
          <p:nvSpPr>
            <p:cNvPr id="46" name="TextBox 46"/>
            <p:cNvSpPr txBox="1"/>
            <p:nvPr/>
          </p:nvSpPr>
          <p:spPr>
            <a:xfrm>
              <a:off x="999172" y="4654391"/>
              <a:ext cx="4572224"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825" b="1" dirty="0">
                  <a:solidFill>
                    <a:srgbClr val="AE232F"/>
                  </a:solidFill>
                  <a:latin typeface="Arial"/>
                  <a:ea typeface="Microsoft YaHei"/>
                  <a:cs typeface="Arial"/>
                </a:rPr>
                <a:t>Clexane role: Formulary inclusion &amp; protocol design for anticoagulation pathways</a:t>
              </a:r>
            </a:p>
          </p:txBody>
        </p:sp>
        <p:sp>
          <p:nvSpPr>
            <p:cNvPr id="47" name="Line 47"/>
            <p:cNvSpPr/>
            <p:nvPr/>
          </p:nvSpPr>
          <p:spPr>
            <a:xfrm>
              <a:off x="476250" y="4867275"/>
              <a:ext cx="5448300" cy="9525"/>
            </a:xfrm>
            <a:custGeom>
              <a:avLst/>
              <a:gdLst/>
              <a:ahLst/>
              <a:cxnLst/>
              <a:rect l="l" t="t" r="r" b="b"/>
              <a:pathLst>
                <a:path w="5448300" h="9525">
                  <a:moveTo>
                    <a:pt x="0" y="0"/>
                  </a:moveTo>
                  <a:lnTo>
                    <a:pt x="5448300" y="0"/>
                  </a:lnTo>
                </a:path>
              </a:pathLst>
            </a:custGeom>
            <a:noFill/>
            <a:ln w="9525">
              <a:solidFill>
                <a:srgbClr val="E0E0E0"/>
              </a:solidFill>
            </a:ln>
          </p:spPr>
        </p:sp>
        <p:sp>
          <p:nvSpPr>
            <p:cNvPr id="48" name="TextBox 48"/>
            <p:cNvSpPr txBox="1"/>
            <p:nvPr/>
          </p:nvSpPr>
          <p:spPr>
            <a:xfrm>
              <a:off x="464820" y="4932045"/>
              <a:ext cx="848263"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b="1" dirty="0">
                  <a:solidFill>
                    <a:srgbClr val="555555"/>
                  </a:solidFill>
                  <a:latin typeface="Arial"/>
                  <a:ea typeface="Microsoft YaHei"/>
                  <a:cs typeface="Arial"/>
                </a:rPr>
                <a:t>Key message:</a:t>
              </a:r>
            </a:p>
          </p:txBody>
        </p:sp>
        <p:sp>
          <p:nvSpPr>
            <p:cNvPr id="49" name="TextBox 49"/>
            <p:cNvSpPr txBox="1"/>
            <p:nvPr/>
          </p:nvSpPr>
          <p:spPr>
            <a:xfrm>
              <a:off x="464820" y="5103495"/>
              <a:ext cx="4931474"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Clinical evidence + cost-effectiveness data — PharmD partner, not just a call point.</a:t>
              </a:r>
            </a:p>
          </p:txBody>
        </p:sp>
        <p:sp>
          <p:nvSpPr>
            <p:cNvPr id="50" name="TextBox 50"/>
            <p:cNvSpPr txBox="1"/>
            <p:nvPr/>
          </p:nvSpPr>
          <p:spPr>
            <a:xfrm>
              <a:off x="464820" y="5274945"/>
              <a:ext cx="5297519"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As a Pharm.D. myself, I speak their language: PK, dosing adjustment, interaction review.</a:t>
              </a:r>
            </a:p>
          </p:txBody>
        </p:sp>
        <p:sp>
          <p:nvSpPr>
            <p:cNvPr id="51" name="TextBox 51"/>
            <p:cNvSpPr txBox="1"/>
            <p:nvPr/>
          </p:nvSpPr>
          <p:spPr>
            <a:xfrm>
              <a:off x="464820" y="5446395"/>
              <a:ext cx="5261515"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Pharmacists drive formulary decisions — engaging them is multiplying my reach to all MDs.</a:t>
              </a:r>
            </a:p>
          </p:txBody>
        </p:sp>
        <p:sp>
          <p:nvSpPr>
            <p:cNvPr id="52" name="TextBox 52"/>
            <p:cNvSpPr txBox="1"/>
            <p:nvPr/>
          </p:nvSpPr>
          <p:spPr>
            <a:xfrm>
              <a:off x="464820" y="5617845"/>
              <a:ext cx="5227310"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b="1" dirty="0">
                  <a:solidFill>
                    <a:srgbClr val="AE232F"/>
                  </a:solidFill>
                  <a:latin typeface="Arial"/>
                  <a:ea typeface="Microsoft YaHei"/>
                  <a:cs typeface="Arial"/>
                </a:rPr>
                <a:t>Unique edge: Pharm.D. credential = peer-level credibility with hospital pharmacists.</a:t>
              </a:r>
            </a:p>
          </p:txBody>
        </p:sp>
      </p:grpSp>
      <p:grpSp>
        <p:nvGrpSpPr>
          <p:cNvPr id="72" name="Group 72"/>
          <p:cNvGrpSpPr/>
          <p:nvPr/>
        </p:nvGrpSpPr>
        <p:grpSpPr>
          <a:xfrm>
            <a:off x="6153150" y="876300"/>
            <a:ext cx="5695950" cy="2552700"/>
            <a:chOff x="6153150" y="876300"/>
            <a:chExt cx="5695950" cy="2552700"/>
          </a:xfrm>
          <a:effectLst>
            <a:outerShdw blurRad="76200" dist="19050" dir="5400000" algn="ctr" rotWithShape="0">
              <a:srgbClr val="000000">
                <a:alpha val="5250"/>
              </a:srgbClr>
            </a:outerShdw>
          </a:effectLst>
        </p:grpSpPr>
        <p:sp>
          <p:nvSpPr>
            <p:cNvPr id="54" name="Rectangle 54"/>
            <p:cNvSpPr/>
            <p:nvPr/>
          </p:nvSpPr>
          <p:spPr>
            <a:xfrm>
              <a:off x="6153150" y="876300"/>
              <a:ext cx="5695950" cy="2552700"/>
            </a:xfrm>
            <a:prstGeom prst="roundRect">
              <a:avLst>
                <a:gd name="adj" fmla="val 2985"/>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55" name="Rectangle 55"/>
            <p:cNvSpPr/>
            <p:nvPr/>
          </p:nvSpPr>
          <p:spPr>
            <a:xfrm>
              <a:off x="6153150" y="876300"/>
              <a:ext cx="47625" cy="2552700"/>
            </a:xfrm>
            <a:prstGeom prst="roundRect">
              <a:avLst>
                <a:gd name="adj" fmla="val 50000"/>
              </a:avLst>
            </a:prstGeom>
            <a:solidFill>
              <a:srgbClr val="E0E0E0"/>
            </a:solidFill>
            <a:ln>
              <a:noFill/>
            </a:ln>
            <a:effectLst>
              <a:outerShdw blurRad="76200" dist="19050" dir="5400000" algn="ctr" rotWithShape="0">
                <a:srgbClr val="000000">
                  <a:alpha val="5250"/>
                </a:srgbClr>
              </a:outerShdw>
            </a:effectLst>
          </p:spPr>
        </p:sp>
        <p:sp>
          <p:nvSpPr>
            <p:cNvPr id="56" name="Rectangle 56"/>
            <p:cNvSpPr/>
            <p:nvPr/>
          </p:nvSpPr>
          <p:spPr>
            <a:xfrm>
              <a:off x="11277600" y="952500"/>
              <a:ext cx="457200" cy="209550"/>
            </a:xfrm>
            <a:prstGeom prst="roundRect">
              <a:avLst>
                <a:gd name="adj" fmla="val 18182"/>
              </a:avLst>
            </a:prstGeom>
            <a:solidFill>
              <a:srgbClr val="F9E5E7"/>
            </a:solidFill>
            <a:ln w="9525">
              <a:solidFill>
                <a:srgbClr val="AE232F"/>
              </a:solidFill>
            </a:ln>
            <a:effectLst>
              <a:outerShdw blurRad="76200" dist="19050" dir="5400000" algn="ctr" rotWithShape="0">
                <a:srgbClr val="000000">
                  <a:alpha val="5250"/>
                </a:srgbClr>
              </a:outerShdw>
            </a:effectLst>
          </p:spPr>
        </p:sp>
        <p:sp>
          <p:nvSpPr>
            <p:cNvPr id="57" name="TextBox 57"/>
            <p:cNvSpPr txBox="1"/>
            <p:nvPr/>
          </p:nvSpPr>
          <p:spPr>
            <a:xfrm>
              <a:off x="11334002" y="1006316"/>
              <a:ext cx="344395"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b="1" dirty="0">
                  <a:solidFill>
                    <a:srgbClr val="AE232F"/>
                  </a:solidFill>
                  <a:latin typeface="Arial"/>
                  <a:ea typeface="Microsoft YaHei"/>
                  <a:cs typeface="Arial"/>
                </a:rPr>
                <a:t>Tier B</a:t>
              </a:r>
            </a:p>
          </p:txBody>
        </p:sp>
        <p:sp>
          <p:nvSpPr>
            <p:cNvPr id="58" name="Ellipse 58"/>
            <p:cNvSpPr/>
            <p:nvPr/>
          </p:nvSpPr>
          <p:spPr>
            <a:xfrm>
              <a:off x="6286500" y="1085850"/>
              <a:ext cx="419100" cy="419100"/>
            </a:xfrm>
            <a:prstGeom prst="ellipse">
              <a:avLst/>
            </a:prstGeom>
            <a:solidFill>
              <a:srgbClr val="F5F5F5"/>
            </a:solidFill>
            <a:ln>
              <a:noFill/>
            </a:ln>
            <a:effectLst>
              <a:outerShdw blurRad="76200" dist="19050" dir="5400000" algn="ctr" rotWithShape="0">
                <a:srgbClr val="000000">
                  <a:alpha val="5250"/>
                </a:srgbClr>
              </a:outerShdw>
            </a:effectLst>
          </p:spPr>
        </p:sp>
        <p:sp>
          <p:nvSpPr>
            <p:cNvPr id="59" name="Freeform 59"/>
            <p:cNvSpPr/>
            <p:nvPr/>
          </p:nvSpPr>
          <p:spPr>
            <a:xfrm>
              <a:off x="6403541" y="1200150"/>
              <a:ext cx="185019" cy="190500"/>
            </a:xfrm>
            <a:custGeom>
              <a:avLst/>
              <a:gdLst/>
              <a:ahLst/>
              <a:cxnLst/>
              <a:rect l="l" t="t" r="r" b="b"/>
              <a:pathLst>
                <a:path w="185019" h="190500">
                  <a:moveTo>
                    <a:pt x="82984" y="0"/>
                  </a:moveTo>
                  <a:lnTo>
                    <a:pt x="81556" y="48"/>
                  </a:lnTo>
                  <a:cubicBezTo>
                    <a:pt x="71614" y="795"/>
                    <a:pt x="63931" y="9081"/>
                    <a:pt x="63934" y="19050"/>
                  </a:cubicBezTo>
                  <a:lnTo>
                    <a:pt x="63934" y="45749"/>
                  </a:lnTo>
                  <a:lnTo>
                    <a:pt x="40808" y="32404"/>
                  </a:lnTo>
                  <a:cubicBezTo>
                    <a:pt x="31696" y="27144"/>
                    <a:pt x="20046" y="30265"/>
                    <a:pt x="14785" y="39376"/>
                  </a:cubicBezTo>
                  <a:lnTo>
                    <a:pt x="5260" y="55874"/>
                  </a:lnTo>
                  <a:lnTo>
                    <a:pt x="4565" y="57188"/>
                  </a:lnTo>
                  <a:cubicBezTo>
                    <a:pt x="279" y="66163"/>
                    <a:pt x="3619" y="76924"/>
                    <a:pt x="12233" y="81896"/>
                  </a:cubicBezTo>
                  <a:lnTo>
                    <a:pt x="35350" y="95250"/>
                  </a:lnTo>
                  <a:lnTo>
                    <a:pt x="12233" y="108604"/>
                  </a:lnTo>
                  <a:cubicBezTo>
                    <a:pt x="3122" y="113865"/>
                    <a:pt x="0" y="125515"/>
                    <a:pt x="5260" y="134626"/>
                  </a:cubicBezTo>
                  <a:lnTo>
                    <a:pt x="14785" y="151124"/>
                  </a:lnTo>
                  <a:lnTo>
                    <a:pt x="15576" y="152381"/>
                  </a:lnTo>
                  <a:cubicBezTo>
                    <a:pt x="21205" y="160580"/>
                    <a:pt x="32195" y="163070"/>
                    <a:pt x="40808" y="158096"/>
                  </a:cubicBezTo>
                  <a:lnTo>
                    <a:pt x="63934" y="144742"/>
                  </a:lnTo>
                  <a:lnTo>
                    <a:pt x="63934" y="171450"/>
                  </a:lnTo>
                  <a:cubicBezTo>
                    <a:pt x="63934" y="181971"/>
                    <a:pt x="72463" y="190500"/>
                    <a:pt x="82984" y="190500"/>
                  </a:cubicBezTo>
                  <a:lnTo>
                    <a:pt x="102034" y="190500"/>
                  </a:lnTo>
                  <a:lnTo>
                    <a:pt x="103463" y="190452"/>
                  </a:lnTo>
                  <a:cubicBezTo>
                    <a:pt x="113404" y="189705"/>
                    <a:pt x="121087" y="181419"/>
                    <a:pt x="121084" y="171450"/>
                  </a:cubicBezTo>
                  <a:lnTo>
                    <a:pt x="121084" y="144742"/>
                  </a:lnTo>
                  <a:lnTo>
                    <a:pt x="144211" y="158105"/>
                  </a:lnTo>
                  <a:cubicBezTo>
                    <a:pt x="153322" y="163366"/>
                    <a:pt x="164973" y="160244"/>
                    <a:pt x="170233" y="151133"/>
                  </a:cubicBezTo>
                  <a:lnTo>
                    <a:pt x="179758" y="134636"/>
                  </a:lnTo>
                  <a:lnTo>
                    <a:pt x="180454" y="133321"/>
                  </a:lnTo>
                  <a:cubicBezTo>
                    <a:pt x="184739" y="124347"/>
                    <a:pt x="181400" y="113585"/>
                    <a:pt x="172786" y="108614"/>
                  </a:cubicBezTo>
                  <a:lnTo>
                    <a:pt x="149659" y="95250"/>
                  </a:lnTo>
                  <a:lnTo>
                    <a:pt x="172786" y="81896"/>
                  </a:lnTo>
                  <a:cubicBezTo>
                    <a:pt x="181897" y="76635"/>
                    <a:pt x="185019" y="64985"/>
                    <a:pt x="179758" y="55874"/>
                  </a:cubicBezTo>
                  <a:lnTo>
                    <a:pt x="170233" y="39376"/>
                  </a:lnTo>
                  <a:lnTo>
                    <a:pt x="169443" y="38119"/>
                  </a:lnTo>
                  <a:cubicBezTo>
                    <a:pt x="163814" y="29920"/>
                    <a:pt x="152824" y="27430"/>
                    <a:pt x="144211" y="32404"/>
                  </a:cubicBezTo>
                  <a:lnTo>
                    <a:pt x="121084" y="45739"/>
                  </a:lnTo>
                  <a:lnTo>
                    <a:pt x="121084" y="19050"/>
                  </a:lnTo>
                  <a:cubicBezTo>
                    <a:pt x="121084" y="8529"/>
                    <a:pt x="112555" y="0"/>
                    <a:pt x="102034" y="0"/>
                  </a:cubicBezTo>
                  <a:lnTo>
                    <a:pt x="82984" y="0"/>
                  </a:lnTo>
                  <a:close/>
                </a:path>
              </a:pathLst>
            </a:custGeom>
            <a:solidFill>
              <a:srgbClr val="888888"/>
            </a:solidFill>
            <a:ln>
              <a:noFill/>
            </a:ln>
            <a:effectLst>
              <a:outerShdw blurRad="76200" dist="19050" dir="5400000" algn="ctr" rotWithShape="0">
                <a:srgbClr val="000000">
                  <a:alpha val="5250"/>
                </a:srgbClr>
              </a:outerShdw>
            </a:effectLst>
          </p:spPr>
        </p:sp>
        <p:sp>
          <p:nvSpPr>
            <p:cNvPr id="60" name="TextBox 60"/>
            <p:cNvSpPr txBox="1"/>
            <p:nvPr/>
          </p:nvSpPr>
          <p:spPr>
            <a:xfrm>
              <a:off x="6805612" y="1116806"/>
              <a:ext cx="2832425" cy="22860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1125" b="1" dirty="0">
                  <a:solidFill>
                    <a:srgbClr val="1A1A1A"/>
                  </a:solidFill>
                  <a:latin typeface="Arial"/>
                  <a:ea typeface="Microsoft YaHei"/>
                  <a:cs typeface="Arial"/>
                </a:rPr>
                <a:t>Internal Medicine / General Physician</a:t>
              </a:r>
            </a:p>
          </p:txBody>
        </p:sp>
        <p:sp>
          <p:nvSpPr>
            <p:cNvPr id="61" name="TextBox 61"/>
            <p:cNvSpPr txBox="1"/>
            <p:nvPr/>
          </p:nvSpPr>
          <p:spPr>
            <a:xfrm>
              <a:off x="6809422" y="1320641"/>
              <a:ext cx="3659660"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825" b="1" dirty="0">
                  <a:solidFill>
                    <a:srgbClr val="555555"/>
                  </a:solidFill>
                  <a:latin typeface="Arial"/>
                  <a:ea typeface="Microsoft YaHei"/>
                  <a:cs typeface="Arial"/>
                </a:rPr>
                <a:t>Clexane role: DVT prophylaxis for immobile medical ward patients</a:t>
              </a:r>
            </a:p>
          </p:txBody>
        </p:sp>
        <p:sp>
          <p:nvSpPr>
            <p:cNvPr id="62" name="Line 62"/>
            <p:cNvSpPr/>
            <p:nvPr/>
          </p:nvSpPr>
          <p:spPr>
            <a:xfrm>
              <a:off x="6286500" y="1533525"/>
              <a:ext cx="5448300" cy="9525"/>
            </a:xfrm>
            <a:custGeom>
              <a:avLst/>
              <a:gdLst/>
              <a:ahLst/>
              <a:cxnLst/>
              <a:rect l="l" t="t" r="r" b="b"/>
              <a:pathLst>
                <a:path w="5448300" h="9525">
                  <a:moveTo>
                    <a:pt x="0" y="0"/>
                  </a:moveTo>
                  <a:lnTo>
                    <a:pt x="5448300" y="0"/>
                  </a:lnTo>
                </a:path>
              </a:pathLst>
            </a:custGeom>
            <a:noFill/>
            <a:ln w="9525">
              <a:solidFill>
                <a:srgbClr val="F5F5F5"/>
              </a:solidFill>
            </a:ln>
          </p:spPr>
        </p:sp>
        <p:sp>
          <p:nvSpPr>
            <p:cNvPr id="63" name="TextBox 63"/>
            <p:cNvSpPr txBox="1"/>
            <p:nvPr/>
          </p:nvSpPr>
          <p:spPr>
            <a:xfrm>
              <a:off x="6275070" y="1636395"/>
              <a:ext cx="848263"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b="1" dirty="0">
                  <a:solidFill>
                    <a:srgbClr val="555555"/>
                  </a:solidFill>
                  <a:latin typeface="Arial"/>
                  <a:ea typeface="Microsoft YaHei"/>
                  <a:cs typeface="Arial"/>
                </a:rPr>
                <a:t>Key message:</a:t>
              </a:r>
            </a:p>
          </p:txBody>
        </p:sp>
        <p:sp>
          <p:nvSpPr>
            <p:cNvPr id="64" name="TextBox 64"/>
            <p:cNvSpPr txBox="1"/>
            <p:nvPr/>
          </p:nvSpPr>
          <p:spPr>
            <a:xfrm>
              <a:off x="6275070" y="1807845"/>
              <a:ext cx="3923348"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Simple once-daily dosing (40 mg SC q24h prophylaxis) — suitable for</a:t>
              </a:r>
            </a:p>
          </p:txBody>
        </p:sp>
        <p:sp>
          <p:nvSpPr>
            <p:cNvPr id="65" name="TextBox 65"/>
            <p:cNvSpPr txBox="1"/>
            <p:nvPr/>
          </p:nvSpPr>
          <p:spPr>
            <a:xfrm>
              <a:off x="6275070" y="1979295"/>
              <a:ext cx="4157377"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high-risk medical inpatients: heart failure, stroke, severe infection.</a:t>
              </a:r>
            </a:p>
          </p:txBody>
        </p:sp>
        <p:sp>
          <p:nvSpPr>
            <p:cNvPr id="66" name="TextBox 66"/>
            <p:cNvSpPr txBox="1"/>
            <p:nvPr/>
          </p:nvSpPr>
          <p:spPr>
            <a:xfrm>
              <a:off x="6275070" y="2207895"/>
              <a:ext cx="3893344"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MEDENOX trial: Clexane 40 mg q24h reduced VTE by 63% vs. placebo</a:t>
              </a:r>
            </a:p>
          </p:txBody>
        </p:sp>
        <p:sp>
          <p:nvSpPr>
            <p:cNvPr id="67" name="TextBox 67"/>
            <p:cNvSpPr txBox="1"/>
            <p:nvPr/>
          </p:nvSpPr>
          <p:spPr>
            <a:xfrm>
              <a:off x="6275070" y="2379345"/>
              <a:ext cx="3731324"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in acutely ill medical patients. Well-established safety profile.</a:t>
              </a:r>
            </a:p>
          </p:txBody>
        </p:sp>
        <p:sp>
          <p:nvSpPr>
            <p:cNvPr id="68" name="Rectangle 68"/>
            <p:cNvSpPr/>
            <p:nvPr/>
          </p:nvSpPr>
          <p:spPr>
            <a:xfrm>
              <a:off x="6286500" y="2647950"/>
              <a:ext cx="5410200" cy="609600"/>
            </a:xfrm>
            <a:prstGeom prst="roundRect">
              <a:avLst>
                <a:gd name="adj" fmla="val 9375"/>
              </a:avLst>
            </a:prstGeom>
            <a:solidFill>
              <a:srgbClr val="F5F5F5"/>
            </a:solidFill>
            <a:ln>
              <a:noFill/>
            </a:ln>
            <a:effectLst>
              <a:outerShdw blurRad="76200" dist="19050" dir="5400000" algn="ctr" rotWithShape="0">
                <a:srgbClr val="000000">
                  <a:alpha val="5250"/>
                </a:srgbClr>
              </a:outerShdw>
            </a:effectLst>
          </p:spPr>
        </p:sp>
        <p:sp>
          <p:nvSpPr>
            <p:cNvPr id="69" name="TextBox 69"/>
            <p:cNvSpPr txBox="1"/>
            <p:nvPr/>
          </p:nvSpPr>
          <p:spPr>
            <a:xfrm>
              <a:off x="7452229" y="2741295"/>
              <a:ext cx="3078742"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900" b="1" dirty="0">
                  <a:solidFill>
                    <a:srgbClr val="555555"/>
                  </a:solidFill>
                  <a:latin typeface="Arial"/>
                  <a:ea typeface="Microsoft YaHei"/>
                  <a:cs typeface="Arial"/>
                </a:rPr>
                <a:t>Padua Prediction Score ≥ 4 → prophylaxis indicated</a:t>
              </a:r>
            </a:p>
          </p:txBody>
        </p:sp>
        <p:sp>
          <p:nvSpPr>
            <p:cNvPr id="70" name="TextBox 70"/>
            <p:cNvSpPr txBox="1"/>
            <p:nvPr/>
          </p:nvSpPr>
          <p:spPr>
            <a:xfrm>
              <a:off x="7215402" y="2920841"/>
              <a:ext cx="3552396"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dirty="0">
                  <a:solidFill>
                    <a:srgbClr val="888888"/>
                  </a:solidFill>
                  <a:latin typeface="Arial"/>
                  <a:ea typeface="Microsoft YaHei"/>
                  <a:cs typeface="Arial"/>
                </a:rPr>
                <a:t>I will help MDs identify eligible patients using the Padua score tool</a:t>
              </a:r>
            </a:p>
          </p:txBody>
        </p:sp>
        <p:sp>
          <p:nvSpPr>
            <p:cNvPr id="71" name="TextBox 71"/>
            <p:cNvSpPr txBox="1"/>
            <p:nvPr/>
          </p:nvSpPr>
          <p:spPr>
            <a:xfrm>
              <a:off x="7647206" y="3073241"/>
              <a:ext cx="2688788"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dirty="0">
                  <a:solidFill>
                    <a:srgbClr val="888888"/>
                  </a:solidFill>
                  <a:latin typeface="Arial"/>
                  <a:ea typeface="Microsoft YaHei"/>
                  <a:cs typeface="Arial"/>
                </a:rPr>
                <a:t>and link it directly to the Clexane 40 mg protocol.</a:t>
              </a:r>
            </a:p>
          </p:txBody>
        </p:sp>
      </p:grpSp>
      <p:grpSp>
        <p:nvGrpSpPr>
          <p:cNvPr id="90" name="Group 90"/>
          <p:cNvGrpSpPr/>
          <p:nvPr/>
        </p:nvGrpSpPr>
        <p:grpSpPr>
          <a:xfrm>
            <a:off x="6153150" y="3543300"/>
            <a:ext cx="5695950" cy="2362200"/>
            <a:chOff x="6153150" y="3543300"/>
            <a:chExt cx="5695950" cy="2362200"/>
          </a:xfrm>
          <a:effectLst>
            <a:outerShdw blurRad="76200" dist="19050" dir="5400000" algn="ctr" rotWithShape="0">
              <a:srgbClr val="000000">
                <a:alpha val="5250"/>
              </a:srgbClr>
            </a:outerShdw>
          </a:effectLst>
        </p:grpSpPr>
        <p:sp>
          <p:nvSpPr>
            <p:cNvPr id="73" name="Rectangle 73"/>
            <p:cNvSpPr/>
            <p:nvPr/>
          </p:nvSpPr>
          <p:spPr>
            <a:xfrm>
              <a:off x="6153150" y="3543300"/>
              <a:ext cx="5695950" cy="2362200"/>
            </a:xfrm>
            <a:prstGeom prst="roundRect">
              <a:avLst>
                <a:gd name="adj" fmla="val 3226"/>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74" name="Rectangle 74"/>
            <p:cNvSpPr/>
            <p:nvPr/>
          </p:nvSpPr>
          <p:spPr>
            <a:xfrm>
              <a:off x="6153150" y="3543300"/>
              <a:ext cx="47625" cy="2362200"/>
            </a:xfrm>
            <a:prstGeom prst="roundRect">
              <a:avLst>
                <a:gd name="adj" fmla="val 50000"/>
              </a:avLst>
            </a:prstGeom>
            <a:solidFill>
              <a:srgbClr val="E0E0E0"/>
            </a:solidFill>
            <a:ln>
              <a:noFill/>
            </a:ln>
            <a:effectLst>
              <a:outerShdw blurRad="76200" dist="19050" dir="5400000" algn="ctr" rotWithShape="0">
                <a:srgbClr val="000000">
                  <a:alpha val="5250"/>
                </a:srgbClr>
              </a:outerShdw>
            </a:effectLst>
          </p:spPr>
        </p:sp>
        <p:sp>
          <p:nvSpPr>
            <p:cNvPr id="75" name="Rectangle 75"/>
            <p:cNvSpPr/>
            <p:nvPr/>
          </p:nvSpPr>
          <p:spPr>
            <a:xfrm>
              <a:off x="11277600" y="3619500"/>
              <a:ext cx="457200" cy="209550"/>
            </a:xfrm>
            <a:prstGeom prst="roundRect">
              <a:avLst>
                <a:gd name="adj" fmla="val 18182"/>
              </a:avLst>
            </a:prstGeom>
            <a:solidFill>
              <a:srgbClr val="F9E5E7"/>
            </a:solidFill>
            <a:ln w="9525">
              <a:solidFill>
                <a:srgbClr val="AE232F"/>
              </a:solidFill>
            </a:ln>
            <a:effectLst>
              <a:outerShdw blurRad="76200" dist="19050" dir="5400000" algn="ctr" rotWithShape="0">
                <a:srgbClr val="000000">
                  <a:alpha val="5250"/>
                </a:srgbClr>
              </a:outerShdw>
            </a:effectLst>
          </p:spPr>
        </p:sp>
        <p:sp>
          <p:nvSpPr>
            <p:cNvPr id="76" name="TextBox 76"/>
            <p:cNvSpPr txBox="1"/>
            <p:nvPr/>
          </p:nvSpPr>
          <p:spPr>
            <a:xfrm>
              <a:off x="11334002" y="3673316"/>
              <a:ext cx="344395"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b="1" dirty="0">
                  <a:solidFill>
                    <a:srgbClr val="AE232F"/>
                  </a:solidFill>
                  <a:latin typeface="Arial"/>
                  <a:ea typeface="Microsoft YaHei"/>
                  <a:cs typeface="Arial"/>
                </a:rPr>
                <a:t>Tier B</a:t>
              </a:r>
            </a:p>
          </p:txBody>
        </p:sp>
        <p:sp>
          <p:nvSpPr>
            <p:cNvPr id="77" name="Ellipse 77"/>
            <p:cNvSpPr/>
            <p:nvPr/>
          </p:nvSpPr>
          <p:spPr>
            <a:xfrm>
              <a:off x="6286500" y="3752850"/>
              <a:ext cx="419100" cy="419100"/>
            </a:xfrm>
            <a:prstGeom prst="ellipse">
              <a:avLst/>
            </a:prstGeom>
            <a:solidFill>
              <a:srgbClr val="F5F5F5"/>
            </a:solidFill>
            <a:ln>
              <a:noFill/>
            </a:ln>
            <a:effectLst>
              <a:outerShdw blurRad="76200" dist="19050" dir="5400000" algn="ctr" rotWithShape="0">
                <a:srgbClr val="000000">
                  <a:alpha val="5250"/>
                </a:srgbClr>
              </a:outerShdw>
            </a:effectLst>
          </p:spPr>
        </p:sp>
        <p:sp>
          <p:nvSpPr>
            <p:cNvPr id="78" name="Freeform 78"/>
            <p:cNvSpPr/>
            <p:nvPr/>
          </p:nvSpPr>
          <p:spPr>
            <a:xfrm>
              <a:off x="6396487" y="3867150"/>
              <a:ext cx="199117" cy="190602"/>
            </a:xfrm>
            <a:custGeom>
              <a:avLst/>
              <a:gdLst/>
              <a:ahLst/>
              <a:cxnLst/>
              <a:rect l="l" t="t" r="r" b="b"/>
              <a:pathLst>
                <a:path w="199117" h="190602">
                  <a:moveTo>
                    <a:pt x="99544" y="0"/>
                  </a:moveTo>
                  <a:lnTo>
                    <a:pt x="100668" y="67"/>
                  </a:lnTo>
                  <a:lnTo>
                    <a:pt x="101230" y="143"/>
                  </a:lnTo>
                  <a:lnTo>
                    <a:pt x="101811" y="267"/>
                  </a:lnTo>
                  <a:lnTo>
                    <a:pt x="102868" y="591"/>
                  </a:lnTo>
                  <a:cubicBezTo>
                    <a:pt x="103598" y="860"/>
                    <a:pt x="104293" y="1218"/>
                    <a:pt x="104935" y="1657"/>
                  </a:cubicBezTo>
                  <a:lnTo>
                    <a:pt x="105926" y="2438"/>
                  </a:lnTo>
                  <a:lnTo>
                    <a:pt x="108354" y="4515"/>
                  </a:lnTo>
                  <a:cubicBezTo>
                    <a:pt x="127569" y="20475"/>
                    <a:pt x="151854" y="29045"/>
                    <a:pt x="176830" y="28680"/>
                  </a:cubicBezTo>
                  <a:lnTo>
                    <a:pt x="180087" y="28585"/>
                  </a:lnTo>
                  <a:cubicBezTo>
                    <a:pt x="184470" y="28385"/>
                    <a:pt x="188423" y="31204"/>
                    <a:pt x="189660" y="35414"/>
                  </a:cubicBezTo>
                  <a:cubicBezTo>
                    <a:pt x="199117" y="67583"/>
                    <a:pt x="195123" y="102211"/>
                    <a:pt x="178593" y="131383"/>
                  </a:cubicBezTo>
                  <a:cubicBezTo>
                    <a:pt x="162063" y="160555"/>
                    <a:pt x="134409" y="181776"/>
                    <a:pt x="101954" y="190195"/>
                  </a:cubicBezTo>
                  <a:cubicBezTo>
                    <a:pt x="100386" y="190602"/>
                    <a:pt x="98740" y="190602"/>
                    <a:pt x="97172" y="190195"/>
                  </a:cubicBezTo>
                  <a:cubicBezTo>
                    <a:pt x="64715" y="181778"/>
                    <a:pt x="37059" y="160558"/>
                    <a:pt x="20527" y="131386"/>
                  </a:cubicBezTo>
                  <a:cubicBezTo>
                    <a:pt x="3994" y="102213"/>
                    <a:pt x="0" y="67584"/>
                    <a:pt x="9456" y="35414"/>
                  </a:cubicBezTo>
                  <a:cubicBezTo>
                    <a:pt x="10693" y="31204"/>
                    <a:pt x="14646" y="28385"/>
                    <a:pt x="19029" y="28585"/>
                  </a:cubicBezTo>
                  <a:cubicBezTo>
                    <a:pt x="45103" y="29776"/>
                    <a:pt x="70684" y="21193"/>
                    <a:pt x="90762" y="4515"/>
                  </a:cubicBezTo>
                  <a:lnTo>
                    <a:pt x="93267" y="2372"/>
                  </a:lnTo>
                  <a:lnTo>
                    <a:pt x="94181" y="1657"/>
                  </a:lnTo>
                  <a:cubicBezTo>
                    <a:pt x="94824" y="1218"/>
                    <a:pt x="95518" y="860"/>
                    <a:pt x="96248" y="591"/>
                  </a:cubicBezTo>
                  <a:lnTo>
                    <a:pt x="97315" y="267"/>
                  </a:lnTo>
                  <a:cubicBezTo>
                    <a:pt x="97688" y="177"/>
                    <a:pt x="98067" y="110"/>
                    <a:pt x="98448" y="67"/>
                  </a:cubicBezTo>
                  <a:lnTo>
                    <a:pt x="99544" y="0"/>
                  </a:lnTo>
                  <a:close/>
                  <a:moveTo>
                    <a:pt x="134882" y="69466"/>
                  </a:moveTo>
                  <a:cubicBezTo>
                    <a:pt x="133095" y="67677"/>
                    <a:pt x="130671" y="66672"/>
                    <a:pt x="128143" y="66672"/>
                  </a:cubicBezTo>
                  <a:cubicBezTo>
                    <a:pt x="125615" y="66672"/>
                    <a:pt x="123190" y="67677"/>
                    <a:pt x="121404" y="69466"/>
                  </a:cubicBezTo>
                  <a:lnTo>
                    <a:pt x="90038" y="100822"/>
                  </a:lnTo>
                  <a:lnTo>
                    <a:pt x="77722" y="88516"/>
                  </a:lnTo>
                  <a:lnTo>
                    <a:pt x="76827" y="87725"/>
                  </a:lnTo>
                  <a:cubicBezTo>
                    <a:pt x="72854" y="84653"/>
                    <a:pt x="67178" y="85194"/>
                    <a:pt x="63856" y="88961"/>
                  </a:cubicBezTo>
                  <a:cubicBezTo>
                    <a:pt x="60534" y="92728"/>
                    <a:pt x="60708" y="98427"/>
                    <a:pt x="64254" y="101984"/>
                  </a:cubicBezTo>
                  <a:lnTo>
                    <a:pt x="83304" y="121034"/>
                  </a:lnTo>
                  <a:lnTo>
                    <a:pt x="84199" y="121825"/>
                  </a:lnTo>
                  <a:cubicBezTo>
                    <a:pt x="87991" y="124766"/>
                    <a:pt x="93379" y="124427"/>
                    <a:pt x="96772" y="121034"/>
                  </a:cubicBezTo>
                  <a:lnTo>
                    <a:pt x="134872" y="82934"/>
                  </a:lnTo>
                  <a:lnTo>
                    <a:pt x="135663" y="82039"/>
                  </a:lnTo>
                  <a:cubicBezTo>
                    <a:pt x="138604" y="78247"/>
                    <a:pt x="138265" y="72859"/>
                    <a:pt x="134872" y="69466"/>
                  </a:cubicBezTo>
                  <a:close/>
                </a:path>
              </a:pathLst>
            </a:custGeom>
            <a:solidFill>
              <a:srgbClr val="888888"/>
            </a:solidFill>
            <a:ln>
              <a:noFill/>
            </a:ln>
            <a:effectLst>
              <a:outerShdw blurRad="76200" dist="19050" dir="5400000" algn="ctr" rotWithShape="0">
                <a:srgbClr val="000000">
                  <a:alpha val="5250"/>
                </a:srgbClr>
              </a:outerShdw>
            </a:effectLst>
          </p:spPr>
        </p:sp>
        <p:sp>
          <p:nvSpPr>
            <p:cNvPr id="79" name="TextBox 79"/>
            <p:cNvSpPr txBox="1"/>
            <p:nvPr/>
          </p:nvSpPr>
          <p:spPr>
            <a:xfrm>
              <a:off x="6805612" y="3783806"/>
              <a:ext cx="989445" cy="22860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1125" b="1" dirty="0">
                  <a:solidFill>
                    <a:srgbClr val="1A1A1A"/>
                  </a:solidFill>
                  <a:latin typeface="Arial"/>
                  <a:ea typeface="Microsoft YaHei"/>
                  <a:cs typeface="Arial"/>
                </a:rPr>
                <a:t>Nephrologist</a:t>
              </a:r>
            </a:p>
          </p:txBody>
        </p:sp>
        <p:sp>
          <p:nvSpPr>
            <p:cNvPr id="80" name="TextBox 80"/>
            <p:cNvSpPr txBox="1"/>
            <p:nvPr/>
          </p:nvSpPr>
          <p:spPr>
            <a:xfrm>
              <a:off x="6809422" y="3987641"/>
              <a:ext cx="4214129"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825" b="1" dirty="0">
                  <a:solidFill>
                    <a:srgbClr val="555555"/>
                  </a:solidFill>
                  <a:latin typeface="Arial"/>
                  <a:ea typeface="Microsoft YaHei"/>
                  <a:cs typeface="Arial"/>
                </a:rPr>
                <a:t>Clexane role: Hemodialysis circuit anticoagulation + VTE management in CKD</a:t>
              </a:r>
            </a:p>
          </p:txBody>
        </p:sp>
        <p:sp>
          <p:nvSpPr>
            <p:cNvPr id="81" name="Line 81"/>
            <p:cNvSpPr/>
            <p:nvPr/>
          </p:nvSpPr>
          <p:spPr>
            <a:xfrm>
              <a:off x="6286500" y="4200525"/>
              <a:ext cx="5448300" cy="9525"/>
            </a:xfrm>
            <a:custGeom>
              <a:avLst/>
              <a:gdLst/>
              <a:ahLst/>
              <a:cxnLst/>
              <a:rect l="l" t="t" r="r" b="b"/>
              <a:pathLst>
                <a:path w="5448300" h="9525">
                  <a:moveTo>
                    <a:pt x="0" y="0"/>
                  </a:moveTo>
                  <a:lnTo>
                    <a:pt x="5448300" y="0"/>
                  </a:lnTo>
                </a:path>
              </a:pathLst>
            </a:custGeom>
            <a:noFill/>
            <a:ln w="9525">
              <a:solidFill>
                <a:srgbClr val="F5F5F5"/>
              </a:solidFill>
            </a:ln>
          </p:spPr>
        </p:sp>
        <p:sp>
          <p:nvSpPr>
            <p:cNvPr id="82" name="TextBox 82"/>
            <p:cNvSpPr txBox="1"/>
            <p:nvPr/>
          </p:nvSpPr>
          <p:spPr>
            <a:xfrm>
              <a:off x="6275070" y="4303395"/>
              <a:ext cx="848263"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b="1" dirty="0">
                  <a:solidFill>
                    <a:srgbClr val="555555"/>
                  </a:solidFill>
                  <a:latin typeface="Arial"/>
                  <a:ea typeface="Microsoft YaHei"/>
                  <a:cs typeface="Arial"/>
                </a:rPr>
                <a:t>Key message:</a:t>
              </a:r>
            </a:p>
          </p:txBody>
        </p:sp>
        <p:sp>
          <p:nvSpPr>
            <p:cNvPr id="83" name="TextBox 83"/>
            <p:cNvSpPr txBox="1"/>
            <p:nvPr/>
          </p:nvSpPr>
          <p:spPr>
            <a:xfrm>
              <a:off x="6275070" y="4474845"/>
              <a:ext cx="4205383"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Dose-adjustable in CKD (CrCl ≥ 15 mL/min with monitoring) — established</a:t>
              </a:r>
            </a:p>
          </p:txBody>
        </p:sp>
        <p:sp>
          <p:nvSpPr>
            <p:cNvPr id="84" name="TextBox 84"/>
            <p:cNvSpPr txBox="1"/>
            <p:nvPr/>
          </p:nvSpPr>
          <p:spPr>
            <a:xfrm>
              <a:off x="6275070" y="4646295"/>
              <a:ext cx="4277392"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safety profile in renal patients where DOACs are often contraindicated.</a:t>
              </a:r>
            </a:p>
          </p:txBody>
        </p:sp>
        <p:sp>
          <p:nvSpPr>
            <p:cNvPr id="85" name="TextBox 85"/>
            <p:cNvSpPr txBox="1"/>
            <p:nvPr/>
          </p:nvSpPr>
          <p:spPr>
            <a:xfrm>
              <a:off x="6275070" y="4874895"/>
              <a:ext cx="4547426"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Hemodialysis use: 1 mg/kg IV bolus at circuit start prevents clotting without</a:t>
              </a:r>
            </a:p>
          </p:txBody>
        </p:sp>
        <p:sp>
          <p:nvSpPr>
            <p:cNvPr id="86" name="TextBox 86"/>
            <p:cNvSpPr txBox="1"/>
            <p:nvPr/>
          </p:nvSpPr>
          <p:spPr>
            <a:xfrm>
              <a:off x="6275070" y="5046345"/>
              <a:ext cx="4511421"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need for continuous heparin infusion — simpler workflow for dialysis nurses.</a:t>
              </a:r>
            </a:p>
          </p:txBody>
        </p:sp>
        <p:sp>
          <p:nvSpPr>
            <p:cNvPr id="87" name="Rectangle 87"/>
            <p:cNvSpPr/>
            <p:nvPr/>
          </p:nvSpPr>
          <p:spPr>
            <a:xfrm>
              <a:off x="6286500" y="5314950"/>
              <a:ext cx="5410200" cy="476250"/>
            </a:xfrm>
            <a:prstGeom prst="roundRect">
              <a:avLst>
                <a:gd name="adj" fmla="val 12000"/>
              </a:avLst>
            </a:prstGeom>
            <a:solidFill>
              <a:srgbClr val="F5F5F5"/>
            </a:solidFill>
            <a:ln>
              <a:noFill/>
            </a:ln>
            <a:effectLst>
              <a:outerShdw blurRad="76200" dist="19050" dir="5400000" algn="ctr" rotWithShape="0">
                <a:srgbClr val="000000">
                  <a:alpha val="5250"/>
                </a:srgbClr>
              </a:outerShdw>
            </a:effectLst>
          </p:spPr>
        </p:sp>
        <p:sp>
          <p:nvSpPr>
            <p:cNvPr id="88" name="TextBox 88"/>
            <p:cNvSpPr txBox="1"/>
            <p:nvPr/>
          </p:nvSpPr>
          <p:spPr>
            <a:xfrm>
              <a:off x="7732614" y="5398770"/>
              <a:ext cx="2517972"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900" b="1" dirty="0">
                  <a:solidFill>
                    <a:srgbClr val="555555"/>
                  </a:solidFill>
                  <a:latin typeface="Arial"/>
                  <a:ea typeface="Microsoft YaHei"/>
                  <a:cs typeface="Arial"/>
                </a:rPr>
                <a:t>Handling the renal objection proactively:</a:t>
              </a:r>
            </a:p>
          </p:txBody>
        </p:sp>
        <p:sp>
          <p:nvSpPr>
            <p:cNvPr id="89" name="TextBox 89"/>
            <p:cNvSpPr txBox="1"/>
            <p:nvPr/>
          </p:nvSpPr>
          <p:spPr>
            <a:xfrm>
              <a:off x="7075134" y="5578316"/>
              <a:ext cx="3832931"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dirty="0">
                  <a:solidFill>
                    <a:srgbClr val="888888"/>
                  </a:solidFill>
                  <a:latin typeface="Arial"/>
                  <a:ea typeface="Microsoft YaHei"/>
                  <a:cs typeface="Arial"/>
                </a:rPr>
                <a:t>"Dose-adjust at CrCl 15–30; avoid or use anti-Xa monitoring below 15."</a:t>
              </a:r>
            </a:p>
          </p:txBody>
        </p:sp>
      </p:grpSp>
      <p:sp>
        <p:nvSpPr>
          <p:cNvPr id="91" name="Rectangle 91"/>
          <p:cNvSpPr/>
          <p:nvPr/>
        </p:nvSpPr>
        <p:spPr>
          <a:xfrm>
            <a:off x="342900" y="6019800"/>
            <a:ext cx="11506200" cy="400050"/>
          </a:xfrm>
          <a:prstGeom prst="roundRect">
            <a:avLst>
              <a:gd name="adj" fmla="val 14286"/>
            </a:avLst>
          </a:prstGeom>
          <a:solidFill>
            <a:srgbClr val="AE232F"/>
          </a:solidFill>
          <a:ln>
            <a:noFill/>
          </a:ln>
          <a:effectLst>
            <a:outerShdw blurRad="76200" dist="19050" dir="5400000" algn="ctr" rotWithShape="0">
              <a:srgbClr val="000000">
                <a:alpha val="5250"/>
              </a:srgbClr>
            </a:outerShdw>
          </a:effectLst>
        </p:spPr>
      </p:sp>
      <p:sp>
        <p:nvSpPr>
          <p:cNvPr id="92" name="Freeform 92"/>
          <p:cNvSpPr/>
          <p:nvPr/>
        </p:nvSpPr>
        <p:spPr>
          <a:xfrm>
            <a:off x="521875" y="6132529"/>
            <a:ext cx="175364" cy="167135"/>
          </a:xfrm>
          <a:custGeom>
            <a:avLst/>
            <a:gdLst/>
            <a:ahLst/>
            <a:cxnLst/>
            <a:rect l="l" t="t" r="r" b="b"/>
            <a:pathLst>
              <a:path w="175364" h="167135">
                <a:moveTo>
                  <a:pt x="57904" y="50308"/>
                </a:moveTo>
                <a:lnTo>
                  <a:pt x="7263" y="57650"/>
                </a:lnTo>
                <a:lnTo>
                  <a:pt x="6366" y="57832"/>
                </a:lnTo>
                <a:cubicBezTo>
                  <a:pt x="3602" y="58566"/>
                  <a:pt x="1446" y="60730"/>
                  <a:pt x="723" y="63498"/>
                </a:cubicBezTo>
                <a:cubicBezTo>
                  <a:pt x="0" y="66265"/>
                  <a:pt x="822" y="69207"/>
                  <a:pt x="2874" y="71199"/>
                </a:cubicBezTo>
                <a:lnTo>
                  <a:pt x="39561" y="106910"/>
                </a:lnTo>
                <a:lnTo>
                  <a:pt x="30909" y="157353"/>
                </a:lnTo>
                <a:lnTo>
                  <a:pt x="30806" y="158226"/>
                </a:lnTo>
                <a:cubicBezTo>
                  <a:pt x="30636" y="161085"/>
                  <a:pt x="32021" y="163814"/>
                  <a:pt x="34428" y="165366"/>
                </a:cubicBezTo>
                <a:cubicBezTo>
                  <a:pt x="36835" y="166918"/>
                  <a:pt x="39892" y="167053"/>
                  <a:pt x="42426" y="165719"/>
                </a:cubicBezTo>
                <a:lnTo>
                  <a:pt x="87718" y="141906"/>
                </a:lnTo>
                <a:lnTo>
                  <a:pt x="132906" y="165719"/>
                </a:lnTo>
                <a:lnTo>
                  <a:pt x="133699" y="166084"/>
                </a:lnTo>
                <a:cubicBezTo>
                  <a:pt x="136367" y="167135"/>
                  <a:pt x="139394" y="166665"/>
                  <a:pt x="141618" y="164856"/>
                </a:cubicBezTo>
                <a:cubicBezTo>
                  <a:pt x="143842" y="163046"/>
                  <a:pt x="144917" y="160178"/>
                  <a:pt x="144431" y="157353"/>
                </a:cubicBezTo>
                <a:lnTo>
                  <a:pt x="135771" y="106910"/>
                </a:lnTo>
                <a:lnTo>
                  <a:pt x="172474" y="71191"/>
                </a:lnTo>
                <a:lnTo>
                  <a:pt x="173093" y="70517"/>
                </a:lnTo>
                <a:cubicBezTo>
                  <a:pt x="174894" y="68299"/>
                  <a:pt x="175364" y="65285"/>
                  <a:pt x="174324" y="62624"/>
                </a:cubicBezTo>
                <a:cubicBezTo>
                  <a:pt x="173285" y="59964"/>
                  <a:pt x="170896" y="58067"/>
                  <a:pt x="168069" y="57658"/>
                </a:cubicBezTo>
                <a:lnTo>
                  <a:pt x="117428" y="50308"/>
                </a:lnTo>
                <a:lnTo>
                  <a:pt x="94790" y="4429"/>
                </a:lnTo>
                <a:cubicBezTo>
                  <a:pt x="93454" y="1717"/>
                  <a:pt x="90693" y="0"/>
                  <a:pt x="87670" y="0"/>
                </a:cubicBezTo>
                <a:cubicBezTo>
                  <a:pt x="84647" y="0"/>
                  <a:pt x="81886" y="1717"/>
                  <a:pt x="80550" y="4429"/>
                </a:cubicBezTo>
                <a:lnTo>
                  <a:pt x="57904" y="50308"/>
                </a:lnTo>
                <a:close/>
              </a:path>
            </a:pathLst>
          </a:custGeom>
          <a:solidFill>
            <a:srgbClr val="FFFFFF"/>
          </a:solidFill>
          <a:ln>
            <a:noFill/>
          </a:ln>
        </p:spPr>
      </p:sp>
      <p:sp>
        <p:nvSpPr>
          <p:cNvPr id="93" name="TextBox 93"/>
          <p:cNvSpPr txBox="1"/>
          <p:nvPr/>
        </p:nvSpPr>
        <p:spPr>
          <a:xfrm>
            <a:off x="788670" y="6094095"/>
            <a:ext cx="482817"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Tier A =</a:t>
            </a:r>
          </a:p>
        </p:txBody>
      </p:sp>
      <p:sp>
        <p:nvSpPr>
          <p:cNvPr id="94" name="TextBox 94"/>
          <p:cNvSpPr txBox="1"/>
          <p:nvPr/>
        </p:nvSpPr>
        <p:spPr>
          <a:xfrm>
            <a:off x="1283970" y="6094095"/>
            <a:ext cx="4991481" cy="182880"/>
          </a:xfrm>
          <a:prstGeom prst="rect">
            <a:avLst/>
          </a:prstGeom>
          <a:noFill/>
          <a:ln>
            <a:noFill/>
          </a:ln>
        </p:spPr>
        <p:txBody>
          <a:bodyPr wrap="none" lIns="0" tIns="0" rIns="0" bIns="0" anchor="t" anchorCtr="0">
            <a:spAutoFit/>
          </a:bodyPr>
          <a:lstStyle/>
          <a:p>
            <a:pPr algn="l"/>
            <a:r>
              <a:rPr lang="zh-CN" sz="900" dirty="0">
                <a:solidFill>
                  <a:srgbClr val="F9E5E7"/>
                </a:solidFill>
                <a:latin typeface="Arial"/>
                <a:ea typeface="Microsoft YaHei"/>
                <a:cs typeface="Arial"/>
              </a:rPr>
              <a:t>High prescribing volume + strong Clexane fit → priority call frequency (2× per week).</a:t>
            </a:r>
          </a:p>
        </p:txBody>
      </p:sp>
      <p:sp>
        <p:nvSpPr>
          <p:cNvPr id="95" name="TextBox 95"/>
          <p:cNvSpPr txBox="1"/>
          <p:nvPr/>
        </p:nvSpPr>
        <p:spPr>
          <a:xfrm>
            <a:off x="7227570" y="6094095"/>
            <a:ext cx="1049888"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Ward Pharmacist</a:t>
            </a:r>
          </a:p>
        </p:txBody>
      </p:sp>
      <p:sp>
        <p:nvSpPr>
          <p:cNvPr id="96" name="TextBox 96"/>
          <p:cNvSpPr txBox="1"/>
          <p:nvPr/>
        </p:nvSpPr>
        <p:spPr>
          <a:xfrm>
            <a:off x="8275320" y="6094095"/>
            <a:ext cx="4745450" cy="182880"/>
          </a:xfrm>
          <a:prstGeom prst="rect">
            <a:avLst/>
          </a:prstGeom>
          <a:noFill/>
          <a:ln>
            <a:noFill/>
          </a:ln>
        </p:spPr>
        <p:txBody>
          <a:bodyPr wrap="none" lIns="0" tIns="0" rIns="0" bIns="0" anchor="t" anchorCtr="0">
            <a:spAutoFit/>
          </a:bodyPr>
          <a:lstStyle/>
          <a:p>
            <a:pPr algn="l"/>
            <a:r>
              <a:rPr lang="zh-CN" sz="900" dirty="0">
                <a:solidFill>
                  <a:srgbClr val="F9E5E7"/>
                </a:solidFill>
                <a:latin typeface="Arial"/>
                <a:ea typeface="Microsoft YaHei"/>
                <a:cs typeface="Arial"/>
              </a:rPr>
              <a:t>is a clinical partner, not just a gatekeeper — always engage both MD and PharmD.</a:t>
            </a:r>
          </a:p>
        </p:txBody>
      </p:sp>
      <p:sp>
        <p:nvSpPr>
          <p:cNvPr id="97" name="TextBox 97"/>
          <p:cNvSpPr txBox="1"/>
          <p:nvPr/>
        </p:nvSpPr>
        <p:spPr>
          <a:xfrm>
            <a:off x="789622" y="6254591"/>
            <a:ext cx="8668036" cy="167640"/>
          </a:xfrm>
          <a:prstGeom prst="rect">
            <a:avLst/>
          </a:prstGeom>
          <a:noFill/>
          <a:ln>
            <a:noFill/>
          </a:ln>
        </p:spPr>
        <p:txBody>
          <a:bodyPr wrap="none" lIns="0" tIns="0" rIns="0" bIns="0" anchor="t" anchorCtr="0">
            <a:spAutoFit/>
          </a:bodyPr>
          <a:lstStyle/>
          <a:p>
            <a:pPr algn="l"/>
            <a:r>
              <a:rPr lang="zh-CN" sz="825" dirty="0">
                <a:solidFill>
                  <a:srgbClr val="F9E5E7"/>
                </a:solidFill>
                <a:latin typeface="Arial"/>
                <a:ea typeface="Microsoft YaHei"/>
                <a:cs typeface="Arial"/>
              </a:rPr>
              <a:t>Tier B = Build relationship in first 60 days, convert to active accounts by Q2. My Pharm.D. background gives me a peer advantage with pharmacist stakeholders.</a:t>
            </a:r>
          </a:p>
        </p:txBody>
      </p:sp>
      <p:grpSp>
        <p:nvGrpSpPr>
          <p:cNvPr id="100" name="Group 100"/>
          <p:cNvGrpSpPr/>
          <p:nvPr/>
        </p:nvGrpSpPr>
        <p:grpSpPr>
          <a:xfrm>
            <a:off x="0" y="6496050"/>
            <a:ext cx="12192000" cy="361950"/>
            <a:chOff x="0" y="6496050"/>
            <a:chExt cx="12192000" cy="361950"/>
          </a:xfrm>
        </p:grpSpPr>
        <p:sp>
          <p:nvSpPr>
            <p:cNvPr id="98" name="Rectangle 98"/>
            <p:cNvSpPr/>
            <p:nvPr/>
          </p:nvSpPr>
          <p:spPr>
            <a:xfrm>
              <a:off x="0" y="6496050"/>
              <a:ext cx="12192000" cy="361950"/>
            </a:xfrm>
            <a:prstGeom prst="rect">
              <a:avLst/>
            </a:prstGeom>
            <a:solidFill>
              <a:srgbClr val="AE232F"/>
            </a:solidFill>
            <a:ln>
              <a:noFill/>
            </a:ln>
          </p:spPr>
        </p:sp>
        <p:sp>
          <p:nvSpPr>
            <p:cNvPr id="99" name="TextBox 99"/>
            <p:cNvSpPr txBox="1"/>
            <p:nvPr/>
          </p:nvSpPr>
          <p:spPr>
            <a:xfrm>
              <a:off x="4128325" y="6627495"/>
              <a:ext cx="3935349"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Rattanakorn Rattanaroj | Rattanaroj.jan@gmail.com | 080-045-0821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lide(fromBottom)">
                                      <p:cBhvr>
                                        <p:cTn id="7" dur="400"/>
                                        <p:tgtEl>
                                          <p:spTgt spid="22"/>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slide(fromBottom)">
                                      <p:cBhvr>
                                        <p:cTn id="11" dur="400"/>
                                        <p:tgtEl>
                                          <p:spTgt spid="37"/>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slide(fromBottom)">
                                      <p:cBhvr>
                                        <p:cTn id="15" dur="400"/>
                                        <p:tgtEl>
                                          <p:spTgt spid="53"/>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72"/>
                                        </p:tgtEl>
                                        <p:attrNameLst>
                                          <p:attrName>style.visibility</p:attrName>
                                        </p:attrNameLst>
                                      </p:cBhvr>
                                      <p:to>
                                        <p:strVal val="visible"/>
                                      </p:to>
                                    </p:set>
                                    <p:animEffect transition="in" filter="slide(fromBottom)">
                                      <p:cBhvr>
                                        <p:cTn id="19" dur="400"/>
                                        <p:tgtEl>
                                          <p:spTgt spid="72"/>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90"/>
                                        </p:tgtEl>
                                        <p:attrNameLst>
                                          <p:attrName>style.visibility</p:attrName>
                                        </p:attrNameLst>
                                      </p:cBhvr>
                                      <p:to>
                                        <p:strVal val="visible"/>
                                      </p:to>
                                    </p:set>
                                    <p:animEffect transition="in" filter="slide(fromBottom)">
                                      <p:cBhvr>
                                        <p:cTn id="23" dur="4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7" grpId="0"/>
      <p:bldP spid="53" grpId="0"/>
      <p:bldP spid="72" grpId="0"/>
      <p:bldP spid="9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42950"/>
          </a:xfrm>
          <a:prstGeom prst="rect">
            <a:avLst/>
          </a:prstGeom>
          <a:solidFill>
            <a:srgbClr val="AE232F"/>
          </a:solidFill>
          <a:ln>
            <a:noFill/>
          </a:ln>
        </p:spPr>
      </p:sp>
      <p:sp>
        <p:nvSpPr>
          <p:cNvPr id="4" name="Rectangle 4"/>
          <p:cNvSpPr/>
          <p:nvPr/>
        </p:nvSpPr>
        <p:spPr>
          <a:xfrm>
            <a:off x="266700" y="171450"/>
            <a:ext cx="304800" cy="304800"/>
          </a:xfrm>
          <a:prstGeom prst="roundRect">
            <a:avLst>
              <a:gd name="adj" fmla="val 18750"/>
            </a:avLst>
          </a:prstGeom>
          <a:solidFill>
            <a:srgbClr val="8A1B25"/>
          </a:solidFill>
          <a:ln>
            <a:noFill/>
          </a:ln>
        </p:spPr>
      </p:sp>
      <p:sp>
        <p:nvSpPr>
          <p:cNvPr id="5" name="TextBox 5"/>
          <p:cNvSpPr txBox="1"/>
          <p:nvPr/>
        </p:nvSpPr>
        <p:spPr>
          <a:xfrm>
            <a:off x="318177" y="250031"/>
            <a:ext cx="20184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04</a:t>
            </a:r>
          </a:p>
        </p:txBody>
      </p:sp>
      <p:sp>
        <p:nvSpPr>
          <p:cNvPr id="6" name="TextBox 6"/>
          <p:cNvSpPr txBox="1"/>
          <p:nvPr/>
        </p:nvSpPr>
        <p:spPr>
          <a:xfrm>
            <a:off x="718185" y="208598"/>
            <a:ext cx="6220101"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a:ea typeface="Microsoft YaHei"/>
                <a:cs typeface="Arial"/>
              </a:rPr>
              <a:t>Where Clexane Stands — Competitive Landscape</a:t>
            </a:r>
          </a:p>
        </p:txBody>
      </p:sp>
      <p:sp>
        <p:nvSpPr>
          <p:cNvPr id="7" name="TextBox 7"/>
          <p:cNvSpPr txBox="1"/>
          <p:nvPr/>
        </p:nvSpPr>
        <p:spPr>
          <a:xfrm>
            <a:off x="730568" y="504349"/>
            <a:ext cx="4893874" cy="198120"/>
          </a:xfrm>
          <a:prstGeom prst="rect">
            <a:avLst/>
          </a:prstGeom>
          <a:noFill/>
          <a:ln>
            <a:noFill/>
          </a:ln>
        </p:spPr>
        <p:txBody>
          <a:bodyPr wrap="none" lIns="0" tIns="0" rIns="0" bIns="0" anchor="t" anchorCtr="0">
            <a:spAutoFit/>
          </a:bodyPr>
          <a:lstStyle/>
          <a:p>
            <a:pPr algn="l"/>
            <a:r>
              <a:rPr lang="zh-CN" sz="975" dirty="0">
                <a:solidFill>
                  <a:srgbClr val="F9E5E7"/>
                </a:solidFill>
                <a:latin typeface="Arial"/>
                <a:ea typeface="Microsoft YaHei"/>
                <a:cs typeface="Arial"/>
              </a:rPr>
              <a:t>Clexane vs. UFH · vs. Fragmin · vs. DOACs — knowing the field before the call</a:t>
            </a:r>
          </a:p>
        </p:txBody>
      </p:sp>
      <p:sp>
        <p:nvSpPr>
          <p:cNvPr id="8" name="Rectangle 8"/>
          <p:cNvSpPr/>
          <p:nvPr/>
        </p:nvSpPr>
        <p:spPr>
          <a:xfrm>
            <a:off x="342900" y="876300"/>
            <a:ext cx="7067550" cy="4876800"/>
          </a:xfrm>
          <a:prstGeom prst="roundRect">
            <a:avLst>
              <a:gd name="adj" fmla="val 1562"/>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9" name="Rectangle 9"/>
          <p:cNvSpPr/>
          <p:nvPr/>
        </p:nvSpPr>
        <p:spPr>
          <a:xfrm>
            <a:off x="342900" y="876300"/>
            <a:ext cx="7067550" cy="361950"/>
          </a:xfrm>
          <a:prstGeom prst="roundRect">
            <a:avLst>
              <a:gd name="adj" fmla="val 21053"/>
            </a:avLst>
          </a:prstGeom>
          <a:solidFill>
            <a:srgbClr val="1A1A1A"/>
          </a:solidFill>
          <a:ln>
            <a:noFill/>
          </a:ln>
        </p:spPr>
      </p:sp>
      <p:sp>
        <p:nvSpPr>
          <p:cNvPr id="10" name="Rectangle 10"/>
          <p:cNvSpPr/>
          <p:nvPr/>
        </p:nvSpPr>
        <p:spPr>
          <a:xfrm>
            <a:off x="342900" y="1047750"/>
            <a:ext cx="7067550" cy="190500"/>
          </a:xfrm>
          <a:prstGeom prst="rect">
            <a:avLst/>
          </a:prstGeom>
          <a:solidFill>
            <a:srgbClr val="1A1A1A"/>
          </a:solidFill>
          <a:ln>
            <a:noFill/>
          </a:ln>
        </p:spPr>
      </p:sp>
      <p:sp>
        <p:nvSpPr>
          <p:cNvPr id="11" name="Line 11"/>
          <p:cNvSpPr/>
          <p:nvPr/>
        </p:nvSpPr>
        <p:spPr>
          <a:xfrm>
            <a:off x="1676400" y="876300"/>
            <a:ext cx="9525" cy="4876800"/>
          </a:xfrm>
          <a:custGeom>
            <a:avLst/>
            <a:gdLst/>
            <a:ahLst/>
            <a:cxnLst/>
            <a:rect l="l" t="t" r="r" b="b"/>
            <a:pathLst>
              <a:path w="9525" h="4876800">
                <a:moveTo>
                  <a:pt x="0" y="0"/>
                </a:moveTo>
                <a:lnTo>
                  <a:pt x="0" y="4876800"/>
                </a:lnTo>
              </a:path>
            </a:pathLst>
          </a:custGeom>
          <a:noFill/>
          <a:ln w="9525">
            <a:solidFill>
              <a:srgbClr val="E0E0E0"/>
            </a:solidFill>
          </a:ln>
        </p:spPr>
      </p:sp>
      <p:sp>
        <p:nvSpPr>
          <p:cNvPr id="12" name="Line 12"/>
          <p:cNvSpPr/>
          <p:nvPr/>
        </p:nvSpPr>
        <p:spPr>
          <a:xfrm>
            <a:off x="2438400" y="876300"/>
            <a:ext cx="9525" cy="4876800"/>
          </a:xfrm>
          <a:custGeom>
            <a:avLst/>
            <a:gdLst/>
            <a:ahLst/>
            <a:cxnLst/>
            <a:rect l="l" t="t" r="r" b="b"/>
            <a:pathLst>
              <a:path w="9525" h="4876800">
                <a:moveTo>
                  <a:pt x="0" y="0"/>
                </a:moveTo>
                <a:lnTo>
                  <a:pt x="0" y="4876800"/>
                </a:lnTo>
              </a:path>
            </a:pathLst>
          </a:custGeom>
          <a:noFill/>
          <a:ln w="9525">
            <a:solidFill>
              <a:srgbClr val="E0E0E0"/>
            </a:solidFill>
          </a:ln>
        </p:spPr>
      </p:sp>
      <p:sp>
        <p:nvSpPr>
          <p:cNvPr id="13" name="Line 13"/>
          <p:cNvSpPr/>
          <p:nvPr/>
        </p:nvSpPr>
        <p:spPr>
          <a:xfrm>
            <a:off x="3962400" y="876300"/>
            <a:ext cx="9525" cy="4876800"/>
          </a:xfrm>
          <a:custGeom>
            <a:avLst/>
            <a:gdLst/>
            <a:ahLst/>
            <a:cxnLst/>
            <a:rect l="l" t="t" r="r" b="b"/>
            <a:pathLst>
              <a:path w="9525" h="4876800">
                <a:moveTo>
                  <a:pt x="0" y="0"/>
                </a:moveTo>
                <a:lnTo>
                  <a:pt x="0" y="4876800"/>
                </a:lnTo>
              </a:path>
            </a:pathLst>
          </a:custGeom>
          <a:noFill/>
          <a:ln w="9525">
            <a:solidFill>
              <a:srgbClr val="E0E0E0"/>
            </a:solidFill>
          </a:ln>
        </p:spPr>
      </p:sp>
      <p:sp>
        <p:nvSpPr>
          <p:cNvPr id="14" name="Line 14"/>
          <p:cNvSpPr/>
          <p:nvPr/>
        </p:nvSpPr>
        <p:spPr>
          <a:xfrm>
            <a:off x="5010150" y="876300"/>
            <a:ext cx="9525" cy="4876800"/>
          </a:xfrm>
          <a:custGeom>
            <a:avLst/>
            <a:gdLst/>
            <a:ahLst/>
            <a:cxnLst/>
            <a:rect l="l" t="t" r="r" b="b"/>
            <a:pathLst>
              <a:path w="9525" h="4876800">
                <a:moveTo>
                  <a:pt x="0" y="0"/>
                </a:moveTo>
                <a:lnTo>
                  <a:pt x="0" y="4876800"/>
                </a:lnTo>
              </a:path>
            </a:pathLst>
          </a:custGeom>
          <a:noFill/>
          <a:ln w="9525">
            <a:solidFill>
              <a:srgbClr val="E0E0E0"/>
            </a:solidFill>
          </a:ln>
        </p:spPr>
      </p:sp>
      <p:sp>
        <p:nvSpPr>
          <p:cNvPr id="15" name="TextBox 15"/>
          <p:cNvSpPr txBox="1"/>
          <p:nvPr/>
        </p:nvSpPr>
        <p:spPr>
          <a:xfrm>
            <a:off x="755640" y="1007745"/>
            <a:ext cx="508021"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Product</a:t>
            </a:r>
          </a:p>
        </p:txBody>
      </p:sp>
      <p:sp>
        <p:nvSpPr>
          <p:cNvPr id="16" name="TextBox 16"/>
          <p:cNvSpPr txBox="1"/>
          <p:nvPr/>
        </p:nvSpPr>
        <p:spPr>
          <a:xfrm>
            <a:off x="1888450" y="1007745"/>
            <a:ext cx="33789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Class</a:t>
            </a:r>
          </a:p>
        </p:txBody>
      </p:sp>
      <p:sp>
        <p:nvSpPr>
          <p:cNvPr id="17" name="TextBox 17"/>
          <p:cNvSpPr txBox="1"/>
          <p:nvPr/>
        </p:nvSpPr>
        <p:spPr>
          <a:xfrm>
            <a:off x="2766817" y="1007745"/>
            <a:ext cx="86716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Key Indication</a:t>
            </a:r>
          </a:p>
        </p:txBody>
      </p:sp>
      <p:sp>
        <p:nvSpPr>
          <p:cNvPr id="18" name="TextBox 18"/>
          <p:cNvSpPr txBox="1"/>
          <p:nvPr/>
        </p:nvSpPr>
        <p:spPr>
          <a:xfrm>
            <a:off x="4210212" y="1007745"/>
            <a:ext cx="55212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Key Trial</a:t>
            </a:r>
          </a:p>
        </p:txBody>
      </p:sp>
      <p:sp>
        <p:nvSpPr>
          <p:cNvPr id="19" name="TextBox 19"/>
          <p:cNvSpPr txBox="1"/>
          <p:nvPr/>
        </p:nvSpPr>
        <p:spPr>
          <a:xfrm>
            <a:off x="5368988" y="1007745"/>
            <a:ext cx="1339725"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Weakness vs. Clexane</a:t>
            </a:r>
          </a:p>
        </p:txBody>
      </p:sp>
      <p:sp>
        <p:nvSpPr>
          <p:cNvPr id="20" name="Rectangle 20"/>
          <p:cNvSpPr/>
          <p:nvPr/>
        </p:nvSpPr>
        <p:spPr>
          <a:xfrm>
            <a:off x="352425" y="1238250"/>
            <a:ext cx="7048500" cy="1066800"/>
          </a:xfrm>
          <a:prstGeom prst="rect">
            <a:avLst/>
          </a:prstGeom>
          <a:solidFill>
            <a:srgbClr val="F5F5F5"/>
          </a:solidFill>
          <a:ln>
            <a:noFill/>
          </a:ln>
        </p:spPr>
      </p:sp>
      <p:sp>
        <p:nvSpPr>
          <p:cNvPr id="21" name="Line 21"/>
          <p:cNvSpPr/>
          <p:nvPr/>
        </p:nvSpPr>
        <p:spPr>
          <a:xfrm>
            <a:off x="352425" y="2305050"/>
            <a:ext cx="7048500" cy="9525"/>
          </a:xfrm>
          <a:custGeom>
            <a:avLst/>
            <a:gdLst/>
            <a:ahLst/>
            <a:cxnLst/>
            <a:rect l="l" t="t" r="r" b="b"/>
            <a:pathLst>
              <a:path w="7048500" h="9525">
                <a:moveTo>
                  <a:pt x="0" y="0"/>
                </a:moveTo>
                <a:lnTo>
                  <a:pt x="7048500" y="0"/>
                </a:lnTo>
              </a:path>
            </a:pathLst>
          </a:custGeom>
          <a:noFill/>
          <a:ln w="9525">
            <a:solidFill>
              <a:srgbClr val="E0E0E0"/>
            </a:solidFill>
          </a:ln>
        </p:spPr>
      </p:sp>
      <p:sp>
        <p:nvSpPr>
          <p:cNvPr id="22" name="TextBox 22"/>
          <p:cNvSpPr txBox="1"/>
          <p:nvPr/>
        </p:nvSpPr>
        <p:spPr>
          <a:xfrm>
            <a:off x="463868" y="1342549"/>
            <a:ext cx="250018"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UFH</a:t>
            </a:r>
          </a:p>
        </p:txBody>
      </p:sp>
      <p:sp>
        <p:nvSpPr>
          <p:cNvPr id="23" name="TextBox 23"/>
          <p:cNvSpPr txBox="1"/>
          <p:nvPr/>
        </p:nvSpPr>
        <p:spPr>
          <a:xfrm>
            <a:off x="465772" y="1511141"/>
            <a:ext cx="901065"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(Unfractionated</a:t>
            </a:r>
          </a:p>
        </p:txBody>
      </p:sp>
      <p:sp>
        <p:nvSpPr>
          <p:cNvPr id="24" name="TextBox 24"/>
          <p:cNvSpPr txBox="1"/>
          <p:nvPr/>
        </p:nvSpPr>
        <p:spPr>
          <a:xfrm>
            <a:off x="465772" y="1644491"/>
            <a:ext cx="477512"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Heparin)</a:t>
            </a:r>
          </a:p>
        </p:txBody>
      </p:sp>
      <p:sp>
        <p:nvSpPr>
          <p:cNvPr id="25" name="Rectangle 25"/>
          <p:cNvSpPr/>
          <p:nvPr/>
        </p:nvSpPr>
        <p:spPr>
          <a:xfrm>
            <a:off x="1752600" y="1352550"/>
            <a:ext cx="533400" cy="190500"/>
          </a:xfrm>
          <a:prstGeom prst="roundRect">
            <a:avLst>
              <a:gd name="adj" fmla="val 20000"/>
            </a:avLst>
          </a:prstGeom>
          <a:solidFill>
            <a:srgbClr val="888888"/>
          </a:solidFill>
          <a:ln>
            <a:noFill/>
          </a:ln>
        </p:spPr>
      </p:sp>
      <p:sp>
        <p:nvSpPr>
          <p:cNvPr id="26" name="TextBox 26"/>
          <p:cNvSpPr txBox="1"/>
          <p:nvPr/>
        </p:nvSpPr>
        <p:spPr>
          <a:xfrm>
            <a:off x="1923139" y="1404938"/>
            <a:ext cx="192322"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UFH</a:t>
            </a:r>
          </a:p>
        </p:txBody>
      </p:sp>
      <p:sp>
        <p:nvSpPr>
          <p:cNvPr id="27" name="TextBox 27"/>
          <p:cNvSpPr txBox="1"/>
          <p:nvPr/>
        </p:nvSpPr>
        <p:spPr>
          <a:xfrm>
            <a:off x="2523172" y="1358741"/>
            <a:ext cx="1242108"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Broad anticoagulation:</a:t>
            </a:r>
          </a:p>
        </p:txBody>
      </p:sp>
      <p:sp>
        <p:nvSpPr>
          <p:cNvPr id="28" name="TextBox 28"/>
          <p:cNvSpPr txBox="1"/>
          <p:nvPr/>
        </p:nvSpPr>
        <p:spPr>
          <a:xfrm>
            <a:off x="2523172" y="1511141"/>
            <a:ext cx="1269611"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DVT, PE, ACS, surgery,</a:t>
            </a:r>
          </a:p>
        </p:txBody>
      </p:sp>
      <p:sp>
        <p:nvSpPr>
          <p:cNvPr id="29" name="TextBox 29"/>
          <p:cNvSpPr txBox="1"/>
          <p:nvPr/>
        </p:nvSpPr>
        <p:spPr>
          <a:xfrm>
            <a:off x="2523172" y="1663541"/>
            <a:ext cx="686538"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hemodialysis</a:t>
            </a:r>
          </a:p>
        </p:txBody>
      </p:sp>
      <p:sp>
        <p:nvSpPr>
          <p:cNvPr id="30" name="TextBox 30"/>
          <p:cNvSpPr txBox="1"/>
          <p:nvPr/>
        </p:nvSpPr>
        <p:spPr>
          <a:xfrm>
            <a:off x="4441841" y="1417320"/>
            <a:ext cx="88868" cy="182880"/>
          </a:xfrm>
          <a:prstGeom prst="rect">
            <a:avLst/>
          </a:prstGeom>
          <a:noFill/>
          <a:ln>
            <a:noFill/>
          </a:ln>
        </p:spPr>
        <p:txBody>
          <a:bodyPr wrap="none" lIns="0" tIns="0" rIns="0" bIns="0" anchor="t" anchorCtr="0">
            <a:spAutoFit/>
          </a:bodyPr>
          <a:lstStyle/>
          <a:p>
            <a:pPr algn="ctr"/>
            <a:r>
              <a:rPr lang="zh-CN" sz="900" dirty="0">
                <a:solidFill>
                  <a:srgbClr val="888888"/>
                </a:solidFill>
                <a:latin typeface="Arial"/>
                <a:ea typeface="Microsoft YaHei"/>
                <a:cs typeface="Arial"/>
              </a:rPr>
              <a:t>—</a:t>
            </a:r>
          </a:p>
        </p:txBody>
      </p:sp>
      <p:sp>
        <p:nvSpPr>
          <p:cNvPr id="31" name="TextBox 31"/>
          <p:cNvSpPr txBox="1"/>
          <p:nvPr/>
        </p:nvSpPr>
        <p:spPr>
          <a:xfrm>
            <a:off x="5094922" y="1339691"/>
            <a:ext cx="1093589" cy="167640"/>
          </a:xfrm>
          <a:prstGeom prst="rect">
            <a:avLst/>
          </a:prstGeom>
          <a:noFill/>
          <a:ln>
            <a:noFill/>
          </a:ln>
        </p:spPr>
        <p:txBody>
          <a:bodyPr wrap="none" lIns="0" tIns="0" rIns="0" bIns="0" anchor="t" anchorCtr="0">
            <a:spAutoFit/>
          </a:bodyPr>
          <a:lstStyle/>
          <a:p>
            <a:pPr algn="l"/>
            <a:r>
              <a:rPr lang="zh-CN" sz="825" dirty="0">
                <a:solidFill>
                  <a:srgbClr val="AE232F"/>
                </a:solidFill>
                <a:latin typeface="Arial"/>
                <a:ea typeface="Microsoft YaHei"/>
                <a:cs typeface="Arial"/>
              </a:rPr>
              <a:t>⚠ Unpredictable PK —</a:t>
            </a:r>
          </a:p>
        </p:txBody>
      </p:sp>
      <p:sp>
        <p:nvSpPr>
          <p:cNvPr id="32" name="TextBox 32"/>
          <p:cNvSpPr txBox="1"/>
          <p:nvPr/>
        </p:nvSpPr>
        <p:spPr>
          <a:xfrm>
            <a:off x="5094922" y="1492091"/>
            <a:ext cx="1968198"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requires continuous aPTT monitoring</a:t>
            </a:r>
          </a:p>
        </p:txBody>
      </p:sp>
      <p:sp>
        <p:nvSpPr>
          <p:cNvPr id="33" name="TextBox 33"/>
          <p:cNvSpPr txBox="1"/>
          <p:nvPr/>
        </p:nvSpPr>
        <p:spPr>
          <a:xfrm>
            <a:off x="5094922" y="1644491"/>
            <a:ext cx="1880187"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High HIT (thrombocytopenia) risk</a:t>
            </a:r>
          </a:p>
        </p:txBody>
      </p:sp>
      <p:sp>
        <p:nvSpPr>
          <p:cNvPr id="34" name="TextBox 34"/>
          <p:cNvSpPr txBox="1"/>
          <p:nvPr/>
        </p:nvSpPr>
        <p:spPr>
          <a:xfrm>
            <a:off x="5094922" y="1796891"/>
            <a:ext cx="1709666"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IV drip — limits outpatient use</a:t>
            </a:r>
          </a:p>
        </p:txBody>
      </p:sp>
      <p:sp>
        <p:nvSpPr>
          <p:cNvPr id="35" name="TextBox 35"/>
          <p:cNvSpPr txBox="1"/>
          <p:nvPr/>
        </p:nvSpPr>
        <p:spPr>
          <a:xfrm>
            <a:off x="5094922" y="1949291"/>
            <a:ext cx="1583150"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Narrow therapeutic window</a:t>
            </a:r>
          </a:p>
        </p:txBody>
      </p:sp>
      <p:sp>
        <p:nvSpPr>
          <p:cNvPr id="36" name="Rectangle 36"/>
          <p:cNvSpPr/>
          <p:nvPr/>
        </p:nvSpPr>
        <p:spPr>
          <a:xfrm>
            <a:off x="352425" y="2305050"/>
            <a:ext cx="7048500" cy="1066800"/>
          </a:xfrm>
          <a:prstGeom prst="rect">
            <a:avLst/>
          </a:prstGeom>
          <a:solidFill>
            <a:srgbClr val="FFFFFF"/>
          </a:solidFill>
          <a:ln>
            <a:noFill/>
          </a:ln>
        </p:spPr>
      </p:sp>
      <p:sp>
        <p:nvSpPr>
          <p:cNvPr id="37" name="Line 37"/>
          <p:cNvSpPr/>
          <p:nvPr/>
        </p:nvSpPr>
        <p:spPr>
          <a:xfrm>
            <a:off x="352425" y="3371850"/>
            <a:ext cx="7048500" cy="9525"/>
          </a:xfrm>
          <a:custGeom>
            <a:avLst/>
            <a:gdLst/>
            <a:ahLst/>
            <a:cxnLst/>
            <a:rect l="l" t="t" r="r" b="b"/>
            <a:pathLst>
              <a:path w="7048500" h="9525">
                <a:moveTo>
                  <a:pt x="0" y="0"/>
                </a:moveTo>
                <a:lnTo>
                  <a:pt x="7048500" y="0"/>
                </a:lnTo>
              </a:path>
            </a:pathLst>
          </a:custGeom>
          <a:noFill/>
          <a:ln w="9525">
            <a:solidFill>
              <a:srgbClr val="E0E0E0"/>
            </a:solidFill>
          </a:ln>
        </p:spPr>
      </p:sp>
      <p:sp>
        <p:nvSpPr>
          <p:cNvPr id="38" name="TextBox 38"/>
          <p:cNvSpPr txBox="1"/>
          <p:nvPr/>
        </p:nvSpPr>
        <p:spPr>
          <a:xfrm>
            <a:off x="463868" y="2409349"/>
            <a:ext cx="618614"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Fragmin®</a:t>
            </a:r>
          </a:p>
        </p:txBody>
      </p:sp>
      <p:sp>
        <p:nvSpPr>
          <p:cNvPr id="39" name="TextBox 39"/>
          <p:cNvSpPr txBox="1"/>
          <p:nvPr/>
        </p:nvSpPr>
        <p:spPr>
          <a:xfrm>
            <a:off x="465772" y="2577941"/>
            <a:ext cx="692039"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(Dalteparin)</a:t>
            </a:r>
          </a:p>
        </p:txBody>
      </p:sp>
      <p:sp>
        <p:nvSpPr>
          <p:cNvPr id="40" name="Rectangle 40"/>
          <p:cNvSpPr/>
          <p:nvPr/>
        </p:nvSpPr>
        <p:spPr>
          <a:xfrm>
            <a:off x="1714500" y="2419350"/>
            <a:ext cx="609600" cy="190500"/>
          </a:xfrm>
          <a:prstGeom prst="roundRect">
            <a:avLst>
              <a:gd name="adj" fmla="val 20000"/>
            </a:avLst>
          </a:prstGeom>
          <a:solidFill>
            <a:srgbClr val="555555"/>
          </a:solidFill>
          <a:ln>
            <a:noFill/>
          </a:ln>
        </p:spPr>
      </p:sp>
      <p:sp>
        <p:nvSpPr>
          <p:cNvPr id="41" name="TextBox 41"/>
          <p:cNvSpPr txBox="1"/>
          <p:nvPr/>
        </p:nvSpPr>
        <p:spPr>
          <a:xfrm>
            <a:off x="1873258" y="2471738"/>
            <a:ext cx="292084"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LMWH</a:t>
            </a:r>
          </a:p>
        </p:txBody>
      </p:sp>
      <p:sp>
        <p:nvSpPr>
          <p:cNvPr id="42" name="TextBox 42"/>
          <p:cNvSpPr txBox="1"/>
          <p:nvPr/>
        </p:nvSpPr>
        <p:spPr>
          <a:xfrm>
            <a:off x="2523172" y="2425541"/>
            <a:ext cx="846058"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VTE prophylaxis</a:t>
            </a:r>
          </a:p>
        </p:txBody>
      </p:sp>
      <p:sp>
        <p:nvSpPr>
          <p:cNvPr id="43" name="TextBox 43"/>
          <p:cNvSpPr txBox="1"/>
          <p:nvPr/>
        </p:nvSpPr>
        <p:spPr>
          <a:xfrm>
            <a:off x="2523172" y="2577941"/>
            <a:ext cx="862560"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and treatment,</a:t>
            </a:r>
          </a:p>
        </p:txBody>
      </p:sp>
      <p:sp>
        <p:nvSpPr>
          <p:cNvPr id="44" name="TextBox 44"/>
          <p:cNvSpPr txBox="1"/>
          <p:nvPr/>
        </p:nvSpPr>
        <p:spPr>
          <a:xfrm>
            <a:off x="2523172" y="2730341"/>
            <a:ext cx="1236607"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cancer-associated VTE</a:t>
            </a:r>
          </a:p>
        </p:txBody>
      </p:sp>
      <p:sp>
        <p:nvSpPr>
          <p:cNvPr id="45" name="TextBox 45"/>
          <p:cNvSpPr txBox="1"/>
          <p:nvPr/>
        </p:nvSpPr>
        <p:spPr>
          <a:xfrm>
            <a:off x="4441841" y="2484120"/>
            <a:ext cx="88868" cy="182880"/>
          </a:xfrm>
          <a:prstGeom prst="rect">
            <a:avLst/>
          </a:prstGeom>
          <a:noFill/>
          <a:ln>
            <a:noFill/>
          </a:ln>
        </p:spPr>
        <p:txBody>
          <a:bodyPr wrap="none" lIns="0" tIns="0" rIns="0" bIns="0" anchor="t" anchorCtr="0">
            <a:spAutoFit/>
          </a:bodyPr>
          <a:lstStyle/>
          <a:p>
            <a:pPr algn="ctr"/>
            <a:r>
              <a:rPr lang="zh-CN" sz="900" dirty="0">
                <a:solidFill>
                  <a:srgbClr val="888888"/>
                </a:solidFill>
                <a:latin typeface="Arial"/>
                <a:ea typeface="Microsoft YaHei"/>
                <a:cs typeface="Arial"/>
              </a:rPr>
              <a:t>—</a:t>
            </a:r>
          </a:p>
        </p:txBody>
      </p:sp>
      <p:sp>
        <p:nvSpPr>
          <p:cNvPr id="46" name="TextBox 46"/>
          <p:cNvSpPr txBox="1"/>
          <p:nvPr/>
        </p:nvSpPr>
        <p:spPr>
          <a:xfrm>
            <a:off x="5094922" y="2425541"/>
            <a:ext cx="1418130" cy="167640"/>
          </a:xfrm>
          <a:prstGeom prst="rect">
            <a:avLst/>
          </a:prstGeom>
          <a:noFill/>
          <a:ln>
            <a:noFill/>
          </a:ln>
        </p:spPr>
        <p:txBody>
          <a:bodyPr wrap="none" lIns="0" tIns="0" rIns="0" bIns="0" anchor="t" anchorCtr="0">
            <a:spAutoFit/>
          </a:bodyPr>
          <a:lstStyle/>
          <a:p>
            <a:pPr algn="l"/>
            <a:r>
              <a:rPr lang="zh-CN" sz="825" dirty="0">
                <a:solidFill>
                  <a:srgbClr val="AE232F"/>
                </a:solidFill>
                <a:latin typeface="Arial"/>
                <a:ea typeface="Microsoft YaHei"/>
                <a:cs typeface="Arial"/>
              </a:rPr>
              <a:t>⚠ Narrower ACS evidence —</a:t>
            </a:r>
          </a:p>
        </p:txBody>
      </p:sp>
      <p:sp>
        <p:nvSpPr>
          <p:cNvPr id="47" name="TextBox 47"/>
          <p:cNvSpPr txBox="1"/>
          <p:nvPr/>
        </p:nvSpPr>
        <p:spPr>
          <a:xfrm>
            <a:off x="5094922" y="2577941"/>
            <a:ext cx="1753672"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no landmark NSTEMI trial vs. UFH</a:t>
            </a:r>
          </a:p>
        </p:txBody>
      </p:sp>
      <p:sp>
        <p:nvSpPr>
          <p:cNvPr id="48" name="TextBox 48"/>
          <p:cNvSpPr txBox="1"/>
          <p:nvPr/>
        </p:nvSpPr>
        <p:spPr>
          <a:xfrm>
            <a:off x="5094922" y="2730341"/>
            <a:ext cx="1880187"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Less formulary penetration in TH</a:t>
            </a:r>
          </a:p>
        </p:txBody>
      </p:sp>
      <p:sp>
        <p:nvSpPr>
          <p:cNvPr id="49" name="TextBox 49"/>
          <p:cNvSpPr txBox="1"/>
          <p:nvPr/>
        </p:nvSpPr>
        <p:spPr>
          <a:xfrm>
            <a:off x="5094922" y="2882741"/>
            <a:ext cx="1577650"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Clexane: ESSENCE + TIMI 11B</a:t>
            </a:r>
          </a:p>
        </p:txBody>
      </p:sp>
      <p:sp>
        <p:nvSpPr>
          <p:cNvPr id="50" name="TextBox 50"/>
          <p:cNvSpPr txBox="1"/>
          <p:nvPr/>
        </p:nvSpPr>
        <p:spPr>
          <a:xfrm>
            <a:off x="5094922" y="3035141"/>
            <a:ext cx="2078212"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give it stronger cardiology positioning</a:t>
            </a:r>
          </a:p>
        </p:txBody>
      </p:sp>
      <p:sp>
        <p:nvSpPr>
          <p:cNvPr id="51" name="Rectangle 51"/>
          <p:cNvSpPr/>
          <p:nvPr/>
        </p:nvSpPr>
        <p:spPr>
          <a:xfrm>
            <a:off x="352425" y="3371850"/>
            <a:ext cx="7048500" cy="1066800"/>
          </a:xfrm>
          <a:prstGeom prst="rect">
            <a:avLst/>
          </a:prstGeom>
          <a:solidFill>
            <a:srgbClr val="F5F5F5"/>
          </a:solidFill>
          <a:ln>
            <a:noFill/>
          </a:ln>
        </p:spPr>
      </p:sp>
      <p:sp>
        <p:nvSpPr>
          <p:cNvPr id="52" name="Line 52"/>
          <p:cNvSpPr/>
          <p:nvPr/>
        </p:nvSpPr>
        <p:spPr>
          <a:xfrm>
            <a:off x="352425" y="4438650"/>
            <a:ext cx="7048500" cy="9525"/>
          </a:xfrm>
          <a:custGeom>
            <a:avLst/>
            <a:gdLst/>
            <a:ahLst/>
            <a:cxnLst/>
            <a:rect l="l" t="t" r="r" b="b"/>
            <a:pathLst>
              <a:path w="7048500" h="9525">
                <a:moveTo>
                  <a:pt x="0" y="0"/>
                </a:moveTo>
                <a:lnTo>
                  <a:pt x="7048500" y="0"/>
                </a:lnTo>
              </a:path>
            </a:pathLst>
          </a:custGeom>
          <a:noFill/>
          <a:ln w="9525">
            <a:solidFill>
              <a:srgbClr val="E0E0E0"/>
            </a:solidFill>
          </a:ln>
        </p:spPr>
      </p:sp>
      <p:sp>
        <p:nvSpPr>
          <p:cNvPr id="53" name="TextBox 53"/>
          <p:cNvSpPr txBox="1"/>
          <p:nvPr/>
        </p:nvSpPr>
        <p:spPr>
          <a:xfrm>
            <a:off x="463868" y="3476149"/>
            <a:ext cx="591311"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Xarelto®</a:t>
            </a:r>
          </a:p>
        </p:txBody>
      </p:sp>
      <p:sp>
        <p:nvSpPr>
          <p:cNvPr id="54" name="TextBox 54"/>
          <p:cNvSpPr txBox="1"/>
          <p:nvPr/>
        </p:nvSpPr>
        <p:spPr>
          <a:xfrm>
            <a:off x="465772" y="3644741"/>
            <a:ext cx="780050"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(Rivaroxaban)</a:t>
            </a:r>
          </a:p>
        </p:txBody>
      </p:sp>
      <p:sp>
        <p:nvSpPr>
          <p:cNvPr id="55" name="Rectangle 55"/>
          <p:cNvSpPr/>
          <p:nvPr/>
        </p:nvSpPr>
        <p:spPr>
          <a:xfrm>
            <a:off x="1714500" y="3486150"/>
            <a:ext cx="609600" cy="190500"/>
          </a:xfrm>
          <a:prstGeom prst="roundRect">
            <a:avLst>
              <a:gd name="adj" fmla="val 20000"/>
            </a:avLst>
          </a:prstGeom>
          <a:solidFill>
            <a:srgbClr val="AE232F">
              <a:alpha val="70000"/>
            </a:srgbClr>
          </a:solidFill>
          <a:ln>
            <a:noFill/>
          </a:ln>
        </p:spPr>
      </p:sp>
      <p:sp>
        <p:nvSpPr>
          <p:cNvPr id="56" name="TextBox 56"/>
          <p:cNvSpPr txBox="1"/>
          <p:nvPr/>
        </p:nvSpPr>
        <p:spPr>
          <a:xfrm>
            <a:off x="1883759" y="3538538"/>
            <a:ext cx="271082"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DOAC</a:t>
            </a:r>
          </a:p>
        </p:txBody>
      </p:sp>
      <p:sp>
        <p:nvSpPr>
          <p:cNvPr id="57" name="TextBox 57"/>
          <p:cNvSpPr txBox="1"/>
          <p:nvPr/>
        </p:nvSpPr>
        <p:spPr>
          <a:xfrm>
            <a:off x="2523172" y="3492341"/>
            <a:ext cx="692039"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VTE, AF, ACS</a:t>
            </a:r>
          </a:p>
        </p:txBody>
      </p:sp>
      <p:sp>
        <p:nvSpPr>
          <p:cNvPr id="58" name="TextBox 58"/>
          <p:cNvSpPr txBox="1"/>
          <p:nvPr/>
        </p:nvSpPr>
        <p:spPr>
          <a:xfrm>
            <a:off x="2523172" y="3644741"/>
            <a:ext cx="972574"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(oral, once daily)</a:t>
            </a:r>
          </a:p>
        </p:txBody>
      </p:sp>
      <p:sp>
        <p:nvSpPr>
          <p:cNvPr id="59" name="TextBox 59"/>
          <p:cNvSpPr txBox="1"/>
          <p:nvPr/>
        </p:nvSpPr>
        <p:spPr>
          <a:xfrm>
            <a:off x="4178348" y="3492341"/>
            <a:ext cx="615854" cy="167640"/>
          </a:xfrm>
          <a:prstGeom prst="rect">
            <a:avLst/>
          </a:prstGeom>
          <a:noFill/>
          <a:ln>
            <a:noFill/>
          </a:ln>
        </p:spPr>
        <p:txBody>
          <a:bodyPr wrap="none" lIns="0" tIns="0" rIns="0" bIns="0" anchor="t" anchorCtr="0">
            <a:spAutoFit/>
          </a:bodyPr>
          <a:lstStyle/>
          <a:p>
            <a:pPr algn="ctr"/>
            <a:r>
              <a:rPr lang="zh-CN" sz="825" b="1" dirty="0">
                <a:solidFill>
                  <a:srgbClr val="555555"/>
                </a:solidFill>
                <a:latin typeface="Arial"/>
                <a:ea typeface="Microsoft YaHei"/>
                <a:cs typeface="Arial"/>
              </a:rPr>
              <a:t>ROCKET-AF</a:t>
            </a:r>
          </a:p>
        </p:txBody>
      </p:sp>
      <p:sp>
        <p:nvSpPr>
          <p:cNvPr id="60" name="TextBox 60"/>
          <p:cNvSpPr txBox="1"/>
          <p:nvPr/>
        </p:nvSpPr>
        <p:spPr>
          <a:xfrm>
            <a:off x="4171712" y="3652838"/>
            <a:ext cx="629126" cy="152400"/>
          </a:xfrm>
          <a:prstGeom prst="rect">
            <a:avLst/>
          </a:prstGeom>
          <a:noFill/>
          <a:ln>
            <a:noFill/>
          </a:ln>
        </p:spPr>
        <p:txBody>
          <a:bodyPr wrap="none" lIns="0" tIns="0" rIns="0" bIns="0" anchor="t" anchorCtr="0">
            <a:spAutoFit/>
          </a:bodyPr>
          <a:lstStyle/>
          <a:p>
            <a:pPr algn="ctr"/>
            <a:r>
              <a:rPr lang="zh-CN" sz="750" dirty="0">
                <a:solidFill>
                  <a:srgbClr val="888888"/>
                </a:solidFill>
                <a:latin typeface="Arial"/>
                <a:ea typeface="Microsoft YaHei"/>
                <a:cs typeface="Arial"/>
              </a:rPr>
              <a:t>EINSTEIN-DVT</a:t>
            </a:r>
          </a:p>
        </p:txBody>
      </p:sp>
      <p:sp>
        <p:nvSpPr>
          <p:cNvPr id="61" name="TextBox 61"/>
          <p:cNvSpPr txBox="1"/>
          <p:nvPr/>
        </p:nvSpPr>
        <p:spPr>
          <a:xfrm>
            <a:off x="5094922" y="3492341"/>
            <a:ext cx="1126593" cy="167640"/>
          </a:xfrm>
          <a:prstGeom prst="rect">
            <a:avLst/>
          </a:prstGeom>
          <a:noFill/>
          <a:ln>
            <a:noFill/>
          </a:ln>
        </p:spPr>
        <p:txBody>
          <a:bodyPr wrap="none" lIns="0" tIns="0" rIns="0" bIns="0" anchor="t" anchorCtr="0">
            <a:spAutoFit/>
          </a:bodyPr>
          <a:lstStyle/>
          <a:p>
            <a:pPr algn="l"/>
            <a:r>
              <a:rPr lang="zh-CN" sz="825" dirty="0">
                <a:solidFill>
                  <a:srgbClr val="AE232F"/>
                </a:solidFill>
                <a:latin typeface="Arial"/>
                <a:ea typeface="Microsoft YaHei"/>
                <a:cs typeface="Arial"/>
              </a:rPr>
              <a:t>⚠ Avoid in severe CKD</a:t>
            </a:r>
          </a:p>
        </p:txBody>
      </p:sp>
      <p:sp>
        <p:nvSpPr>
          <p:cNvPr id="62" name="TextBox 62"/>
          <p:cNvSpPr txBox="1"/>
          <p:nvPr/>
        </p:nvSpPr>
        <p:spPr>
          <a:xfrm>
            <a:off x="5094922" y="3644741"/>
            <a:ext cx="1489639"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(CrCl &lt; 15 contraindicated)</a:t>
            </a:r>
          </a:p>
        </p:txBody>
      </p:sp>
      <p:sp>
        <p:nvSpPr>
          <p:cNvPr id="63" name="TextBox 63"/>
          <p:cNvSpPr txBox="1"/>
          <p:nvPr/>
        </p:nvSpPr>
        <p:spPr>
          <a:xfrm>
            <a:off x="5094922" y="3797141"/>
            <a:ext cx="2133219"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No reliable reversal agent (Andexanet</a:t>
            </a:r>
          </a:p>
        </p:txBody>
      </p:sp>
      <p:sp>
        <p:nvSpPr>
          <p:cNvPr id="64" name="TextBox 64"/>
          <p:cNvSpPr txBox="1"/>
          <p:nvPr/>
        </p:nvSpPr>
        <p:spPr>
          <a:xfrm>
            <a:off x="5094922" y="3949541"/>
            <a:ext cx="1902190"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Alfa limited availability in Thailand)</a:t>
            </a:r>
          </a:p>
        </p:txBody>
      </p:sp>
      <p:sp>
        <p:nvSpPr>
          <p:cNvPr id="65" name="TextBox 65"/>
          <p:cNvSpPr txBox="1"/>
          <p:nvPr/>
        </p:nvSpPr>
        <p:spPr>
          <a:xfrm>
            <a:off x="5094922" y="4101941"/>
            <a:ext cx="2160722"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Not ideal peri-operatively — must stop</a:t>
            </a:r>
          </a:p>
        </p:txBody>
      </p:sp>
      <p:sp>
        <p:nvSpPr>
          <p:cNvPr id="66" name="TextBox 66"/>
          <p:cNvSpPr txBox="1"/>
          <p:nvPr/>
        </p:nvSpPr>
        <p:spPr>
          <a:xfrm>
            <a:off x="5094922" y="4254341"/>
            <a:ext cx="2160722"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24–48 h pre-op (Clexane used to bridge)</a:t>
            </a:r>
          </a:p>
        </p:txBody>
      </p:sp>
      <p:sp>
        <p:nvSpPr>
          <p:cNvPr id="67" name="Rectangle 67"/>
          <p:cNvSpPr/>
          <p:nvPr/>
        </p:nvSpPr>
        <p:spPr>
          <a:xfrm>
            <a:off x="352425" y="4438650"/>
            <a:ext cx="7048500" cy="1066800"/>
          </a:xfrm>
          <a:prstGeom prst="rect">
            <a:avLst/>
          </a:prstGeom>
          <a:solidFill>
            <a:srgbClr val="FFFFFF"/>
          </a:solidFill>
          <a:ln>
            <a:noFill/>
          </a:ln>
        </p:spPr>
      </p:sp>
      <p:sp>
        <p:nvSpPr>
          <p:cNvPr id="68" name="Line 68"/>
          <p:cNvSpPr/>
          <p:nvPr/>
        </p:nvSpPr>
        <p:spPr>
          <a:xfrm>
            <a:off x="352425" y="5505450"/>
            <a:ext cx="7048500" cy="9525"/>
          </a:xfrm>
          <a:custGeom>
            <a:avLst/>
            <a:gdLst/>
            <a:ahLst/>
            <a:cxnLst/>
            <a:rect l="l" t="t" r="r" b="b"/>
            <a:pathLst>
              <a:path w="7048500" h="9525">
                <a:moveTo>
                  <a:pt x="0" y="0"/>
                </a:moveTo>
                <a:lnTo>
                  <a:pt x="7048500" y="0"/>
                </a:lnTo>
              </a:path>
            </a:pathLst>
          </a:custGeom>
          <a:noFill/>
          <a:ln w="9525">
            <a:solidFill>
              <a:srgbClr val="E0E0E0"/>
            </a:solidFill>
          </a:ln>
        </p:spPr>
      </p:sp>
      <p:sp>
        <p:nvSpPr>
          <p:cNvPr id="69" name="TextBox 69"/>
          <p:cNvSpPr txBox="1"/>
          <p:nvPr/>
        </p:nvSpPr>
        <p:spPr>
          <a:xfrm>
            <a:off x="463868" y="4542949"/>
            <a:ext cx="523052"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Eliquis®</a:t>
            </a:r>
          </a:p>
        </p:txBody>
      </p:sp>
      <p:sp>
        <p:nvSpPr>
          <p:cNvPr id="70" name="TextBox 70"/>
          <p:cNvSpPr txBox="1"/>
          <p:nvPr/>
        </p:nvSpPr>
        <p:spPr>
          <a:xfrm>
            <a:off x="465772" y="4711541"/>
            <a:ext cx="598527"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(Apixaban)</a:t>
            </a:r>
          </a:p>
        </p:txBody>
      </p:sp>
      <p:sp>
        <p:nvSpPr>
          <p:cNvPr id="71" name="Rectangle 71"/>
          <p:cNvSpPr/>
          <p:nvPr/>
        </p:nvSpPr>
        <p:spPr>
          <a:xfrm>
            <a:off x="1714500" y="4552950"/>
            <a:ext cx="609600" cy="190500"/>
          </a:xfrm>
          <a:prstGeom prst="roundRect">
            <a:avLst>
              <a:gd name="adj" fmla="val 20000"/>
            </a:avLst>
          </a:prstGeom>
          <a:solidFill>
            <a:srgbClr val="AE232F">
              <a:alpha val="70000"/>
            </a:srgbClr>
          </a:solidFill>
          <a:ln>
            <a:noFill/>
          </a:ln>
        </p:spPr>
      </p:sp>
      <p:sp>
        <p:nvSpPr>
          <p:cNvPr id="72" name="TextBox 72"/>
          <p:cNvSpPr txBox="1"/>
          <p:nvPr/>
        </p:nvSpPr>
        <p:spPr>
          <a:xfrm>
            <a:off x="1883759" y="4605338"/>
            <a:ext cx="271082"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DOAC</a:t>
            </a:r>
          </a:p>
        </p:txBody>
      </p:sp>
      <p:sp>
        <p:nvSpPr>
          <p:cNvPr id="73" name="TextBox 73"/>
          <p:cNvSpPr txBox="1"/>
          <p:nvPr/>
        </p:nvSpPr>
        <p:spPr>
          <a:xfrm>
            <a:off x="2523172" y="4559141"/>
            <a:ext cx="417005"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VTE, AF</a:t>
            </a:r>
          </a:p>
        </p:txBody>
      </p:sp>
      <p:sp>
        <p:nvSpPr>
          <p:cNvPr id="74" name="TextBox 74"/>
          <p:cNvSpPr txBox="1"/>
          <p:nvPr/>
        </p:nvSpPr>
        <p:spPr>
          <a:xfrm>
            <a:off x="2523172" y="4711541"/>
            <a:ext cx="1027581"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(oral, twice daily)</a:t>
            </a:r>
          </a:p>
        </p:txBody>
      </p:sp>
      <p:sp>
        <p:nvSpPr>
          <p:cNvPr id="75" name="TextBox 75"/>
          <p:cNvSpPr txBox="1"/>
          <p:nvPr/>
        </p:nvSpPr>
        <p:spPr>
          <a:xfrm>
            <a:off x="4192787" y="4559141"/>
            <a:ext cx="586976" cy="167640"/>
          </a:xfrm>
          <a:prstGeom prst="rect">
            <a:avLst/>
          </a:prstGeom>
          <a:noFill/>
          <a:ln>
            <a:noFill/>
          </a:ln>
        </p:spPr>
        <p:txBody>
          <a:bodyPr wrap="none" lIns="0" tIns="0" rIns="0" bIns="0" anchor="t" anchorCtr="0">
            <a:spAutoFit/>
          </a:bodyPr>
          <a:lstStyle/>
          <a:p>
            <a:pPr algn="ctr"/>
            <a:r>
              <a:rPr lang="zh-CN" sz="825" b="1" dirty="0">
                <a:solidFill>
                  <a:srgbClr val="555555"/>
                </a:solidFill>
                <a:latin typeface="Arial"/>
                <a:ea typeface="Microsoft YaHei"/>
                <a:cs typeface="Arial"/>
              </a:rPr>
              <a:t>ARISTOTLE</a:t>
            </a:r>
          </a:p>
        </p:txBody>
      </p:sp>
      <p:sp>
        <p:nvSpPr>
          <p:cNvPr id="76" name="TextBox 76"/>
          <p:cNvSpPr txBox="1"/>
          <p:nvPr/>
        </p:nvSpPr>
        <p:spPr>
          <a:xfrm>
            <a:off x="4286726" y="4719638"/>
            <a:ext cx="399098" cy="152400"/>
          </a:xfrm>
          <a:prstGeom prst="rect">
            <a:avLst/>
          </a:prstGeom>
          <a:noFill/>
          <a:ln>
            <a:noFill/>
          </a:ln>
        </p:spPr>
        <p:txBody>
          <a:bodyPr wrap="none" lIns="0" tIns="0" rIns="0" bIns="0" anchor="t" anchorCtr="0">
            <a:spAutoFit/>
          </a:bodyPr>
          <a:lstStyle/>
          <a:p>
            <a:pPr algn="ctr"/>
            <a:r>
              <a:rPr lang="zh-CN" sz="750" dirty="0">
                <a:solidFill>
                  <a:srgbClr val="888888"/>
                </a:solidFill>
                <a:latin typeface="Arial"/>
                <a:ea typeface="Microsoft YaHei"/>
                <a:cs typeface="Arial"/>
              </a:rPr>
              <a:t>AMPLIFY</a:t>
            </a:r>
          </a:p>
        </p:txBody>
      </p:sp>
      <p:sp>
        <p:nvSpPr>
          <p:cNvPr id="77" name="TextBox 77"/>
          <p:cNvSpPr txBox="1"/>
          <p:nvPr/>
        </p:nvSpPr>
        <p:spPr>
          <a:xfrm>
            <a:off x="5094922" y="4559141"/>
            <a:ext cx="1594152" cy="167640"/>
          </a:xfrm>
          <a:prstGeom prst="rect">
            <a:avLst/>
          </a:prstGeom>
          <a:noFill/>
          <a:ln>
            <a:noFill/>
          </a:ln>
        </p:spPr>
        <p:txBody>
          <a:bodyPr wrap="none" lIns="0" tIns="0" rIns="0" bIns="0" anchor="t" anchorCtr="0">
            <a:spAutoFit/>
          </a:bodyPr>
          <a:lstStyle/>
          <a:p>
            <a:pPr algn="l"/>
            <a:r>
              <a:rPr lang="zh-CN" sz="825" dirty="0">
                <a:solidFill>
                  <a:srgbClr val="AE232F"/>
                </a:solidFill>
                <a:latin typeface="Arial"/>
                <a:ea typeface="Microsoft YaHei"/>
                <a:cs typeface="Arial"/>
              </a:rPr>
              <a:t>⚠ Same DOAC class limitations</a:t>
            </a:r>
          </a:p>
        </p:txBody>
      </p:sp>
      <p:sp>
        <p:nvSpPr>
          <p:cNvPr id="78" name="TextBox 78"/>
          <p:cNvSpPr txBox="1"/>
          <p:nvPr/>
        </p:nvSpPr>
        <p:spPr>
          <a:xfrm>
            <a:off x="5094922" y="4711541"/>
            <a:ext cx="1990201"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Avoid in CKD (CrCl &lt; 25 use caution)</a:t>
            </a:r>
          </a:p>
        </p:txBody>
      </p:sp>
      <p:sp>
        <p:nvSpPr>
          <p:cNvPr id="79" name="TextBox 79"/>
          <p:cNvSpPr txBox="1"/>
          <p:nvPr/>
        </p:nvSpPr>
        <p:spPr>
          <a:xfrm>
            <a:off x="5094922" y="4863941"/>
            <a:ext cx="1517142"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Not approved in pregnancy</a:t>
            </a:r>
          </a:p>
        </p:txBody>
      </p:sp>
      <p:sp>
        <p:nvSpPr>
          <p:cNvPr id="80" name="TextBox 80"/>
          <p:cNvSpPr txBox="1"/>
          <p:nvPr/>
        </p:nvSpPr>
        <p:spPr>
          <a:xfrm>
            <a:off x="5094922" y="5016341"/>
            <a:ext cx="2144220"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Peri-op bridging: Clexane fills the gap</a:t>
            </a:r>
          </a:p>
        </p:txBody>
      </p:sp>
      <p:sp>
        <p:nvSpPr>
          <p:cNvPr id="81" name="TextBox 81"/>
          <p:cNvSpPr txBox="1"/>
          <p:nvPr/>
        </p:nvSpPr>
        <p:spPr>
          <a:xfrm>
            <a:off x="5094922" y="5168741"/>
            <a:ext cx="2166223"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Higher cost vs. Clexane SC prophylaxis</a:t>
            </a:r>
          </a:p>
        </p:txBody>
      </p:sp>
      <p:sp>
        <p:nvSpPr>
          <p:cNvPr id="82" name="Rectangle 82"/>
          <p:cNvSpPr/>
          <p:nvPr/>
        </p:nvSpPr>
        <p:spPr>
          <a:xfrm>
            <a:off x="352425" y="5505450"/>
            <a:ext cx="7048500" cy="247650"/>
          </a:xfrm>
          <a:prstGeom prst="rect">
            <a:avLst/>
          </a:prstGeom>
          <a:solidFill>
            <a:srgbClr val="F5F5F5"/>
          </a:solidFill>
          <a:ln>
            <a:noFill/>
          </a:ln>
        </p:spPr>
      </p:sp>
      <p:sp>
        <p:nvSpPr>
          <p:cNvPr id="83" name="TextBox 83"/>
          <p:cNvSpPr txBox="1"/>
          <p:nvPr/>
        </p:nvSpPr>
        <p:spPr>
          <a:xfrm>
            <a:off x="1750219" y="5595938"/>
            <a:ext cx="4119562" cy="152400"/>
          </a:xfrm>
          <a:prstGeom prst="rect">
            <a:avLst/>
          </a:prstGeom>
          <a:noFill/>
          <a:ln>
            <a:noFill/>
          </a:ln>
        </p:spPr>
        <p:txBody>
          <a:bodyPr wrap="none" lIns="0" tIns="0" rIns="0" bIns="0" anchor="t" anchorCtr="0">
            <a:spAutoFit/>
          </a:bodyPr>
          <a:lstStyle/>
          <a:p>
            <a:pPr algn="ctr"/>
            <a:r>
              <a:rPr lang="zh-CN" sz="750" dirty="0">
                <a:solidFill>
                  <a:srgbClr val="888888"/>
                </a:solidFill>
                <a:latin typeface="Arial"/>
                <a:ea typeface="Microsoft YaHei"/>
                <a:cs typeface="Arial"/>
              </a:rPr>
              <a:t>Source: ACC/AHA 2022, ACCP 2022 Antithrombotic Guidelines, Thai National Formulary</a:t>
            </a:r>
          </a:p>
        </p:txBody>
      </p:sp>
      <p:sp>
        <p:nvSpPr>
          <p:cNvPr id="84" name="Rectangle 84"/>
          <p:cNvSpPr/>
          <p:nvPr/>
        </p:nvSpPr>
        <p:spPr>
          <a:xfrm>
            <a:off x="7524750" y="876300"/>
            <a:ext cx="4324350" cy="4876800"/>
          </a:xfrm>
          <a:prstGeom prst="roundRect">
            <a:avLst>
              <a:gd name="adj" fmla="val 2203"/>
            </a:avLst>
          </a:prstGeom>
          <a:solidFill>
            <a:srgbClr val="AE232F"/>
          </a:solidFill>
          <a:ln>
            <a:noFill/>
          </a:ln>
          <a:effectLst>
            <a:outerShdw blurRad="76200" dist="19050" dir="5400000" algn="ctr" rotWithShape="0">
              <a:srgbClr val="000000">
                <a:alpha val="5250"/>
              </a:srgbClr>
            </a:outerShdw>
          </a:effectLst>
        </p:spPr>
      </p:sp>
      <p:sp>
        <p:nvSpPr>
          <p:cNvPr id="85" name="Rectangle 85"/>
          <p:cNvSpPr/>
          <p:nvPr/>
        </p:nvSpPr>
        <p:spPr>
          <a:xfrm>
            <a:off x="7600950" y="952500"/>
            <a:ext cx="4171950" cy="4724400"/>
          </a:xfrm>
          <a:prstGeom prst="roundRect">
            <a:avLst>
              <a:gd name="adj" fmla="val 1598"/>
            </a:avLst>
          </a:prstGeom>
          <a:solidFill>
            <a:srgbClr val="AE232F">
              <a:alpha val="0"/>
            </a:srgbClr>
          </a:solidFill>
          <a:ln>
            <a:noFill/>
          </a:ln>
        </p:spPr>
      </p:sp>
      <p:sp>
        <p:nvSpPr>
          <p:cNvPr id="86" name="Freeform 86"/>
          <p:cNvSpPr/>
          <p:nvPr/>
        </p:nvSpPr>
        <p:spPr>
          <a:xfrm>
            <a:off x="7694343" y="1031875"/>
            <a:ext cx="232303" cy="222369"/>
          </a:xfrm>
          <a:custGeom>
            <a:avLst/>
            <a:gdLst/>
            <a:ahLst/>
            <a:cxnLst/>
            <a:rect l="l" t="t" r="r" b="b"/>
            <a:pathLst>
              <a:path w="232303" h="222369">
                <a:moveTo>
                  <a:pt x="116134" y="0"/>
                </a:moveTo>
                <a:lnTo>
                  <a:pt x="117446" y="78"/>
                </a:lnTo>
                <a:lnTo>
                  <a:pt x="118101" y="167"/>
                </a:lnTo>
                <a:lnTo>
                  <a:pt x="118779" y="311"/>
                </a:lnTo>
                <a:lnTo>
                  <a:pt x="120013" y="689"/>
                </a:lnTo>
                <a:cubicBezTo>
                  <a:pt x="120865" y="1003"/>
                  <a:pt x="121675" y="1421"/>
                  <a:pt x="122424" y="1934"/>
                </a:cubicBezTo>
                <a:lnTo>
                  <a:pt x="123580" y="2845"/>
                </a:lnTo>
                <a:lnTo>
                  <a:pt x="126414" y="5267"/>
                </a:lnTo>
                <a:cubicBezTo>
                  <a:pt x="148831" y="23887"/>
                  <a:pt x="177163" y="33885"/>
                  <a:pt x="206301" y="33460"/>
                </a:cubicBezTo>
                <a:lnTo>
                  <a:pt x="210102" y="33349"/>
                </a:lnTo>
                <a:cubicBezTo>
                  <a:pt x="215215" y="33115"/>
                  <a:pt x="219827" y="36405"/>
                  <a:pt x="221270" y="41316"/>
                </a:cubicBezTo>
                <a:cubicBezTo>
                  <a:pt x="232303" y="78846"/>
                  <a:pt x="227644" y="119246"/>
                  <a:pt x="208359" y="153280"/>
                </a:cubicBezTo>
                <a:cubicBezTo>
                  <a:pt x="189074" y="187314"/>
                  <a:pt x="156811" y="212072"/>
                  <a:pt x="118946" y="221894"/>
                </a:cubicBezTo>
                <a:cubicBezTo>
                  <a:pt x="117117" y="222369"/>
                  <a:pt x="115197" y="222369"/>
                  <a:pt x="113367" y="221894"/>
                </a:cubicBezTo>
                <a:cubicBezTo>
                  <a:pt x="75501" y="212074"/>
                  <a:pt x="43235" y="187317"/>
                  <a:pt x="23948" y="153283"/>
                </a:cubicBezTo>
                <a:cubicBezTo>
                  <a:pt x="4660" y="119249"/>
                  <a:pt x="0" y="78848"/>
                  <a:pt x="11032" y="41316"/>
                </a:cubicBezTo>
                <a:cubicBezTo>
                  <a:pt x="12476" y="36405"/>
                  <a:pt x="17087" y="33115"/>
                  <a:pt x="22200" y="33349"/>
                </a:cubicBezTo>
                <a:cubicBezTo>
                  <a:pt x="52621" y="34739"/>
                  <a:pt x="82464" y="24725"/>
                  <a:pt x="105889" y="5267"/>
                </a:cubicBezTo>
                <a:lnTo>
                  <a:pt x="108811" y="2767"/>
                </a:lnTo>
                <a:lnTo>
                  <a:pt x="109878" y="1934"/>
                </a:lnTo>
                <a:cubicBezTo>
                  <a:pt x="110628" y="1421"/>
                  <a:pt x="111438" y="1003"/>
                  <a:pt x="112290" y="689"/>
                </a:cubicBezTo>
                <a:lnTo>
                  <a:pt x="113534" y="311"/>
                </a:lnTo>
                <a:cubicBezTo>
                  <a:pt x="113970" y="206"/>
                  <a:pt x="114411" y="128"/>
                  <a:pt x="114857" y="78"/>
                </a:cubicBezTo>
                <a:lnTo>
                  <a:pt x="116134" y="0"/>
                </a:lnTo>
                <a:close/>
                <a:moveTo>
                  <a:pt x="157362" y="81043"/>
                </a:moveTo>
                <a:cubicBezTo>
                  <a:pt x="155277" y="78957"/>
                  <a:pt x="152449" y="77784"/>
                  <a:pt x="149500" y="77784"/>
                </a:cubicBezTo>
                <a:cubicBezTo>
                  <a:pt x="146550" y="77784"/>
                  <a:pt x="143722" y="78957"/>
                  <a:pt x="141638" y="81043"/>
                </a:cubicBezTo>
                <a:lnTo>
                  <a:pt x="105044" y="117626"/>
                </a:lnTo>
                <a:lnTo>
                  <a:pt x="90676" y="103268"/>
                </a:lnTo>
                <a:lnTo>
                  <a:pt x="89631" y="102346"/>
                </a:lnTo>
                <a:cubicBezTo>
                  <a:pt x="84996" y="98762"/>
                  <a:pt x="78374" y="99393"/>
                  <a:pt x="74499" y="103788"/>
                </a:cubicBezTo>
                <a:cubicBezTo>
                  <a:pt x="70623" y="108183"/>
                  <a:pt x="70826" y="114831"/>
                  <a:pt x="74963" y="118982"/>
                </a:cubicBezTo>
                <a:lnTo>
                  <a:pt x="97188" y="141207"/>
                </a:lnTo>
                <a:lnTo>
                  <a:pt x="98232" y="142129"/>
                </a:lnTo>
                <a:cubicBezTo>
                  <a:pt x="102656" y="145560"/>
                  <a:pt x="108942" y="145165"/>
                  <a:pt x="112901" y="141207"/>
                </a:cubicBezTo>
                <a:lnTo>
                  <a:pt x="157351" y="96757"/>
                </a:lnTo>
                <a:lnTo>
                  <a:pt x="158273" y="95712"/>
                </a:lnTo>
                <a:cubicBezTo>
                  <a:pt x="161705" y="91288"/>
                  <a:pt x="161309" y="85002"/>
                  <a:pt x="157351" y="81043"/>
                </a:cubicBezTo>
                <a:close/>
              </a:path>
            </a:pathLst>
          </a:custGeom>
          <a:solidFill>
            <a:srgbClr val="FFFFFF"/>
          </a:solidFill>
          <a:ln>
            <a:noFill/>
          </a:ln>
        </p:spPr>
      </p:sp>
      <p:sp>
        <p:nvSpPr>
          <p:cNvPr id="87" name="TextBox 87"/>
          <p:cNvSpPr txBox="1"/>
          <p:nvPr/>
        </p:nvSpPr>
        <p:spPr>
          <a:xfrm>
            <a:off x="8022908" y="1043464"/>
            <a:ext cx="1790830"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Clexane® Wins When:</a:t>
            </a:r>
          </a:p>
        </p:txBody>
      </p:sp>
      <p:sp>
        <p:nvSpPr>
          <p:cNvPr id="88" name="Line 88"/>
          <p:cNvSpPr/>
          <p:nvPr/>
        </p:nvSpPr>
        <p:spPr>
          <a:xfrm>
            <a:off x="7677150" y="1314450"/>
            <a:ext cx="4019550" cy="9525"/>
          </a:xfrm>
          <a:custGeom>
            <a:avLst/>
            <a:gdLst/>
            <a:ahLst/>
            <a:cxnLst/>
            <a:rect l="l" t="t" r="r" b="b"/>
            <a:pathLst>
              <a:path w="4019550" h="9525">
                <a:moveTo>
                  <a:pt x="0" y="0"/>
                </a:moveTo>
                <a:lnTo>
                  <a:pt x="4019550" y="0"/>
                </a:lnTo>
              </a:path>
            </a:pathLst>
          </a:custGeom>
          <a:noFill/>
          <a:ln w="9525">
            <a:solidFill>
              <a:srgbClr val="FFFFFF">
                <a:alpha val="30000"/>
              </a:srgbClr>
            </a:solidFill>
          </a:ln>
        </p:spPr>
      </p:sp>
      <p:sp>
        <p:nvSpPr>
          <p:cNvPr id="89" name="Rectangle 89"/>
          <p:cNvSpPr/>
          <p:nvPr/>
        </p:nvSpPr>
        <p:spPr>
          <a:xfrm>
            <a:off x="7677150" y="1428750"/>
            <a:ext cx="4076700" cy="571500"/>
          </a:xfrm>
          <a:prstGeom prst="roundRect">
            <a:avLst>
              <a:gd name="adj" fmla="val 10000"/>
            </a:avLst>
          </a:prstGeom>
          <a:solidFill>
            <a:srgbClr val="8A1B25"/>
          </a:solidFill>
          <a:ln>
            <a:noFill/>
          </a:ln>
        </p:spPr>
      </p:sp>
      <p:sp>
        <p:nvSpPr>
          <p:cNvPr id="90" name="TextBox 90"/>
          <p:cNvSpPr txBox="1"/>
          <p:nvPr/>
        </p:nvSpPr>
        <p:spPr>
          <a:xfrm>
            <a:off x="7817168" y="1513999"/>
            <a:ext cx="1731228"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 Post-op VTE Prophylaxis</a:t>
            </a:r>
          </a:p>
        </p:txBody>
      </p:sp>
      <p:sp>
        <p:nvSpPr>
          <p:cNvPr id="91" name="TextBox 91"/>
          <p:cNvSpPr txBox="1"/>
          <p:nvPr/>
        </p:nvSpPr>
        <p:spPr>
          <a:xfrm>
            <a:off x="7819072" y="1701641"/>
            <a:ext cx="3211354" cy="167640"/>
          </a:xfrm>
          <a:prstGeom prst="rect">
            <a:avLst/>
          </a:prstGeom>
          <a:noFill/>
          <a:ln>
            <a:noFill/>
          </a:ln>
        </p:spPr>
        <p:txBody>
          <a:bodyPr wrap="none" lIns="0" tIns="0" rIns="0" bIns="0" anchor="t" anchorCtr="0">
            <a:spAutoFit/>
          </a:bodyPr>
          <a:lstStyle/>
          <a:p>
            <a:pPr algn="l"/>
            <a:r>
              <a:rPr lang="zh-CN" sz="825" dirty="0">
                <a:solidFill>
                  <a:srgbClr val="F9E5E7"/>
                </a:solidFill>
                <a:latin typeface="Arial"/>
                <a:ea typeface="Microsoft YaHei"/>
                <a:cs typeface="Arial"/>
              </a:rPr>
              <a:t>Orthopedic &amp; general surgery — ACCP first-line LMWH choice</a:t>
            </a:r>
          </a:p>
        </p:txBody>
      </p:sp>
      <p:sp>
        <p:nvSpPr>
          <p:cNvPr id="92" name="TextBox 92"/>
          <p:cNvSpPr txBox="1"/>
          <p:nvPr/>
        </p:nvSpPr>
        <p:spPr>
          <a:xfrm>
            <a:off x="7819072" y="1844516"/>
            <a:ext cx="3040832" cy="167640"/>
          </a:xfrm>
          <a:prstGeom prst="rect">
            <a:avLst/>
          </a:prstGeom>
          <a:noFill/>
          <a:ln>
            <a:noFill/>
          </a:ln>
        </p:spPr>
        <p:txBody>
          <a:bodyPr wrap="none" lIns="0" tIns="0" rIns="0" bIns="0" anchor="t" anchorCtr="0">
            <a:spAutoFit/>
          </a:bodyPr>
          <a:lstStyle/>
          <a:p>
            <a:pPr algn="l"/>
            <a:r>
              <a:rPr lang="zh-CN" sz="825" dirty="0">
                <a:solidFill>
                  <a:srgbClr val="F9E5E7"/>
                </a:solidFill>
                <a:latin typeface="Arial"/>
                <a:ea typeface="Microsoft YaHei"/>
                <a:cs typeface="Arial"/>
              </a:rPr>
              <a:t>No monitoring. SC. Patient self-injects post-discharge.</a:t>
            </a:r>
          </a:p>
        </p:txBody>
      </p:sp>
      <p:sp>
        <p:nvSpPr>
          <p:cNvPr id="93" name="Rectangle 93"/>
          <p:cNvSpPr/>
          <p:nvPr/>
        </p:nvSpPr>
        <p:spPr>
          <a:xfrm>
            <a:off x="7677150" y="2076450"/>
            <a:ext cx="4076700" cy="571500"/>
          </a:xfrm>
          <a:prstGeom prst="roundRect">
            <a:avLst>
              <a:gd name="adj" fmla="val 10000"/>
            </a:avLst>
          </a:prstGeom>
          <a:solidFill>
            <a:srgbClr val="8A1B25"/>
          </a:solidFill>
          <a:ln>
            <a:noFill/>
          </a:ln>
        </p:spPr>
      </p:sp>
      <p:sp>
        <p:nvSpPr>
          <p:cNvPr id="94" name="TextBox 94"/>
          <p:cNvSpPr txBox="1"/>
          <p:nvPr/>
        </p:nvSpPr>
        <p:spPr>
          <a:xfrm>
            <a:off x="7817168" y="2161699"/>
            <a:ext cx="1198812"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 ACS Acute Phase</a:t>
            </a:r>
          </a:p>
        </p:txBody>
      </p:sp>
      <p:sp>
        <p:nvSpPr>
          <p:cNvPr id="95" name="TextBox 95"/>
          <p:cNvSpPr txBox="1"/>
          <p:nvPr/>
        </p:nvSpPr>
        <p:spPr>
          <a:xfrm>
            <a:off x="7819072" y="2349341"/>
            <a:ext cx="3150846" cy="167640"/>
          </a:xfrm>
          <a:prstGeom prst="rect">
            <a:avLst/>
          </a:prstGeom>
          <a:noFill/>
          <a:ln>
            <a:noFill/>
          </a:ln>
        </p:spPr>
        <p:txBody>
          <a:bodyPr wrap="none" lIns="0" tIns="0" rIns="0" bIns="0" anchor="t" anchorCtr="0">
            <a:spAutoFit/>
          </a:bodyPr>
          <a:lstStyle/>
          <a:p>
            <a:pPr algn="l"/>
            <a:r>
              <a:rPr lang="zh-CN" sz="825" dirty="0">
                <a:solidFill>
                  <a:srgbClr val="F9E5E7"/>
                </a:solidFill>
                <a:latin typeface="Arial"/>
                <a:ea typeface="Microsoft YaHei"/>
                <a:cs typeface="Arial"/>
              </a:rPr>
              <a:t>ESSENCE &amp; TIMI 11B: superior to UFH in UA/NSTEMI outcomes</a:t>
            </a:r>
          </a:p>
        </p:txBody>
      </p:sp>
      <p:sp>
        <p:nvSpPr>
          <p:cNvPr id="96" name="TextBox 96"/>
          <p:cNvSpPr txBox="1"/>
          <p:nvPr/>
        </p:nvSpPr>
        <p:spPr>
          <a:xfrm>
            <a:off x="7819072" y="2492216"/>
            <a:ext cx="2996827" cy="167640"/>
          </a:xfrm>
          <a:prstGeom prst="rect">
            <a:avLst/>
          </a:prstGeom>
          <a:noFill/>
          <a:ln>
            <a:noFill/>
          </a:ln>
        </p:spPr>
        <p:txBody>
          <a:bodyPr wrap="none" lIns="0" tIns="0" rIns="0" bIns="0" anchor="t" anchorCtr="0">
            <a:spAutoFit/>
          </a:bodyPr>
          <a:lstStyle/>
          <a:p>
            <a:pPr algn="l"/>
            <a:r>
              <a:rPr lang="zh-CN" sz="825" dirty="0">
                <a:solidFill>
                  <a:srgbClr val="F9E5E7"/>
                </a:solidFill>
                <a:latin typeface="Arial"/>
                <a:ea typeface="Microsoft YaHei"/>
                <a:cs typeface="Arial"/>
              </a:rPr>
              <a:t>Replaces IV heparin drip — simplifies CCU anticoagulation</a:t>
            </a:r>
          </a:p>
        </p:txBody>
      </p:sp>
      <p:sp>
        <p:nvSpPr>
          <p:cNvPr id="97" name="Rectangle 97"/>
          <p:cNvSpPr/>
          <p:nvPr/>
        </p:nvSpPr>
        <p:spPr>
          <a:xfrm>
            <a:off x="7677150" y="2724150"/>
            <a:ext cx="4076700" cy="571500"/>
          </a:xfrm>
          <a:prstGeom prst="roundRect">
            <a:avLst>
              <a:gd name="adj" fmla="val 10000"/>
            </a:avLst>
          </a:prstGeom>
          <a:solidFill>
            <a:srgbClr val="8A1B25"/>
          </a:solidFill>
          <a:ln>
            <a:noFill/>
          </a:ln>
        </p:spPr>
      </p:sp>
      <p:sp>
        <p:nvSpPr>
          <p:cNvPr id="98" name="TextBox 98"/>
          <p:cNvSpPr txBox="1"/>
          <p:nvPr/>
        </p:nvSpPr>
        <p:spPr>
          <a:xfrm>
            <a:off x="7817168" y="2809399"/>
            <a:ext cx="1799487"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 Patients with Severe CKD</a:t>
            </a:r>
          </a:p>
        </p:txBody>
      </p:sp>
      <p:sp>
        <p:nvSpPr>
          <p:cNvPr id="99" name="TextBox 99"/>
          <p:cNvSpPr txBox="1"/>
          <p:nvPr/>
        </p:nvSpPr>
        <p:spPr>
          <a:xfrm>
            <a:off x="7819072" y="2997041"/>
            <a:ext cx="3134344" cy="167640"/>
          </a:xfrm>
          <a:prstGeom prst="rect">
            <a:avLst/>
          </a:prstGeom>
          <a:noFill/>
          <a:ln>
            <a:noFill/>
          </a:ln>
        </p:spPr>
        <p:txBody>
          <a:bodyPr wrap="none" lIns="0" tIns="0" rIns="0" bIns="0" anchor="t" anchorCtr="0">
            <a:spAutoFit/>
          </a:bodyPr>
          <a:lstStyle/>
          <a:p>
            <a:pPr algn="l"/>
            <a:r>
              <a:rPr lang="zh-CN" sz="825" dirty="0">
                <a:solidFill>
                  <a:srgbClr val="F9E5E7"/>
                </a:solidFill>
                <a:latin typeface="Arial"/>
                <a:ea typeface="Microsoft YaHei"/>
                <a:cs typeface="Arial"/>
              </a:rPr>
              <a:t>Dose-adjustable to CrCl ≥ 15 — DOACs contraindicated here</a:t>
            </a:r>
          </a:p>
        </p:txBody>
      </p:sp>
      <p:sp>
        <p:nvSpPr>
          <p:cNvPr id="100" name="TextBox 100"/>
          <p:cNvSpPr txBox="1"/>
          <p:nvPr/>
        </p:nvSpPr>
        <p:spPr>
          <a:xfrm>
            <a:off x="7819072" y="3139916"/>
            <a:ext cx="2633782" cy="167640"/>
          </a:xfrm>
          <a:prstGeom prst="rect">
            <a:avLst/>
          </a:prstGeom>
          <a:noFill/>
          <a:ln>
            <a:noFill/>
          </a:ln>
        </p:spPr>
        <p:txBody>
          <a:bodyPr wrap="none" lIns="0" tIns="0" rIns="0" bIns="0" anchor="t" anchorCtr="0">
            <a:spAutoFit/>
          </a:bodyPr>
          <a:lstStyle/>
          <a:p>
            <a:pPr algn="l"/>
            <a:r>
              <a:rPr lang="zh-CN" sz="825" dirty="0">
                <a:solidFill>
                  <a:srgbClr val="F9E5E7"/>
                </a:solidFill>
                <a:latin typeface="Arial"/>
                <a:ea typeface="Microsoft YaHei"/>
                <a:cs typeface="Arial"/>
              </a:rPr>
              <a:t>Safety data in renal impairment well-established</a:t>
            </a:r>
          </a:p>
        </p:txBody>
      </p:sp>
      <p:sp>
        <p:nvSpPr>
          <p:cNvPr id="101" name="Rectangle 101"/>
          <p:cNvSpPr/>
          <p:nvPr/>
        </p:nvSpPr>
        <p:spPr>
          <a:xfrm>
            <a:off x="7677150" y="3371850"/>
            <a:ext cx="4076700" cy="571500"/>
          </a:xfrm>
          <a:prstGeom prst="roundRect">
            <a:avLst>
              <a:gd name="adj" fmla="val 10000"/>
            </a:avLst>
          </a:prstGeom>
          <a:solidFill>
            <a:srgbClr val="8A1B25"/>
          </a:solidFill>
          <a:ln>
            <a:noFill/>
          </a:ln>
        </p:spPr>
      </p:sp>
      <p:sp>
        <p:nvSpPr>
          <p:cNvPr id="102" name="TextBox 102"/>
          <p:cNvSpPr txBox="1"/>
          <p:nvPr/>
        </p:nvSpPr>
        <p:spPr>
          <a:xfrm>
            <a:off x="7817168" y="3457099"/>
            <a:ext cx="1697099"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 Peri-operative Bridging</a:t>
            </a:r>
          </a:p>
        </p:txBody>
      </p:sp>
      <p:sp>
        <p:nvSpPr>
          <p:cNvPr id="103" name="TextBox 103"/>
          <p:cNvSpPr txBox="1"/>
          <p:nvPr/>
        </p:nvSpPr>
        <p:spPr>
          <a:xfrm>
            <a:off x="7819072" y="3644741"/>
            <a:ext cx="3057335" cy="167640"/>
          </a:xfrm>
          <a:prstGeom prst="rect">
            <a:avLst/>
          </a:prstGeom>
          <a:noFill/>
          <a:ln>
            <a:noFill/>
          </a:ln>
        </p:spPr>
        <p:txBody>
          <a:bodyPr wrap="none" lIns="0" tIns="0" rIns="0" bIns="0" anchor="t" anchorCtr="0">
            <a:spAutoFit/>
          </a:bodyPr>
          <a:lstStyle/>
          <a:p>
            <a:pPr algn="l"/>
            <a:r>
              <a:rPr lang="zh-CN" sz="825" dirty="0">
                <a:solidFill>
                  <a:srgbClr val="F9E5E7"/>
                </a:solidFill>
                <a:latin typeface="Arial"/>
                <a:ea typeface="Microsoft YaHei"/>
                <a:cs typeface="Arial"/>
              </a:rPr>
              <a:t>DOACs must be stopped before surgery — Clexane bridges</a:t>
            </a:r>
          </a:p>
        </p:txBody>
      </p:sp>
      <p:sp>
        <p:nvSpPr>
          <p:cNvPr id="104" name="TextBox 104"/>
          <p:cNvSpPr txBox="1"/>
          <p:nvPr/>
        </p:nvSpPr>
        <p:spPr>
          <a:xfrm>
            <a:off x="7819072" y="3787616"/>
            <a:ext cx="2892314" cy="167640"/>
          </a:xfrm>
          <a:prstGeom prst="rect">
            <a:avLst/>
          </a:prstGeom>
          <a:noFill/>
          <a:ln>
            <a:noFill/>
          </a:ln>
        </p:spPr>
        <p:txBody>
          <a:bodyPr wrap="none" lIns="0" tIns="0" rIns="0" bIns="0" anchor="t" anchorCtr="0">
            <a:spAutoFit/>
          </a:bodyPr>
          <a:lstStyle/>
          <a:p>
            <a:pPr algn="l"/>
            <a:r>
              <a:rPr lang="zh-CN" sz="825" dirty="0">
                <a:solidFill>
                  <a:srgbClr val="F9E5E7"/>
                </a:solidFill>
                <a:latin typeface="Arial"/>
                <a:ea typeface="Microsoft YaHei"/>
                <a:cs typeface="Arial"/>
              </a:rPr>
              <a:t>Short half-life (4.5 h) — precise stop/restart timing</a:t>
            </a:r>
          </a:p>
        </p:txBody>
      </p:sp>
      <p:sp>
        <p:nvSpPr>
          <p:cNvPr id="105" name="Rectangle 105"/>
          <p:cNvSpPr/>
          <p:nvPr/>
        </p:nvSpPr>
        <p:spPr>
          <a:xfrm>
            <a:off x="7677150" y="4019550"/>
            <a:ext cx="4076700" cy="571500"/>
          </a:xfrm>
          <a:prstGeom prst="roundRect">
            <a:avLst>
              <a:gd name="adj" fmla="val 10000"/>
            </a:avLst>
          </a:prstGeom>
          <a:solidFill>
            <a:srgbClr val="8A1B25"/>
          </a:solidFill>
          <a:ln>
            <a:noFill/>
          </a:ln>
        </p:spPr>
      </p:sp>
      <p:sp>
        <p:nvSpPr>
          <p:cNvPr id="106" name="TextBox 106"/>
          <p:cNvSpPr txBox="1"/>
          <p:nvPr/>
        </p:nvSpPr>
        <p:spPr>
          <a:xfrm>
            <a:off x="7817168" y="4104799"/>
            <a:ext cx="2065695"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 Hospital Formulary Cost Case</a:t>
            </a:r>
          </a:p>
        </p:txBody>
      </p:sp>
      <p:sp>
        <p:nvSpPr>
          <p:cNvPr id="107" name="TextBox 107"/>
          <p:cNvSpPr txBox="1"/>
          <p:nvPr/>
        </p:nvSpPr>
        <p:spPr>
          <a:xfrm>
            <a:off x="7819072" y="4292441"/>
            <a:ext cx="3282863" cy="167640"/>
          </a:xfrm>
          <a:prstGeom prst="rect">
            <a:avLst/>
          </a:prstGeom>
          <a:noFill/>
          <a:ln>
            <a:noFill/>
          </a:ln>
        </p:spPr>
        <p:txBody>
          <a:bodyPr wrap="none" lIns="0" tIns="0" rIns="0" bIns="0" anchor="t" anchorCtr="0">
            <a:spAutoFit/>
          </a:bodyPr>
          <a:lstStyle/>
          <a:p>
            <a:pPr algn="l"/>
            <a:r>
              <a:rPr lang="zh-CN" sz="825" dirty="0">
                <a:solidFill>
                  <a:srgbClr val="F9E5E7"/>
                </a:solidFill>
                <a:latin typeface="Arial"/>
                <a:ea typeface="Microsoft YaHei"/>
                <a:cs typeface="Arial"/>
              </a:rPr>
              <a:t>On Thai National Drug List — lower acquisition cost vs. DOACs</a:t>
            </a:r>
          </a:p>
        </p:txBody>
      </p:sp>
      <p:sp>
        <p:nvSpPr>
          <p:cNvPr id="108" name="TextBox 108"/>
          <p:cNvSpPr txBox="1"/>
          <p:nvPr/>
        </p:nvSpPr>
        <p:spPr>
          <a:xfrm>
            <a:off x="7819072" y="4435316"/>
            <a:ext cx="2490764" cy="167640"/>
          </a:xfrm>
          <a:prstGeom prst="rect">
            <a:avLst/>
          </a:prstGeom>
          <a:noFill/>
          <a:ln>
            <a:noFill/>
          </a:ln>
        </p:spPr>
        <p:txBody>
          <a:bodyPr wrap="none" lIns="0" tIns="0" rIns="0" bIns="0" anchor="t" anchorCtr="0">
            <a:spAutoFit/>
          </a:bodyPr>
          <a:lstStyle/>
          <a:p>
            <a:pPr algn="l"/>
            <a:r>
              <a:rPr lang="zh-CN" sz="825" dirty="0">
                <a:solidFill>
                  <a:srgbClr val="F9E5E7"/>
                </a:solidFill>
                <a:latin typeface="Arial"/>
                <a:ea typeface="Microsoft YaHei"/>
                <a:cs typeface="Arial"/>
              </a:rPr>
              <a:t>No monitoring cost overhead (unlike UFH aPTT)</a:t>
            </a:r>
          </a:p>
        </p:txBody>
      </p:sp>
      <p:sp>
        <p:nvSpPr>
          <p:cNvPr id="109" name="Rectangle 109"/>
          <p:cNvSpPr/>
          <p:nvPr/>
        </p:nvSpPr>
        <p:spPr>
          <a:xfrm>
            <a:off x="7677150" y="4667250"/>
            <a:ext cx="4076700" cy="571500"/>
          </a:xfrm>
          <a:prstGeom prst="roundRect">
            <a:avLst>
              <a:gd name="adj" fmla="val 10000"/>
            </a:avLst>
          </a:prstGeom>
          <a:solidFill>
            <a:srgbClr val="8A1B25"/>
          </a:solidFill>
          <a:ln>
            <a:noFill/>
          </a:ln>
        </p:spPr>
      </p:sp>
      <p:sp>
        <p:nvSpPr>
          <p:cNvPr id="110" name="TextBox 110"/>
          <p:cNvSpPr txBox="1"/>
          <p:nvPr/>
        </p:nvSpPr>
        <p:spPr>
          <a:xfrm>
            <a:off x="7817168" y="4752499"/>
            <a:ext cx="1615189"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 Home SC Self-Injection</a:t>
            </a:r>
          </a:p>
        </p:txBody>
      </p:sp>
      <p:sp>
        <p:nvSpPr>
          <p:cNvPr id="111" name="TextBox 111"/>
          <p:cNvSpPr txBox="1"/>
          <p:nvPr/>
        </p:nvSpPr>
        <p:spPr>
          <a:xfrm>
            <a:off x="7819072" y="4940141"/>
            <a:ext cx="3392876" cy="167640"/>
          </a:xfrm>
          <a:prstGeom prst="rect">
            <a:avLst/>
          </a:prstGeom>
          <a:noFill/>
          <a:ln>
            <a:noFill/>
          </a:ln>
        </p:spPr>
        <p:txBody>
          <a:bodyPr wrap="none" lIns="0" tIns="0" rIns="0" bIns="0" anchor="t" anchorCtr="0">
            <a:spAutoFit/>
          </a:bodyPr>
          <a:lstStyle/>
          <a:p>
            <a:pPr algn="l"/>
            <a:r>
              <a:rPr lang="zh-CN" sz="825" dirty="0">
                <a:solidFill>
                  <a:srgbClr val="F9E5E7"/>
                </a:solidFill>
                <a:latin typeface="Arial"/>
                <a:ea typeface="Microsoft YaHei"/>
                <a:cs typeface="Arial"/>
              </a:rPr>
              <a:t>Pre-filled syringe — enables early discharge, DVT outpatient Rx</a:t>
            </a:r>
          </a:p>
        </p:txBody>
      </p:sp>
      <p:sp>
        <p:nvSpPr>
          <p:cNvPr id="112" name="TextBox 112"/>
          <p:cNvSpPr txBox="1"/>
          <p:nvPr/>
        </p:nvSpPr>
        <p:spPr>
          <a:xfrm>
            <a:off x="7819072" y="5083016"/>
            <a:ext cx="3398377" cy="167640"/>
          </a:xfrm>
          <a:prstGeom prst="rect">
            <a:avLst/>
          </a:prstGeom>
          <a:noFill/>
          <a:ln>
            <a:noFill/>
          </a:ln>
        </p:spPr>
        <p:txBody>
          <a:bodyPr wrap="none" lIns="0" tIns="0" rIns="0" bIns="0" anchor="t" anchorCtr="0">
            <a:spAutoFit/>
          </a:bodyPr>
          <a:lstStyle/>
          <a:p>
            <a:pPr algn="l"/>
            <a:r>
              <a:rPr lang="zh-CN" sz="825" dirty="0">
                <a:solidFill>
                  <a:srgbClr val="F9E5E7"/>
                </a:solidFill>
                <a:latin typeface="Arial"/>
                <a:ea typeface="Microsoft YaHei"/>
                <a:cs typeface="Arial"/>
              </a:rPr>
              <a:t>Pregnancy VTE: safe (does not cross placenta), DOACs are not</a:t>
            </a:r>
          </a:p>
        </p:txBody>
      </p:sp>
      <p:sp>
        <p:nvSpPr>
          <p:cNvPr id="113" name="Rectangle 113"/>
          <p:cNvSpPr/>
          <p:nvPr/>
        </p:nvSpPr>
        <p:spPr>
          <a:xfrm>
            <a:off x="342900" y="5886450"/>
            <a:ext cx="11506200" cy="457200"/>
          </a:xfrm>
          <a:prstGeom prst="roundRect">
            <a:avLst>
              <a:gd name="adj" fmla="val 12500"/>
            </a:avLst>
          </a:prstGeom>
          <a:solidFill>
            <a:srgbClr val="AE232F"/>
          </a:solidFill>
          <a:ln>
            <a:noFill/>
          </a:ln>
          <a:effectLst>
            <a:outerShdw blurRad="76200" dist="19050" dir="5400000" algn="ctr" rotWithShape="0">
              <a:srgbClr val="000000">
                <a:alpha val="5250"/>
              </a:srgbClr>
            </a:outerShdw>
          </a:effectLst>
        </p:spPr>
      </p:sp>
      <p:sp>
        <p:nvSpPr>
          <p:cNvPr id="114" name="Freeform 114"/>
          <p:cNvSpPr/>
          <p:nvPr/>
        </p:nvSpPr>
        <p:spPr>
          <a:xfrm>
            <a:off x="542429" y="6010294"/>
            <a:ext cx="210437" cy="200562"/>
          </a:xfrm>
          <a:custGeom>
            <a:avLst/>
            <a:gdLst/>
            <a:ahLst/>
            <a:cxnLst/>
            <a:rect l="l" t="t" r="r" b="b"/>
            <a:pathLst>
              <a:path w="210437" h="200562">
                <a:moveTo>
                  <a:pt x="69485" y="60369"/>
                </a:moveTo>
                <a:lnTo>
                  <a:pt x="8716" y="69180"/>
                </a:lnTo>
                <a:lnTo>
                  <a:pt x="7639" y="69399"/>
                </a:lnTo>
                <a:cubicBezTo>
                  <a:pt x="4322" y="70279"/>
                  <a:pt x="1735" y="72877"/>
                  <a:pt x="868" y="76197"/>
                </a:cubicBezTo>
                <a:cubicBezTo>
                  <a:pt x="0" y="79518"/>
                  <a:pt x="986" y="83048"/>
                  <a:pt x="3448" y="85439"/>
                </a:cubicBezTo>
                <a:lnTo>
                  <a:pt x="47473" y="128292"/>
                </a:lnTo>
                <a:lnTo>
                  <a:pt x="37091" y="188823"/>
                </a:lnTo>
                <a:lnTo>
                  <a:pt x="36967" y="189871"/>
                </a:lnTo>
                <a:cubicBezTo>
                  <a:pt x="36764" y="193302"/>
                  <a:pt x="38425" y="196576"/>
                  <a:pt x="41313" y="198439"/>
                </a:cubicBezTo>
                <a:cubicBezTo>
                  <a:pt x="44202" y="200301"/>
                  <a:pt x="47870" y="200463"/>
                  <a:pt x="50911" y="198863"/>
                </a:cubicBezTo>
                <a:lnTo>
                  <a:pt x="105261" y="170288"/>
                </a:lnTo>
                <a:lnTo>
                  <a:pt x="159487" y="198863"/>
                </a:lnTo>
                <a:lnTo>
                  <a:pt x="160439" y="199301"/>
                </a:lnTo>
                <a:cubicBezTo>
                  <a:pt x="163640" y="200562"/>
                  <a:pt x="167273" y="199998"/>
                  <a:pt x="169941" y="197827"/>
                </a:cubicBezTo>
                <a:cubicBezTo>
                  <a:pt x="172610" y="195656"/>
                  <a:pt x="173901" y="192214"/>
                  <a:pt x="173317" y="188823"/>
                </a:cubicBezTo>
                <a:lnTo>
                  <a:pt x="162925" y="128292"/>
                </a:lnTo>
                <a:lnTo>
                  <a:pt x="206969" y="85429"/>
                </a:lnTo>
                <a:lnTo>
                  <a:pt x="207712" y="84620"/>
                </a:lnTo>
                <a:cubicBezTo>
                  <a:pt x="209872" y="81959"/>
                  <a:pt x="210437" y="78342"/>
                  <a:pt x="209189" y="75149"/>
                </a:cubicBezTo>
                <a:cubicBezTo>
                  <a:pt x="207942" y="71957"/>
                  <a:pt x="205075" y="69681"/>
                  <a:pt x="201683" y="69189"/>
                </a:cubicBezTo>
                <a:lnTo>
                  <a:pt x="140913" y="60369"/>
                </a:lnTo>
                <a:lnTo>
                  <a:pt x="113748" y="5315"/>
                </a:lnTo>
                <a:cubicBezTo>
                  <a:pt x="112144" y="2061"/>
                  <a:pt x="108832" y="0"/>
                  <a:pt x="105204" y="0"/>
                </a:cubicBezTo>
                <a:cubicBezTo>
                  <a:pt x="101576" y="0"/>
                  <a:pt x="98263" y="2061"/>
                  <a:pt x="96660" y="5315"/>
                </a:cubicBezTo>
                <a:lnTo>
                  <a:pt x="69485" y="60369"/>
                </a:lnTo>
                <a:close/>
              </a:path>
            </a:pathLst>
          </a:custGeom>
          <a:solidFill>
            <a:srgbClr val="FFFFFF"/>
          </a:solidFill>
          <a:ln>
            <a:noFill/>
          </a:ln>
        </p:spPr>
      </p:sp>
      <p:sp>
        <p:nvSpPr>
          <p:cNvPr id="115" name="TextBox 115"/>
          <p:cNvSpPr txBox="1"/>
          <p:nvPr/>
        </p:nvSpPr>
        <p:spPr>
          <a:xfrm>
            <a:off x="863918" y="5981224"/>
            <a:ext cx="1089598"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Key Positioning:</a:t>
            </a:r>
          </a:p>
        </p:txBody>
      </p:sp>
      <p:sp>
        <p:nvSpPr>
          <p:cNvPr id="116" name="TextBox 116"/>
          <p:cNvSpPr txBox="1"/>
          <p:nvPr/>
        </p:nvSpPr>
        <p:spPr>
          <a:xfrm>
            <a:off x="1892618" y="5981224"/>
            <a:ext cx="2722602" cy="198120"/>
          </a:xfrm>
          <a:prstGeom prst="rect">
            <a:avLst/>
          </a:prstGeom>
          <a:noFill/>
          <a:ln>
            <a:noFill/>
          </a:ln>
        </p:spPr>
        <p:txBody>
          <a:bodyPr wrap="none" lIns="0" tIns="0" rIns="0" bIns="0" anchor="t" anchorCtr="0">
            <a:spAutoFit/>
          </a:bodyPr>
          <a:lstStyle/>
          <a:p>
            <a:pPr algn="l"/>
            <a:r>
              <a:rPr lang="zh-CN" sz="975" dirty="0">
                <a:solidFill>
                  <a:srgbClr val="F9E5E7"/>
                </a:solidFill>
                <a:latin typeface="Arial"/>
                <a:ea typeface="Microsoft YaHei"/>
                <a:cs typeface="Arial"/>
              </a:rPr>
              <a:t>Clexane is not competing with everything —</a:t>
            </a:r>
          </a:p>
        </p:txBody>
      </p:sp>
      <p:sp>
        <p:nvSpPr>
          <p:cNvPr id="117" name="TextBox 117"/>
          <p:cNvSpPr txBox="1"/>
          <p:nvPr/>
        </p:nvSpPr>
        <p:spPr>
          <a:xfrm>
            <a:off x="863918" y="6152674"/>
            <a:ext cx="5465945" cy="198120"/>
          </a:xfrm>
          <a:prstGeom prst="rect">
            <a:avLst/>
          </a:prstGeom>
          <a:noFill/>
          <a:ln>
            <a:noFill/>
          </a:ln>
        </p:spPr>
        <p:txBody>
          <a:bodyPr wrap="none" lIns="0" tIns="0" rIns="0" bIns="0" anchor="t" anchorCtr="0">
            <a:spAutoFit/>
          </a:bodyPr>
          <a:lstStyle/>
          <a:p>
            <a:pPr algn="l"/>
            <a:r>
              <a:rPr lang="zh-CN" sz="975" dirty="0">
                <a:solidFill>
                  <a:srgbClr val="FFFFFF"/>
                </a:solidFill>
                <a:latin typeface="Arial"/>
                <a:ea typeface="Microsoft YaHei"/>
                <a:cs typeface="Arial"/>
              </a:rPr>
              <a:t>it owns the acute, peri-operative, renal, and pregnancy-safe anticoagulation space.</a:t>
            </a:r>
          </a:p>
        </p:txBody>
      </p:sp>
      <p:grpSp>
        <p:nvGrpSpPr>
          <p:cNvPr id="120" name="Group 120"/>
          <p:cNvGrpSpPr/>
          <p:nvPr/>
        </p:nvGrpSpPr>
        <p:grpSpPr>
          <a:xfrm>
            <a:off x="0" y="6496050"/>
            <a:ext cx="12192000" cy="361950"/>
            <a:chOff x="0" y="6496050"/>
            <a:chExt cx="12192000" cy="361950"/>
          </a:xfrm>
        </p:grpSpPr>
        <p:sp>
          <p:nvSpPr>
            <p:cNvPr id="118" name="Rectangle 118"/>
            <p:cNvSpPr/>
            <p:nvPr/>
          </p:nvSpPr>
          <p:spPr>
            <a:xfrm>
              <a:off x="0" y="6496050"/>
              <a:ext cx="12192000" cy="361950"/>
            </a:xfrm>
            <a:prstGeom prst="rect">
              <a:avLst/>
            </a:prstGeom>
            <a:solidFill>
              <a:srgbClr val="AE232F"/>
            </a:solidFill>
            <a:ln>
              <a:noFill/>
            </a:ln>
          </p:spPr>
        </p:sp>
        <p:sp>
          <p:nvSpPr>
            <p:cNvPr id="119" name="TextBox 119"/>
            <p:cNvSpPr txBox="1"/>
            <p:nvPr/>
          </p:nvSpPr>
          <p:spPr>
            <a:xfrm>
              <a:off x="4128325" y="6627495"/>
              <a:ext cx="3935349"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Rattanakorn Rattanaroj | Rattanaroj.jan@gmail.com | 080-045-0821</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42950"/>
          </a:xfrm>
          <a:prstGeom prst="rect">
            <a:avLst/>
          </a:prstGeom>
          <a:solidFill>
            <a:srgbClr val="AE232F"/>
          </a:solidFill>
          <a:ln>
            <a:noFill/>
          </a:ln>
        </p:spPr>
      </p:sp>
      <p:sp>
        <p:nvSpPr>
          <p:cNvPr id="4" name="Rectangle 4"/>
          <p:cNvSpPr/>
          <p:nvPr/>
        </p:nvSpPr>
        <p:spPr>
          <a:xfrm>
            <a:off x="266700" y="171450"/>
            <a:ext cx="304800" cy="304800"/>
          </a:xfrm>
          <a:prstGeom prst="roundRect">
            <a:avLst>
              <a:gd name="adj" fmla="val 18750"/>
            </a:avLst>
          </a:prstGeom>
          <a:solidFill>
            <a:srgbClr val="8A1B25"/>
          </a:solidFill>
          <a:ln>
            <a:noFill/>
          </a:ln>
        </p:spPr>
      </p:sp>
      <p:sp>
        <p:nvSpPr>
          <p:cNvPr id="5" name="TextBox 5"/>
          <p:cNvSpPr txBox="1"/>
          <p:nvPr/>
        </p:nvSpPr>
        <p:spPr>
          <a:xfrm>
            <a:off x="318177" y="250031"/>
            <a:ext cx="20184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03</a:t>
            </a:r>
          </a:p>
        </p:txBody>
      </p:sp>
      <p:sp>
        <p:nvSpPr>
          <p:cNvPr id="6" name="TextBox 6"/>
          <p:cNvSpPr txBox="1"/>
          <p:nvPr/>
        </p:nvSpPr>
        <p:spPr>
          <a:xfrm>
            <a:off x="718185" y="208598"/>
            <a:ext cx="5319089"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a:ea typeface="Microsoft YaHei"/>
                <a:cs typeface="Arial"/>
              </a:rPr>
              <a:t>Territory Plan — PMK &amp; Bangkok Network</a:t>
            </a:r>
          </a:p>
        </p:txBody>
      </p:sp>
      <p:sp>
        <p:nvSpPr>
          <p:cNvPr id="7" name="TextBox 7"/>
          <p:cNvSpPr txBox="1"/>
          <p:nvPr/>
        </p:nvSpPr>
        <p:spPr>
          <a:xfrm>
            <a:off x="730568" y="504349"/>
            <a:ext cx="3827740" cy="198120"/>
          </a:xfrm>
          <a:prstGeom prst="rect">
            <a:avLst/>
          </a:prstGeom>
          <a:noFill/>
          <a:ln>
            <a:noFill/>
          </a:ln>
        </p:spPr>
        <p:txBody>
          <a:bodyPr wrap="none" lIns="0" tIns="0" rIns="0" bIns="0" anchor="t" anchorCtr="0">
            <a:spAutoFit/>
          </a:bodyPr>
          <a:lstStyle/>
          <a:p>
            <a:pPr algn="l"/>
            <a:r>
              <a:rPr lang="zh-CN" sz="975" dirty="0">
                <a:solidFill>
                  <a:srgbClr val="F9E5E7"/>
                </a:solidFill>
                <a:latin typeface="Arial"/>
                <a:ea typeface="Microsoft YaHei"/>
                <a:cs typeface="Arial"/>
              </a:rPr>
              <a:t>Hospital Network · Physician Priorities · Call Cycle Strategy</a:t>
            </a:r>
          </a:p>
        </p:txBody>
      </p:sp>
      <p:sp>
        <p:nvSpPr>
          <p:cNvPr id="8" name="TextBox 8"/>
          <p:cNvSpPr txBox="1"/>
          <p:nvPr/>
        </p:nvSpPr>
        <p:spPr>
          <a:xfrm>
            <a:off x="368618" y="923449"/>
            <a:ext cx="1151031" cy="198120"/>
          </a:xfrm>
          <a:prstGeom prst="rect">
            <a:avLst/>
          </a:prstGeom>
          <a:noFill/>
          <a:ln>
            <a:noFill/>
          </a:ln>
        </p:spPr>
        <p:txBody>
          <a:bodyPr wrap="none" lIns="0" tIns="0" rIns="0" bIns="0" anchor="t" anchorCtr="0">
            <a:spAutoFit/>
          </a:bodyPr>
          <a:lstStyle/>
          <a:p>
            <a:pPr algn="l"/>
            <a:r>
              <a:rPr lang="zh-CN" sz="975" b="1" dirty="0">
                <a:solidFill>
                  <a:srgbClr val="AE232F"/>
                </a:solidFill>
                <a:latin typeface="Arial"/>
                <a:ea typeface="Microsoft YaHei"/>
                <a:cs typeface="Arial"/>
              </a:rPr>
              <a:t>Hospital Network</a:t>
            </a:r>
          </a:p>
        </p:txBody>
      </p:sp>
      <p:sp>
        <p:nvSpPr>
          <p:cNvPr id="9" name="Line 9"/>
          <p:cNvSpPr/>
          <p:nvPr/>
        </p:nvSpPr>
        <p:spPr>
          <a:xfrm>
            <a:off x="381000" y="1076325"/>
            <a:ext cx="1524000" cy="9525"/>
          </a:xfrm>
          <a:custGeom>
            <a:avLst/>
            <a:gdLst/>
            <a:ahLst/>
            <a:cxnLst/>
            <a:rect l="l" t="t" r="r" b="b"/>
            <a:pathLst>
              <a:path w="1524000" h="9525">
                <a:moveTo>
                  <a:pt x="0" y="0"/>
                </a:moveTo>
                <a:lnTo>
                  <a:pt x="1524000" y="0"/>
                </a:lnTo>
              </a:path>
            </a:pathLst>
          </a:custGeom>
          <a:noFill/>
          <a:ln w="19050">
            <a:solidFill>
              <a:srgbClr val="AE232F"/>
            </a:solidFill>
          </a:ln>
        </p:spPr>
      </p:sp>
      <p:sp>
        <p:nvSpPr>
          <p:cNvPr id="10" name="Rectangle 10"/>
          <p:cNvSpPr/>
          <p:nvPr/>
        </p:nvSpPr>
        <p:spPr>
          <a:xfrm>
            <a:off x="4667250" y="1181100"/>
            <a:ext cx="2857500" cy="609600"/>
          </a:xfrm>
          <a:prstGeom prst="roundRect">
            <a:avLst>
              <a:gd name="adj" fmla="val 15625"/>
            </a:avLst>
          </a:prstGeom>
          <a:solidFill>
            <a:srgbClr val="AE232F"/>
          </a:solidFill>
          <a:ln>
            <a:noFill/>
          </a:ln>
          <a:effectLst>
            <a:outerShdw blurRad="76200" dist="19050" dir="5400000" algn="ctr" rotWithShape="0">
              <a:srgbClr val="000000">
                <a:alpha val="5250"/>
              </a:srgbClr>
            </a:outerShdw>
          </a:effectLst>
        </p:spPr>
      </p:sp>
      <p:sp>
        <p:nvSpPr>
          <p:cNvPr id="11" name="Freeform 11"/>
          <p:cNvSpPr/>
          <p:nvPr/>
        </p:nvSpPr>
        <p:spPr>
          <a:xfrm>
            <a:off x="4819650" y="1333500"/>
            <a:ext cx="190500" cy="190500"/>
          </a:xfrm>
          <a:custGeom>
            <a:avLst/>
            <a:gdLst/>
            <a:ahLst/>
            <a:cxnLst/>
            <a:rect l="l" t="t" r="r" b="b"/>
            <a:pathLst>
              <a:path w="190500" h="190500">
                <a:moveTo>
                  <a:pt x="95250" y="0"/>
                </a:moveTo>
                <a:cubicBezTo>
                  <a:pt x="147857" y="0"/>
                  <a:pt x="190500" y="42643"/>
                  <a:pt x="190500" y="95250"/>
                </a:cubicBezTo>
                <a:cubicBezTo>
                  <a:pt x="190500" y="147855"/>
                  <a:pt x="147855" y="190500"/>
                  <a:pt x="95250" y="190500"/>
                </a:cubicBezTo>
                <a:cubicBezTo>
                  <a:pt x="42645" y="190500"/>
                  <a:pt x="0" y="147855"/>
                  <a:pt x="0" y="95250"/>
                </a:cubicBezTo>
                <a:lnTo>
                  <a:pt x="38" y="92583"/>
                </a:lnTo>
                <a:cubicBezTo>
                  <a:pt x="1448" y="41215"/>
                  <a:pt x="43529" y="0"/>
                  <a:pt x="95250" y="0"/>
                </a:cubicBezTo>
                <a:moveTo>
                  <a:pt x="114300" y="47625"/>
                </a:moveTo>
                <a:cubicBezTo>
                  <a:pt x="109039" y="47625"/>
                  <a:pt x="104775" y="51889"/>
                  <a:pt x="104775" y="57150"/>
                </a:cubicBezTo>
                <a:lnTo>
                  <a:pt x="104775" y="85715"/>
                </a:lnTo>
                <a:lnTo>
                  <a:pt x="85725" y="85715"/>
                </a:lnTo>
                <a:lnTo>
                  <a:pt x="85725" y="57150"/>
                </a:lnTo>
                <a:cubicBezTo>
                  <a:pt x="85724" y="52321"/>
                  <a:pt x="82110" y="48257"/>
                  <a:pt x="77314" y="47692"/>
                </a:cubicBezTo>
                <a:lnTo>
                  <a:pt x="76200" y="47625"/>
                </a:lnTo>
                <a:cubicBezTo>
                  <a:pt x="70939" y="47625"/>
                  <a:pt x="66675" y="51889"/>
                  <a:pt x="66675" y="57150"/>
                </a:cubicBezTo>
                <a:lnTo>
                  <a:pt x="66675" y="133350"/>
                </a:lnTo>
                <a:cubicBezTo>
                  <a:pt x="66675" y="138611"/>
                  <a:pt x="70939" y="142875"/>
                  <a:pt x="76200" y="142875"/>
                </a:cubicBezTo>
                <a:cubicBezTo>
                  <a:pt x="81461" y="142875"/>
                  <a:pt x="85725" y="138611"/>
                  <a:pt x="85725" y="133350"/>
                </a:cubicBezTo>
                <a:lnTo>
                  <a:pt x="85725" y="104765"/>
                </a:lnTo>
                <a:lnTo>
                  <a:pt x="104775" y="104765"/>
                </a:lnTo>
                <a:lnTo>
                  <a:pt x="104775" y="133350"/>
                </a:lnTo>
                <a:cubicBezTo>
                  <a:pt x="104776" y="138179"/>
                  <a:pt x="108390" y="142243"/>
                  <a:pt x="113186" y="142808"/>
                </a:cubicBezTo>
                <a:lnTo>
                  <a:pt x="114300" y="142875"/>
                </a:lnTo>
                <a:cubicBezTo>
                  <a:pt x="119561" y="142875"/>
                  <a:pt x="123825" y="138611"/>
                  <a:pt x="123825" y="133350"/>
                </a:cubicBezTo>
                <a:lnTo>
                  <a:pt x="123825" y="57150"/>
                </a:lnTo>
                <a:cubicBezTo>
                  <a:pt x="123825" y="51889"/>
                  <a:pt x="119561" y="47625"/>
                  <a:pt x="114300" y="47625"/>
                </a:cubicBezTo>
              </a:path>
            </a:pathLst>
          </a:custGeom>
          <a:solidFill>
            <a:srgbClr val="FFFFFF"/>
          </a:solidFill>
          <a:ln>
            <a:noFill/>
          </a:ln>
        </p:spPr>
      </p:sp>
      <p:sp>
        <p:nvSpPr>
          <p:cNvPr id="12" name="TextBox 12"/>
          <p:cNvSpPr txBox="1"/>
          <p:nvPr/>
        </p:nvSpPr>
        <p:spPr>
          <a:xfrm>
            <a:off x="5240985" y="1296352"/>
            <a:ext cx="17100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Phramongkutklao (PMK)</a:t>
            </a:r>
          </a:p>
        </p:txBody>
      </p:sp>
      <p:sp>
        <p:nvSpPr>
          <p:cNvPr id="13" name="TextBox 13"/>
          <p:cNvSpPr txBox="1"/>
          <p:nvPr/>
        </p:nvSpPr>
        <p:spPr>
          <a:xfrm>
            <a:off x="4440817" y="1501616"/>
            <a:ext cx="3310366" cy="167640"/>
          </a:xfrm>
          <a:prstGeom prst="rect">
            <a:avLst/>
          </a:prstGeom>
          <a:noFill/>
          <a:ln>
            <a:noFill/>
          </a:ln>
        </p:spPr>
        <p:txBody>
          <a:bodyPr wrap="none" lIns="0" tIns="0" rIns="0" bIns="0" anchor="t" anchorCtr="0">
            <a:spAutoFit/>
          </a:bodyPr>
          <a:lstStyle/>
          <a:p>
            <a:pPr algn="ctr"/>
            <a:r>
              <a:rPr lang="zh-CN" sz="825" dirty="0">
                <a:solidFill>
                  <a:srgbClr val="F9E5E7"/>
                </a:solidFill>
                <a:latin typeface="Arial"/>
                <a:ea typeface="Microsoft YaHei"/>
                <a:cs typeface="Arial"/>
              </a:rPr>
              <a:t>Primary target — Military hospital, high ACS + surgery volume</a:t>
            </a:r>
          </a:p>
        </p:txBody>
      </p:sp>
      <p:sp>
        <p:nvSpPr>
          <p:cNvPr id="14" name="Line 14"/>
          <p:cNvSpPr/>
          <p:nvPr/>
        </p:nvSpPr>
        <p:spPr>
          <a:xfrm>
            <a:off x="3009900" y="1485900"/>
            <a:ext cx="1657350" cy="609600"/>
          </a:xfrm>
          <a:custGeom>
            <a:avLst/>
            <a:gdLst/>
            <a:ahLst/>
            <a:cxnLst/>
            <a:rect l="l" t="t" r="r" b="b"/>
            <a:pathLst>
              <a:path w="1657350" h="609600">
                <a:moveTo>
                  <a:pt x="1657350" y="0"/>
                </a:moveTo>
                <a:lnTo>
                  <a:pt x="0" y="609600"/>
                </a:lnTo>
              </a:path>
            </a:pathLst>
          </a:custGeom>
          <a:noFill/>
          <a:ln w="14288">
            <a:solidFill>
              <a:srgbClr val="AE232F"/>
            </a:solidFill>
            <a:custDash>
              <a:ds d="266666" sp="200000"/>
            </a:custDash>
          </a:ln>
        </p:spPr>
      </p:sp>
      <p:sp>
        <p:nvSpPr>
          <p:cNvPr id="15" name="Line 15"/>
          <p:cNvSpPr/>
          <p:nvPr/>
        </p:nvSpPr>
        <p:spPr>
          <a:xfrm>
            <a:off x="4953000" y="1790700"/>
            <a:ext cx="1143000" cy="609600"/>
          </a:xfrm>
          <a:custGeom>
            <a:avLst/>
            <a:gdLst/>
            <a:ahLst/>
            <a:cxnLst/>
            <a:rect l="l" t="t" r="r" b="b"/>
            <a:pathLst>
              <a:path w="1143000" h="609600">
                <a:moveTo>
                  <a:pt x="1143000" y="0"/>
                </a:moveTo>
                <a:lnTo>
                  <a:pt x="0" y="609600"/>
                </a:lnTo>
              </a:path>
            </a:pathLst>
          </a:custGeom>
          <a:noFill/>
          <a:ln w="14288">
            <a:solidFill>
              <a:srgbClr val="AE232F"/>
            </a:solidFill>
            <a:custDash>
              <a:ds d="266666" sp="200000"/>
            </a:custDash>
          </a:ln>
        </p:spPr>
      </p:sp>
      <p:sp>
        <p:nvSpPr>
          <p:cNvPr id="16" name="Line 16"/>
          <p:cNvSpPr/>
          <p:nvPr/>
        </p:nvSpPr>
        <p:spPr>
          <a:xfrm>
            <a:off x="7524750" y="1485900"/>
            <a:ext cx="1047750" cy="609600"/>
          </a:xfrm>
          <a:custGeom>
            <a:avLst/>
            <a:gdLst/>
            <a:ahLst/>
            <a:cxnLst/>
            <a:rect l="l" t="t" r="r" b="b"/>
            <a:pathLst>
              <a:path w="1047750" h="609600">
                <a:moveTo>
                  <a:pt x="0" y="0"/>
                </a:moveTo>
                <a:lnTo>
                  <a:pt x="1047750" y="609600"/>
                </a:lnTo>
              </a:path>
            </a:pathLst>
          </a:custGeom>
          <a:noFill/>
          <a:ln w="14288">
            <a:solidFill>
              <a:srgbClr val="AE232F"/>
            </a:solidFill>
            <a:custDash>
              <a:ds d="266666" sp="200000"/>
            </a:custDash>
          </a:ln>
        </p:spPr>
      </p:sp>
      <p:sp>
        <p:nvSpPr>
          <p:cNvPr id="17" name="Line 17"/>
          <p:cNvSpPr/>
          <p:nvPr/>
        </p:nvSpPr>
        <p:spPr>
          <a:xfrm>
            <a:off x="6096000" y="1790700"/>
            <a:ext cx="1143000" cy="609600"/>
          </a:xfrm>
          <a:custGeom>
            <a:avLst/>
            <a:gdLst/>
            <a:ahLst/>
            <a:cxnLst/>
            <a:rect l="l" t="t" r="r" b="b"/>
            <a:pathLst>
              <a:path w="1143000" h="609600">
                <a:moveTo>
                  <a:pt x="0" y="0"/>
                </a:moveTo>
                <a:lnTo>
                  <a:pt x="1143000" y="609600"/>
                </a:lnTo>
              </a:path>
            </a:pathLst>
          </a:custGeom>
          <a:noFill/>
          <a:ln w="14288">
            <a:solidFill>
              <a:srgbClr val="AE232F"/>
            </a:solidFill>
            <a:custDash>
              <a:ds d="266666" sp="200000"/>
            </a:custDash>
          </a:ln>
        </p:spPr>
      </p:sp>
      <p:sp>
        <p:nvSpPr>
          <p:cNvPr id="18" name="Rectangle 18"/>
          <p:cNvSpPr/>
          <p:nvPr/>
        </p:nvSpPr>
        <p:spPr>
          <a:xfrm>
            <a:off x="1333500" y="2076450"/>
            <a:ext cx="2552700" cy="533400"/>
          </a:xfrm>
          <a:prstGeom prst="roundRect">
            <a:avLst>
              <a:gd name="adj" fmla="val 14286"/>
            </a:avLst>
          </a:prstGeom>
          <a:solidFill>
            <a:srgbClr val="F9E5E7"/>
          </a:solidFill>
          <a:ln w="14288">
            <a:solidFill>
              <a:srgbClr val="AE232F"/>
            </a:solidFill>
          </a:ln>
          <a:effectLst>
            <a:outerShdw blurRad="76200" dist="19050" dir="5400000" algn="ctr" rotWithShape="0">
              <a:srgbClr val="000000">
                <a:alpha val="5250"/>
              </a:srgbClr>
            </a:outerShdw>
          </a:effectLst>
        </p:spPr>
      </p:sp>
      <p:sp>
        <p:nvSpPr>
          <p:cNvPr id="19" name="Freeform 19"/>
          <p:cNvSpPr/>
          <p:nvPr/>
        </p:nvSpPr>
        <p:spPr>
          <a:xfrm>
            <a:off x="1463675" y="2225675"/>
            <a:ext cx="158750" cy="158750"/>
          </a:xfrm>
          <a:custGeom>
            <a:avLst/>
            <a:gdLst/>
            <a:ahLst/>
            <a:cxnLst/>
            <a:rect l="l" t="t" r="r" b="b"/>
            <a:pathLst>
              <a:path w="158750" h="158750">
                <a:moveTo>
                  <a:pt x="79375" y="0"/>
                </a:moveTo>
                <a:cubicBezTo>
                  <a:pt x="123214" y="0"/>
                  <a:pt x="158750" y="35536"/>
                  <a:pt x="158750" y="79375"/>
                </a:cubicBezTo>
                <a:cubicBezTo>
                  <a:pt x="158750" y="123213"/>
                  <a:pt x="123213" y="158750"/>
                  <a:pt x="79375" y="158750"/>
                </a:cubicBezTo>
                <a:cubicBezTo>
                  <a:pt x="35537" y="158750"/>
                  <a:pt x="0" y="123213"/>
                  <a:pt x="0" y="79375"/>
                </a:cubicBezTo>
                <a:lnTo>
                  <a:pt x="32" y="77153"/>
                </a:lnTo>
                <a:cubicBezTo>
                  <a:pt x="1206" y="34346"/>
                  <a:pt x="36274" y="0"/>
                  <a:pt x="79375" y="0"/>
                </a:cubicBezTo>
                <a:moveTo>
                  <a:pt x="95250" y="39688"/>
                </a:moveTo>
                <a:cubicBezTo>
                  <a:pt x="90866" y="39688"/>
                  <a:pt x="87313" y="43241"/>
                  <a:pt x="87313" y="47625"/>
                </a:cubicBezTo>
                <a:lnTo>
                  <a:pt x="87313" y="71430"/>
                </a:lnTo>
                <a:lnTo>
                  <a:pt x="71438" y="71430"/>
                </a:lnTo>
                <a:lnTo>
                  <a:pt x="71438" y="47625"/>
                </a:lnTo>
                <a:cubicBezTo>
                  <a:pt x="71437" y="43601"/>
                  <a:pt x="68425" y="40214"/>
                  <a:pt x="64429" y="39743"/>
                </a:cubicBezTo>
                <a:lnTo>
                  <a:pt x="63500" y="39688"/>
                </a:lnTo>
                <a:cubicBezTo>
                  <a:pt x="59116" y="39688"/>
                  <a:pt x="55563" y="43241"/>
                  <a:pt x="55563" y="47625"/>
                </a:cubicBezTo>
                <a:lnTo>
                  <a:pt x="55563" y="111125"/>
                </a:lnTo>
                <a:cubicBezTo>
                  <a:pt x="55563" y="115509"/>
                  <a:pt x="59116" y="119062"/>
                  <a:pt x="63500" y="119062"/>
                </a:cubicBezTo>
                <a:cubicBezTo>
                  <a:pt x="67884" y="119062"/>
                  <a:pt x="71438" y="115509"/>
                  <a:pt x="71438" y="111125"/>
                </a:cubicBezTo>
                <a:lnTo>
                  <a:pt x="71438" y="87305"/>
                </a:lnTo>
                <a:lnTo>
                  <a:pt x="87313" y="87305"/>
                </a:lnTo>
                <a:lnTo>
                  <a:pt x="87313" y="111125"/>
                </a:lnTo>
                <a:cubicBezTo>
                  <a:pt x="87313" y="115149"/>
                  <a:pt x="90325" y="118536"/>
                  <a:pt x="94321" y="119007"/>
                </a:cubicBezTo>
                <a:lnTo>
                  <a:pt x="95250" y="119062"/>
                </a:lnTo>
                <a:cubicBezTo>
                  <a:pt x="99634" y="119062"/>
                  <a:pt x="103188" y="115509"/>
                  <a:pt x="103188" y="111125"/>
                </a:cubicBezTo>
                <a:lnTo>
                  <a:pt x="103188" y="47625"/>
                </a:lnTo>
                <a:cubicBezTo>
                  <a:pt x="103188" y="43241"/>
                  <a:pt x="99634" y="39688"/>
                  <a:pt x="95250" y="39688"/>
                </a:cubicBezTo>
              </a:path>
            </a:pathLst>
          </a:custGeom>
          <a:solidFill>
            <a:srgbClr val="AE232F"/>
          </a:solidFill>
          <a:ln>
            <a:noFill/>
          </a:ln>
        </p:spPr>
      </p:sp>
      <p:sp>
        <p:nvSpPr>
          <p:cNvPr id="20" name="TextBox 20"/>
          <p:cNvSpPr txBox="1"/>
          <p:nvPr/>
        </p:nvSpPr>
        <p:spPr>
          <a:xfrm>
            <a:off x="2028642" y="2198370"/>
            <a:ext cx="1276717" cy="182880"/>
          </a:xfrm>
          <a:prstGeom prst="rect">
            <a:avLst/>
          </a:prstGeom>
          <a:noFill/>
          <a:ln>
            <a:noFill/>
          </a:ln>
        </p:spPr>
        <p:txBody>
          <a:bodyPr wrap="none" lIns="0" tIns="0" rIns="0" bIns="0" anchor="t" anchorCtr="0">
            <a:spAutoFit/>
          </a:bodyPr>
          <a:lstStyle/>
          <a:p>
            <a:pPr algn="ctr"/>
            <a:r>
              <a:rPr lang="zh-CN" sz="900" b="1" dirty="0">
                <a:solidFill>
                  <a:srgbClr val="AE232F"/>
                </a:solidFill>
                <a:latin typeface="Arial"/>
                <a:ea typeface="Microsoft YaHei"/>
                <a:cs typeface="Arial"/>
              </a:rPr>
              <a:t>Ramathibodi Hospital</a:t>
            </a:r>
          </a:p>
        </p:txBody>
      </p:sp>
      <p:sp>
        <p:nvSpPr>
          <p:cNvPr id="21" name="TextBox 21"/>
          <p:cNvSpPr txBox="1"/>
          <p:nvPr/>
        </p:nvSpPr>
        <p:spPr>
          <a:xfrm>
            <a:off x="1389817" y="2366962"/>
            <a:ext cx="2554367" cy="152400"/>
          </a:xfrm>
          <a:prstGeom prst="rect">
            <a:avLst/>
          </a:prstGeom>
          <a:noFill/>
          <a:ln>
            <a:noFill/>
          </a:ln>
        </p:spPr>
        <p:txBody>
          <a:bodyPr wrap="none" lIns="0" tIns="0" rIns="0" bIns="0" anchor="t" anchorCtr="0">
            <a:spAutoFit/>
          </a:bodyPr>
          <a:lstStyle/>
          <a:p>
            <a:pPr algn="ctr"/>
            <a:r>
              <a:rPr lang="zh-CN" sz="750" dirty="0">
                <a:solidFill>
                  <a:srgbClr val="555555"/>
                </a:solidFill>
                <a:latin typeface="Arial"/>
                <a:ea typeface="Microsoft YaHei"/>
                <a:cs typeface="Arial"/>
              </a:rPr>
              <a:t>Roche internship experience — existing relationships</a:t>
            </a:r>
          </a:p>
        </p:txBody>
      </p:sp>
      <p:sp>
        <p:nvSpPr>
          <p:cNvPr id="22" name="TextBox 22"/>
          <p:cNvSpPr txBox="1"/>
          <p:nvPr/>
        </p:nvSpPr>
        <p:spPr>
          <a:xfrm>
            <a:off x="1702356" y="2490788"/>
            <a:ext cx="1929289" cy="152400"/>
          </a:xfrm>
          <a:prstGeom prst="rect">
            <a:avLst/>
          </a:prstGeom>
          <a:noFill/>
          <a:ln>
            <a:noFill/>
          </a:ln>
        </p:spPr>
        <p:txBody>
          <a:bodyPr wrap="none" lIns="0" tIns="0" rIns="0" bIns="0" anchor="t" anchorCtr="0">
            <a:spAutoFit/>
          </a:bodyPr>
          <a:lstStyle/>
          <a:p>
            <a:pPr algn="ctr"/>
            <a:r>
              <a:rPr lang="zh-CN" sz="750" dirty="0">
                <a:solidFill>
                  <a:srgbClr val="555555"/>
                </a:solidFill>
                <a:latin typeface="Arial"/>
                <a:ea typeface="Microsoft YaHei"/>
                <a:cs typeface="Arial"/>
              </a:rPr>
              <a:t>Cardiology + Hematology dept key users</a:t>
            </a:r>
          </a:p>
        </p:txBody>
      </p:sp>
      <p:sp>
        <p:nvSpPr>
          <p:cNvPr id="23" name="Rectangle 23"/>
          <p:cNvSpPr/>
          <p:nvPr/>
        </p:nvSpPr>
        <p:spPr>
          <a:xfrm>
            <a:off x="3581400" y="2381250"/>
            <a:ext cx="2552700" cy="533400"/>
          </a:xfrm>
          <a:prstGeom prst="roundRect">
            <a:avLst>
              <a:gd name="adj" fmla="val 14286"/>
            </a:avLst>
          </a:prstGeom>
          <a:solidFill>
            <a:srgbClr val="F9E5E7"/>
          </a:solidFill>
          <a:ln w="14288">
            <a:solidFill>
              <a:srgbClr val="AE232F"/>
            </a:solidFill>
          </a:ln>
          <a:effectLst>
            <a:outerShdw blurRad="76200" dist="19050" dir="5400000" algn="ctr" rotWithShape="0">
              <a:srgbClr val="000000">
                <a:alpha val="5250"/>
              </a:srgbClr>
            </a:outerShdw>
          </a:effectLst>
        </p:spPr>
      </p:sp>
      <p:sp>
        <p:nvSpPr>
          <p:cNvPr id="24" name="Freeform 24"/>
          <p:cNvSpPr/>
          <p:nvPr/>
        </p:nvSpPr>
        <p:spPr>
          <a:xfrm>
            <a:off x="3711575" y="2530475"/>
            <a:ext cx="158750" cy="158750"/>
          </a:xfrm>
          <a:custGeom>
            <a:avLst/>
            <a:gdLst/>
            <a:ahLst/>
            <a:cxnLst/>
            <a:rect l="l" t="t" r="r" b="b"/>
            <a:pathLst>
              <a:path w="158750" h="158750">
                <a:moveTo>
                  <a:pt x="79375" y="0"/>
                </a:moveTo>
                <a:cubicBezTo>
                  <a:pt x="123214" y="0"/>
                  <a:pt x="158750" y="35536"/>
                  <a:pt x="158750" y="79375"/>
                </a:cubicBezTo>
                <a:cubicBezTo>
                  <a:pt x="158750" y="123213"/>
                  <a:pt x="123213" y="158750"/>
                  <a:pt x="79375" y="158750"/>
                </a:cubicBezTo>
                <a:cubicBezTo>
                  <a:pt x="35537" y="158750"/>
                  <a:pt x="0" y="123213"/>
                  <a:pt x="0" y="79375"/>
                </a:cubicBezTo>
                <a:lnTo>
                  <a:pt x="32" y="77152"/>
                </a:lnTo>
                <a:cubicBezTo>
                  <a:pt x="1206" y="34346"/>
                  <a:pt x="36274" y="0"/>
                  <a:pt x="79375" y="0"/>
                </a:cubicBezTo>
                <a:moveTo>
                  <a:pt x="95250" y="39687"/>
                </a:moveTo>
                <a:cubicBezTo>
                  <a:pt x="90866" y="39687"/>
                  <a:pt x="87312" y="43241"/>
                  <a:pt x="87312" y="47625"/>
                </a:cubicBezTo>
                <a:lnTo>
                  <a:pt x="87312" y="71430"/>
                </a:lnTo>
                <a:lnTo>
                  <a:pt x="71438" y="71430"/>
                </a:lnTo>
                <a:lnTo>
                  <a:pt x="71438" y="47625"/>
                </a:lnTo>
                <a:cubicBezTo>
                  <a:pt x="71437" y="43601"/>
                  <a:pt x="68425" y="40214"/>
                  <a:pt x="64429" y="39743"/>
                </a:cubicBezTo>
                <a:lnTo>
                  <a:pt x="63500" y="39687"/>
                </a:lnTo>
                <a:cubicBezTo>
                  <a:pt x="59116" y="39687"/>
                  <a:pt x="55562" y="43241"/>
                  <a:pt x="55562" y="47625"/>
                </a:cubicBezTo>
                <a:lnTo>
                  <a:pt x="55562" y="111125"/>
                </a:lnTo>
                <a:cubicBezTo>
                  <a:pt x="55562" y="115509"/>
                  <a:pt x="59116" y="119062"/>
                  <a:pt x="63500" y="119062"/>
                </a:cubicBezTo>
                <a:cubicBezTo>
                  <a:pt x="67884" y="119062"/>
                  <a:pt x="71438" y="115509"/>
                  <a:pt x="71438" y="111125"/>
                </a:cubicBezTo>
                <a:lnTo>
                  <a:pt x="71438" y="87305"/>
                </a:lnTo>
                <a:lnTo>
                  <a:pt x="87312" y="87305"/>
                </a:lnTo>
                <a:lnTo>
                  <a:pt x="87312" y="111125"/>
                </a:lnTo>
                <a:cubicBezTo>
                  <a:pt x="87313" y="115149"/>
                  <a:pt x="90325" y="118536"/>
                  <a:pt x="94321" y="119007"/>
                </a:cubicBezTo>
                <a:lnTo>
                  <a:pt x="95250" y="119062"/>
                </a:lnTo>
                <a:cubicBezTo>
                  <a:pt x="99634" y="119062"/>
                  <a:pt x="103187" y="115509"/>
                  <a:pt x="103187" y="111125"/>
                </a:cubicBezTo>
                <a:lnTo>
                  <a:pt x="103187" y="47625"/>
                </a:lnTo>
                <a:cubicBezTo>
                  <a:pt x="103187" y="43241"/>
                  <a:pt x="99634" y="39687"/>
                  <a:pt x="95250" y="39687"/>
                </a:cubicBezTo>
              </a:path>
            </a:pathLst>
          </a:custGeom>
          <a:solidFill>
            <a:srgbClr val="AE232F"/>
          </a:solidFill>
          <a:ln>
            <a:noFill/>
          </a:ln>
        </p:spPr>
      </p:sp>
      <p:sp>
        <p:nvSpPr>
          <p:cNvPr id="25" name="TextBox 25"/>
          <p:cNvSpPr txBox="1"/>
          <p:nvPr/>
        </p:nvSpPr>
        <p:spPr>
          <a:xfrm>
            <a:off x="4024067" y="2503170"/>
            <a:ext cx="1667366" cy="182880"/>
          </a:xfrm>
          <a:prstGeom prst="rect">
            <a:avLst/>
          </a:prstGeom>
          <a:noFill/>
          <a:ln>
            <a:noFill/>
          </a:ln>
        </p:spPr>
        <p:txBody>
          <a:bodyPr wrap="none" lIns="0" tIns="0" rIns="0" bIns="0" anchor="t" anchorCtr="0">
            <a:spAutoFit/>
          </a:bodyPr>
          <a:lstStyle/>
          <a:p>
            <a:pPr algn="ctr"/>
            <a:r>
              <a:rPr lang="zh-CN" sz="900" b="1" dirty="0">
                <a:solidFill>
                  <a:srgbClr val="AE232F"/>
                </a:solidFill>
                <a:latin typeface="Arial"/>
                <a:ea typeface="Microsoft YaHei"/>
                <a:cs typeface="Arial"/>
              </a:rPr>
              <a:t>Bhumibol Adulyadej Hospital</a:t>
            </a:r>
          </a:p>
        </p:txBody>
      </p:sp>
      <p:sp>
        <p:nvSpPr>
          <p:cNvPr id="26" name="TextBox 26"/>
          <p:cNvSpPr txBox="1"/>
          <p:nvPr/>
        </p:nvSpPr>
        <p:spPr>
          <a:xfrm>
            <a:off x="3740587" y="2671762"/>
            <a:ext cx="2234327" cy="152400"/>
          </a:xfrm>
          <a:prstGeom prst="rect">
            <a:avLst/>
          </a:prstGeom>
          <a:noFill/>
          <a:ln>
            <a:noFill/>
          </a:ln>
        </p:spPr>
        <p:txBody>
          <a:bodyPr wrap="none" lIns="0" tIns="0" rIns="0" bIns="0" anchor="t" anchorCtr="0">
            <a:spAutoFit/>
          </a:bodyPr>
          <a:lstStyle/>
          <a:p>
            <a:pPr algn="ctr"/>
            <a:r>
              <a:rPr lang="zh-CN" sz="750" dirty="0">
                <a:solidFill>
                  <a:srgbClr val="555555"/>
                </a:solidFill>
                <a:latin typeface="Arial"/>
                <a:ea typeface="Microsoft YaHei"/>
                <a:cs typeface="Arial"/>
              </a:rPr>
              <a:t>High trauma volume — DVT prophylaxis priority</a:t>
            </a:r>
          </a:p>
        </p:txBody>
      </p:sp>
      <p:sp>
        <p:nvSpPr>
          <p:cNvPr id="27" name="TextBox 27"/>
          <p:cNvSpPr txBox="1"/>
          <p:nvPr/>
        </p:nvSpPr>
        <p:spPr>
          <a:xfrm>
            <a:off x="3760589" y="2795588"/>
            <a:ext cx="2194322" cy="152400"/>
          </a:xfrm>
          <a:prstGeom prst="rect">
            <a:avLst/>
          </a:prstGeom>
          <a:noFill/>
          <a:ln>
            <a:noFill/>
          </a:ln>
        </p:spPr>
        <p:txBody>
          <a:bodyPr wrap="none" lIns="0" tIns="0" rIns="0" bIns="0" anchor="t" anchorCtr="0">
            <a:spAutoFit/>
          </a:bodyPr>
          <a:lstStyle/>
          <a:p>
            <a:pPr algn="ctr"/>
            <a:r>
              <a:rPr lang="zh-CN" sz="750" dirty="0">
                <a:solidFill>
                  <a:srgbClr val="555555"/>
                </a:solidFill>
                <a:latin typeface="Arial"/>
                <a:ea typeface="Microsoft YaHei"/>
                <a:cs typeface="Arial"/>
              </a:rPr>
              <a:t>Air Force affiliate, strong surgical caseload</a:t>
            </a:r>
          </a:p>
        </p:txBody>
      </p:sp>
      <p:sp>
        <p:nvSpPr>
          <p:cNvPr id="28" name="Rectangle 28"/>
          <p:cNvSpPr/>
          <p:nvPr/>
        </p:nvSpPr>
        <p:spPr>
          <a:xfrm>
            <a:off x="6305550" y="2381250"/>
            <a:ext cx="2552700" cy="533400"/>
          </a:xfrm>
          <a:prstGeom prst="roundRect">
            <a:avLst>
              <a:gd name="adj" fmla="val 14286"/>
            </a:avLst>
          </a:prstGeom>
          <a:solidFill>
            <a:srgbClr val="F9E5E7"/>
          </a:solidFill>
          <a:ln w="14288">
            <a:solidFill>
              <a:srgbClr val="AE232F"/>
            </a:solidFill>
          </a:ln>
          <a:effectLst>
            <a:outerShdw blurRad="76200" dist="19050" dir="5400000" algn="ctr" rotWithShape="0">
              <a:srgbClr val="000000">
                <a:alpha val="5250"/>
              </a:srgbClr>
            </a:outerShdw>
          </a:effectLst>
        </p:spPr>
      </p:sp>
      <p:sp>
        <p:nvSpPr>
          <p:cNvPr id="29" name="Freeform 29"/>
          <p:cNvSpPr/>
          <p:nvPr/>
        </p:nvSpPr>
        <p:spPr>
          <a:xfrm>
            <a:off x="6435725" y="2530475"/>
            <a:ext cx="158750" cy="158750"/>
          </a:xfrm>
          <a:custGeom>
            <a:avLst/>
            <a:gdLst/>
            <a:ahLst/>
            <a:cxnLst/>
            <a:rect l="l" t="t" r="r" b="b"/>
            <a:pathLst>
              <a:path w="158750" h="158750">
                <a:moveTo>
                  <a:pt x="79375" y="0"/>
                </a:moveTo>
                <a:cubicBezTo>
                  <a:pt x="123214" y="0"/>
                  <a:pt x="158750" y="35536"/>
                  <a:pt x="158750" y="79375"/>
                </a:cubicBezTo>
                <a:cubicBezTo>
                  <a:pt x="158750" y="123213"/>
                  <a:pt x="123213" y="158750"/>
                  <a:pt x="79375" y="158750"/>
                </a:cubicBezTo>
                <a:cubicBezTo>
                  <a:pt x="35537" y="158750"/>
                  <a:pt x="0" y="123213"/>
                  <a:pt x="0" y="79375"/>
                </a:cubicBezTo>
                <a:lnTo>
                  <a:pt x="32" y="77152"/>
                </a:lnTo>
                <a:cubicBezTo>
                  <a:pt x="1206" y="34346"/>
                  <a:pt x="36274" y="0"/>
                  <a:pt x="79375" y="0"/>
                </a:cubicBezTo>
                <a:moveTo>
                  <a:pt x="95250" y="39687"/>
                </a:moveTo>
                <a:cubicBezTo>
                  <a:pt x="90866" y="39687"/>
                  <a:pt x="87313" y="43241"/>
                  <a:pt x="87313" y="47625"/>
                </a:cubicBezTo>
                <a:lnTo>
                  <a:pt x="87313" y="71430"/>
                </a:lnTo>
                <a:lnTo>
                  <a:pt x="71438" y="71430"/>
                </a:lnTo>
                <a:lnTo>
                  <a:pt x="71438" y="47625"/>
                </a:lnTo>
                <a:cubicBezTo>
                  <a:pt x="71437" y="43601"/>
                  <a:pt x="68425" y="40214"/>
                  <a:pt x="64429" y="39743"/>
                </a:cubicBezTo>
                <a:lnTo>
                  <a:pt x="63500" y="39687"/>
                </a:lnTo>
                <a:cubicBezTo>
                  <a:pt x="59116" y="39687"/>
                  <a:pt x="55563" y="43241"/>
                  <a:pt x="55563" y="47625"/>
                </a:cubicBezTo>
                <a:lnTo>
                  <a:pt x="55563" y="111125"/>
                </a:lnTo>
                <a:cubicBezTo>
                  <a:pt x="55563" y="115509"/>
                  <a:pt x="59116" y="119062"/>
                  <a:pt x="63500" y="119062"/>
                </a:cubicBezTo>
                <a:cubicBezTo>
                  <a:pt x="67884" y="119062"/>
                  <a:pt x="71438" y="115509"/>
                  <a:pt x="71438" y="111125"/>
                </a:cubicBezTo>
                <a:lnTo>
                  <a:pt x="71438" y="87305"/>
                </a:lnTo>
                <a:lnTo>
                  <a:pt x="87313" y="87305"/>
                </a:lnTo>
                <a:lnTo>
                  <a:pt x="87313" y="111125"/>
                </a:lnTo>
                <a:cubicBezTo>
                  <a:pt x="87313" y="115149"/>
                  <a:pt x="90325" y="118536"/>
                  <a:pt x="94321" y="119007"/>
                </a:cubicBezTo>
                <a:lnTo>
                  <a:pt x="95250" y="119062"/>
                </a:lnTo>
                <a:cubicBezTo>
                  <a:pt x="99634" y="119062"/>
                  <a:pt x="103188" y="115509"/>
                  <a:pt x="103188" y="111125"/>
                </a:cubicBezTo>
                <a:lnTo>
                  <a:pt x="103188" y="47625"/>
                </a:lnTo>
                <a:cubicBezTo>
                  <a:pt x="103188" y="43241"/>
                  <a:pt x="99634" y="39687"/>
                  <a:pt x="95250" y="39687"/>
                </a:cubicBezTo>
              </a:path>
            </a:pathLst>
          </a:custGeom>
          <a:solidFill>
            <a:srgbClr val="AE232F"/>
          </a:solidFill>
          <a:ln>
            <a:noFill/>
          </a:ln>
        </p:spPr>
      </p:sp>
      <p:sp>
        <p:nvSpPr>
          <p:cNvPr id="30" name="TextBox 30"/>
          <p:cNvSpPr txBox="1"/>
          <p:nvPr/>
        </p:nvSpPr>
        <p:spPr>
          <a:xfrm>
            <a:off x="6886835" y="2503170"/>
            <a:ext cx="1390131" cy="182880"/>
          </a:xfrm>
          <a:prstGeom prst="rect">
            <a:avLst/>
          </a:prstGeom>
          <a:noFill/>
          <a:ln>
            <a:noFill/>
          </a:ln>
        </p:spPr>
        <p:txBody>
          <a:bodyPr wrap="none" lIns="0" tIns="0" rIns="0" bIns="0" anchor="t" anchorCtr="0">
            <a:spAutoFit/>
          </a:bodyPr>
          <a:lstStyle/>
          <a:p>
            <a:pPr algn="ctr"/>
            <a:r>
              <a:rPr lang="zh-CN" sz="900" b="1" dirty="0">
                <a:solidFill>
                  <a:srgbClr val="AE232F"/>
                </a:solidFill>
                <a:latin typeface="Arial"/>
                <a:ea typeface="Microsoft YaHei"/>
                <a:cs typeface="Arial"/>
              </a:rPr>
              <a:t>Chulalongkorn Hospital</a:t>
            </a:r>
          </a:p>
        </p:txBody>
      </p:sp>
      <p:sp>
        <p:nvSpPr>
          <p:cNvPr id="31" name="TextBox 31"/>
          <p:cNvSpPr txBox="1"/>
          <p:nvPr/>
        </p:nvSpPr>
        <p:spPr>
          <a:xfrm>
            <a:off x="6482239" y="2671762"/>
            <a:ext cx="2199322" cy="152400"/>
          </a:xfrm>
          <a:prstGeom prst="rect">
            <a:avLst/>
          </a:prstGeom>
          <a:noFill/>
          <a:ln>
            <a:noFill/>
          </a:ln>
        </p:spPr>
        <p:txBody>
          <a:bodyPr wrap="none" lIns="0" tIns="0" rIns="0" bIns="0" anchor="t" anchorCtr="0">
            <a:spAutoFit/>
          </a:bodyPr>
          <a:lstStyle/>
          <a:p>
            <a:pPr algn="ctr"/>
            <a:r>
              <a:rPr lang="zh-CN" sz="750" dirty="0">
                <a:solidFill>
                  <a:srgbClr val="555555"/>
                </a:solidFill>
                <a:latin typeface="Arial"/>
                <a:ea typeface="Microsoft YaHei"/>
                <a:cs typeface="Arial"/>
              </a:rPr>
              <a:t>Academic center — KOL influence opportunity</a:t>
            </a:r>
          </a:p>
        </p:txBody>
      </p:sp>
      <p:sp>
        <p:nvSpPr>
          <p:cNvPr id="32" name="TextBox 32"/>
          <p:cNvSpPr txBox="1"/>
          <p:nvPr/>
        </p:nvSpPr>
        <p:spPr>
          <a:xfrm>
            <a:off x="6559748" y="2795588"/>
            <a:ext cx="2044303" cy="152400"/>
          </a:xfrm>
          <a:prstGeom prst="rect">
            <a:avLst/>
          </a:prstGeom>
          <a:noFill/>
          <a:ln>
            <a:noFill/>
          </a:ln>
        </p:spPr>
        <p:txBody>
          <a:bodyPr wrap="none" lIns="0" tIns="0" rIns="0" bIns="0" anchor="t" anchorCtr="0">
            <a:spAutoFit/>
          </a:bodyPr>
          <a:lstStyle/>
          <a:p>
            <a:pPr algn="ctr"/>
            <a:r>
              <a:rPr lang="zh-CN" sz="750" dirty="0">
                <a:solidFill>
                  <a:srgbClr val="555555"/>
                </a:solidFill>
                <a:latin typeface="Arial"/>
                <a:ea typeface="Microsoft YaHei"/>
                <a:cs typeface="Arial"/>
              </a:rPr>
              <a:t>Cardiology, internal medicine prescribers</a:t>
            </a:r>
          </a:p>
        </p:txBody>
      </p:sp>
      <p:sp>
        <p:nvSpPr>
          <p:cNvPr id="33" name="Rectangle 33"/>
          <p:cNvSpPr/>
          <p:nvPr/>
        </p:nvSpPr>
        <p:spPr>
          <a:xfrm>
            <a:off x="8572500" y="2076450"/>
            <a:ext cx="2266950" cy="533400"/>
          </a:xfrm>
          <a:prstGeom prst="roundRect">
            <a:avLst>
              <a:gd name="adj" fmla="val 14286"/>
            </a:avLst>
          </a:prstGeom>
          <a:solidFill>
            <a:srgbClr val="F5F5F5"/>
          </a:solidFill>
          <a:ln w="14288">
            <a:solidFill>
              <a:srgbClr val="E0E0E0"/>
            </a:solidFill>
          </a:ln>
          <a:effectLst>
            <a:outerShdw blurRad="76200" dist="19050" dir="5400000" algn="ctr" rotWithShape="0">
              <a:srgbClr val="000000">
                <a:alpha val="5250"/>
              </a:srgbClr>
            </a:outerShdw>
          </a:effectLst>
        </p:spPr>
      </p:sp>
      <p:sp>
        <p:nvSpPr>
          <p:cNvPr id="34" name="Freeform 34"/>
          <p:cNvSpPr/>
          <p:nvPr/>
        </p:nvSpPr>
        <p:spPr>
          <a:xfrm>
            <a:off x="8702675" y="2225675"/>
            <a:ext cx="158750" cy="158750"/>
          </a:xfrm>
          <a:custGeom>
            <a:avLst/>
            <a:gdLst/>
            <a:ahLst/>
            <a:cxnLst/>
            <a:rect l="l" t="t" r="r" b="b"/>
            <a:pathLst>
              <a:path w="158750" h="158750">
                <a:moveTo>
                  <a:pt x="79375" y="0"/>
                </a:moveTo>
                <a:cubicBezTo>
                  <a:pt x="123214" y="0"/>
                  <a:pt x="158750" y="35536"/>
                  <a:pt x="158750" y="79375"/>
                </a:cubicBezTo>
                <a:cubicBezTo>
                  <a:pt x="158750" y="123213"/>
                  <a:pt x="123213" y="158750"/>
                  <a:pt x="79375" y="158750"/>
                </a:cubicBezTo>
                <a:cubicBezTo>
                  <a:pt x="35537" y="158750"/>
                  <a:pt x="0" y="123213"/>
                  <a:pt x="0" y="79375"/>
                </a:cubicBezTo>
                <a:lnTo>
                  <a:pt x="32" y="77153"/>
                </a:lnTo>
                <a:cubicBezTo>
                  <a:pt x="1206" y="34346"/>
                  <a:pt x="36274" y="0"/>
                  <a:pt x="79375" y="0"/>
                </a:cubicBezTo>
                <a:moveTo>
                  <a:pt x="95250" y="39688"/>
                </a:moveTo>
                <a:cubicBezTo>
                  <a:pt x="90866" y="39688"/>
                  <a:pt x="87313" y="43241"/>
                  <a:pt x="87313" y="47625"/>
                </a:cubicBezTo>
                <a:lnTo>
                  <a:pt x="87313" y="71430"/>
                </a:lnTo>
                <a:lnTo>
                  <a:pt x="71438" y="71430"/>
                </a:lnTo>
                <a:lnTo>
                  <a:pt x="71438" y="47625"/>
                </a:lnTo>
                <a:cubicBezTo>
                  <a:pt x="71437" y="43601"/>
                  <a:pt x="68425" y="40214"/>
                  <a:pt x="64429" y="39743"/>
                </a:cubicBezTo>
                <a:lnTo>
                  <a:pt x="63500" y="39688"/>
                </a:lnTo>
                <a:cubicBezTo>
                  <a:pt x="59116" y="39688"/>
                  <a:pt x="55563" y="43241"/>
                  <a:pt x="55563" y="47625"/>
                </a:cubicBezTo>
                <a:lnTo>
                  <a:pt x="55563" y="111125"/>
                </a:lnTo>
                <a:cubicBezTo>
                  <a:pt x="55563" y="115509"/>
                  <a:pt x="59116" y="119062"/>
                  <a:pt x="63500" y="119062"/>
                </a:cubicBezTo>
                <a:cubicBezTo>
                  <a:pt x="67884" y="119062"/>
                  <a:pt x="71438" y="115509"/>
                  <a:pt x="71438" y="111125"/>
                </a:cubicBezTo>
                <a:lnTo>
                  <a:pt x="71438" y="87305"/>
                </a:lnTo>
                <a:lnTo>
                  <a:pt x="87313" y="87305"/>
                </a:lnTo>
                <a:lnTo>
                  <a:pt x="87313" y="111125"/>
                </a:lnTo>
                <a:cubicBezTo>
                  <a:pt x="87313" y="115149"/>
                  <a:pt x="90325" y="118536"/>
                  <a:pt x="94321" y="119007"/>
                </a:cubicBezTo>
                <a:lnTo>
                  <a:pt x="95250" y="119062"/>
                </a:lnTo>
                <a:cubicBezTo>
                  <a:pt x="99634" y="119062"/>
                  <a:pt x="103188" y="115509"/>
                  <a:pt x="103188" y="111125"/>
                </a:cubicBezTo>
                <a:lnTo>
                  <a:pt x="103188" y="47625"/>
                </a:lnTo>
                <a:cubicBezTo>
                  <a:pt x="103188" y="43241"/>
                  <a:pt x="99634" y="39688"/>
                  <a:pt x="95250" y="39688"/>
                </a:cubicBezTo>
              </a:path>
            </a:pathLst>
          </a:custGeom>
          <a:solidFill>
            <a:srgbClr val="888888"/>
          </a:solidFill>
          <a:ln>
            <a:noFill/>
          </a:ln>
        </p:spPr>
      </p:sp>
      <p:sp>
        <p:nvSpPr>
          <p:cNvPr id="35" name="TextBox 35"/>
          <p:cNvSpPr txBox="1"/>
          <p:nvPr/>
        </p:nvSpPr>
        <p:spPr>
          <a:xfrm>
            <a:off x="9010910" y="2198370"/>
            <a:ext cx="1390131" cy="182880"/>
          </a:xfrm>
          <a:prstGeom prst="rect">
            <a:avLst/>
          </a:prstGeom>
          <a:noFill/>
          <a:ln>
            <a:noFill/>
          </a:ln>
        </p:spPr>
        <p:txBody>
          <a:bodyPr wrap="none" lIns="0" tIns="0" rIns="0" bIns="0" anchor="t" anchorCtr="0">
            <a:spAutoFit/>
          </a:bodyPr>
          <a:lstStyle/>
          <a:p>
            <a:pPr algn="ctr"/>
            <a:r>
              <a:rPr lang="zh-CN" sz="900" b="1" dirty="0">
                <a:solidFill>
                  <a:srgbClr val="555555"/>
                </a:solidFill>
                <a:latin typeface="Arial"/>
                <a:ea typeface="Microsoft YaHei"/>
                <a:cs typeface="Arial"/>
              </a:rPr>
              <a:t>Phyathai / Paolo Group</a:t>
            </a:r>
          </a:p>
        </p:txBody>
      </p:sp>
      <p:sp>
        <p:nvSpPr>
          <p:cNvPr id="36" name="TextBox 36"/>
          <p:cNvSpPr txBox="1"/>
          <p:nvPr/>
        </p:nvSpPr>
        <p:spPr>
          <a:xfrm>
            <a:off x="9108877" y="2366962"/>
            <a:ext cx="1194197" cy="152400"/>
          </a:xfrm>
          <a:prstGeom prst="rect">
            <a:avLst/>
          </a:prstGeom>
          <a:noFill/>
          <a:ln>
            <a:noFill/>
          </a:ln>
        </p:spPr>
        <p:txBody>
          <a:bodyPr wrap="none" lIns="0" tIns="0" rIns="0" bIns="0" anchor="t" anchorCtr="0">
            <a:spAutoFit/>
          </a:bodyPr>
          <a:lstStyle/>
          <a:p>
            <a:pPr algn="ctr"/>
            <a:r>
              <a:rPr lang="zh-CN" sz="750" dirty="0">
                <a:solidFill>
                  <a:srgbClr val="888888"/>
                </a:solidFill>
                <a:latin typeface="Arial"/>
                <a:ea typeface="Microsoft YaHei"/>
                <a:cs typeface="Arial"/>
              </a:rPr>
              <a:t>Tier 2 — build pipeline Q2</a:t>
            </a:r>
          </a:p>
        </p:txBody>
      </p:sp>
      <p:sp>
        <p:nvSpPr>
          <p:cNvPr id="37" name="TextBox 37"/>
          <p:cNvSpPr txBox="1"/>
          <p:nvPr/>
        </p:nvSpPr>
        <p:spPr>
          <a:xfrm>
            <a:off x="9086374" y="2490788"/>
            <a:ext cx="1239202" cy="152400"/>
          </a:xfrm>
          <a:prstGeom prst="rect">
            <a:avLst/>
          </a:prstGeom>
          <a:noFill/>
          <a:ln>
            <a:noFill/>
          </a:ln>
        </p:spPr>
        <p:txBody>
          <a:bodyPr wrap="none" lIns="0" tIns="0" rIns="0" bIns="0" anchor="t" anchorCtr="0">
            <a:spAutoFit/>
          </a:bodyPr>
          <a:lstStyle/>
          <a:p>
            <a:pPr algn="ctr"/>
            <a:r>
              <a:rPr lang="zh-CN" sz="750" dirty="0">
                <a:solidFill>
                  <a:srgbClr val="888888"/>
                </a:solidFill>
                <a:latin typeface="Arial"/>
                <a:ea typeface="Microsoft YaHei"/>
                <a:cs typeface="Arial"/>
              </a:rPr>
              <a:t>Private sector expansion</a:t>
            </a:r>
          </a:p>
        </p:txBody>
      </p:sp>
      <p:sp>
        <p:nvSpPr>
          <p:cNvPr id="38" name="Line 38"/>
          <p:cNvSpPr/>
          <p:nvPr/>
        </p:nvSpPr>
        <p:spPr>
          <a:xfrm>
            <a:off x="381000" y="3105150"/>
            <a:ext cx="11430000" cy="9525"/>
          </a:xfrm>
          <a:custGeom>
            <a:avLst/>
            <a:gdLst/>
            <a:ahLst/>
            <a:cxnLst/>
            <a:rect l="l" t="t" r="r" b="b"/>
            <a:pathLst>
              <a:path w="11430000" h="9525">
                <a:moveTo>
                  <a:pt x="0" y="0"/>
                </a:moveTo>
                <a:lnTo>
                  <a:pt x="11430000" y="0"/>
                </a:lnTo>
              </a:path>
            </a:pathLst>
          </a:custGeom>
          <a:noFill/>
          <a:ln w="9525">
            <a:solidFill>
              <a:srgbClr val="E0E0E0"/>
            </a:solidFill>
          </a:ln>
        </p:spPr>
      </p:sp>
      <p:sp>
        <p:nvSpPr>
          <p:cNvPr id="39" name="TextBox 39"/>
          <p:cNvSpPr txBox="1"/>
          <p:nvPr/>
        </p:nvSpPr>
        <p:spPr>
          <a:xfrm>
            <a:off x="368618" y="3199924"/>
            <a:ext cx="1690273" cy="198120"/>
          </a:xfrm>
          <a:prstGeom prst="rect">
            <a:avLst/>
          </a:prstGeom>
          <a:noFill/>
          <a:ln>
            <a:noFill/>
          </a:ln>
        </p:spPr>
        <p:txBody>
          <a:bodyPr wrap="none" lIns="0" tIns="0" rIns="0" bIns="0" anchor="t" anchorCtr="0">
            <a:spAutoFit/>
          </a:bodyPr>
          <a:lstStyle/>
          <a:p>
            <a:pPr algn="l"/>
            <a:r>
              <a:rPr lang="zh-CN" sz="975" b="1" dirty="0">
                <a:solidFill>
                  <a:srgbClr val="AE232F"/>
                </a:solidFill>
                <a:latin typeface="Arial"/>
                <a:ea typeface="Microsoft YaHei"/>
                <a:cs typeface="Arial"/>
              </a:rPr>
              <a:t>Physician Priority Matrix</a:t>
            </a:r>
          </a:p>
        </p:txBody>
      </p:sp>
      <p:sp>
        <p:nvSpPr>
          <p:cNvPr id="40" name="Line 40"/>
          <p:cNvSpPr/>
          <p:nvPr/>
        </p:nvSpPr>
        <p:spPr>
          <a:xfrm>
            <a:off x="381000" y="3352800"/>
            <a:ext cx="2190750" cy="9525"/>
          </a:xfrm>
          <a:custGeom>
            <a:avLst/>
            <a:gdLst/>
            <a:ahLst/>
            <a:cxnLst/>
            <a:rect l="l" t="t" r="r" b="b"/>
            <a:pathLst>
              <a:path w="2190750" h="9525">
                <a:moveTo>
                  <a:pt x="0" y="0"/>
                </a:moveTo>
                <a:lnTo>
                  <a:pt x="2190750" y="0"/>
                </a:lnTo>
              </a:path>
            </a:pathLst>
          </a:custGeom>
          <a:noFill/>
          <a:ln w="19050">
            <a:solidFill>
              <a:srgbClr val="AE232F"/>
            </a:solidFill>
          </a:ln>
        </p:spPr>
      </p:sp>
      <p:sp>
        <p:nvSpPr>
          <p:cNvPr id="41" name="Rectangle 41"/>
          <p:cNvSpPr/>
          <p:nvPr/>
        </p:nvSpPr>
        <p:spPr>
          <a:xfrm>
            <a:off x="381000" y="3429000"/>
            <a:ext cx="11430000" cy="304800"/>
          </a:xfrm>
          <a:prstGeom prst="roundRect">
            <a:avLst>
              <a:gd name="adj" fmla="val 12500"/>
            </a:avLst>
          </a:prstGeom>
          <a:solidFill>
            <a:srgbClr val="AE232F"/>
          </a:solidFill>
          <a:ln>
            <a:noFill/>
          </a:ln>
        </p:spPr>
      </p:sp>
      <p:sp>
        <p:nvSpPr>
          <p:cNvPr id="42" name="TextBox 42"/>
          <p:cNvSpPr txBox="1"/>
          <p:nvPr/>
        </p:nvSpPr>
        <p:spPr>
          <a:xfrm>
            <a:off x="735359" y="3531870"/>
            <a:ext cx="1005783"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Physician / Dept</a:t>
            </a:r>
          </a:p>
        </p:txBody>
      </p:sp>
      <p:sp>
        <p:nvSpPr>
          <p:cNvPr id="43" name="Line 43"/>
          <p:cNvSpPr/>
          <p:nvPr/>
        </p:nvSpPr>
        <p:spPr>
          <a:xfrm>
            <a:off x="2095500" y="3429000"/>
            <a:ext cx="9525" cy="2857500"/>
          </a:xfrm>
          <a:custGeom>
            <a:avLst/>
            <a:gdLst/>
            <a:ahLst/>
            <a:cxnLst/>
            <a:rect l="l" t="t" r="r" b="b"/>
            <a:pathLst>
              <a:path w="9525" h="2857500">
                <a:moveTo>
                  <a:pt x="0" y="0"/>
                </a:moveTo>
                <a:lnTo>
                  <a:pt x="0" y="2857500"/>
                </a:lnTo>
              </a:path>
            </a:pathLst>
          </a:custGeom>
          <a:noFill/>
          <a:ln w="9525">
            <a:solidFill>
              <a:srgbClr val="8A1B25"/>
            </a:solidFill>
          </a:ln>
        </p:spPr>
      </p:sp>
      <p:sp>
        <p:nvSpPr>
          <p:cNvPr id="44" name="TextBox 44"/>
          <p:cNvSpPr txBox="1"/>
          <p:nvPr/>
        </p:nvSpPr>
        <p:spPr>
          <a:xfrm>
            <a:off x="3267089" y="3531870"/>
            <a:ext cx="514321"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Hospital</a:t>
            </a:r>
          </a:p>
        </p:txBody>
      </p:sp>
      <p:sp>
        <p:nvSpPr>
          <p:cNvPr id="45" name="Line 45"/>
          <p:cNvSpPr/>
          <p:nvPr/>
        </p:nvSpPr>
        <p:spPr>
          <a:xfrm>
            <a:off x="4953000" y="3429000"/>
            <a:ext cx="9525" cy="2857500"/>
          </a:xfrm>
          <a:custGeom>
            <a:avLst/>
            <a:gdLst/>
            <a:ahLst/>
            <a:cxnLst/>
            <a:rect l="l" t="t" r="r" b="b"/>
            <a:pathLst>
              <a:path w="9525" h="2857500">
                <a:moveTo>
                  <a:pt x="0" y="0"/>
                </a:moveTo>
                <a:lnTo>
                  <a:pt x="0" y="2857500"/>
                </a:lnTo>
              </a:path>
            </a:pathLst>
          </a:custGeom>
          <a:noFill/>
          <a:ln w="9525">
            <a:solidFill>
              <a:srgbClr val="8A1B25"/>
            </a:solidFill>
          </a:ln>
        </p:spPr>
      </p:sp>
      <p:sp>
        <p:nvSpPr>
          <p:cNvPr id="46" name="TextBox 46"/>
          <p:cNvSpPr txBox="1"/>
          <p:nvPr/>
        </p:nvSpPr>
        <p:spPr>
          <a:xfrm>
            <a:off x="5613685" y="3531870"/>
            <a:ext cx="583630"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Specialty</a:t>
            </a:r>
          </a:p>
        </p:txBody>
      </p:sp>
      <p:sp>
        <p:nvSpPr>
          <p:cNvPr id="47" name="Line 47"/>
          <p:cNvSpPr/>
          <p:nvPr/>
        </p:nvSpPr>
        <p:spPr>
          <a:xfrm>
            <a:off x="6858000" y="3429000"/>
            <a:ext cx="9525" cy="2857500"/>
          </a:xfrm>
          <a:custGeom>
            <a:avLst/>
            <a:gdLst/>
            <a:ahLst/>
            <a:cxnLst/>
            <a:rect l="l" t="t" r="r" b="b"/>
            <a:pathLst>
              <a:path w="9525" h="2857500">
                <a:moveTo>
                  <a:pt x="0" y="0"/>
                </a:moveTo>
                <a:lnTo>
                  <a:pt x="0" y="2857500"/>
                </a:lnTo>
              </a:path>
            </a:pathLst>
          </a:custGeom>
          <a:noFill/>
          <a:ln w="9525">
            <a:solidFill>
              <a:srgbClr val="8A1B25"/>
            </a:solidFill>
          </a:ln>
        </p:spPr>
      </p:sp>
      <p:sp>
        <p:nvSpPr>
          <p:cNvPr id="48" name="TextBox 48"/>
          <p:cNvSpPr txBox="1"/>
          <p:nvPr/>
        </p:nvSpPr>
        <p:spPr>
          <a:xfrm>
            <a:off x="7482357" y="3531870"/>
            <a:ext cx="1037287"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Clexane Use Case</a:t>
            </a:r>
          </a:p>
        </p:txBody>
      </p:sp>
      <p:sp>
        <p:nvSpPr>
          <p:cNvPr id="49" name="Line 49"/>
          <p:cNvSpPr/>
          <p:nvPr/>
        </p:nvSpPr>
        <p:spPr>
          <a:xfrm>
            <a:off x="9144000" y="3429000"/>
            <a:ext cx="9525" cy="2857500"/>
          </a:xfrm>
          <a:custGeom>
            <a:avLst/>
            <a:gdLst/>
            <a:ahLst/>
            <a:cxnLst/>
            <a:rect l="l" t="t" r="r" b="b"/>
            <a:pathLst>
              <a:path w="9525" h="2857500">
                <a:moveTo>
                  <a:pt x="0" y="0"/>
                </a:moveTo>
                <a:lnTo>
                  <a:pt x="0" y="2857500"/>
                </a:lnTo>
              </a:path>
            </a:pathLst>
          </a:custGeom>
          <a:noFill/>
          <a:ln w="9525">
            <a:solidFill>
              <a:srgbClr val="8A1B25"/>
            </a:solidFill>
          </a:ln>
        </p:spPr>
      </p:sp>
      <p:sp>
        <p:nvSpPr>
          <p:cNvPr id="50" name="TextBox 50"/>
          <p:cNvSpPr txBox="1"/>
          <p:nvPr/>
        </p:nvSpPr>
        <p:spPr>
          <a:xfrm>
            <a:off x="10029839" y="3531870"/>
            <a:ext cx="514321"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Priority</a:t>
            </a:r>
          </a:p>
        </p:txBody>
      </p:sp>
      <p:sp>
        <p:nvSpPr>
          <p:cNvPr id="51" name="Line 51"/>
          <p:cNvSpPr/>
          <p:nvPr/>
        </p:nvSpPr>
        <p:spPr>
          <a:xfrm>
            <a:off x="11430000" y="3429000"/>
            <a:ext cx="9525" cy="2857500"/>
          </a:xfrm>
          <a:custGeom>
            <a:avLst/>
            <a:gdLst/>
            <a:ahLst/>
            <a:cxnLst/>
            <a:rect l="l" t="t" r="r" b="b"/>
            <a:pathLst>
              <a:path w="9525" h="2857500">
                <a:moveTo>
                  <a:pt x="0" y="0"/>
                </a:moveTo>
                <a:lnTo>
                  <a:pt x="0" y="2857500"/>
                </a:lnTo>
              </a:path>
            </a:pathLst>
          </a:custGeom>
          <a:noFill/>
          <a:ln w="9525">
            <a:solidFill>
              <a:srgbClr val="8A1B25"/>
            </a:solidFill>
          </a:ln>
        </p:spPr>
      </p:sp>
      <p:sp>
        <p:nvSpPr>
          <p:cNvPr id="52" name="TextBox 52"/>
          <p:cNvSpPr txBox="1"/>
          <p:nvPr/>
        </p:nvSpPr>
        <p:spPr>
          <a:xfrm>
            <a:off x="11451190" y="3539966"/>
            <a:ext cx="338620"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Freq.</a:t>
            </a:r>
          </a:p>
        </p:txBody>
      </p:sp>
      <p:sp>
        <p:nvSpPr>
          <p:cNvPr id="53" name="Rectangle 53"/>
          <p:cNvSpPr/>
          <p:nvPr/>
        </p:nvSpPr>
        <p:spPr>
          <a:xfrm>
            <a:off x="381000" y="3733800"/>
            <a:ext cx="11430000" cy="381000"/>
          </a:xfrm>
          <a:prstGeom prst="rect">
            <a:avLst/>
          </a:prstGeom>
          <a:solidFill>
            <a:srgbClr val="FFFFFF"/>
          </a:solidFill>
          <a:ln>
            <a:noFill/>
          </a:ln>
        </p:spPr>
      </p:sp>
      <p:sp>
        <p:nvSpPr>
          <p:cNvPr id="54" name="Line 54"/>
          <p:cNvSpPr/>
          <p:nvPr/>
        </p:nvSpPr>
        <p:spPr>
          <a:xfrm>
            <a:off x="381000" y="4114800"/>
            <a:ext cx="11430000" cy="9525"/>
          </a:xfrm>
          <a:custGeom>
            <a:avLst/>
            <a:gdLst/>
            <a:ahLst/>
            <a:cxnLst/>
            <a:rect l="l" t="t" r="r" b="b"/>
            <a:pathLst>
              <a:path w="11430000" h="9525">
                <a:moveTo>
                  <a:pt x="0" y="0"/>
                </a:moveTo>
                <a:lnTo>
                  <a:pt x="11430000" y="0"/>
                </a:lnTo>
              </a:path>
            </a:pathLst>
          </a:custGeom>
          <a:noFill/>
          <a:ln w="9525">
            <a:solidFill>
              <a:srgbClr val="E0E0E0"/>
            </a:solidFill>
          </a:ln>
        </p:spPr>
      </p:sp>
      <p:sp>
        <p:nvSpPr>
          <p:cNvPr id="55" name="TextBox 55"/>
          <p:cNvSpPr txBox="1"/>
          <p:nvPr/>
        </p:nvSpPr>
        <p:spPr>
          <a:xfrm>
            <a:off x="875776" y="3874770"/>
            <a:ext cx="724948"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Cardiologist</a:t>
            </a:r>
          </a:p>
        </p:txBody>
      </p:sp>
      <p:sp>
        <p:nvSpPr>
          <p:cNvPr id="56" name="TextBox 56"/>
          <p:cNvSpPr txBox="1"/>
          <p:nvPr/>
        </p:nvSpPr>
        <p:spPr>
          <a:xfrm>
            <a:off x="3149775" y="3874770"/>
            <a:ext cx="748951"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PMK Hospital</a:t>
            </a:r>
          </a:p>
        </p:txBody>
      </p:sp>
      <p:sp>
        <p:nvSpPr>
          <p:cNvPr id="57" name="TextBox 57"/>
          <p:cNvSpPr txBox="1"/>
          <p:nvPr/>
        </p:nvSpPr>
        <p:spPr>
          <a:xfrm>
            <a:off x="5594032" y="3874770"/>
            <a:ext cx="622935"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Cardiology</a:t>
            </a:r>
          </a:p>
        </p:txBody>
      </p:sp>
      <p:sp>
        <p:nvSpPr>
          <p:cNvPr id="58" name="TextBox 58"/>
          <p:cNvSpPr txBox="1"/>
          <p:nvPr/>
        </p:nvSpPr>
        <p:spPr>
          <a:xfrm>
            <a:off x="7071455" y="3874770"/>
            <a:ext cx="1859089" cy="182880"/>
          </a:xfrm>
          <a:prstGeom prst="rect">
            <a:avLst/>
          </a:prstGeom>
          <a:noFill/>
          <a:ln>
            <a:noFill/>
          </a:ln>
        </p:spPr>
        <p:txBody>
          <a:bodyPr wrap="none" lIns="0" tIns="0" rIns="0" bIns="0" anchor="t" anchorCtr="0">
            <a:spAutoFit/>
          </a:bodyPr>
          <a:lstStyle/>
          <a:p>
            <a:pPr algn="ctr"/>
            <a:r>
              <a:rPr lang="zh-CN" sz="900" dirty="0">
                <a:solidFill>
                  <a:srgbClr val="555555"/>
                </a:solidFill>
                <a:latin typeface="Arial"/>
                <a:ea typeface="Microsoft YaHei"/>
                <a:cs typeface="Arial"/>
              </a:rPr>
              <a:t>ACS adjunct, STEMI management</a:t>
            </a:r>
          </a:p>
        </p:txBody>
      </p:sp>
      <p:sp>
        <p:nvSpPr>
          <p:cNvPr id="59" name="Rectangle 59"/>
          <p:cNvSpPr/>
          <p:nvPr/>
        </p:nvSpPr>
        <p:spPr>
          <a:xfrm>
            <a:off x="9429750" y="3829050"/>
            <a:ext cx="571500" cy="190500"/>
          </a:xfrm>
          <a:prstGeom prst="roundRect">
            <a:avLst>
              <a:gd name="adj" fmla="val 20000"/>
            </a:avLst>
          </a:prstGeom>
          <a:solidFill>
            <a:srgbClr val="AE232F"/>
          </a:solidFill>
          <a:ln>
            <a:noFill/>
          </a:ln>
        </p:spPr>
      </p:sp>
      <p:sp>
        <p:nvSpPr>
          <p:cNvPr id="60" name="TextBox 60"/>
          <p:cNvSpPr txBox="1"/>
          <p:nvPr/>
        </p:nvSpPr>
        <p:spPr>
          <a:xfrm>
            <a:off x="9673256" y="3873341"/>
            <a:ext cx="84488"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A</a:t>
            </a:r>
          </a:p>
        </p:txBody>
      </p:sp>
      <p:sp>
        <p:nvSpPr>
          <p:cNvPr id="61" name="TextBox 61"/>
          <p:cNvSpPr txBox="1"/>
          <p:nvPr/>
        </p:nvSpPr>
        <p:spPr>
          <a:xfrm>
            <a:off x="11432048" y="3874770"/>
            <a:ext cx="376904"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2×/wk</a:t>
            </a:r>
          </a:p>
        </p:txBody>
      </p:sp>
      <p:sp>
        <p:nvSpPr>
          <p:cNvPr id="62" name="Rectangle 62"/>
          <p:cNvSpPr/>
          <p:nvPr/>
        </p:nvSpPr>
        <p:spPr>
          <a:xfrm>
            <a:off x="381000" y="4114800"/>
            <a:ext cx="11430000" cy="381000"/>
          </a:xfrm>
          <a:prstGeom prst="rect">
            <a:avLst/>
          </a:prstGeom>
          <a:solidFill>
            <a:srgbClr val="F5F5F5"/>
          </a:solidFill>
          <a:ln>
            <a:noFill/>
          </a:ln>
        </p:spPr>
      </p:sp>
      <p:sp>
        <p:nvSpPr>
          <p:cNvPr id="63" name="Line 63"/>
          <p:cNvSpPr/>
          <p:nvPr/>
        </p:nvSpPr>
        <p:spPr>
          <a:xfrm>
            <a:off x="381000" y="4495800"/>
            <a:ext cx="11430000" cy="9525"/>
          </a:xfrm>
          <a:custGeom>
            <a:avLst/>
            <a:gdLst/>
            <a:ahLst/>
            <a:cxnLst/>
            <a:rect l="l" t="t" r="r" b="b"/>
            <a:pathLst>
              <a:path w="11430000" h="9525">
                <a:moveTo>
                  <a:pt x="0" y="0"/>
                </a:moveTo>
                <a:lnTo>
                  <a:pt x="11430000" y="0"/>
                </a:lnTo>
              </a:path>
            </a:pathLst>
          </a:custGeom>
          <a:noFill/>
          <a:ln w="9525">
            <a:solidFill>
              <a:srgbClr val="E0E0E0"/>
            </a:solidFill>
          </a:ln>
        </p:spPr>
      </p:sp>
      <p:sp>
        <p:nvSpPr>
          <p:cNvPr id="64" name="TextBox 64"/>
          <p:cNvSpPr txBox="1"/>
          <p:nvPr/>
        </p:nvSpPr>
        <p:spPr>
          <a:xfrm>
            <a:off x="650748" y="4255770"/>
            <a:ext cx="1175004"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Orthopedic Surgeon</a:t>
            </a:r>
          </a:p>
        </p:txBody>
      </p:sp>
      <p:sp>
        <p:nvSpPr>
          <p:cNvPr id="65" name="TextBox 65"/>
          <p:cNvSpPr txBox="1"/>
          <p:nvPr/>
        </p:nvSpPr>
        <p:spPr>
          <a:xfrm>
            <a:off x="3149775" y="4255770"/>
            <a:ext cx="748951"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PMK Hospital</a:t>
            </a:r>
          </a:p>
        </p:txBody>
      </p:sp>
      <p:sp>
        <p:nvSpPr>
          <p:cNvPr id="66" name="TextBox 66"/>
          <p:cNvSpPr txBox="1"/>
          <p:nvPr/>
        </p:nvSpPr>
        <p:spPr>
          <a:xfrm>
            <a:off x="5534025" y="4255770"/>
            <a:ext cx="742950"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Orthopedics</a:t>
            </a:r>
          </a:p>
        </p:txBody>
      </p:sp>
      <p:sp>
        <p:nvSpPr>
          <p:cNvPr id="67" name="TextBox 67"/>
          <p:cNvSpPr txBox="1"/>
          <p:nvPr/>
        </p:nvSpPr>
        <p:spPr>
          <a:xfrm>
            <a:off x="6957441" y="4255770"/>
            <a:ext cx="2087118" cy="182880"/>
          </a:xfrm>
          <a:prstGeom prst="rect">
            <a:avLst/>
          </a:prstGeom>
          <a:noFill/>
          <a:ln>
            <a:noFill/>
          </a:ln>
        </p:spPr>
        <p:txBody>
          <a:bodyPr wrap="none" lIns="0" tIns="0" rIns="0" bIns="0" anchor="t" anchorCtr="0">
            <a:spAutoFit/>
          </a:bodyPr>
          <a:lstStyle/>
          <a:p>
            <a:pPr algn="ctr"/>
            <a:r>
              <a:rPr lang="zh-CN" sz="900" dirty="0">
                <a:solidFill>
                  <a:srgbClr val="555555"/>
                </a:solidFill>
                <a:latin typeface="Arial"/>
                <a:ea typeface="Microsoft YaHei"/>
                <a:cs typeface="Arial"/>
              </a:rPr>
              <a:t>Post-op VTE prophylaxis (hip/knee)</a:t>
            </a:r>
          </a:p>
        </p:txBody>
      </p:sp>
      <p:sp>
        <p:nvSpPr>
          <p:cNvPr id="68" name="Rectangle 68"/>
          <p:cNvSpPr/>
          <p:nvPr/>
        </p:nvSpPr>
        <p:spPr>
          <a:xfrm>
            <a:off x="9429750" y="4210050"/>
            <a:ext cx="571500" cy="190500"/>
          </a:xfrm>
          <a:prstGeom prst="roundRect">
            <a:avLst>
              <a:gd name="adj" fmla="val 20000"/>
            </a:avLst>
          </a:prstGeom>
          <a:solidFill>
            <a:srgbClr val="AE232F"/>
          </a:solidFill>
          <a:ln>
            <a:noFill/>
          </a:ln>
        </p:spPr>
      </p:sp>
      <p:sp>
        <p:nvSpPr>
          <p:cNvPr id="69" name="TextBox 69"/>
          <p:cNvSpPr txBox="1"/>
          <p:nvPr/>
        </p:nvSpPr>
        <p:spPr>
          <a:xfrm>
            <a:off x="9673256" y="4254341"/>
            <a:ext cx="84488"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A</a:t>
            </a:r>
          </a:p>
        </p:txBody>
      </p:sp>
      <p:sp>
        <p:nvSpPr>
          <p:cNvPr id="70" name="TextBox 70"/>
          <p:cNvSpPr txBox="1"/>
          <p:nvPr/>
        </p:nvSpPr>
        <p:spPr>
          <a:xfrm>
            <a:off x="11432048" y="4255770"/>
            <a:ext cx="376904"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2×/wk</a:t>
            </a:r>
          </a:p>
        </p:txBody>
      </p:sp>
      <p:sp>
        <p:nvSpPr>
          <p:cNvPr id="71" name="Rectangle 71"/>
          <p:cNvSpPr/>
          <p:nvPr/>
        </p:nvSpPr>
        <p:spPr>
          <a:xfrm>
            <a:off x="381000" y="4495800"/>
            <a:ext cx="11430000" cy="381000"/>
          </a:xfrm>
          <a:prstGeom prst="rect">
            <a:avLst/>
          </a:prstGeom>
          <a:solidFill>
            <a:srgbClr val="FFFFFF"/>
          </a:solidFill>
          <a:ln>
            <a:noFill/>
          </a:ln>
        </p:spPr>
      </p:sp>
      <p:sp>
        <p:nvSpPr>
          <p:cNvPr id="72" name="Line 72"/>
          <p:cNvSpPr/>
          <p:nvPr/>
        </p:nvSpPr>
        <p:spPr>
          <a:xfrm>
            <a:off x="381000" y="4876800"/>
            <a:ext cx="11430000" cy="9525"/>
          </a:xfrm>
          <a:custGeom>
            <a:avLst/>
            <a:gdLst/>
            <a:ahLst/>
            <a:cxnLst/>
            <a:rect l="l" t="t" r="r" b="b"/>
            <a:pathLst>
              <a:path w="11430000" h="9525">
                <a:moveTo>
                  <a:pt x="0" y="0"/>
                </a:moveTo>
                <a:lnTo>
                  <a:pt x="11430000" y="0"/>
                </a:lnTo>
              </a:path>
            </a:pathLst>
          </a:custGeom>
          <a:noFill/>
          <a:ln w="9525">
            <a:solidFill>
              <a:srgbClr val="E0E0E0"/>
            </a:solidFill>
          </a:ln>
        </p:spPr>
      </p:sp>
      <p:sp>
        <p:nvSpPr>
          <p:cNvPr id="73" name="TextBox 73"/>
          <p:cNvSpPr txBox="1"/>
          <p:nvPr/>
        </p:nvSpPr>
        <p:spPr>
          <a:xfrm>
            <a:off x="581739" y="4636770"/>
            <a:ext cx="1313021"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Internist (Gen. Med.)</a:t>
            </a:r>
          </a:p>
        </p:txBody>
      </p:sp>
      <p:sp>
        <p:nvSpPr>
          <p:cNvPr id="74" name="TextBox 74"/>
          <p:cNvSpPr txBox="1"/>
          <p:nvPr/>
        </p:nvSpPr>
        <p:spPr>
          <a:xfrm>
            <a:off x="3167777" y="4636770"/>
            <a:ext cx="712946"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Ramathibodi</a:t>
            </a:r>
          </a:p>
        </p:txBody>
      </p:sp>
      <p:sp>
        <p:nvSpPr>
          <p:cNvPr id="75" name="TextBox 75"/>
          <p:cNvSpPr txBox="1"/>
          <p:nvPr/>
        </p:nvSpPr>
        <p:spPr>
          <a:xfrm>
            <a:off x="5396008" y="4636770"/>
            <a:ext cx="1018984"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Internal Medicine</a:t>
            </a:r>
          </a:p>
        </p:txBody>
      </p:sp>
      <p:sp>
        <p:nvSpPr>
          <p:cNvPr id="76" name="TextBox 76"/>
          <p:cNvSpPr txBox="1"/>
          <p:nvPr/>
        </p:nvSpPr>
        <p:spPr>
          <a:xfrm>
            <a:off x="6864429" y="4636770"/>
            <a:ext cx="2273141" cy="182880"/>
          </a:xfrm>
          <a:prstGeom prst="rect">
            <a:avLst/>
          </a:prstGeom>
          <a:noFill/>
          <a:ln>
            <a:noFill/>
          </a:ln>
        </p:spPr>
        <p:txBody>
          <a:bodyPr wrap="none" lIns="0" tIns="0" rIns="0" bIns="0" anchor="t" anchorCtr="0">
            <a:spAutoFit/>
          </a:bodyPr>
          <a:lstStyle/>
          <a:p>
            <a:pPr algn="ctr"/>
            <a:r>
              <a:rPr lang="zh-CN" sz="900" dirty="0">
                <a:solidFill>
                  <a:srgbClr val="555555"/>
                </a:solidFill>
                <a:latin typeface="Arial"/>
                <a:ea typeface="Microsoft YaHei"/>
                <a:cs typeface="Arial"/>
              </a:rPr>
              <a:t>Medical VTE prophylaxis (immobile pts)</a:t>
            </a:r>
          </a:p>
        </p:txBody>
      </p:sp>
      <p:sp>
        <p:nvSpPr>
          <p:cNvPr id="77" name="Rectangle 77"/>
          <p:cNvSpPr/>
          <p:nvPr/>
        </p:nvSpPr>
        <p:spPr>
          <a:xfrm>
            <a:off x="9429750" y="4591050"/>
            <a:ext cx="571500" cy="190500"/>
          </a:xfrm>
          <a:prstGeom prst="roundRect">
            <a:avLst>
              <a:gd name="adj" fmla="val 20000"/>
            </a:avLst>
          </a:prstGeom>
          <a:solidFill>
            <a:srgbClr val="F9E5E7"/>
          </a:solidFill>
          <a:ln w="9525">
            <a:solidFill>
              <a:srgbClr val="AE232F"/>
            </a:solidFill>
          </a:ln>
        </p:spPr>
      </p:sp>
      <p:sp>
        <p:nvSpPr>
          <p:cNvPr id="78" name="TextBox 78"/>
          <p:cNvSpPr txBox="1"/>
          <p:nvPr/>
        </p:nvSpPr>
        <p:spPr>
          <a:xfrm>
            <a:off x="9673256" y="4635341"/>
            <a:ext cx="84488" cy="167640"/>
          </a:xfrm>
          <a:prstGeom prst="rect">
            <a:avLst/>
          </a:prstGeom>
          <a:noFill/>
          <a:ln>
            <a:noFill/>
          </a:ln>
        </p:spPr>
        <p:txBody>
          <a:bodyPr wrap="none" lIns="0" tIns="0" rIns="0" bIns="0" anchor="t" anchorCtr="0">
            <a:spAutoFit/>
          </a:bodyPr>
          <a:lstStyle/>
          <a:p>
            <a:pPr algn="ctr"/>
            <a:r>
              <a:rPr lang="zh-CN" sz="825" b="1" dirty="0">
                <a:solidFill>
                  <a:srgbClr val="AE232F"/>
                </a:solidFill>
                <a:latin typeface="Arial"/>
                <a:ea typeface="Microsoft YaHei"/>
                <a:cs typeface="Arial"/>
              </a:rPr>
              <a:t>B</a:t>
            </a:r>
          </a:p>
        </p:txBody>
      </p:sp>
      <p:sp>
        <p:nvSpPr>
          <p:cNvPr id="79" name="TextBox 79"/>
          <p:cNvSpPr txBox="1"/>
          <p:nvPr/>
        </p:nvSpPr>
        <p:spPr>
          <a:xfrm>
            <a:off x="11432048" y="4636770"/>
            <a:ext cx="376904"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1×/wk</a:t>
            </a:r>
          </a:p>
        </p:txBody>
      </p:sp>
      <p:sp>
        <p:nvSpPr>
          <p:cNvPr id="80" name="Rectangle 80"/>
          <p:cNvSpPr/>
          <p:nvPr/>
        </p:nvSpPr>
        <p:spPr>
          <a:xfrm>
            <a:off x="381000" y="4876800"/>
            <a:ext cx="11430000" cy="381000"/>
          </a:xfrm>
          <a:prstGeom prst="rect">
            <a:avLst/>
          </a:prstGeom>
          <a:solidFill>
            <a:srgbClr val="F5F5F5"/>
          </a:solidFill>
          <a:ln>
            <a:noFill/>
          </a:ln>
        </p:spPr>
      </p:sp>
      <p:sp>
        <p:nvSpPr>
          <p:cNvPr id="81" name="Line 81"/>
          <p:cNvSpPr/>
          <p:nvPr/>
        </p:nvSpPr>
        <p:spPr>
          <a:xfrm>
            <a:off x="381000" y="5257800"/>
            <a:ext cx="11430000" cy="9525"/>
          </a:xfrm>
          <a:custGeom>
            <a:avLst/>
            <a:gdLst/>
            <a:ahLst/>
            <a:cxnLst/>
            <a:rect l="l" t="t" r="r" b="b"/>
            <a:pathLst>
              <a:path w="11430000" h="9525">
                <a:moveTo>
                  <a:pt x="0" y="0"/>
                </a:moveTo>
                <a:lnTo>
                  <a:pt x="11430000" y="0"/>
                </a:lnTo>
              </a:path>
            </a:pathLst>
          </a:custGeom>
          <a:noFill/>
          <a:ln w="9525">
            <a:solidFill>
              <a:srgbClr val="E0E0E0"/>
            </a:solidFill>
          </a:ln>
        </p:spPr>
      </p:sp>
      <p:sp>
        <p:nvSpPr>
          <p:cNvPr id="82" name="TextBox 82"/>
          <p:cNvSpPr txBox="1"/>
          <p:nvPr/>
        </p:nvSpPr>
        <p:spPr>
          <a:xfrm>
            <a:off x="848773" y="5017770"/>
            <a:ext cx="778955"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Hematologist</a:t>
            </a:r>
          </a:p>
        </p:txBody>
      </p:sp>
      <p:sp>
        <p:nvSpPr>
          <p:cNvPr id="83" name="TextBox 83"/>
          <p:cNvSpPr txBox="1"/>
          <p:nvPr/>
        </p:nvSpPr>
        <p:spPr>
          <a:xfrm>
            <a:off x="3113770" y="5017770"/>
            <a:ext cx="820960"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Chulalongkorn</a:t>
            </a:r>
          </a:p>
        </p:txBody>
      </p:sp>
      <p:sp>
        <p:nvSpPr>
          <p:cNvPr id="84" name="TextBox 84"/>
          <p:cNvSpPr txBox="1"/>
          <p:nvPr/>
        </p:nvSpPr>
        <p:spPr>
          <a:xfrm>
            <a:off x="5567029" y="5017770"/>
            <a:ext cx="676942"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Hematology</a:t>
            </a:r>
          </a:p>
        </p:txBody>
      </p:sp>
      <p:sp>
        <p:nvSpPr>
          <p:cNvPr id="85" name="TextBox 85"/>
          <p:cNvSpPr txBox="1"/>
          <p:nvPr/>
        </p:nvSpPr>
        <p:spPr>
          <a:xfrm>
            <a:off x="6750415" y="5017770"/>
            <a:ext cx="2501170" cy="182880"/>
          </a:xfrm>
          <a:prstGeom prst="rect">
            <a:avLst/>
          </a:prstGeom>
          <a:noFill/>
          <a:ln>
            <a:noFill/>
          </a:ln>
        </p:spPr>
        <p:txBody>
          <a:bodyPr wrap="none" lIns="0" tIns="0" rIns="0" bIns="0" anchor="t" anchorCtr="0">
            <a:spAutoFit/>
          </a:bodyPr>
          <a:lstStyle/>
          <a:p>
            <a:pPr algn="ctr"/>
            <a:r>
              <a:rPr lang="zh-CN" sz="900" dirty="0">
                <a:solidFill>
                  <a:srgbClr val="555555"/>
                </a:solidFill>
                <a:latin typeface="Arial"/>
                <a:ea typeface="Microsoft YaHei"/>
                <a:cs typeface="Arial"/>
              </a:rPr>
              <a:t>DVT/PE treatment, cancer-associated VTE</a:t>
            </a:r>
          </a:p>
        </p:txBody>
      </p:sp>
      <p:sp>
        <p:nvSpPr>
          <p:cNvPr id="86" name="Rectangle 86"/>
          <p:cNvSpPr/>
          <p:nvPr/>
        </p:nvSpPr>
        <p:spPr>
          <a:xfrm>
            <a:off x="9429750" y="4972050"/>
            <a:ext cx="571500" cy="190500"/>
          </a:xfrm>
          <a:prstGeom prst="roundRect">
            <a:avLst>
              <a:gd name="adj" fmla="val 20000"/>
            </a:avLst>
          </a:prstGeom>
          <a:solidFill>
            <a:srgbClr val="F9E5E7"/>
          </a:solidFill>
          <a:ln w="9525">
            <a:solidFill>
              <a:srgbClr val="AE232F"/>
            </a:solidFill>
          </a:ln>
        </p:spPr>
      </p:sp>
      <p:sp>
        <p:nvSpPr>
          <p:cNvPr id="87" name="TextBox 87"/>
          <p:cNvSpPr txBox="1"/>
          <p:nvPr/>
        </p:nvSpPr>
        <p:spPr>
          <a:xfrm>
            <a:off x="9673256" y="5016341"/>
            <a:ext cx="84488" cy="167640"/>
          </a:xfrm>
          <a:prstGeom prst="rect">
            <a:avLst/>
          </a:prstGeom>
          <a:noFill/>
          <a:ln>
            <a:noFill/>
          </a:ln>
        </p:spPr>
        <p:txBody>
          <a:bodyPr wrap="none" lIns="0" tIns="0" rIns="0" bIns="0" anchor="t" anchorCtr="0">
            <a:spAutoFit/>
          </a:bodyPr>
          <a:lstStyle/>
          <a:p>
            <a:pPr algn="ctr"/>
            <a:r>
              <a:rPr lang="zh-CN" sz="825" b="1" dirty="0">
                <a:solidFill>
                  <a:srgbClr val="AE232F"/>
                </a:solidFill>
                <a:latin typeface="Arial"/>
                <a:ea typeface="Microsoft YaHei"/>
                <a:cs typeface="Arial"/>
              </a:rPr>
              <a:t>B</a:t>
            </a:r>
          </a:p>
        </p:txBody>
      </p:sp>
      <p:sp>
        <p:nvSpPr>
          <p:cNvPr id="88" name="TextBox 88"/>
          <p:cNvSpPr txBox="1"/>
          <p:nvPr/>
        </p:nvSpPr>
        <p:spPr>
          <a:xfrm>
            <a:off x="11432048" y="5017770"/>
            <a:ext cx="376904"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1×/wk</a:t>
            </a:r>
          </a:p>
        </p:txBody>
      </p:sp>
      <p:sp>
        <p:nvSpPr>
          <p:cNvPr id="89" name="Rectangle 89"/>
          <p:cNvSpPr/>
          <p:nvPr/>
        </p:nvSpPr>
        <p:spPr>
          <a:xfrm>
            <a:off x="381000" y="5257800"/>
            <a:ext cx="11430000" cy="381000"/>
          </a:xfrm>
          <a:prstGeom prst="rect">
            <a:avLst/>
          </a:prstGeom>
          <a:solidFill>
            <a:srgbClr val="FFFFFF"/>
          </a:solidFill>
          <a:ln>
            <a:noFill/>
          </a:ln>
        </p:spPr>
      </p:sp>
      <p:sp>
        <p:nvSpPr>
          <p:cNvPr id="90" name="Line 90"/>
          <p:cNvSpPr/>
          <p:nvPr/>
        </p:nvSpPr>
        <p:spPr>
          <a:xfrm>
            <a:off x="381000" y="5638800"/>
            <a:ext cx="11430000" cy="9525"/>
          </a:xfrm>
          <a:custGeom>
            <a:avLst/>
            <a:gdLst/>
            <a:ahLst/>
            <a:cxnLst/>
            <a:rect l="l" t="t" r="r" b="b"/>
            <a:pathLst>
              <a:path w="11430000" h="9525">
                <a:moveTo>
                  <a:pt x="0" y="0"/>
                </a:moveTo>
                <a:lnTo>
                  <a:pt x="11430000" y="0"/>
                </a:lnTo>
              </a:path>
            </a:pathLst>
          </a:custGeom>
          <a:noFill/>
          <a:ln w="9525">
            <a:solidFill>
              <a:srgbClr val="E0E0E0"/>
            </a:solidFill>
          </a:ln>
        </p:spPr>
      </p:sp>
      <p:sp>
        <p:nvSpPr>
          <p:cNvPr id="91" name="TextBox 91"/>
          <p:cNvSpPr txBox="1"/>
          <p:nvPr/>
        </p:nvSpPr>
        <p:spPr>
          <a:xfrm>
            <a:off x="713756" y="5398770"/>
            <a:ext cx="1048988"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OB/GYN Specialist</a:t>
            </a:r>
          </a:p>
        </p:txBody>
      </p:sp>
      <p:sp>
        <p:nvSpPr>
          <p:cNvPr id="92" name="TextBox 92"/>
          <p:cNvSpPr txBox="1"/>
          <p:nvPr/>
        </p:nvSpPr>
        <p:spPr>
          <a:xfrm>
            <a:off x="3266789" y="5398770"/>
            <a:ext cx="514922"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Bhumibol</a:t>
            </a:r>
          </a:p>
        </p:txBody>
      </p:sp>
      <p:sp>
        <p:nvSpPr>
          <p:cNvPr id="93" name="TextBox 93"/>
          <p:cNvSpPr txBox="1"/>
          <p:nvPr/>
        </p:nvSpPr>
        <p:spPr>
          <a:xfrm>
            <a:off x="5684044" y="5398770"/>
            <a:ext cx="442913"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OB/GYN</a:t>
            </a:r>
          </a:p>
        </p:txBody>
      </p:sp>
      <p:sp>
        <p:nvSpPr>
          <p:cNvPr id="94" name="TextBox 94"/>
          <p:cNvSpPr txBox="1"/>
          <p:nvPr/>
        </p:nvSpPr>
        <p:spPr>
          <a:xfrm>
            <a:off x="6924437" y="5398770"/>
            <a:ext cx="2153126" cy="182880"/>
          </a:xfrm>
          <a:prstGeom prst="rect">
            <a:avLst/>
          </a:prstGeom>
          <a:noFill/>
          <a:ln>
            <a:noFill/>
          </a:ln>
        </p:spPr>
        <p:txBody>
          <a:bodyPr wrap="none" lIns="0" tIns="0" rIns="0" bIns="0" anchor="t" anchorCtr="0">
            <a:spAutoFit/>
          </a:bodyPr>
          <a:lstStyle/>
          <a:p>
            <a:pPr algn="ctr"/>
            <a:r>
              <a:rPr lang="zh-CN" sz="900" dirty="0">
                <a:solidFill>
                  <a:srgbClr val="555555"/>
                </a:solidFill>
                <a:latin typeface="Arial"/>
                <a:ea typeface="Microsoft YaHei"/>
                <a:cs typeface="Arial"/>
              </a:rPr>
              <a:t>Pregnancy VTE prevention (bridging)</a:t>
            </a:r>
          </a:p>
        </p:txBody>
      </p:sp>
      <p:sp>
        <p:nvSpPr>
          <p:cNvPr id="95" name="Rectangle 95"/>
          <p:cNvSpPr/>
          <p:nvPr/>
        </p:nvSpPr>
        <p:spPr>
          <a:xfrm>
            <a:off x="9429750" y="5353050"/>
            <a:ext cx="571500" cy="190500"/>
          </a:xfrm>
          <a:prstGeom prst="roundRect">
            <a:avLst>
              <a:gd name="adj" fmla="val 20000"/>
            </a:avLst>
          </a:prstGeom>
          <a:solidFill>
            <a:srgbClr val="F5F5F5"/>
          </a:solidFill>
          <a:ln w="9525">
            <a:solidFill>
              <a:srgbClr val="E0E0E0"/>
            </a:solidFill>
          </a:ln>
        </p:spPr>
      </p:sp>
      <p:sp>
        <p:nvSpPr>
          <p:cNvPr id="96" name="TextBox 96"/>
          <p:cNvSpPr txBox="1"/>
          <p:nvPr/>
        </p:nvSpPr>
        <p:spPr>
          <a:xfrm>
            <a:off x="9673256" y="5397341"/>
            <a:ext cx="84488" cy="167640"/>
          </a:xfrm>
          <a:prstGeom prst="rect">
            <a:avLst/>
          </a:prstGeom>
          <a:noFill/>
          <a:ln>
            <a:noFill/>
          </a:ln>
        </p:spPr>
        <p:txBody>
          <a:bodyPr wrap="none" lIns="0" tIns="0" rIns="0" bIns="0" anchor="t" anchorCtr="0">
            <a:spAutoFit/>
          </a:bodyPr>
          <a:lstStyle/>
          <a:p>
            <a:pPr algn="ctr"/>
            <a:r>
              <a:rPr lang="zh-CN" sz="825" b="1" dirty="0">
                <a:solidFill>
                  <a:srgbClr val="888888"/>
                </a:solidFill>
                <a:latin typeface="Arial"/>
                <a:ea typeface="Microsoft YaHei"/>
                <a:cs typeface="Arial"/>
              </a:rPr>
              <a:t>C</a:t>
            </a:r>
          </a:p>
        </p:txBody>
      </p:sp>
      <p:sp>
        <p:nvSpPr>
          <p:cNvPr id="97" name="TextBox 97"/>
          <p:cNvSpPr txBox="1"/>
          <p:nvPr/>
        </p:nvSpPr>
        <p:spPr>
          <a:xfrm>
            <a:off x="11396043" y="5398770"/>
            <a:ext cx="448913" cy="182880"/>
          </a:xfrm>
          <a:prstGeom prst="rect">
            <a:avLst/>
          </a:prstGeom>
          <a:noFill/>
          <a:ln>
            <a:noFill/>
          </a:ln>
        </p:spPr>
        <p:txBody>
          <a:bodyPr wrap="none" lIns="0" tIns="0" rIns="0" bIns="0" anchor="t" anchorCtr="0">
            <a:spAutoFit/>
          </a:bodyPr>
          <a:lstStyle/>
          <a:p>
            <a:pPr algn="ctr"/>
            <a:r>
              <a:rPr lang="zh-CN" sz="900" dirty="0">
                <a:solidFill>
                  <a:srgbClr val="888888"/>
                </a:solidFill>
                <a:latin typeface="Arial"/>
                <a:ea typeface="Microsoft YaHei"/>
                <a:cs typeface="Arial"/>
              </a:rPr>
              <a:t>Bi-wkly</a:t>
            </a:r>
          </a:p>
        </p:txBody>
      </p:sp>
      <p:sp>
        <p:nvSpPr>
          <p:cNvPr id="98" name="Rectangle 98"/>
          <p:cNvSpPr/>
          <p:nvPr/>
        </p:nvSpPr>
        <p:spPr>
          <a:xfrm>
            <a:off x="381000" y="5638800"/>
            <a:ext cx="11430000" cy="19050"/>
          </a:xfrm>
          <a:prstGeom prst="rect">
            <a:avLst/>
          </a:prstGeom>
          <a:solidFill>
            <a:srgbClr val="E0E0E0"/>
          </a:solidFill>
          <a:ln>
            <a:noFill/>
          </a:ln>
        </p:spPr>
      </p:sp>
      <p:sp>
        <p:nvSpPr>
          <p:cNvPr id="99" name="Rectangle 99"/>
          <p:cNvSpPr/>
          <p:nvPr/>
        </p:nvSpPr>
        <p:spPr>
          <a:xfrm>
            <a:off x="381000" y="5753100"/>
            <a:ext cx="11430000" cy="457200"/>
          </a:xfrm>
          <a:prstGeom prst="roundRect">
            <a:avLst>
              <a:gd name="adj" fmla="val 12500"/>
            </a:avLst>
          </a:prstGeom>
          <a:solidFill>
            <a:srgbClr val="AE232F">
              <a:alpha val="8000"/>
            </a:srgbClr>
          </a:solidFill>
          <a:ln>
            <a:noFill/>
          </a:ln>
        </p:spPr>
      </p:sp>
      <p:sp>
        <p:nvSpPr>
          <p:cNvPr id="100" name="Rectangle 100"/>
          <p:cNvSpPr/>
          <p:nvPr/>
        </p:nvSpPr>
        <p:spPr>
          <a:xfrm>
            <a:off x="381000" y="5753100"/>
            <a:ext cx="38100" cy="457200"/>
          </a:xfrm>
          <a:prstGeom prst="roundRect">
            <a:avLst>
              <a:gd name="adj" fmla="val 50000"/>
            </a:avLst>
          </a:prstGeom>
          <a:solidFill>
            <a:srgbClr val="AE232F"/>
          </a:solidFill>
          <a:ln>
            <a:noFill/>
          </a:ln>
        </p:spPr>
      </p:sp>
      <p:sp>
        <p:nvSpPr>
          <p:cNvPr id="101" name="TextBox 101"/>
          <p:cNvSpPr txBox="1"/>
          <p:nvPr/>
        </p:nvSpPr>
        <p:spPr>
          <a:xfrm>
            <a:off x="541020" y="5846445"/>
            <a:ext cx="848263" cy="182880"/>
          </a:xfrm>
          <a:prstGeom prst="rect">
            <a:avLst/>
          </a:prstGeom>
          <a:noFill/>
          <a:ln>
            <a:noFill/>
          </a:ln>
        </p:spPr>
        <p:txBody>
          <a:bodyPr wrap="none" lIns="0" tIns="0" rIns="0" bIns="0" anchor="t" anchorCtr="0">
            <a:spAutoFit/>
          </a:bodyPr>
          <a:lstStyle/>
          <a:p>
            <a:pPr algn="l"/>
            <a:r>
              <a:rPr lang="zh-CN" sz="900" b="1" dirty="0">
                <a:solidFill>
                  <a:srgbClr val="AE232F"/>
                </a:solidFill>
                <a:latin typeface="Arial"/>
                <a:ea typeface="Microsoft YaHei"/>
                <a:cs typeface="Arial"/>
              </a:rPr>
              <a:t>MR Strategy:</a:t>
            </a:r>
          </a:p>
        </p:txBody>
      </p:sp>
      <p:sp>
        <p:nvSpPr>
          <p:cNvPr id="102" name="TextBox 102"/>
          <p:cNvSpPr txBox="1"/>
          <p:nvPr/>
        </p:nvSpPr>
        <p:spPr>
          <a:xfrm>
            <a:off x="1398270" y="5846445"/>
            <a:ext cx="6863715"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Lead with PMK Cardiology + Orthopedics (Priority A). Build trust with internists &amp; hematologists (B) within 60 days.</a:t>
            </a:r>
          </a:p>
        </p:txBody>
      </p:sp>
      <p:sp>
        <p:nvSpPr>
          <p:cNvPr id="103" name="TextBox 103"/>
          <p:cNvSpPr txBox="1"/>
          <p:nvPr/>
        </p:nvSpPr>
        <p:spPr>
          <a:xfrm>
            <a:off x="541020" y="6036945"/>
            <a:ext cx="7031736"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Use Ramathibodi internship relationships as warm entry points — I already know the call culture and gatekeeper rhythm.</a:t>
            </a:r>
          </a:p>
        </p:txBody>
      </p:sp>
      <p:grpSp>
        <p:nvGrpSpPr>
          <p:cNvPr id="106" name="Group 106"/>
          <p:cNvGrpSpPr/>
          <p:nvPr/>
        </p:nvGrpSpPr>
        <p:grpSpPr>
          <a:xfrm>
            <a:off x="0" y="6496050"/>
            <a:ext cx="12192000" cy="361950"/>
            <a:chOff x="0" y="6496050"/>
            <a:chExt cx="12192000" cy="361950"/>
          </a:xfrm>
        </p:grpSpPr>
        <p:sp>
          <p:nvSpPr>
            <p:cNvPr id="104" name="Rectangle 104"/>
            <p:cNvSpPr/>
            <p:nvPr/>
          </p:nvSpPr>
          <p:spPr>
            <a:xfrm>
              <a:off x="0" y="6496050"/>
              <a:ext cx="12192000" cy="361950"/>
            </a:xfrm>
            <a:prstGeom prst="rect">
              <a:avLst/>
            </a:prstGeom>
            <a:solidFill>
              <a:srgbClr val="AE232F"/>
            </a:solidFill>
            <a:ln>
              <a:noFill/>
            </a:ln>
          </p:spPr>
        </p:sp>
        <p:sp>
          <p:nvSpPr>
            <p:cNvPr id="105" name="TextBox 105"/>
            <p:cNvSpPr txBox="1"/>
            <p:nvPr/>
          </p:nvSpPr>
          <p:spPr>
            <a:xfrm>
              <a:off x="4128325" y="6627495"/>
              <a:ext cx="3935349"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Rattanakorn Rattanaroj | Rattanaroj.jan@gmail.com | 080-045-0821</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42950"/>
          </a:xfrm>
          <a:prstGeom prst="rect">
            <a:avLst/>
          </a:prstGeom>
          <a:solidFill>
            <a:srgbClr val="AE232F"/>
          </a:solidFill>
          <a:ln>
            <a:noFill/>
          </a:ln>
        </p:spPr>
      </p:sp>
      <p:sp>
        <p:nvSpPr>
          <p:cNvPr id="4" name="Rectangle 4"/>
          <p:cNvSpPr/>
          <p:nvPr/>
        </p:nvSpPr>
        <p:spPr>
          <a:xfrm>
            <a:off x="266700" y="171450"/>
            <a:ext cx="304800" cy="304800"/>
          </a:xfrm>
          <a:prstGeom prst="roundRect">
            <a:avLst>
              <a:gd name="adj" fmla="val 18750"/>
            </a:avLst>
          </a:prstGeom>
          <a:solidFill>
            <a:srgbClr val="8A1B25"/>
          </a:solidFill>
          <a:ln>
            <a:noFill/>
          </a:ln>
        </p:spPr>
      </p:sp>
      <p:sp>
        <p:nvSpPr>
          <p:cNvPr id="5" name="TextBox 5"/>
          <p:cNvSpPr txBox="1"/>
          <p:nvPr/>
        </p:nvSpPr>
        <p:spPr>
          <a:xfrm>
            <a:off x="318177" y="250031"/>
            <a:ext cx="20184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06</a:t>
            </a:r>
          </a:p>
        </p:txBody>
      </p:sp>
      <p:sp>
        <p:nvSpPr>
          <p:cNvPr id="6" name="TextBox 6"/>
          <p:cNvSpPr txBox="1"/>
          <p:nvPr/>
        </p:nvSpPr>
        <p:spPr>
          <a:xfrm>
            <a:off x="718185" y="208598"/>
            <a:ext cx="5278133"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a:ea typeface="Microsoft YaHei"/>
                <a:cs typeface="Arial"/>
              </a:rPr>
              <a:t>My Selling Approach — The Sales Process</a:t>
            </a:r>
          </a:p>
        </p:txBody>
      </p:sp>
      <p:sp>
        <p:nvSpPr>
          <p:cNvPr id="7" name="TextBox 7"/>
          <p:cNvSpPr txBox="1"/>
          <p:nvPr/>
        </p:nvSpPr>
        <p:spPr>
          <a:xfrm>
            <a:off x="730568" y="504349"/>
            <a:ext cx="6213538" cy="198120"/>
          </a:xfrm>
          <a:prstGeom prst="rect">
            <a:avLst/>
          </a:prstGeom>
          <a:noFill/>
          <a:ln>
            <a:noFill/>
          </a:ln>
        </p:spPr>
        <p:txBody>
          <a:bodyPr wrap="none" lIns="0" tIns="0" rIns="0" bIns="0" anchor="t" anchorCtr="0">
            <a:spAutoFit/>
          </a:bodyPr>
          <a:lstStyle/>
          <a:p>
            <a:pPr algn="l"/>
            <a:r>
              <a:rPr lang="zh-CN" sz="975" dirty="0">
                <a:solidFill>
                  <a:srgbClr val="F9E5E7"/>
                </a:solidFill>
                <a:latin typeface="Arial"/>
                <a:ea typeface="Microsoft YaHei"/>
                <a:cs typeface="Arial"/>
              </a:rPr>
              <a:t>Opening · Probing · Presentation · Closing — backed by Pre-Call Preparation and Post-Call Analysis</a:t>
            </a:r>
          </a:p>
        </p:txBody>
      </p:sp>
      <p:sp>
        <p:nvSpPr>
          <p:cNvPr id="8" name="Ellipse 8"/>
          <p:cNvSpPr/>
          <p:nvPr/>
        </p:nvSpPr>
        <p:spPr>
          <a:xfrm>
            <a:off x="381000" y="800100"/>
            <a:ext cx="2895600" cy="647700"/>
          </a:xfrm>
          <a:prstGeom prst="ellipse">
            <a:avLst/>
          </a:prstGeom>
          <a:solidFill>
            <a:srgbClr val="FFD700"/>
          </a:solidFill>
          <a:ln>
            <a:noFill/>
          </a:ln>
        </p:spPr>
      </p:sp>
      <p:sp>
        <p:nvSpPr>
          <p:cNvPr id="9" name="TextBox 9"/>
          <p:cNvSpPr txBox="1"/>
          <p:nvPr/>
        </p:nvSpPr>
        <p:spPr>
          <a:xfrm>
            <a:off x="1528779" y="962978"/>
            <a:ext cx="600042" cy="213360"/>
          </a:xfrm>
          <a:prstGeom prst="rect">
            <a:avLst/>
          </a:prstGeom>
          <a:noFill/>
          <a:ln>
            <a:noFill/>
          </a:ln>
        </p:spPr>
        <p:txBody>
          <a:bodyPr wrap="none" lIns="0" tIns="0" rIns="0" bIns="0" anchor="t" anchorCtr="0">
            <a:spAutoFit/>
          </a:bodyPr>
          <a:lstStyle/>
          <a:p>
            <a:pPr algn="ctr"/>
            <a:r>
              <a:rPr lang="zh-CN" sz="1050" b="1" dirty="0">
                <a:solidFill>
                  <a:srgbClr val="5A3A00"/>
                </a:solidFill>
                <a:latin typeface="Arial"/>
                <a:ea typeface="Microsoft YaHei"/>
                <a:cs typeface="Arial"/>
              </a:rPr>
              <a:t>Pre-Call</a:t>
            </a:r>
          </a:p>
        </p:txBody>
      </p:sp>
      <p:sp>
        <p:nvSpPr>
          <p:cNvPr id="10" name="TextBox 10"/>
          <p:cNvSpPr txBox="1"/>
          <p:nvPr/>
        </p:nvSpPr>
        <p:spPr>
          <a:xfrm>
            <a:off x="1469326" y="1169670"/>
            <a:ext cx="718947" cy="182880"/>
          </a:xfrm>
          <a:prstGeom prst="rect">
            <a:avLst/>
          </a:prstGeom>
          <a:noFill/>
          <a:ln>
            <a:noFill/>
          </a:ln>
        </p:spPr>
        <p:txBody>
          <a:bodyPr wrap="none" lIns="0" tIns="0" rIns="0" bIns="0" anchor="t" anchorCtr="0">
            <a:spAutoFit/>
          </a:bodyPr>
          <a:lstStyle/>
          <a:p>
            <a:pPr algn="ctr"/>
            <a:r>
              <a:rPr lang="zh-CN" sz="900" dirty="0">
                <a:solidFill>
                  <a:srgbClr val="5A3A00"/>
                </a:solidFill>
                <a:latin typeface="Arial"/>
                <a:ea typeface="Microsoft YaHei"/>
                <a:cs typeface="Arial"/>
              </a:rPr>
              <a:t>Preparation</a:t>
            </a:r>
          </a:p>
        </p:txBody>
      </p:sp>
      <p:sp>
        <p:nvSpPr>
          <p:cNvPr id="11" name="Line 11"/>
          <p:cNvSpPr/>
          <p:nvPr/>
        </p:nvSpPr>
        <p:spPr>
          <a:xfrm>
            <a:off x="3276600" y="1123950"/>
            <a:ext cx="1685925" cy="142875"/>
          </a:xfrm>
          <a:prstGeom prst="line">
            <a:avLst/>
          </a:prstGeom>
          <a:noFill/>
          <a:ln w="17145">
            <a:solidFill>
              <a:srgbClr val="8B6900"/>
            </a:solidFill>
            <a:custDash>
              <a:ds d="277777" sp="166666"/>
            </a:custDash>
            <a:tailEnd type="triangle" w="lg" len="lg"/>
          </a:ln>
        </p:spPr>
      </p:sp>
      <p:sp>
        <p:nvSpPr>
          <p:cNvPr id="12" name="Rectangle 12"/>
          <p:cNvSpPr/>
          <p:nvPr/>
        </p:nvSpPr>
        <p:spPr>
          <a:xfrm>
            <a:off x="5000625" y="990600"/>
            <a:ext cx="2190750" cy="571500"/>
          </a:xfrm>
          <a:prstGeom prst="roundRect">
            <a:avLst>
              <a:gd name="adj" fmla="val 13333"/>
            </a:avLst>
          </a:prstGeom>
          <a:solidFill>
            <a:srgbClr val="AE232F"/>
          </a:solidFill>
          <a:ln>
            <a:noFill/>
          </a:ln>
          <a:effectLst>
            <a:outerShdw blurRad="76200" dist="19050" dir="5400000" algn="ctr" rotWithShape="0">
              <a:srgbClr val="000000">
                <a:alpha val="5250"/>
              </a:srgbClr>
            </a:outerShdw>
          </a:effectLst>
        </p:spPr>
      </p:sp>
      <p:grpSp>
        <p:nvGrpSpPr>
          <p:cNvPr id="15" name="Group 15"/>
          <p:cNvGrpSpPr/>
          <p:nvPr/>
        </p:nvGrpSpPr>
        <p:grpSpPr>
          <a:xfrm>
            <a:off x="5187156" y="1150938"/>
            <a:ext cx="122237" cy="174624"/>
            <a:chOff x="5187156" y="1150938"/>
            <a:chExt cx="122237" cy="174624"/>
          </a:xfrm>
        </p:grpSpPr>
        <p:sp>
          <p:nvSpPr>
            <p:cNvPr id="13" name="Freeform 13"/>
            <p:cNvSpPr/>
            <p:nvPr/>
          </p:nvSpPr>
          <p:spPr>
            <a:xfrm>
              <a:off x="5204619" y="1150938"/>
              <a:ext cx="87313" cy="87313"/>
            </a:xfrm>
            <a:custGeom>
              <a:avLst/>
              <a:gdLst/>
              <a:ahLst/>
              <a:cxnLst/>
              <a:rect l="l" t="t" r="r" b="b"/>
              <a:pathLst>
                <a:path w="87313" h="87313">
                  <a:moveTo>
                    <a:pt x="43656" y="0"/>
                  </a:moveTo>
                  <a:cubicBezTo>
                    <a:pt x="67767" y="0"/>
                    <a:pt x="87313" y="19546"/>
                    <a:pt x="87313" y="43656"/>
                  </a:cubicBezTo>
                  <a:cubicBezTo>
                    <a:pt x="87313" y="67767"/>
                    <a:pt x="67767" y="87313"/>
                    <a:pt x="43656" y="87313"/>
                  </a:cubicBezTo>
                  <a:cubicBezTo>
                    <a:pt x="19546" y="87313"/>
                    <a:pt x="0" y="67767"/>
                    <a:pt x="0" y="43656"/>
                  </a:cubicBezTo>
                  <a:lnTo>
                    <a:pt x="44" y="41762"/>
                  </a:lnTo>
                  <a:cubicBezTo>
                    <a:pt x="1058" y="18411"/>
                    <a:pt x="20283" y="1"/>
                    <a:pt x="43656" y="0"/>
                  </a:cubicBezTo>
                  <a:close/>
                </a:path>
              </a:pathLst>
            </a:custGeom>
            <a:solidFill>
              <a:srgbClr val="FFFFFF"/>
            </a:solidFill>
            <a:ln>
              <a:noFill/>
            </a:ln>
          </p:spPr>
        </p:sp>
        <p:sp>
          <p:nvSpPr>
            <p:cNvPr id="14" name="Freeform 14"/>
            <p:cNvSpPr/>
            <p:nvPr/>
          </p:nvSpPr>
          <p:spPr>
            <a:xfrm>
              <a:off x="5187156" y="1255712"/>
              <a:ext cx="122237" cy="69850"/>
            </a:xfrm>
            <a:custGeom>
              <a:avLst/>
              <a:gdLst/>
              <a:ahLst/>
              <a:cxnLst/>
              <a:rect l="l" t="t" r="r" b="b"/>
              <a:pathLst>
                <a:path w="122237" h="69850">
                  <a:moveTo>
                    <a:pt x="78581" y="0"/>
                  </a:moveTo>
                  <a:cubicBezTo>
                    <a:pt x="102692" y="0"/>
                    <a:pt x="122237" y="19546"/>
                    <a:pt x="122237" y="43656"/>
                  </a:cubicBezTo>
                  <a:lnTo>
                    <a:pt x="122237" y="52388"/>
                  </a:lnTo>
                  <a:cubicBezTo>
                    <a:pt x="122237" y="62032"/>
                    <a:pt x="114419" y="69850"/>
                    <a:pt x="104775" y="69850"/>
                  </a:cubicBezTo>
                  <a:lnTo>
                    <a:pt x="17462" y="69850"/>
                  </a:lnTo>
                  <a:cubicBezTo>
                    <a:pt x="7818" y="69850"/>
                    <a:pt x="0" y="62032"/>
                    <a:pt x="0" y="52388"/>
                  </a:cubicBezTo>
                  <a:lnTo>
                    <a:pt x="0" y="43656"/>
                  </a:lnTo>
                  <a:cubicBezTo>
                    <a:pt x="0" y="19546"/>
                    <a:pt x="19546" y="0"/>
                    <a:pt x="43656" y="0"/>
                  </a:cubicBezTo>
                  <a:lnTo>
                    <a:pt x="78581" y="0"/>
                  </a:lnTo>
                  <a:close/>
                </a:path>
              </a:pathLst>
            </a:custGeom>
            <a:solidFill>
              <a:srgbClr val="FFFFFF"/>
            </a:solidFill>
            <a:ln>
              <a:noFill/>
            </a:ln>
          </p:spPr>
        </p:sp>
      </p:grpSp>
      <p:sp>
        <p:nvSpPr>
          <p:cNvPr id="16" name="TextBox 16"/>
          <p:cNvSpPr txBox="1"/>
          <p:nvPr/>
        </p:nvSpPr>
        <p:spPr>
          <a:xfrm>
            <a:off x="5915775" y="1097756"/>
            <a:ext cx="627150"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Opening</a:t>
            </a:r>
          </a:p>
        </p:txBody>
      </p:sp>
      <p:sp>
        <p:nvSpPr>
          <p:cNvPr id="17" name="TextBox 17"/>
          <p:cNvSpPr txBox="1"/>
          <p:nvPr/>
        </p:nvSpPr>
        <p:spPr>
          <a:xfrm>
            <a:off x="5041725" y="1320641"/>
            <a:ext cx="2375249" cy="167640"/>
          </a:xfrm>
          <a:prstGeom prst="rect">
            <a:avLst/>
          </a:prstGeom>
          <a:noFill/>
          <a:ln>
            <a:noFill/>
          </a:ln>
        </p:spPr>
        <p:txBody>
          <a:bodyPr wrap="none" lIns="0" tIns="0" rIns="0" bIns="0" anchor="t" anchorCtr="0">
            <a:spAutoFit/>
          </a:bodyPr>
          <a:lstStyle/>
          <a:p>
            <a:pPr algn="ctr"/>
            <a:r>
              <a:rPr lang="zh-CN" sz="825" dirty="0">
                <a:solidFill>
                  <a:srgbClr val="F9E5E7"/>
                </a:solidFill>
                <a:latin typeface="Arial"/>
                <a:ea typeface="Microsoft YaHei"/>
                <a:cs typeface="Arial"/>
              </a:rPr>
              <a:t>Build rapport · Set agenda · Gain permission</a:t>
            </a:r>
          </a:p>
        </p:txBody>
      </p:sp>
      <p:sp>
        <p:nvSpPr>
          <p:cNvPr id="18" name="Line 18"/>
          <p:cNvSpPr/>
          <p:nvPr/>
        </p:nvSpPr>
        <p:spPr>
          <a:xfrm>
            <a:off x="6096000" y="1562100"/>
            <a:ext cx="1" cy="266700"/>
          </a:xfrm>
          <a:prstGeom prst="line">
            <a:avLst/>
          </a:prstGeom>
          <a:noFill/>
          <a:ln w="23812">
            <a:solidFill>
              <a:srgbClr val="AE232F"/>
            </a:solidFill>
            <a:tailEnd type="triangle" w="lg" len="lg"/>
          </a:ln>
        </p:spPr>
      </p:sp>
      <p:sp>
        <p:nvSpPr>
          <p:cNvPr id="19" name="Rectangle 19"/>
          <p:cNvSpPr/>
          <p:nvPr/>
        </p:nvSpPr>
        <p:spPr>
          <a:xfrm>
            <a:off x="5000625" y="1847850"/>
            <a:ext cx="2190750" cy="685800"/>
          </a:xfrm>
          <a:prstGeom prst="roundRect">
            <a:avLst>
              <a:gd name="adj" fmla="val 11111"/>
            </a:avLst>
          </a:prstGeom>
          <a:solidFill>
            <a:srgbClr val="AE232F"/>
          </a:solidFill>
          <a:ln>
            <a:noFill/>
          </a:ln>
          <a:effectLst>
            <a:outerShdw blurRad="76200" dist="19050" dir="5400000" algn="ctr" rotWithShape="0">
              <a:srgbClr val="000000">
                <a:alpha val="5250"/>
              </a:srgbClr>
            </a:outerShdw>
          </a:effectLst>
        </p:spPr>
      </p:sp>
      <p:sp>
        <p:nvSpPr>
          <p:cNvPr id="20" name="Freeform 20"/>
          <p:cNvSpPr/>
          <p:nvPr/>
        </p:nvSpPr>
        <p:spPr>
          <a:xfrm>
            <a:off x="5154008" y="2028567"/>
            <a:ext cx="182330" cy="183572"/>
          </a:xfrm>
          <a:custGeom>
            <a:avLst/>
            <a:gdLst/>
            <a:ahLst/>
            <a:cxnLst/>
            <a:rect l="l" t="t" r="r" b="b"/>
            <a:pathLst>
              <a:path w="182330" h="183572">
                <a:moveTo>
                  <a:pt x="111730" y="17556"/>
                </a:moveTo>
                <a:cubicBezTo>
                  <a:pt x="129210" y="27646"/>
                  <a:pt x="141471" y="44805"/>
                  <a:pt x="145354" y="64612"/>
                </a:cubicBezTo>
                <a:cubicBezTo>
                  <a:pt x="149237" y="84419"/>
                  <a:pt x="144363" y="104937"/>
                  <a:pt x="131986" y="120881"/>
                </a:cubicBezTo>
                <a:lnTo>
                  <a:pt x="179021" y="167917"/>
                </a:lnTo>
                <a:cubicBezTo>
                  <a:pt x="182330" y="171343"/>
                  <a:pt x="182283" y="176788"/>
                  <a:pt x="178915" y="180156"/>
                </a:cubicBezTo>
                <a:cubicBezTo>
                  <a:pt x="175547" y="183524"/>
                  <a:pt x="170101" y="183572"/>
                  <a:pt x="166675" y="180263"/>
                </a:cubicBezTo>
                <a:lnTo>
                  <a:pt x="119631" y="133227"/>
                </a:lnTo>
                <a:cubicBezTo>
                  <a:pt x="91901" y="154745"/>
                  <a:pt x="52508" y="152342"/>
                  <a:pt x="27599" y="127613"/>
                </a:cubicBezTo>
                <a:cubicBezTo>
                  <a:pt x="2689" y="102884"/>
                  <a:pt x="0" y="63510"/>
                  <a:pt x="21315" y="35624"/>
                </a:cubicBezTo>
                <a:cubicBezTo>
                  <a:pt x="42631" y="7737"/>
                  <a:pt x="81330" y="0"/>
                  <a:pt x="111730" y="17547"/>
                </a:cubicBezTo>
              </a:path>
            </a:pathLst>
          </a:custGeom>
          <a:solidFill>
            <a:srgbClr val="FFFFFF"/>
          </a:solidFill>
          <a:ln>
            <a:noFill/>
          </a:ln>
        </p:spPr>
      </p:sp>
      <p:sp>
        <p:nvSpPr>
          <p:cNvPr id="21" name="TextBox 21"/>
          <p:cNvSpPr txBox="1"/>
          <p:nvPr/>
        </p:nvSpPr>
        <p:spPr>
          <a:xfrm>
            <a:off x="5931527" y="2031206"/>
            <a:ext cx="595646"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Probing</a:t>
            </a:r>
          </a:p>
        </p:txBody>
      </p:sp>
      <p:sp>
        <p:nvSpPr>
          <p:cNvPr id="22" name="TextBox 22"/>
          <p:cNvSpPr txBox="1"/>
          <p:nvPr/>
        </p:nvSpPr>
        <p:spPr>
          <a:xfrm>
            <a:off x="5091232" y="2235041"/>
            <a:ext cx="2276237" cy="167640"/>
          </a:xfrm>
          <a:prstGeom prst="rect">
            <a:avLst/>
          </a:prstGeom>
          <a:noFill/>
          <a:ln>
            <a:noFill/>
          </a:ln>
        </p:spPr>
        <p:txBody>
          <a:bodyPr wrap="none" lIns="0" tIns="0" rIns="0" bIns="0" anchor="t" anchorCtr="0">
            <a:spAutoFit/>
          </a:bodyPr>
          <a:lstStyle/>
          <a:p>
            <a:pPr algn="ctr"/>
            <a:r>
              <a:rPr lang="zh-CN" sz="825" dirty="0">
                <a:solidFill>
                  <a:srgbClr val="F9E5E7"/>
                </a:solidFill>
                <a:latin typeface="Arial"/>
                <a:ea typeface="Microsoft YaHei"/>
                <a:cs typeface="Arial"/>
              </a:rPr>
              <a:t>Open questions · Discover physician needs</a:t>
            </a:r>
          </a:p>
        </p:txBody>
      </p:sp>
      <p:sp>
        <p:nvSpPr>
          <p:cNvPr id="23" name="TextBox 23"/>
          <p:cNvSpPr txBox="1"/>
          <p:nvPr/>
        </p:nvSpPr>
        <p:spPr>
          <a:xfrm>
            <a:off x="5121485" y="2387441"/>
            <a:ext cx="2215729" cy="167640"/>
          </a:xfrm>
          <a:prstGeom prst="rect">
            <a:avLst/>
          </a:prstGeom>
          <a:noFill/>
          <a:ln>
            <a:noFill/>
          </a:ln>
        </p:spPr>
        <p:txBody>
          <a:bodyPr wrap="none" lIns="0" tIns="0" rIns="0" bIns="0" anchor="t" anchorCtr="0">
            <a:spAutoFit/>
          </a:bodyPr>
          <a:lstStyle/>
          <a:p>
            <a:pPr algn="ctr"/>
            <a:r>
              <a:rPr lang="zh-CN" sz="825" dirty="0">
                <a:solidFill>
                  <a:srgbClr val="F9E5E7"/>
                </a:solidFill>
                <a:latin typeface="Arial"/>
                <a:ea typeface="Microsoft YaHei"/>
                <a:cs typeface="Arial"/>
              </a:rPr>
              <a:t>Understand current prescribing behavior</a:t>
            </a:r>
          </a:p>
        </p:txBody>
      </p:sp>
      <p:sp>
        <p:nvSpPr>
          <p:cNvPr id="24" name="Freeform 24"/>
          <p:cNvSpPr/>
          <p:nvPr/>
        </p:nvSpPr>
        <p:spPr>
          <a:xfrm>
            <a:off x="4457700" y="2457450"/>
            <a:ext cx="542925" cy="647700"/>
          </a:xfrm>
          <a:custGeom>
            <a:avLst/>
            <a:gdLst/>
            <a:ahLst/>
            <a:cxnLst/>
            <a:rect l="l" t="t" r="r" b="b"/>
            <a:pathLst>
              <a:path w="542925" h="647700">
                <a:moveTo>
                  <a:pt x="542925" y="0"/>
                </a:moveTo>
                <a:cubicBezTo>
                  <a:pt x="0" y="0"/>
                  <a:pt x="0" y="647700"/>
                  <a:pt x="542925" y="647700"/>
                </a:cubicBezTo>
              </a:path>
            </a:pathLst>
          </a:custGeom>
          <a:noFill/>
          <a:ln w="20955">
            <a:solidFill>
              <a:srgbClr val="AE232F"/>
            </a:solidFill>
            <a:tailEnd type="triangle" w="lg" len="lg"/>
          </a:ln>
        </p:spPr>
      </p:sp>
      <p:sp>
        <p:nvSpPr>
          <p:cNvPr id="25" name="Freeform 25"/>
          <p:cNvSpPr/>
          <p:nvPr/>
        </p:nvSpPr>
        <p:spPr>
          <a:xfrm>
            <a:off x="7191375" y="2457450"/>
            <a:ext cx="542925" cy="647700"/>
          </a:xfrm>
          <a:custGeom>
            <a:avLst/>
            <a:gdLst/>
            <a:ahLst/>
            <a:cxnLst/>
            <a:rect l="l" t="t" r="r" b="b"/>
            <a:pathLst>
              <a:path w="542925" h="647700">
                <a:moveTo>
                  <a:pt x="0" y="647700"/>
                </a:moveTo>
                <a:cubicBezTo>
                  <a:pt x="542925" y="647700"/>
                  <a:pt x="542925" y="0"/>
                  <a:pt x="0" y="0"/>
                </a:cubicBezTo>
              </a:path>
            </a:pathLst>
          </a:custGeom>
          <a:noFill/>
          <a:ln w="20955">
            <a:solidFill>
              <a:srgbClr val="AE232F"/>
            </a:solidFill>
            <a:tailEnd type="triangle" w="lg" len="lg"/>
          </a:ln>
        </p:spPr>
      </p:sp>
      <p:sp>
        <p:nvSpPr>
          <p:cNvPr id="26" name="TextBox 26"/>
          <p:cNvSpPr txBox="1"/>
          <p:nvPr/>
        </p:nvSpPr>
        <p:spPr>
          <a:xfrm>
            <a:off x="4114455" y="2679859"/>
            <a:ext cx="381691" cy="137160"/>
          </a:xfrm>
          <a:prstGeom prst="rect">
            <a:avLst/>
          </a:prstGeom>
          <a:noFill/>
          <a:ln>
            <a:noFill/>
          </a:ln>
        </p:spPr>
        <p:txBody>
          <a:bodyPr wrap="none" lIns="0" tIns="0" rIns="0" bIns="0" anchor="t" anchorCtr="0">
            <a:spAutoFit/>
          </a:bodyPr>
          <a:lstStyle/>
          <a:p>
            <a:pPr algn="ctr"/>
            <a:r>
              <a:rPr lang="zh-CN" sz="675" i="1" dirty="0">
                <a:solidFill>
                  <a:srgbClr val="AE232F"/>
                </a:solidFill>
                <a:latin typeface="Arial"/>
                <a:ea typeface="Microsoft YaHei"/>
                <a:cs typeface="Arial"/>
              </a:rPr>
              <a:t>forward</a:t>
            </a:r>
          </a:p>
        </p:txBody>
      </p:sp>
      <p:sp>
        <p:nvSpPr>
          <p:cNvPr id="27" name="TextBox 27"/>
          <p:cNvSpPr txBox="1"/>
          <p:nvPr/>
        </p:nvSpPr>
        <p:spPr>
          <a:xfrm>
            <a:off x="7779115" y="2679859"/>
            <a:ext cx="215170" cy="137160"/>
          </a:xfrm>
          <a:prstGeom prst="rect">
            <a:avLst/>
          </a:prstGeom>
          <a:noFill/>
          <a:ln>
            <a:noFill/>
          </a:ln>
        </p:spPr>
        <p:txBody>
          <a:bodyPr wrap="none" lIns="0" tIns="0" rIns="0" bIns="0" anchor="t" anchorCtr="0">
            <a:spAutoFit/>
          </a:bodyPr>
          <a:lstStyle/>
          <a:p>
            <a:pPr algn="ctr"/>
            <a:r>
              <a:rPr lang="zh-CN" sz="675" i="1" dirty="0">
                <a:solidFill>
                  <a:srgbClr val="AE232F"/>
                </a:solidFill>
                <a:latin typeface="Arial"/>
                <a:ea typeface="Microsoft YaHei"/>
                <a:cs typeface="Arial"/>
              </a:rPr>
              <a:t>back</a:t>
            </a:r>
          </a:p>
        </p:txBody>
      </p:sp>
      <p:sp>
        <p:nvSpPr>
          <p:cNvPr id="28" name="Rectangle 28"/>
          <p:cNvSpPr/>
          <p:nvPr/>
        </p:nvSpPr>
        <p:spPr>
          <a:xfrm>
            <a:off x="5000625" y="3105150"/>
            <a:ext cx="2190750" cy="685800"/>
          </a:xfrm>
          <a:prstGeom prst="roundRect">
            <a:avLst>
              <a:gd name="adj" fmla="val 11111"/>
            </a:avLst>
          </a:prstGeom>
          <a:solidFill>
            <a:srgbClr val="AE232F"/>
          </a:solidFill>
          <a:ln>
            <a:noFill/>
          </a:ln>
          <a:effectLst>
            <a:outerShdw blurRad="76200" dist="19050" dir="5400000" algn="ctr" rotWithShape="0">
              <a:srgbClr val="000000">
                <a:alpha val="5250"/>
              </a:srgbClr>
            </a:outerShdw>
          </a:effectLst>
        </p:spPr>
      </p:sp>
      <p:sp>
        <p:nvSpPr>
          <p:cNvPr id="29" name="Freeform 29"/>
          <p:cNvSpPr/>
          <p:nvPr/>
        </p:nvSpPr>
        <p:spPr>
          <a:xfrm>
            <a:off x="5185919" y="3294062"/>
            <a:ext cx="124430" cy="174625"/>
          </a:xfrm>
          <a:custGeom>
            <a:avLst/>
            <a:gdLst/>
            <a:ahLst/>
            <a:cxnLst/>
            <a:rect l="l" t="t" r="r" b="b"/>
            <a:pathLst>
              <a:path w="124430" h="174625">
                <a:moveTo>
                  <a:pt x="88549" y="0"/>
                </a:moveTo>
                <a:cubicBezTo>
                  <a:pt x="93371" y="0"/>
                  <a:pt x="97281" y="3909"/>
                  <a:pt x="97281" y="8731"/>
                </a:cubicBezTo>
                <a:cubicBezTo>
                  <a:pt x="97281" y="13553"/>
                  <a:pt x="93371" y="17463"/>
                  <a:pt x="88549" y="17463"/>
                </a:cubicBezTo>
                <a:lnTo>
                  <a:pt x="88549" y="59600"/>
                </a:lnTo>
                <a:lnTo>
                  <a:pt x="122881" y="154019"/>
                </a:lnTo>
                <a:lnTo>
                  <a:pt x="123177" y="154692"/>
                </a:lnTo>
                <a:cubicBezTo>
                  <a:pt x="124430" y="158052"/>
                  <a:pt x="124424" y="161752"/>
                  <a:pt x="123160" y="165108"/>
                </a:cubicBezTo>
                <a:lnTo>
                  <a:pt x="122549" y="166522"/>
                </a:lnTo>
                <a:cubicBezTo>
                  <a:pt x="120463" y="170689"/>
                  <a:pt x="116541" y="173635"/>
                  <a:pt x="111958" y="174477"/>
                </a:cubicBezTo>
                <a:lnTo>
                  <a:pt x="110377" y="174625"/>
                </a:lnTo>
                <a:lnTo>
                  <a:pt x="14334" y="174625"/>
                </a:lnTo>
                <a:lnTo>
                  <a:pt x="12753" y="174477"/>
                </a:lnTo>
                <a:cubicBezTo>
                  <a:pt x="8437" y="173682"/>
                  <a:pt x="4694" y="171018"/>
                  <a:pt x="2529" y="167201"/>
                </a:cubicBezTo>
                <a:cubicBezTo>
                  <a:pt x="365" y="163383"/>
                  <a:pt x="0" y="158803"/>
                  <a:pt x="1534" y="154692"/>
                </a:cubicBezTo>
                <a:lnTo>
                  <a:pt x="1874" y="153906"/>
                </a:lnTo>
                <a:lnTo>
                  <a:pt x="36162" y="59573"/>
                </a:lnTo>
                <a:lnTo>
                  <a:pt x="36162" y="17463"/>
                </a:lnTo>
                <a:cubicBezTo>
                  <a:pt x="31340" y="17463"/>
                  <a:pt x="27431" y="13553"/>
                  <a:pt x="27431" y="8731"/>
                </a:cubicBezTo>
                <a:cubicBezTo>
                  <a:pt x="27431" y="3909"/>
                  <a:pt x="31340" y="0"/>
                  <a:pt x="36162" y="0"/>
                </a:cubicBezTo>
                <a:lnTo>
                  <a:pt x="88549" y="0"/>
                </a:lnTo>
                <a:close/>
                <a:moveTo>
                  <a:pt x="71087" y="17463"/>
                </a:moveTo>
                <a:lnTo>
                  <a:pt x="53624" y="17463"/>
                </a:lnTo>
                <a:lnTo>
                  <a:pt x="53624" y="52388"/>
                </a:lnTo>
                <a:lnTo>
                  <a:pt x="71087" y="52388"/>
                </a:lnTo>
                <a:lnTo>
                  <a:pt x="71087" y="17463"/>
                </a:lnTo>
                <a:close/>
              </a:path>
            </a:pathLst>
          </a:custGeom>
          <a:solidFill>
            <a:srgbClr val="FFFFFF"/>
          </a:solidFill>
          <a:ln>
            <a:noFill/>
          </a:ln>
        </p:spPr>
      </p:sp>
      <p:sp>
        <p:nvSpPr>
          <p:cNvPr id="30" name="TextBox 30"/>
          <p:cNvSpPr txBox="1"/>
          <p:nvPr/>
        </p:nvSpPr>
        <p:spPr>
          <a:xfrm>
            <a:off x="5714937" y="3288506"/>
            <a:ext cx="1028825"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Presentation</a:t>
            </a:r>
          </a:p>
        </p:txBody>
      </p:sp>
      <p:sp>
        <p:nvSpPr>
          <p:cNvPr id="31" name="TextBox 31"/>
          <p:cNvSpPr txBox="1"/>
          <p:nvPr/>
        </p:nvSpPr>
        <p:spPr>
          <a:xfrm>
            <a:off x="5058227" y="3492341"/>
            <a:ext cx="2342245" cy="167640"/>
          </a:xfrm>
          <a:prstGeom prst="rect">
            <a:avLst/>
          </a:prstGeom>
          <a:noFill/>
          <a:ln>
            <a:noFill/>
          </a:ln>
        </p:spPr>
        <p:txBody>
          <a:bodyPr wrap="none" lIns="0" tIns="0" rIns="0" bIns="0" anchor="t" anchorCtr="0">
            <a:spAutoFit/>
          </a:bodyPr>
          <a:lstStyle/>
          <a:p>
            <a:pPr algn="ctr"/>
            <a:r>
              <a:rPr lang="zh-CN" sz="825" dirty="0">
                <a:solidFill>
                  <a:srgbClr val="F9E5E7"/>
                </a:solidFill>
                <a:latin typeface="Arial"/>
                <a:ea typeface="Microsoft YaHei"/>
                <a:cs typeface="Arial"/>
              </a:rPr>
              <a:t>Evidence-based detailing · Feature-Benefit</a:t>
            </a:r>
          </a:p>
        </p:txBody>
      </p:sp>
      <p:sp>
        <p:nvSpPr>
          <p:cNvPr id="32" name="TextBox 32"/>
          <p:cNvSpPr txBox="1"/>
          <p:nvPr/>
        </p:nvSpPr>
        <p:spPr>
          <a:xfrm>
            <a:off x="5179243" y="3644741"/>
            <a:ext cx="2100215" cy="167640"/>
          </a:xfrm>
          <a:prstGeom prst="rect">
            <a:avLst/>
          </a:prstGeom>
          <a:noFill/>
          <a:ln>
            <a:noFill/>
          </a:ln>
        </p:spPr>
        <p:txBody>
          <a:bodyPr wrap="none" lIns="0" tIns="0" rIns="0" bIns="0" anchor="t" anchorCtr="0">
            <a:spAutoFit/>
          </a:bodyPr>
          <a:lstStyle/>
          <a:p>
            <a:pPr algn="ctr"/>
            <a:r>
              <a:rPr lang="zh-CN" sz="825" dirty="0">
                <a:solidFill>
                  <a:srgbClr val="F9E5E7"/>
                </a:solidFill>
                <a:latin typeface="Arial"/>
                <a:ea typeface="Microsoft YaHei"/>
                <a:cs typeface="Arial"/>
              </a:rPr>
              <a:t>Clinical data matched to physician need</a:t>
            </a:r>
          </a:p>
        </p:txBody>
      </p:sp>
      <p:sp>
        <p:nvSpPr>
          <p:cNvPr id="33" name="Line 33"/>
          <p:cNvSpPr/>
          <p:nvPr/>
        </p:nvSpPr>
        <p:spPr>
          <a:xfrm>
            <a:off x="6096000" y="3790950"/>
            <a:ext cx="1" cy="247650"/>
          </a:xfrm>
          <a:prstGeom prst="line">
            <a:avLst/>
          </a:prstGeom>
          <a:noFill/>
          <a:ln w="23812">
            <a:solidFill>
              <a:srgbClr val="AE232F"/>
            </a:solidFill>
            <a:tailEnd type="triangle" w="lg" len="lg"/>
          </a:ln>
        </p:spPr>
      </p:sp>
      <p:sp>
        <p:nvSpPr>
          <p:cNvPr id="34" name="Rectangle 34"/>
          <p:cNvSpPr/>
          <p:nvPr/>
        </p:nvSpPr>
        <p:spPr>
          <a:xfrm>
            <a:off x="5000625" y="4057650"/>
            <a:ext cx="2190750" cy="571500"/>
          </a:xfrm>
          <a:prstGeom prst="roundRect">
            <a:avLst>
              <a:gd name="adj" fmla="val 13333"/>
            </a:avLst>
          </a:prstGeom>
          <a:solidFill>
            <a:srgbClr val="AE232F"/>
          </a:solidFill>
          <a:ln>
            <a:noFill/>
          </a:ln>
          <a:effectLst>
            <a:outerShdw blurRad="76200" dist="19050" dir="5400000" algn="ctr" rotWithShape="0">
              <a:srgbClr val="000000">
                <a:alpha val="5250"/>
              </a:srgbClr>
            </a:outerShdw>
          </a:effectLst>
        </p:spPr>
      </p:sp>
      <p:sp>
        <p:nvSpPr>
          <p:cNvPr id="35" name="Freeform 35"/>
          <p:cNvSpPr/>
          <p:nvPr/>
        </p:nvSpPr>
        <p:spPr>
          <a:xfrm>
            <a:off x="5160962" y="4214076"/>
            <a:ext cx="183618" cy="183919"/>
          </a:xfrm>
          <a:custGeom>
            <a:avLst/>
            <a:gdLst/>
            <a:ahLst/>
            <a:cxnLst/>
            <a:rect l="l" t="t" r="r" b="b"/>
            <a:pathLst>
              <a:path w="183618" h="183919">
                <a:moveTo>
                  <a:pt x="130969" y="15611"/>
                </a:moveTo>
                <a:cubicBezTo>
                  <a:pt x="167355" y="36620"/>
                  <a:pt x="183618" y="80566"/>
                  <a:pt x="169674" y="120201"/>
                </a:cubicBezTo>
                <a:cubicBezTo>
                  <a:pt x="155730" y="159836"/>
                  <a:pt x="115534" y="183919"/>
                  <a:pt x="74008" y="177518"/>
                </a:cubicBezTo>
                <a:cubicBezTo>
                  <a:pt x="32482" y="171117"/>
                  <a:pt x="1405" y="136047"/>
                  <a:pt x="44" y="94052"/>
                </a:cubicBezTo>
                <a:lnTo>
                  <a:pt x="0" y="91224"/>
                </a:lnTo>
                <a:lnTo>
                  <a:pt x="44" y="88395"/>
                </a:lnTo>
                <a:cubicBezTo>
                  <a:pt x="1038" y="57722"/>
                  <a:pt x="18063" y="29823"/>
                  <a:pt x="44886" y="14911"/>
                </a:cubicBezTo>
                <a:cubicBezTo>
                  <a:pt x="71709" y="0"/>
                  <a:pt x="104392" y="266"/>
                  <a:pt x="130969" y="15611"/>
                </a:cubicBezTo>
                <a:close/>
                <a:moveTo>
                  <a:pt x="119679" y="67588"/>
                </a:moveTo>
                <a:cubicBezTo>
                  <a:pt x="116569" y="64478"/>
                  <a:pt x="111630" y="64167"/>
                  <a:pt x="108154" y="66863"/>
                </a:cubicBezTo>
                <a:lnTo>
                  <a:pt x="107333" y="67588"/>
                </a:lnTo>
                <a:lnTo>
                  <a:pt x="78581" y="96331"/>
                </a:lnTo>
                <a:lnTo>
                  <a:pt x="67292" y="85051"/>
                </a:lnTo>
                <a:lnTo>
                  <a:pt x="66471" y="84326"/>
                </a:lnTo>
                <a:cubicBezTo>
                  <a:pt x="62995" y="81632"/>
                  <a:pt x="58058" y="81943"/>
                  <a:pt x="54948" y="85053"/>
                </a:cubicBezTo>
                <a:cubicBezTo>
                  <a:pt x="51838" y="88163"/>
                  <a:pt x="51527" y="93100"/>
                  <a:pt x="54221" y="96576"/>
                </a:cubicBezTo>
                <a:lnTo>
                  <a:pt x="54946" y="97397"/>
                </a:lnTo>
                <a:lnTo>
                  <a:pt x="72408" y="114859"/>
                </a:lnTo>
                <a:lnTo>
                  <a:pt x="73229" y="115584"/>
                </a:lnTo>
                <a:cubicBezTo>
                  <a:pt x="76379" y="118028"/>
                  <a:pt x="80784" y="118028"/>
                  <a:pt x="83934" y="115584"/>
                </a:cubicBezTo>
                <a:lnTo>
                  <a:pt x="84754" y="114859"/>
                </a:lnTo>
                <a:lnTo>
                  <a:pt x="119679" y="79934"/>
                </a:lnTo>
                <a:lnTo>
                  <a:pt x="120404" y="79113"/>
                </a:lnTo>
                <a:cubicBezTo>
                  <a:pt x="123100" y="75638"/>
                  <a:pt x="122790" y="70699"/>
                  <a:pt x="119679" y="67588"/>
                </a:cubicBezTo>
                <a:close/>
              </a:path>
            </a:pathLst>
          </a:custGeom>
          <a:solidFill>
            <a:srgbClr val="FFFFFF"/>
          </a:solidFill>
          <a:ln>
            <a:noFill/>
          </a:ln>
        </p:spPr>
      </p:sp>
      <p:sp>
        <p:nvSpPr>
          <p:cNvPr id="36" name="TextBox 36"/>
          <p:cNvSpPr txBox="1"/>
          <p:nvPr/>
        </p:nvSpPr>
        <p:spPr>
          <a:xfrm>
            <a:off x="5951217" y="4212431"/>
            <a:ext cx="556266"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Closing</a:t>
            </a:r>
          </a:p>
        </p:txBody>
      </p:sp>
      <p:sp>
        <p:nvSpPr>
          <p:cNvPr id="37" name="TextBox 37"/>
          <p:cNvSpPr txBox="1"/>
          <p:nvPr/>
        </p:nvSpPr>
        <p:spPr>
          <a:xfrm>
            <a:off x="5165491" y="4416266"/>
            <a:ext cx="2127718" cy="167640"/>
          </a:xfrm>
          <a:prstGeom prst="rect">
            <a:avLst/>
          </a:prstGeom>
          <a:noFill/>
          <a:ln>
            <a:noFill/>
          </a:ln>
        </p:spPr>
        <p:txBody>
          <a:bodyPr wrap="none" lIns="0" tIns="0" rIns="0" bIns="0" anchor="t" anchorCtr="0">
            <a:spAutoFit/>
          </a:bodyPr>
          <a:lstStyle/>
          <a:p>
            <a:pPr algn="ctr"/>
            <a:r>
              <a:rPr lang="zh-CN" sz="825" dirty="0">
                <a:solidFill>
                  <a:srgbClr val="F9E5E7"/>
                </a:solidFill>
                <a:latin typeface="Arial"/>
                <a:ea typeface="Microsoft YaHei"/>
                <a:cs typeface="Arial"/>
              </a:rPr>
              <a:t>Tie down commitment · Agree next step</a:t>
            </a:r>
          </a:p>
        </p:txBody>
      </p:sp>
      <p:sp>
        <p:nvSpPr>
          <p:cNvPr id="38" name="Ellipse 38"/>
          <p:cNvSpPr/>
          <p:nvPr/>
        </p:nvSpPr>
        <p:spPr>
          <a:xfrm>
            <a:off x="638175" y="2647950"/>
            <a:ext cx="2057400" cy="762000"/>
          </a:xfrm>
          <a:prstGeom prst="ellipse">
            <a:avLst/>
          </a:prstGeom>
          <a:solidFill>
            <a:srgbClr val="CCCCCC"/>
          </a:solidFill>
          <a:ln>
            <a:noFill/>
          </a:ln>
        </p:spPr>
      </p:sp>
      <p:sp>
        <p:nvSpPr>
          <p:cNvPr id="39" name="Ellipse 39"/>
          <p:cNvSpPr/>
          <p:nvPr/>
        </p:nvSpPr>
        <p:spPr>
          <a:xfrm>
            <a:off x="733425" y="2533650"/>
            <a:ext cx="571500" cy="571500"/>
          </a:xfrm>
          <a:prstGeom prst="ellipse">
            <a:avLst/>
          </a:prstGeom>
          <a:solidFill>
            <a:srgbClr val="CCCCCC"/>
          </a:solidFill>
          <a:ln>
            <a:noFill/>
          </a:ln>
        </p:spPr>
      </p:sp>
      <p:sp>
        <p:nvSpPr>
          <p:cNvPr id="40" name="Ellipse 40"/>
          <p:cNvSpPr/>
          <p:nvPr/>
        </p:nvSpPr>
        <p:spPr>
          <a:xfrm>
            <a:off x="1104900" y="2324100"/>
            <a:ext cx="647700" cy="647700"/>
          </a:xfrm>
          <a:prstGeom prst="ellipse">
            <a:avLst/>
          </a:prstGeom>
          <a:solidFill>
            <a:srgbClr val="CCCCCC"/>
          </a:solidFill>
          <a:ln>
            <a:noFill/>
          </a:ln>
        </p:spPr>
      </p:sp>
      <p:sp>
        <p:nvSpPr>
          <p:cNvPr id="41" name="Ellipse 41"/>
          <p:cNvSpPr/>
          <p:nvPr/>
        </p:nvSpPr>
        <p:spPr>
          <a:xfrm>
            <a:off x="1638300" y="2333625"/>
            <a:ext cx="571500" cy="571500"/>
          </a:xfrm>
          <a:prstGeom prst="ellipse">
            <a:avLst/>
          </a:prstGeom>
          <a:solidFill>
            <a:srgbClr val="CCCCCC"/>
          </a:solidFill>
          <a:ln>
            <a:noFill/>
          </a:ln>
        </p:spPr>
      </p:sp>
      <p:sp>
        <p:nvSpPr>
          <p:cNvPr id="42" name="Ellipse 42"/>
          <p:cNvSpPr/>
          <p:nvPr/>
        </p:nvSpPr>
        <p:spPr>
          <a:xfrm>
            <a:off x="2095500" y="2486025"/>
            <a:ext cx="495300" cy="495300"/>
          </a:xfrm>
          <a:prstGeom prst="ellipse">
            <a:avLst/>
          </a:prstGeom>
          <a:solidFill>
            <a:srgbClr val="CCCCCC"/>
          </a:solidFill>
          <a:ln>
            <a:noFill/>
          </a:ln>
        </p:spPr>
      </p:sp>
      <p:sp>
        <p:nvSpPr>
          <p:cNvPr id="43" name="TextBox 43"/>
          <p:cNvSpPr txBox="1"/>
          <p:nvPr/>
        </p:nvSpPr>
        <p:spPr>
          <a:xfrm>
            <a:off x="1271292" y="2734628"/>
            <a:ext cx="791166" cy="213360"/>
          </a:xfrm>
          <a:prstGeom prst="rect">
            <a:avLst/>
          </a:prstGeom>
          <a:noFill/>
          <a:ln>
            <a:noFill/>
          </a:ln>
        </p:spPr>
        <p:txBody>
          <a:bodyPr wrap="none" lIns="0" tIns="0" rIns="0" bIns="0" anchor="t" anchorCtr="0">
            <a:spAutoFit/>
          </a:bodyPr>
          <a:lstStyle/>
          <a:p>
            <a:pPr algn="ctr"/>
            <a:r>
              <a:rPr lang="zh-CN" sz="1050" b="1" dirty="0">
                <a:solidFill>
                  <a:srgbClr val="333333"/>
                </a:solidFill>
                <a:latin typeface="Arial"/>
                <a:ea typeface="Microsoft YaHei"/>
                <a:cs typeface="Arial"/>
              </a:rPr>
              <a:t>Objections</a:t>
            </a:r>
          </a:p>
        </p:txBody>
      </p:sp>
      <p:sp>
        <p:nvSpPr>
          <p:cNvPr id="44" name="TextBox 44"/>
          <p:cNvSpPr txBox="1"/>
          <p:nvPr/>
        </p:nvSpPr>
        <p:spPr>
          <a:xfrm>
            <a:off x="1199793" y="2928938"/>
            <a:ext cx="934164" cy="152400"/>
          </a:xfrm>
          <a:prstGeom prst="rect">
            <a:avLst/>
          </a:prstGeom>
          <a:noFill/>
          <a:ln>
            <a:noFill/>
          </a:ln>
        </p:spPr>
        <p:txBody>
          <a:bodyPr wrap="none" lIns="0" tIns="0" rIns="0" bIns="0" anchor="t" anchorCtr="0">
            <a:spAutoFit/>
          </a:bodyPr>
          <a:lstStyle/>
          <a:p>
            <a:pPr algn="ctr"/>
            <a:r>
              <a:rPr lang="zh-CN" sz="750" dirty="0">
                <a:solidFill>
                  <a:srgbClr val="555555"/>
                </a:solidFill>
                <a:latin typeface="Arial"/>
                <a:ea typeface="Microsoft YaHei"/>
                <a:cs typeface="Arial"/>
              </a:rPr>
              <a:t>Physician pushback</a:t>
            </a:r>
          </a:p>
        </p:txBody>
      </p:sp>
      <p:sp>
        <p:nvSpPr>
          <p:cNvPr id="45" name="TextBox 45"/>
          <p:cNvSpPr txBox="1"/>
          <p:nvPr/>
        </p:nvSpPr>
        <p:spPr>
          <a:xfrm>
            <a:off x="1307306" y="3062288"/>
            <a:ext cx="719138" cy="152400"/>
          </a:xfrm>
          <a:prstGeom prst="rect">
            <a:avLst/>
          </a:prstGeom>
          <a:noFill/>
          <a:ln>
            <a:noFill/>
          </a:ln>
        </p:spPr>
        <p:txBody>
          <a:bodyPr wrap="none" lIns="0" tIns="0" rIns="0" bIns="0" anchor="t" anchorCtr="0">
            <a:spAutoFit/>
          </a:bodyPr>
          <a:lstStyle/>
          <a:p>
            <a:pPr algn="ctr"/>
            <a:r>
              <a:rPr lang="zh-CN" sz="750" dirty="0">
                <a:solidFill>
                  <a:srgbClr val="555555"/>
                </a:solidFill>
                <a:latin typeface="Arial"/>
                <a:ea typeface="Microsoft YaHei"/>
                <a:cs typeface="Arial"/>
              </a:rPr>
              <a:t>during the call</a:t>
            </a:r>
          </a:p>
        </p:txBody>
      </p:sp>
      <p:sp>
        <p:nvSpPr>
          <p:cNvPr id="46" name="Line 46"/>
          <p:cNvSpPr/>
          <p:nvPr/>
        </p:nvSpPr>
        <p:spPr>
          <a:xfrm>
            <a:off x="2676525" y="2790825"/>
            <a:ext cx="1743075" cy="1"/>
          </a:xfrm>
          <a:prstGeom prst="line">
            <a:avLst/>
          </a:prstGeom>
          <a:noFill/>
          <a:ln w="14288">
            <a:solidFill>
              <a:srgbClr val="888888"/>
            </a:solidFill>
            <a:custDash>
              <a:ds d="266666" sp="200000"/>
            </a:custDash>
            <a:tailEnd type="triangle" w="lg" len="lg"/>
          </a:ln>
        </p:spPr>
      </p:sp>
      <p:sp>
        <p:nvSpPr>
          <p:cNvPr id="47" name="Ellipse 47"/>
          <p:cNvSpPr/>
          <p:nvPr/>
        </p:nvSpPr>
        <p:spPr>
          <a:xfrm>
            <a:off x="9496425" y="2647950"/>
            <a:ext cx="2057400" cy="762000"/>
          </a:xfrm>
          <a:prstGeom prst="ellipse">
            <a:avLst/>
          </a:prstGeom>
          <a:solidFill>
            <a:srgbClr val="CCCCCC"/>
          </a:solidFill>
          <a:ln>
            <a:noFill/>
          </a:ln>
        </p:spPr>
      </p:sp>
      <p:sp>
        <p:nvSpPr>
          <p:cNvPr id="48" name="Ellipse 48"/>
          <p:cNvSpPr/>
          <p:nvPr/>
        </p:nvSpPr>
        <p:spPr>
          <a:xfrm>
            <a:off x="10887075" y="2533650"/>
            <a:ext cx="571500" cy="571500"/>
          </a:xfrm>
          <a:prstGeom prst="ellipse">
            <a:avLst/>
          </a:prstGeom>
          <a:solidFill>
            <a:srgbClr val="CCCCCC"/>
          </a:solidFill>
          <a:ln>
            <a:noFill/>
          </a:ln>
        </p:spPr>
      </p:sp>
      <p:sp>
        <p:nvSpPr>
          <p:cNvPr id="49" name="Ellipse 49"/>
          <p:cNvSpPr/>
          <p:nvPr/>
        </p:nvSpPr>
        <p:spPr>
          <a:xfrm>
            <a:off x="10439400" y="2324100"/>
            <a:ext cx="647700" cy="647700"/>
          </a:xfrm>
          <a:prstGeom prst="ellipse">
            <a:avLst/>
          </a:prstGeom>
          <a:solidFill>
            <a:srgbClr val="CCCCCC"/>
          </a:solidFill>
          <a:ln>
            <a:noFill/>
          </a:ln>
        </p:spPr>
      </p:sp>
      <p:sp>
        <p:nvSpPr>
          <p:cNvPr id="50" name="Ellipse 50"/>
          <p:cNvSpPr/>
          <p:nvPr/>
        </p:nvSpPr>
        <p:spPr>
          <a:xfrm>
            <a:off x="9982200" y="2333625"/>
            <a:ext cx="571500" cy="571500"/>
          </a:xfrm>
          <a:prstGeom prst="ellipse">
            <a:avLst/>
          </a:prstGeom>
          <a:solidFill>
            <a:srgbClr val="CCCCCC"/>
          </a:solidFill>
          <a:ln>
            <a:noFill/>
          </a:ln>
        </p:spPr>
      </p:sp>
      <p:sp>
        <p:nvSpPr>
          <p:cNvPr id="51" name="Ellipse 51"/>
          <p:cNvSpPr/>
          <p:nvPr/>
        </p:nvSpPr>
        <p:spPr>
          <a:xfrm>
            <a:off x="9601200" y="2486025"/>
            <a:ext cx="495300" cy="495300"/>
          </a:xfrm>
          <a:prstGeom prst="ellipse">
            <a:avLst/>
          </a:prstGeom>
          <a:solidFill>
            <a:srgbClr val="CCCCCC"/>
          </a:solidFill>
          <a:ln>
            <a:noFill/>
          </a:ln>
        </p:spPr>
      </p:sp>
      <p:sp>
        <p:nvSpPr>
          <p:cNvPr id="52" name="TextBox 52"/>
          <p:cNvSpPr txBox="1"/>
          <p:nvPr/>
        </p:nvSpPr>
        <p:spPr>
          <a:xfrm>
            <a:off x="10151595" y="2734628"/>
            <a:ext cx="747060" cy="213360"/>
          </a:xfrm>
          <a:prstGeom prst="rect">
            <a:avLst/>
          </a:prstGeom>
          <a:noFill/>
          <a:ln>
            <a:noFill/>
          </a:ln>
        </p:spPr>
        <p:txBody>
          <a:bodyPr wrap="none" lIns="0" tIns="0" rIns="0" bIns="0" anchor="t" anchorCtr="0">
            <a:spAutoFit/>
          </a:bodyPr>
          <a:lstStyle/>
          <a:p>
            <a:pPr algn="ctr"/>
            <a:r>
              <a:rPr lang="zh-CN" sz="1050" b="1" dirty="0">
                <a:solidFill>
                  <a:srgbClr val="333333"/>
                </a:solidFill>
                <a:latin typeface="Arial"/>
                <a:ea typeface="Microsoft YaHei"/>
                <a:cs typeface="Arial"/>
              </a:rPr>
              <a:t>Questions</a:t>
            </a:r>
          </a:p>
        </p:txBody>
      </p:sp>
      <p:sp>
        <p:nvSpPr>
          <p:cNvPr id="53" name="TextBox 53"/>
          <p:cNvSpPr txBox="1"/>
          <p:nvPr/>
        </p:nvSpPr>
        <p:spPr>
          <a:xfrm>
            <a:off x="10098048" y="2928938"/>
            <a:ext cx="854154" cy="152400"/>
          </a:xfrm>
          <a:prstGeom prst="rect">
            <a:avLst/>
          </a:prstGeom>
          <a:noFill/>
          <a:ln>
            <a:noFill/>
          </a:ln>
        </p:spPr>
        <p:txBody>
          <a:bodyPr wrap="none" lIns="0" tIns="0" rIns="0" bIns="0" anchor="t" anchorCtr="0">
            <a:spAutoFit/>
          </a:bodyPr>
          <a:lstStyle/>
          <a:p>
            <a:pPr algn="ctr"/>
            <a:r>
              <a:rPr lang="zh-CN" sz="750" dirty="0">
                <a:solidFill>
                  <a:srgbClr val="555555"/>
                </a:solidFill>
                <a:latin typeface="Arial"/>
                <a:ea typeface="Microsoft YaHei"/>
                <a:cs typeface="Arial"/>
              </a:rPr>
              <a:t>Physician enquiry</a:t>
            </a:r>
          </a:p>
        </p:txBody>
      </p:sp>
      <p:sp>
        <p:nvSpPr>
          <p:cNvPr id="54" name="TextBox 54"/>
          <p:cNvSpPr txBox="1"/>
          <p:nvPr/>
        </p:nvSpPr>
        <p:spPr>
          <a:xfrm>
            <a:off x="10075545" y="3062288"/>
            <a:ext cx="899160" cy="152400"/>
          </a:xfrm>
          <a:prstGeom prst="rect">
            <a:avLst/>
          </a:prstGeom>
          <a:noFill/>
          <a:ln>
            <a:noFill/>
          </a:ln>
        </p:spPr>
        <p:txBody>
          <a:bodyPr wrap="none" lIns="0" tIns="0" rIns="0" bIns="0" anchor="t" anchorCtr="0">
            <a:spAutoFit/>
          </a:bodyPr>
          <a:lstStyle/>
          <a:p>
            <a:pPr algn="ctr"/>
            <a:r>
              <a:rPr lang="zh-CN" sz="750" dirty="0">
                <a:solidFill>
                  <a:srgbClr val="555555"/>
                </a:solidFill>
                <a:latin typeface="Arial"/>
                <a:ea typeface="Microsoft YaHei"/>
                <a:cs typeface="Arial"/>
              </a:rPr>
              <a:t>seeking more data</a:t>
            </a:r>
          </a:p>
        </p:txBody>
      </p:sp>
      <p:sp>
        <p:nvSpPr>
          <p:cNvPr id="55" name="Line 55"/>
          <p:cNvSpPr/>
          <p:nvPr/>
        </p:nvSpPr>
        <p:spPr>
          <a:xfrm flipH="1">
            <a:off x="7772400" y="2790825"/>
            <a:ext cx="1762125" cy="1"/>
          </a:xfrm>
          <a:prstGeom prst="line">
            <a:avLst/>
          </a:prstGeom>
          <a:noFill/>
          <a:ln w="14288">
            <a:solidFill>
              <a:srgbClr val="888888"/>
            </a:solidFill>
            <a:custDash>
              <a:ds d="266666" sp="200000"/>
            </a:custDash>
            <a:tailEnd type="triangle" w="lg" len="lg"/>
          </a:ln>
        </p:spPr>
      </p:sp>
      <p:sp>
        <p:nvSpPr>
          <p:cNvPr id="56" name="Ellipse 56"/>
          <p:cNvSpPr/>
          <p:nvPr/>
        </p:nvSpPr>
        <p:spPr>
          <a:xfrm>
            <a:off x="8886825" y="4019550"/>
            <a:ext cx="2895600" cy="647700"/>
          </a:xfrm>
          <a:prstGeom prst="ellipse">
            <a:avLst/>
          </a:prstGeom>
          <a:solidFill>
            <a:srgbClr val="FFD700"/>
          </a:solidFill>
          <a:ln>
            <a:noFill/>
          </a:ln>
        </p:spPr>
      </p:sp>
      <p:sp>
        <p:nvSpPr>
          <p:cNvPr id="57" name="TextBox 57"/>
          <p:cNvSpPr txBox="1"/>
          <p:nvPr/>
        </p:nvSpPr>
        <p:spPr>
          <a:xfrm>
            <a:off x="9994174" y="4182428"/>
            <a:ext cx="680902" cy="213360"/>
          </a:xfrm>
          <a:prstGeom prst="rect">
            <a:avLst/>
          </a:prstGeom>
          <a:noFill/>
          <a:ln>
            <a:noFill/>
          </a:ln>
        </p:spPr>
        <p:txBody>
          <a:bodyPr wrap="none" lIns="0" tIns="0" rIns="0" bIns="0" anchor="t" anchorCtr="0">
            <a:spAutoFit/>
          </a:bodyPr>
          <a:lstStyle/>
          <a:p>
            <a:pPr algn="ctr"/>
            <a:r>
              <a:rPr lang="zh-CN" sz="1050" b="1" dirty="0">
                <a:solidFill>
                  <a:srgbClr val="5A3A00"/>
                </a:solidFill>
                <a:latin typeface="Arial"/>
                <a:ea typeface="Microsoft YaHei"/>
                <a:cs typeface="Arial"/>
              </a:rPr>
              <a:t>Post-Call</a:t>
            </a:r>
          </a:p>
        </p:txBody>
      </p:sp>
      <p:sp>
        <p:nvSpPr>
          <p:cNvPr id="58" name="TextBox 58"/>
          <p:cNvSpPr txBox="1"/>
          <p:nvPr/>
        </p:nvSpPr>
        <p:spPr>
          <a:xfrm>
            <a:off x="10089166" y="4389120"/>
            <a:ext cx="490919" cy="182880"/>
          </a:xfrm>
          <a:prstGeom prst="rect">
            <a:avLst/>
          </a:prstGeom>
          <a:noFill/>
          <a:ln>
            <a:noFill/>
          </a:ln>
        </p:spPr>
        <p:txBody>
          <a:bodyPr wrap="none" lIns="0" tIns="0" rIns="0" bIns="0" anchor="t" anchorCtr="0">
            <a:spAutoFit/>
          </a:bodyPr>
          <a:lstStyle/>
          <a:p>
            <a:pPr algn="ctr"/>
            <a:r>
              <a:rPr lang="zh-CN" sz="900" dirty="0">
                <a:solidFill>
                  <a:srgbClr val="5A3A00"/>
                </a:solidFill>
                <a:latin typeface="Arial"/>
                <a:ea typeface="Microsoft YaHei"/>
                <a:cs typeface="Arial"/>
              </a:rPr>
              <a:t>Analysis</a:t>
            </a:r>
          </a:p>
        </p:txBody>
      </p:sp>
      <p:sp>
        <p:nvSpPr>
          <p:cNvPr id="59" name="Line 59"/>
          <p:cNvSpPr/>
          <p:nvPr/>
        </p:nvSpPr>
        <p:spPr>
          <a:xfrm>
            <a:off x="7191375" y="4343400"/>
            <a:ext cx="1695450" cy="1"/>
          </a:xfrm>
          <a:prstGeom prst="line">
            <a:avLst/>
          </a:prstGeom>
          <a:noFill/>
          <a:ln w="17145">
            <a:solidFill>
              <a:srgbClr val="8B6900"/>
            </a:solidFill>
            <a:custDash>
              <a:ds d="277777" sp="166666"/>
            </a:custDash>
            <a:tailEnd type="triangle" w="lg" len="lg"/>
          </a:ln>
        </p:spPr>
      </p:sp>
      <p:sp>
        <p:nvSpPr>
          <p:cNvPr id="60" name="Rectangle 60"/>
          <p:cNvSpPr/>
          <p:nvPr/>
        </p:nvSpPr>
        <p:spPr>
          <a:xfrm>
            <a:off x="381000" y="4819650"/>
            <a:ext cx="2305050" cy="781050"/>
          </a:xfrm>
          <a:prstGeom prst="roundRect">
            <a:avLst>
              <a:gd name="adj" fmla="val 9756"/>
            </a:avLst>
          </a:prstGeom>
          <a:solidFill>
            <a:srgbClr val="F5F5F5"/>
          </a:solidFill>
          <a:ln w="14288">
            <a:solidFill>
              <a:srgbClr val="E0E0E0"/>
            </a:solidFill>
          </a:ln>
          <a:effectLst>
            <a:outerShdw blurRad="76200" dist="19050" dir="5400000" algn="ctr" rotWithShape="0">
              <a:srgbClr val="000000">
                <a:alpha val="5250"/>
              </a:srgbClr>
            </a:outerShdw>
          </a:effectLst>
        </p:spPr>
      </p:sp>
      <p:sp>
        <p:nvSpPr>
          <p:cNvPr id="61" name="Rectangle 61"/>
          <p:cNvSpPr/>
          <p:nvPr/>
        </p:nvSpPr>
        <p:spPr>
          <a:xfrm>
            <a:off x="381000" y="4819650"/>
            <a:ext cx="2305050" cy="47625"/>
          </a:xfrm>
          <a:prstGeom prst="roundRect">
            <a:avLst>
              <a:gd name="adj" fmla="val 50000"/>
            </a:avLst>
          </a:prstGeom>
          <a:solidFill>
            <a:srgbClr val="AE232F"/>
          </a:solidFill>
          <a:ln>
            <a:noFill/>
          </a:ln>
        </p:spPr>
      </p:sp>
      <p:sp>
        <p:nvSpPr>
          <p:cNvPr id="62" name="Freeform 62"/>
          <p:cNvSpPr/>
          <p:nvPr/>
        </p:nvSpPr>
        <p:spPr>
          <a:xfrm>
            <a:off x="573088" y="5022056"/>
            <a:ext cx="206375" cy="196539"/>
          </a:xfrm>
          <a:custGeom>
            <a:avLst/>
            <a:gdLst/>
            <a:ahLst/>
            <a:cxnLst/>
            <a:rect l="l" t="t" r="r" b="b"/>
            <a:pathLst>
              <a:path w="206375" h="196539">
                <a:moveTo>
                  <a:pt x="165100" y="0"/>
                </a:moveTo>
                <a:cubicBezTo>
                  <a:pt x="187896" y="0"/>
                  <a:pt x="206375" y="18479"/>
                  <a:pt x="206375" y="41275"/>
                </a:cubicBezTo>
                <a:lnTo>
                  <a:pt x="206375" y="123825"/>
                </a:lnTo>
                <a:cubicBezTo>
                  <a:pt x="206375" y="146621"/>
                  <a:pt x="187896" y="165100"/>
                  <a:pt x="165100" y="165100"/>
                </a:cubicBezTo>
                <a:lnTo>
                  <a:pt x="116354" y="165100"/>
                </a:lnTo>
                <a:lnTo>
                  <a:pt x="67216" y="194581"/>
                </a:lnTo>
                <a:cubicBezTo>
                  <a:pt x="64209" y="196385"/>
                  <a:pt x="60492" y="196539"/>
                  <a:pt x="57346" y="194989"/>
                </a:cubicBezTo>
                <a:cubicBezTo>
                  <a:pt x="54200" y="193439"/>
                  <a:pt x="52057" y="190398"/>
                  <a:pt x="51656" y="186914"/>
                </a:cubicBezTo>
                <a:lnTo>
                  <a:pt x="51594" y="185738"/>
                </a:lnTo>
                <a:lnTo>
                  <a:pt x="51594" y="165100"/>
                </a:lnTo>
                <a:lnTo>
                  <a:pt x="41275" y="165100"/>
                </a:lnTo>
                <a:cubicBezTo>
                  <a:pt x="19282" y="165100"/>
                  <a:pt x="1151" y="147855"/>
                  <a:pt x="52" y="125889"/>
                </a:cubicBezTo>
                <a:lnTo>
                  <a:pt x="0" y="123825"/>
                </a:lnTo>
                <a:lnTo>
                  <a:pt x="0" y="41275"/>
                </a:lnTo>
                <a:cubicBezTo>
                  <a:pt x="0" y="18479"/>
                  <a:pt x="18479" y="0"/>
                  <a:pt x="41275" y="0"/>
                </a:cubicBezTo>
                <a:close/>
                <a:moveTo>
                  <a:pt x="123825" y="92869"/>
                </a:moveTo>
                <a:lnTo>
                  <a:pt x="61913" y="92869"/>
                </a:lnTo>
                <a:cubicBezTo>
                  <a:pt x="56214" y="92869"/>
                  <a:pt x="51594" y="97489"/>
                  <a:pt x="51594" y="103188"/>
                </a:cubicBezTo>
                <a:cubicBezTo>
                  <a:pt x="51594" y="108886"/>
                  <a:pt x="56214" y="113506"/>
                  <a:pt x="61913" y="113506"/>
                </a:cubicBezTo>
                <a:lnTo>
                  <a:pt x="123825" y="113506"/>
                </a:lnTo>
                <a:cubicBezTo>
                  <a:pt x="129524" y="113506"/>
                  <a:pt x="134144" y="108886"/>
                  <a:pt x="134144" y="103188"/>
                </a:cubicBezTo>
                <a:cubicBezTo>
                  <a:pt x="134144" y="97489"/>
                  <a:pt x="129524" y="92869"/>
                  <a:pt x="123825" y="92869"/>
                </a:cubicBezTo>
                <a:moveTo>
                  <a:pt x="144462" y="51594"/>
                </a:moveTo>
                <a:lnTo>
                  <a:pt x="61913" y="51594"/>
                </a:lnTo>
                <a:cubicBezTo>
                  <a:pt x="56214" y="51594"/>
                  <a:pt x="51594" y="56214"/>
                  <a:pt x="51594" y="61912"/>
                </a:cubicBezTo>
                <a:cubicBezTo>
                  <a:pt x="51594" y="67611"/>
                  <a:pt x="56214" y="72231"/>
                  <a:pt x="61913" y="72231"/>
                </a:cubicBezTo>
                <a:lnTo>
                  <a:pt x="144462" y="72231"/>
                </a:lnTo>
                <a:cubicBezTo>
                  <a:pt x="150161" y="72231"/>
                  <a:pt x="154781" y="67611"/>
                  <a:pt x="154781" y="61912"/>
                </a:cubicBezTo>
                <a:cubicBezTo>
                  <a:pt x="154781" y="56214"/>
                  <a:pt x="150161" y="51594"/>
                  <a:pt x="144462" y="51594"/>
                </a:cubicBezTo>
              </a:path>
            </a:pathLst>
          </a:custGeom>
          <a:solidFill>
            <a:srgbClr val="AE232F"/>
          </a:solidFill>
          <a:ln>
            <a:noFill/>
          </a:ln>
        </p:spPr>
      </p:sp>
      <p:sp>
        <p:nvSpPr>
          <p:cNvPr id="63" name="TextBox 63"/>
          <p:cNvSpPr txBox="1"/>
          <p:nvPr/>
        </p:nvSpPr>
        <p:spPr>
          <a:xfrm>
            <a:off x="902018" y="4942999"/>
            <a:ext cx="1376284" cy="198120"/>
          </a:xfrm>
          <a:prstGeom prst="rect">
            <a:avLst/>
          </a:prstGeom>
          <a:noFill/>
          <a:ln>
            <a:noFill/>
          </a:ln>
        </p:spPr>
        <p:txBody>
          <a:bodyPr wrap="none" lIns="0" tIns="0" rIns="0" bIns="0" anchor="t" anchorCtr="0">
            <a:spAutoFit/>
          </a:bodyPr>
          <a:lstStyle/>
          <a:p>
            <a:pPr algn="l"/>
            <a:r>
              <a:rPr lang="zh-CN" sz="975" b="1" dirty="0">
                <a:solidFill>
                  <a:srgbClr val="1A1A1A"/>
                </a:solidFill>
                <a:latin typeface="Arial"/>
                <a:ea typeface="Microsoft YaHei"/>
                <a:cs typeface="Arial"/>
              </a:rPr>
              <a:t>Communication Skills</a:t>
            </a:r>
          </a:p>
        </p:txBody>
      </p:sp>
      <p:sp>
        <p:nvSpPr>
          <p:cNvPr id="64" name="TextBox 64"/>
          <p:cNvSpPr txBox="1"/>
          <p:nvPr/>
        </p:nvSpPr>
        <p:spPr>
          <a:xfrm>
            <a:off x="903922" y="5121116"/>
            <a:ext cx="1423630"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Active listening · Empathy</a:t>
            </a:r>
          </a:p>
        </p:txBody>
      </p:sp>
      <p:sp>
        <p:nvSpPr>
          <p:cNvPr id="65" name="TextBox 65"/>
          <p:cNvSpPr txBox="1"/>
          <p:nvPr/>
        </p:nvSpPr>
        <p:spPr>
          <a:xfrm>
            <a:off x="903922" y="5263991"/>
            <a:ext cx="1764673"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Non-verbal cues · Trust-building</a:t>
            </a:r>
          </a:p>
        </p:txBody>
      </p:sp>
      <p:sp>
        <p:nvSpPr>
          <p:cNvPr id="66" name="TextBox 66"/>
          <p:cNvSpPr txBox="1"/>
          <p:nvPr/>
        </p:nvSpPr>
        <p:spPr>
          <a:xfrm>
            <a:off x="542925" y="5462588"/>
            <a:ext cx="2219325" cy="152400"/>
          </a:xfrm>
          <a:prstGeom prst="rect">
            <a:avLst/>
          </a:prstGeom>
          <a:noFill/>
          <a:ln>
            <a:noFill/>
          </a:ln>
        </p:spPr>
        <p:txBody>
          <a:bodyPr wrap="none" lIns="0" tIns="0" rIns="0" bIns="0" anchor="t" anchorCtr="0">
            <a:spAutoFit/>
          </a:bodyPr>
          <a:lstStyle/>
          <a:p>
            <a:pPr algn="l"/>
            <a:r>
              <a:rPr lang="zh-CN" sz="750" i="1" dirty="0">
                <a:solidFill>
                  <a:srgbClr val="AE232F"/>
                </a:solidFill>
                <a:latin typeface="Arial"/>
                <a:ea typeface="Microsoft YaHei"/>
                <a:cs typeface="Arial"/>
              </a:rPr>
              <a:t>Foundation underlying every stage of the call</a:t>
            </a:r>
          </a:p>
        </p:txBody>
      </p:sp>
      <p:sp>
        <p:nvSpPr>
          <p:cNvPr id="67" name="Rectangle 67"/>
          <p:cNvSpPr/>
          <p:nvPr/>
        </p:nvSpPr>
        <p:spPr>
          <a:xfrm>
            <a:off x="342900" y="5772150"/>
            <a:ext cx="11506200" cy="552450"/>
          </a:xfrm>
          <a:prstGeom prst="roundRect">
            <a:avLst>
              <a:gd name="adj" fmla="val 10345"/>
            </a:avLst>
          </a:prstGeom>
          <a:solidFill>
            <a:srgbClr val="AE232F"/>
          </a:solidFill>
          <a:ln>
            <a:noFill/>
          </a:ln>
          <a:effectLst>
            <a:outerShdw blurRad="76200" dist="19050" dir="5400000" algn="ctr" rotWithShape="0">
              <a:srgbClr val="000000">
                <a:alpha val="5250"/>
              </a:srgbClr>
            </a:outerShdw>
          </a:effectLst>
        </p:spPr>
      </p:sp>
      <p:sp>
        <p:nvSpPr>
          <p:cNvPr id="68" name="Freeform 68"/>
          <p:cNvSpPr/>
          <p:nvPr/>
        </p:nvSpPr>
        <p:spPr>
          <a:xfrm>
            <a:off x="521875" y="5894404"/>
            <a:ext cx="175364" cy="167135"/>
          </a:xfrm>
          <a:custGeom>
            <a:avLst/>
            <a:gdLst/>
            <a:ahLst/>
            <a:cxnLst/>
            <a:rect l="l" t="t" r="r" b="b"/>
            <a:pathLst>
              <a:path w="175364" h="167135">
                <a:moveTo>
                  <a:pt x="57904" y="50308"/>
                </a:moveTo>
                <a:lnTo>
                  <a:pt x="7263" y="57650"/>
                </a:lnTo>
                <a:lnTo>
                  <a:pt x="6366" y="57832"/>
                </a:lnTo>
                <a:cubicBezTo>
                  <a:pt x="3602" y="58566"/>
                  <a:pt x="1446" y="60730"/>
                  <a:pt x="723" y="63498"/>
                </a:cubicBezTo>
                <a:cubicBezTo>
                  <a:pt x="0" y="66265"/>
                  <a:pt x="822" y="69207"/>
                  <a:pt x="2874" y="71199"/>
                </a:cubicBezTo>
                <a:lnTo>
                  <a:pt x="39561" y="106910"/>
                </a:lnTo>
                <a:lnTo>
                  <a:pt x="30909" y="157353"/>
                </a:lnTo>
                <a:lnTo>
                  <a:pt x="30806" y="158226"/>
                </a:lnTo>
                <a:cubicBezTo>
                  <a:pt x="30636" y="161085"/>
                  <a:pt x="32021" y="163814"/>
                  <a:pt x="34428" y="165366"/>
                </a:cubicBezTo>
                <a:cubicBezTo>
                  <a:pt x="36835" y="166918"/>
                  <a:pt x="39892" y="167053"/>
                  <a:pt x="42426" y="165719"/>
                </a:cubicBezTo>
                <a:lnTo>
                  <a:pt x="87718" y="141906"/>
                </a:lnTo>
                <a:lnTo>
                  <a:pt x="132906" y="165719"/>
                </a:lnTo>
                <a:lnTo>
                  <a:pt x="133699" y="166084"/>
                </a:lnTo>
                <a:cubicBezTo>
                  <a:pt x="136367" y="167135"/>
                  <a:pt x="139394" y="166665"/>
                  <a:pt x="141618" y="164856"/>
                </a:cubicBezTo>
                <a:cubicBezTo>
                  <a:pt x="143842" y="163046"/>
                  <a:pt x="144917" y="160178"/>
                  <a:pt x="144431" y="157353"/>
                </a:cubicBezTo>
                <a:lnTo>
                  <a:pt x="135771" y="106910"/>
                </a:lnTo>
                <a:lnTo>
                  <a:pt x="172474" y="71191"/>
                </a:lnTo>
                <a:lnTo>
                  <a:pt x="173093" y="70517"/>
                </a:lnTo>
                <a:cubicBezTo>
                  <a:pt x="174894" y="68299"/>
                  <a:pt x="175364" y="65285"/>
                  <a:pt x="174324" y="62624"/>
                </a:cubicBezTo>
                <a:cubicBezTo>
                  <a:pt x="173285" y="59964"/>
                  <a:pt x="170896" y="58067"/>
                  <a:pt x="168069" y="57658"/>
                </a:cubicBezTo>
                <a:lnTo>
                  <a:pt x="117428" y="50308"/>
                </a:lnTo>
                <a:lnTo>
                  <a:pt x="94790" y="4429"/>
                </a:lnTo>
                <a:cubicBezTo>
                  <a:pt x="93454" y="1717"/>
                  <a:pt x="90693" y="0"/>
                  <a:pt x="87670" y="0"/>
                </a:cubicBezTo>
                <a:cubicBezTo>
                  <a:pt x="84647" y="0"/>
                  <a:pt x="81886" y="1717"/>
                  <a:pt x="80550" y="4429"/>
                </a:cubicBezTo>
                <a:lnTo>
                  <a:pt x="57904" y="50308"/>
                </a:lnTo>
                <a:close/>
              </a:path>
            </a:pathLst>
          </a:custGeom>
          <a:solidFill>
            <a:srgbClr val="FFFFFF"/>
          </a:solidFill>
          <a:ln>
            <a:noFill/>
          </a:ln>
        </p:spPr>
      </p:sp>
      <p:sp>
        <p:nvSpPr>
          <p:cNvPr id="69" name="TextBox 69"/>
          <p:cNvSpPr txBox="1"/>
          <p:nvPr/>
        </p:nvSpPr>
        <p:spPr>
          <a:xfrm>
            <a:off x="788670" y="5884545"/>
            <a:ext cx="760052"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Key insight:</a:t>
            </a:r>
          </a:p>
        </p:txBody>
      </p:sp>
      <p:sp>
        <p:nvSpPr>
          <p:cNvPr id="70" name="TextBox 70"/>
          <p:cNvSpPr txBox="1"/>
          <p:nvPr/>
        </p:nvSpPr>
        <p:spPr>
          <a:xfrm>
            <a:off x="1588770" y="5884545"/>
            <a:ext cx="5465540" cy="182880"/>
          </a:xfrm>
          <a:prstGeom prst="rect">
            <a:avLst/>
          </a:prstGeom>
          <a:noFill/>
          <a:ln>
            <a:noFill/>
          </a:ln>
        </p:spPr>
        <p:txBody>
          <a:bodyPr wrap="none" lIns="0" tIns="0" rIns="0" bIns="0" anchor="t" anchorCtr="0">
            <a:spAutoFit/>
          </a:bodyPr>
          <a:lstStyle/>
          <a:p>
            <a:pPr algn="l"/>
            <a:r>
              <a:rPr lang="zh-CN" sz="900" dirty="0">
                <a:solidFill>
                  <a:srgbClr val="F9E5E7"/>
                </a:solidFill>
                <a:latin typeface="Arial"/>
                <a:ea typeface="Microsoft YaHei"/>
                <a:cs typeface="Arial"/>
              </a:rPr>
              <a:t>Pre-Call Preparation and Post-Call Analysis are what separate average MRs from great ones.</a:t>
            </a:r>
          </a:p>
        </p:txBody>
      </p:sp>
      <p:sp>
        <p:nvSpPr>
          <p:cNvPr id="71" name="TextBox 71"/>
          <p:cNvSpPr txBox="1"/>
          <p:nvPr/>
        </p:nvSpPr>
        <p:spPr>
          <a:xfrm>
            <a:off x="788670" y="6094095"/>
            <a:ext cx="7559802" cy="182880"/>
          </a:xfrm>
          <a:prstGeom prst="rect">
            <a:avLst/>
          </a:prstGeom>
          <a:noFill/>
          <a:ln>
            <a:noFill/>
          </a:ln>
        </p:spPr>
        <p:txBody>
          <a:bodyPr wrap="none" lIns="0" tIns="0" rIns="0" bIns="0" anchor="t" anchorCtr="0">
            <a:spAutoFit/>
          </a:bodyPr>
          <a:lstStyle/>
          <a:p>
            <a:pPr algn="l"/>
            <a:r>
              <a:rPr lang="zh-CN" sz="900" dirty="0">
                <a:solidFill>
                  <a:srgbClr val="F9E5E7"/>
                </a:solidFill>
                <a:latin typeface="Arial"/>
                <a:ea typeface="Microsoft YaHei"/>
                <a:cs typeface="Arial"/>
              </a:rPr>
              <a:t>Probing and Presentation are not linear — they cycle until the physician's need is fully addressed and all objections are resolved.</a:t>
            </a:r>
          </a:p>
        </p:txBody>
      </p:sp>
      <p:grpSp>
        <p:nvGrpSpPr>
          <p:cNvPr id="74" name="Group 74"/>
          <p:cNvGrpSpPr/>
          <p:nvPr/>
        </p:nvGrpSpPr>
        <p:grpSpPr>
          <a:xfrm>
            <a:off x="0" y="6496050"/>
            <a:ext cx="12192000" cy="361950"/>
            <a:chOff x="0" y="6496050"/>
            <a:chExt cx="12192000" cy="361950"/>
          </a:xfrm>
        </p:grpSpPr>
        <p:sp>
          <p:nvSpPr>
            <p:cNvPr id="72" name="Rectangle 72"/>
            <p:cNvSpPr/>
            <p:nvPr/>
          </p:nvSpPr>
          <p:spPr>
            <a:xfrm>
              <a:off x="0" y="6496050"/>
              <a:ext cx="12192000" cy="361950"/>
            </a:xfrm>
            <a:prstGeom prst="rect">
              <a:avLst/>
            </a:prstGeom>
            <a:solidFill>
              <a:srgbClr val="AE232F"/>
            </a:solidFill>
            <a:ln>
              <a:noFill/>
            </a:ln>
          </p:spPr>
        </p:sp>
        <p:sp>
          <p:nvSpPr>
            <p:cNvPr id="73" name="TextBox 73"/>
            <p:cNvSpPr txBox="1"/>
            <p:nvPr/>
          </p:nvSpPr>
          <p:spPr>
            <a:xfrm>
              <a:off x="4128325" y="6627495"/>
              <a:ext cx="3935349"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Rattanakorn Rattanaroj | Rattanaroj.jan@gmail.com | 080-045-0821</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42950"/>
          </a:xfrm>
          <a:prstGeom prst="rect">
            <a:avLst/>
          </a:prstGeom>
          <a:solidFill>
            <a:srgbClr val="AE232F"/>
          </a:solidFill>
          <a:ln>
            <a:noFill/>
          </a:ln>
        </p:spPr>
      </p:sp>
      <p:sp>
        <p:nvSpPr>
          <p:cNvPr id="4" name="Rectangle 4"/>
          <p:cNvSpPr/>
          <p:nvPr/>
        </p:nvSpPr>
        <p:spPr>
          <a:xfrm>
            <a:off x="266700" y="171450"/>
            <a:ext cx="304800" cy="304800"/>
          </a:xfrm>
          <a:prstGeom prst="roundRect">
            <a:avLst>
              <a:gd name="adj" fmla="val 18750"/>
            </a:avLst>
          </a:prstGeom>
          <a:solidFill>
            <a:srgbClr val="8A1B25"/>
          </a:solidFill>
          <a:ln>
            <a:noFill/>
          </a:ln>
        </p:spPr>
      </p:sp>
      <p:sp>
        <p:nvSpPr>
          <p:cNvPr id="5" name="TextBox 5"/>
          <p:cNvSpPr txBox="1"/>
          <p:nvPr/>
        </p:nvSpPr>
        <p:spPr>
          <a:xfrm>
            <a:off x="318177" y="250031"/>
            <a:ext cx="20184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05</a:t>
            </a:r>
          </a:p>
        </p:txBody>
      </p:sp>
      <p:sp>
        <p:nvSpPr>
          <p:cNvPr id="6" name="TextBox 6"/>
          <p:cNvSpPr txBox="1"/>
          <p:nvPr/>
        </p:nvSpPr>
        <p:spPr>
          <a:xfrm>
            <a:off x="718185" y="208598"/>
            <a:ext cx="4185997"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a:ea typeface="Microsoft YaHei"/>
                <a:cs typeface="Arial"/>
              </a:rPr>
              <a:t>Strengths &amp; Development Areas</a:t>
            </a:r>
          </a:p>
        </p:txBody>
      </p:sp>
      <p:sp>
        <p:nvSpPr>
          <p:cNvPr id="7" name="TextBox 7"/>
          <p:cNvSpPr txBox="1"/>
          <p:nvPr/>
        </p:nvSpPr>
        <p:spPr>
          <a:xfrm>
            <a:off x="730568" y="504349"/>
            <a:ext cx="3281672" cy="198120"/>
          </a:xfrm>
          <a:prstGeom prst="rect">
            <a:avLst/>
          </a:prstGeom>
          <a:noFill/>
          <a:ln>
            <a:noFill/>
          </a:ln>
        </p:spPr>
        <p:txBody>
          <a:bodyPr wrap="none" lIns="0" tIns="0" rIns="0" bIns="0" anchor="t" anchorCtr="0">
            <a:spAutoFit/>
          </a:bodyPr>
          <a:lstStyle/>
          <a:p>
            <a:pPr algn="l"/>
            <a:r>
              <a:rPr lang="zh-CN" sz="975" dirty="0">
                <a:solidFill>
                  <a:srgbClr val="F9E5E7"/>
                </a:solidFill>
                <a:latin typeface="Arial"/>
                <a:ea typeface="Microsoft YaHei"/>
                <a:cs typeface="Arial"/>
              </a:rPr>
              <a:t>Self-aware. Growth-oriented. Ready for Clexane®.</a:t>
            </a:r>
          </a:p>
        </p:txBody>
      </p:sp>
      <p:sp>
        <p:nvSpPr>
          <p:cNvPr id="8" name="Rectangle 8"/>
          <p:cNvSpPr/>
          <p:nvPr/>
        </p:nvSpPr>
        <p:spPr>
          <a:xfrm>
            <a:off x="342900" y="914400"/>
            <a:ext cx="5600700" cy="4667250"/>
          </a:xfrm>
          <a:prstGeom prst="roundRect">
            <a:avLst>
              <a:gd name="adj" fmla="val 2041"/>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9" name="Rectangle 9"/>
          <p:cNvSpPr/>
          <p:nvPr/>
        </p:nvSpPr>
        <p:spPr>
          <a:xfrm>
            <a:off x="342900" y="914400"/>
            <a:ext cx="5600700" cy="495300"/>
          </a:xfrm>
          <a:prstGeom prst="roundRect">
            <a:avLst>
              <a:gd name="adj" fmla="val 19231"/>
            </a:avLst>
          </a:prstGeom>
          <a:solidFill>
            <a:srgbClr val="AE232F"/>
          </a:solidFill>
          <a:ln>
            <a:noFill/>
          </a:ln>
        </p:spPr>
      </p:sp>
      <p:sp>
        <p:nvSpPr>
          <p:cNvPr id="10" name="Rectangle 10"/>
          <p:cNvSpPr/>
          <p:nvPr/>
        </p:nvSpPr>
        <p:spPr>
          <a:xfrm>
            <a:off x="342900" y="1219200"/>
            <a:ext cx="5600700" cy="190500"/>
          </a:xfrm>
          <a:prstGeom prst="rect">
            <a:avLst/>
          </a:prstGeom>
          <a:solidFill>
            <a:srgbClr val="AE232F"/>
          </a:solidFill>
          <a:ln>
            <a:noFill/>
          </a:ln>
        </p:spPr>
      </p:sp>
      <p:grpSp>
        <p:nvGrpSpPr>
          <p:cNvPr id="14" name="Group 14"/>
          <p:cNvGrpSpPr/>
          <p:nvPr/>
        </p:nvGrpSpPr>
        <p:grpSpPr>
          <a:xfrm>
            <a:off x="559509" y="1050925"/>
            <a:ext cx="214369" cy="221453"/>
            <a:chOff x="559509" y="1050925"/>
            <a:chExt cx="214369" cy="221453"/>
          </a:xfrm>
        </p:grpSpPr>
        <p:sp>
          <p:nvSpPr>
            <p:cNvPr id="11" name="Freeform 11"/>
            <p:cNvSpPr/>
            <p:nvPr/>
          </p:nvSpPr>
          <p:spPr>
            <a:xfrm>
              <a:off x="673040" y="1184086"/>
              <a:ext cx="100838" cy="88292"/>
            </a:xfrm>
            <a:custGeom>
              <a:avLst/>
              <a:gdLst/>
              <a:ahLst/>
              <a:cxnLst/>
              <a:rect l="l" t="t" r="r" b="b"/>
              <a:pathLst>
                <a:path w="100838" h="88292">
                  <a:moveTo>
                    <a:pt x="77010" y="0"/>
                  </a:moveTo>
                  <a:lnTo>
                    <a:pt x="98857" y="37849"/>
                  </a:lnTo>
                  <a:cubicBezTo>
                    <a:pt x="100682" y="41013"/>
                    <a:pt x="100838" y="44870"/>
                    <a:pt x="99274" y="48170"/>
                  </a:cubicBezTo>
                  <a:cubicBezTo>
                    <a:pt x="97710" y="51471"/>
                    <a:pt x="94626" y="53793"/>
                    <a:pt x="91022" y="54385"/>
                  </a:cubicBezTo>
                  <a:lnTo>
                    <a:pt x="89767" y="54507"/>
                  </a:lnTo>
                  <a:lnTo>
                    <a:pt x="88522" y="54496"/>
                  </a:lnTo>
                  <a:lnTo>
                    <a:pt x="55929" y="52384"/>
                  </a:lnTo>
                  <a:lnTo>
                    <a:pt x="41450" y="81677"/>
                  </a:lnTo>
                  <a:cubicBezTo>
                    <a:pt x="39855" y="84895"/>
                    <a:pt x="36804" y="87145"/>
                    <a:pt x="33258" y="87718"/>
                  </a:cubicBezTo>
                  <a:cubicBezTo>
                    <a:pt x="29713" y="88292"/>
                    <a:pt x="26109" y="87118"/>
                    <a:pt x="23581" y="84566"/>
                  </a:cubicBezTo>
                  <a:lnTo>
                    <a:pt x="22669" y="83522"/>
                  </a:lnTo>
                  <a:lnTo>
                    <a:pt x="21869" y="82299"/>
                  </a:lnTo>
                  <a:lnTo>
                    <a:pt x="0" y="44439"/>
                  </a:lnTo>
                  <a:cubicBezTo>
                    <a:pt x="31208" y="42488"/>
                    <a:pt x="59705" y="26044"/>
                    <a:pt x="77010" y="0"/>
                  </a:cubicBezTo>
                  <a:close/>
                </a:path>
              </a:pathLst>
            </a:custGeom>
            <a:solidFill>
              <a:srgbClr val="FFFFFF"/>
            </a:solidFill>
            <a:ln>
              <a:noFill/>
            </a:ln>
          </p:spPr>
        </p:sp>
        <p:sp>
          <p:nvSpPr>
            <p:cNvPr id="12" name="Freeform 12"/>
            <p:cNvSpPr/>
            <p:nvPr/>
          </p:nvSpPr>
          <p:spPr>
            <a:xfrm>
              <a:off x="559509" y="1184075"/>
              <a:ext cx="100907" cy="88180"/>
            </a:xfrm>
            <a:custGeom>
              <a:avLst/>
              <a:gdLst/>
              <a:ahLst/>
              <a:cxnLst/>
              <a:rect l="l" t="t" r="r" b="b"/>
              <a:pathLst>
                <a:path w="100907" h="88180">
                  <a:moveTo>
                    <a:pt x="100907" y="44450"/>
                  </a:moveTo>
                  <a:lnTo>
                    <a:pt x="79060" y="82321"/>
                  </a:lnTo>
                  <a:cubicBezTo>
                    <a:pt x="77264" y="85434"/>
                    <a:pt x="74074" y="87488"/>
                    <a:pt x="70497" y="87834"/>
                  </a:cubicBezTo>
                  <a:cubicBezTo>
                    <a:pt x="66919" y="88180"/>
                    <a:pt x="63395" y="86777"/>
                    <a:pt x="61035" y="84066"/>
                  </a:cubicBezTo>
                  <a:lnTo>
                    <a:pt x="60191" y="82955"/>
                  </a:lnTo>
                  <a:lnTo>
                    <a:pt x="59480" y="81688"/>
                  </a:lnTo>
                  <a:lnTo>
                    <a:pt x="44989" y="52407"/>
                  </a:lnTo>
                  <a:lnTo>
                    <a:pt x="12418" y="54518"/>
                  </a:lnTo>
                  <a:cubicBezTo>
                    <a:pt x="8776" y="54752"/>
                    <a:pt x="5251" y="53185"/>
                    <a:pt x="2985" y="50325"/>
                  </a:cubicBezTo>
                  <a:cubicBezTo>
                    <a:pt x="719" y="47464"/>
                    <a:pt x="0" y="43674"/>
                    <a:pt x="1061" y="40183"/>
                  </a:cubicBezTo>
                  <a:lnTo>
                    <a:pt x="1506" y="38994"/>
                  </a:lnTo>
                  <a:lnTo>
                    <a:pt x="2061" y="37883"/>
                  </a:lnTo>
                  <a:lnTo>
                    <a:pt x="23931" y="0"/>
                  </a:lnTo>
                  <a:cubicBezTo>
                    <a:pt x="41224" y="26043"/>
                    <a:pt x="69707" y="42495"/>
                    <a:pt x="100907" y="44461"/>
                  </a:cubicBezTo>
                  <a:close/>
                </a:path>
              </a:pathLst>
            </a:custGeom>
            <a:solidFill>
              <a:srgbClr val="FFFFFF"/>
            </a:solidFill>
            <a:ln>
              <a:noFill/>
            </a:ln>
          </p:spPr>
        </p:sp>
        <p:sp>
          <p:nvSpPr>
            <p:cNvPr id="13" name="Freeform 13"/>
            <p:cNvSpPr/>
            <p:nvPr/>
          </p:nvSpPr>
          <p:spPr>
            <a:xfrm>
              <a:off x="588962" y="1050925"/>
              <a:ext cx="155576" cy="155642"/>
            </a:xfrm>
            <a:custGeom>
              <a:avLst/>
              <a:gdLst/>
              <a:ahLst/>
              <a:cxnLst/>
              <a:rect l="l" t="t" r="r" b="b"/>
              <a:pathLst>
                <a:path w="155576" h="155642">
                  <a:moveTo>
                    <a:pt x="77788" y="0"/>
                  </a:moveTo>
                  <a:lnTo>
                    <a:pt x="80455" y="44"/>
                  </a:lnTo>
                  <a:cubicBezTo>
                    <a:pt x="122354" y="1482"/>
                    <a:pt x="155576" y="35864"/>
                    <a:pt x="155576" y="77788"/>
                  </a:cubicBezTo>
                  <a:lnTo>
                    <a:pt x="155542" y="79932"/>
                  </a:lnTo>
                  <a:lnTo>
                    <a:pt x="155465" y="82066"/>
                  </a:lnTo>
                  <a:lnTo>
                    <a:pt x="155265" y="84788"/>
                  </a:lnTo>
                  <a:lnTo>
                    <a:pt x="154976" y="87478"/>
                  </a:lnTo>
                  <a:lnTo>
                    <a:pt x="154709" y="89456"/>
                  </a:lnTo>
                  <a:cubicBezTo>
                    <a:pt x="153978" y="94252"/>
                    <a:pt x="152798" y="98970"/>
                    <a:pt x="151186" y="103546"/>
                  </a:cubicBezTo>
                  <a:lnTo>
                    <a:pt x="149897" y="106969"/>
                  </a:lnTo>
                  <a:lnTo>
                    <a:pt x="148197" y="110836"/>
                  </a:lnTo>
                  <a:cubicBezTo>
                    <a:pt x="135353" y="138196"/>
                    <a:pt x="107825" y="155642"/>
                    <a:pt x="77600" y="155575"/>
                  </a:cubicBezTo>
                  <a:cubicBezTo>
                    <a:pt x="47375" y="155508"/>
                    <a:pt x="19924" y="137942"/>
                    <a:pt x="7202" y="110525"/>
                  </a:cubicBezTo>
                  <a:lnTo>
                    <a:pt x="5757" y="107225"/>
                  </a:lnTo>
                  <a:lnTo>
                    <a:pt x="5179" y="105747"/>
                  </a:lnTo>
                  <a:lnTo>
                    <a:pt x="4290" y="103335"/>
                  </a:lnTo>
                  <a:lnTo>
                    <a:pt x="3234" y="100068"/>
                  </a:lnTo>
                  <a:cubicBezTo>
                    <a:pt x="2857" y="98803"/>
                    <a:pt x="2513" y="97528"/>
                    <a:pt x="2201" y="96245"/>
                  </a:cubicBezTo>
                  <a:lnTo>
                    <a:pt x="1534" y="93234"/>
                  </a:lnTo>
                  <a:lnTo>
                    <a:pt x="990" y="90222"/>
                  </a:lnTo>
                  <a:lnTo>
                    <a:pt x="767" y="88678"/>
                  </a:lnTo>
                  <a:lnTo>
                    <a:pt x="334" y="85088"/>
                  </a:lnTo>
                  <a:lnTo>
                    <a:pt x="67" y="81032"/>
                  </a:lnTo>
                  <a:lnTo>
                    <a:pt x="1" y="77788"/>
                  </a:lnTo>
                  <a:cubicBezTo>
                    <a:pt x="0" y="35864"/>
                    <a:pt x="33223" y="1482"/>
                    <a:pt x="75121" y="44"/>
                  </a:cubicBezTo>
                  <a:lnTo>
                    <a:pt x="77788" y="0"/>
                  </a:lnTo>
                  <a:close/>
                </a:path>
              </a:pathLst>
            </a:custGeom>
            <a:solidFill>
              <a:srgbClr val="FFFFFF"/>
            </a:solidFill>
            <a:ln>
              <a:noFill/>
            </a:ln>
          </p:spPr>
        </p:sp>
      </p:grpSp>
      <p:sp>
        <p:nvSpPr>
          <p:cNvPr id="15" name="TextBox 15"/>
          <p:cNvSpPr txBox="1"/>
          <p:nvPr/>
        </p:nvSpPr>
        <p:spPr>
          <a:xfrm>
            <a:off x="2780465" y="1081564"/>
            <a:ext cx="91607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Strengths</a:t>
            </a:r>
          </a:p>
        </p:txBody>
      </p:sp>
      <p:sp>
        <p:nvSpPr>
          <p:cNvPr id="16" name="Rectangle 16"/>
          <p:cNvSpPr/>
          <p:nvPr/>
        </p:nvSpPr>
        <p:spPr>
          <a:xfrm>
            <a:off x="533400" y="1600200"/>
            <a:ext cx="5219700" cy="914400"/>
          </a:xfrm>
          <a:prstGeom prst="roundRect">
            <a:avLst>
              <a:gd name="adj" fmla="val 8333"/>
            </a:avLst>
          </a:prstGeom>
          <a:solidFill>
            <a:srgbClr val="F9E5E7"/>
          </a:solidFill>
          <a:ln>
            <a:noFill/>
          </a:ln>
        </p:spPr>
      </p:sp>
      <p:sp>
        <p:nvSpPr>
          <p:cNvPr id="17" name="Rectangle 17"/>
          <p:cNvSpPr/>
          <p:nvPr/>
        </p:nvSpPr>
        <p:spPr>
          <a:xfrm>
            <a:off x="533400" y="1600200"/>
            <a:ext cx="38100" cy="914400"/>
          </a:xfrm>
          <a:prstGeom prst="roundRect">
            <a:avLst>
              <a:gd name="adj" fmla="val 50000"/>
            </a:avLst>
          </a:prstGeom>
          <a:solidFill>
            <a:srgbClr val="AE232F"/>
          </a:solidFill>
          <a:ln>
            <a:noFill/>
          </a:ln>
        </p:spPr>
      </p:sp>
      <p:sp>
        <p:nvSpPr>
          <p:cNvPr id="18" name="Ellipse 18"/>
          <p:cNvSpPr/>
          <p:nvPr/>
        </p:nvSpPr>
        <p:spPr>
          <a:xfrm>
            <a:off x="628650" y="1676400"/>
            <a:ext cx="342900" cy="342900"/>
          </a:xfrm>
          <a:prstGeom prst="ellipse">
            <a:avLst/>
          </a:prstGeom>
          <a:solidFill>
            <a:srgbClr val="AE232F"/>
          </a:solidFill>
          <a:ln>
            <a:noFill/>
          </a:ln>
        </p:spPr>
      </p:sp>
      <p:sp>
        <p:nvSpPr>
          <p:cNvPr id="19" name="TextBox 19"/>
          <p:cNvSpPr txBox="1"/>
          <p:nvPr/>
        </p:nvSpPr>
        <p:spPr>
          <a:xfrm>
            <a:off x="746335" y="178212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1</a:t>
            </a:r>
          </a:p>
        </p:txBody>
      </p:sp>
      <p:sp>
        <p:nvSpPr>
          <p:cNvPr id="20" name="TextBox 20"/>
          <p:cNvSpPr txBox="1"/>
          <p:nvPr/>
        </p:nvSpPr>
        <p:spPr>
          <a:xfrm>
            <a:off x="1034415" y="1734502"/>
            <a:ext cx="1930558" cy="213360"/>
          </a:xfrm>
          <a:prstGeom prst="rect">
            <a:avLst/>
          </a:prstGeom>
          <a:noFill/>
          <a:ln>
            <a:noFill/>
          </a:ln>
        </p:spPr>
        <p:txBody>
          <a:bodyPr wrap="none" lIns="0" tIns="0" rIns="0" bIns="0" anchor="t" anchorCtr="0">
            <a:spAutoFit/>
          </a:bodyPr>
          <a:lstStyle/>
          <a:p>
            <a:pPr algn="l"/>
            <a:r>
              <a:rPr lang="zh-CN" sz="1050" b="1" dirty="0">
                <a:solidFill>
                  <a:srgbClr val="AE232F"/>
                </a:solidFill>
                <a:latin typeface="Arial"/>
                <a:ea typeface="Microsoft YaHei"/>
                <a:cs typeface="Arial"/>
              </a:rPr>
              <a:t>Pharma Science Foundation</a:t>
            </a:r>
          </a:p>
        </p:txBody>
      </p:sp>
      <p:sp>
        <p:nvSpPr>
          <p:cNvPr id="21" name="TextBox 21"/>
          <p:cNvSpPr txBox="1"/>
          <p:nvPr/>
        </p:nvSpPr>
        <p:spPr>
          <a:xfrm>
            <a:off x="1036320" y="1922145"/>
            <a:ext cx="3359277"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Pharm.D. GPA 3.50 — deep grasp of drug mechanisms, PK,</a:t>
            </a:r>
          </a:p>
        </p:txBody>
      </p:sp>
      <p:sp>
        <p:nvSpPr>
          <p:cNvPr id="22" name="TextBox 22"/>
          <p:cNvSpPr txBox="1"/>
          <p:nvPr/>
        </p:nvSpPr>
        <p:spPr>
          <a:xfrm>
            <a:off x="1036320" y="2074545"/>
            <a:ext cx="3407283"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and clinical evidence. I can discuss Clexane's anti-Xa data</a:t>
            </a:r>
          </a:p>
        </p:txBody>
      </p:sp>
      <p:sp>
        <p:nvSpPr>
          <p:cNvPr id="23" name="TextBox 23"/>
          <p:cNvSpPr txBox="1"/>
          <p:nvPr/>
        </p:nvSpPr>
        <p:spPr>
          <a:xfrm>
            <a:off x="1036320" y="2226945"/>
            <a:ext cx="2747200"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credibly with cardiologists and hematologists.</a:t>
            </a:r>
          </a:p>
        </p:txBody>
      </p:sp>
      <p:sp>
        <p:nvSpPr>
          <p:cNvPr id="24" name="Rectangle 24"/>
          <p:cNvSpPr/>
          <p:nvPr/>
        </p:nvSpPr>
        <p:spPr>
          <a:xfrm>
            <a:off x="533400" y="2667000"/>
            <a:ext cx="5219700" cy="914400"/>
          </a:xfrm>
          <a:prstGeom prst="roundRect">
            <a:avLst>
              <a:gd name="adj" fmla="val 8333"/>
            </a:avLst>
          </a:prstGeom>
          <a:solidFill>
            <a:srgbClr val="F9E5E7"/>
          </a:solidFill>
          <a:ln>
            <a:noFill/>
          </a:ln>
        </p:spPr>
      </p:sp>
      <p:sp>
        <p:nvSpPr>
          <p:cNvPr id="25" name="Rectangle 25"/>
          <p:cNvSpPr/>
          <p:nvPr/>
        </p:nvSpPr>
        <p:spPr>
          <a:xfrm>
            <a:off x="533400" y="2667000"/>
            <a:ext cx="38100" cy="914400"/>
          </a:xfrm>
          <a:prstGeom prst="roundRect">
            <a:avLst>
              <a:gd name="adj" fmla="val 50000"/>
            </a:avLst>
          </a:prstGeom>
          <a:solidFill>
            <a:srgbClr val="AE232F"/>
          </a:solidFill>
          <a:ln>
            <a:noFill/>
          </a:ln>
        </p:spPr>
      </p:sp>
      <p:sp>
        <p:nvSpPr>
          <p:cNvPr id="26" name="Ellipse 26"/>
          <p:cNvSpPr/>
          <p:nvPr/>
        </p:nvSpPr>
        <p:spPr>
          <a:xfrm>
            <a:off x="628650" y="2743200"/>
            <a:ext cx="342900" cy="342900"/>
          </a:xfrm>
          <a:prstGeom prst="ellipse">
            <a:avLst/>
          </a:prstGeom>
          <a:solidFill>
            <a:srgbClr val="AE232F"/>
          </a:solidFill>
          <a:ln>
            <a:noFill/>
          </a:ln>
        </p:spPr>
      </p:sp>
      <p:sp>
        <p:nvSpPr>
          <p:cNvPr id="27" name="TextBox 27"/>
          <p:cNvSpPr txBox="1"/>
          <p:nvPr/>
        </p:nvSpPr>
        <p:spPr>
          <a:xfrm>
            <a:off x="746335" y="284892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2</a:t>
            </a:r>
          </a:p>
        </p:txBody>
      </p:sp>
      <p:sp>
        <p:nvSpPr>
          <p:cNvPr id="28" name="TextBox 28"/>
          <p:cNvSpPr txBox="1"/>
          <p:nvPr/>
        </p:nvSpPr>
        <p:spPr>
          <a:xfrm>
            <a:off x="1034415" y="2801302"/>
            <a:ext cx="1739434" cy="213360"/>
          </a:xfrm>
          <a:prstGeom prst="rect">
            <a:avLst/>
          </a:prstGeom>
          <a:noFill/>
          <a:ln>
            <a:noFill/>
          </a:ln>
        </p:spPr>
        <p:txBody>
          <a:bodyPr wrap="none" lIns="0" tIns="0" rIns="0" bIns="0" anchor="t" anchorCtr="0">
            <a:spAutoFit/>
          </a:bodyPr>
          <a:lstStyle/>
          <a:p>
            <a:pPr algn="l"/>
            <a:r>
              <a:rPr lang="zh-CN" sz="1050" b="1" dirty="0">
                <a:solidFill>
                  <a:srgbClr val="AE232F"/>
                </a:solidFill>
                <a:latin typeface="Arial"/>
                <a:ea typeface="Microsoft YaHei"/>
                <a:cs typeface="Arial"/>
              </a:rPr>
              <a:t>Real Field MR Experience</a:t>
            </a:r>
          </a:p>
        </p:txBody>
      </p:sp>
      <p:sp>
        <p:nvSpPr>
          <p:cNvPr id="29" name="TextBox 29"/>
          <p:cNvSpPr txBox="1"/>
          <p:nvPr/>
        </p:nvSpPr>
        <p:spPr>
          <a:xfrm>
            <a:off x="1036320" y="2988945"/>
            <a:ext cx="3287268"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Solo physician visits at Ramathibodi, Bhumibol, and EENT</a:t>
            </a:r>
          </a:p>
        </p:txBody>
      </p:sp>
      <p:sp>
        <p:nvSpPr>
          <p:cNvPr id="30" name="TextBox 30"/>
          <p:cNvSpPr txBox="1"/>
          <p:nvPr/>
        </p:nvSpPr>
        <p:spPr>
          <a:xfrm>
            <a:off x="1036320" y="3141345"/>
            <a:ext cx="3593306"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Hospital during Roche internship — independently managed call</a:t>
            </a:r>
          </a:p>
        </p:txBody>
      </p:sp>
      <p:sp>
        <p:nvSpPr>
          <p:cNvPr id="31" name="TextBox 31"/>
          <p:cNvSpPr txBox="1"/>
          <p:nvPr/>
        </p:nvSpPr>
        <p:spPr>
          <a:xfrm>
            <a:off x="1036320" y="3293745"/>
            <a:ext cx="3749326"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cycles and handled physician objections in real clinical settings.</a:t>
            </a:r>
          </a:p>
        </p:txBody>
      </p:sp>
      <p:sp>
        <p:nvSpPr>
          <p:cNvPr id="32" name="Rectangle 32"/>
          <p:cNvSpPr/>
          <p:nvPr/>
        </p:nvSpPr>
        <p:spPr>
          <a:xfrm>
            <a:off x="533400" y="3733800"/>
            <a:ext cx="5219700" cy="914400"/>
          </a:xfrm>
          <a:prstGeom prst="roundRect">
            <a:avLst>
              <a:gd name="adj" fmla="val 8333"/>
            </a:avLst>
          </a:prstGeom>
          <a:solidFill>
            <a:srgbClr val="F9E5E7"/>
          </a:solidFill>
          <a:ln>
            <a:noFill/>
          </a:ln>
        </p:spPr>
      </p:sp>
      <p:sp>
        <p:nvSpPr>
          <p:cNvPr id="33" name="Rectangle 33"/>
          <p:cNvSpPr/>
          <p:nvPr/>
        </p:nvSpPr>
        <p:spPr>
          <a:xfrm>
            <a:off x="533400" y="3733800"/>
            <a:ext cx="38100" cy="914400"/>
          </a:xfrm>
          <a:prstGeom prst="roundRect">
            <a:avLst>
              <a:gd name="adj" fmla="val 50000"/>
            </a:avLst>
          </a:prstGeom>
          <a:solidFill>
            <a:srgbClr val="AE232F"/>
          </a:solidFill>
          <a:ln>
            <a:noFill/>
          </a:ln>
        </p:spPr>
      </p:sp>
      <p:sp>
        <p:nvSpPr>
          <p:cNvPr id="34" name="Ellipse 34"/>
          <p:cNvSpPr/>
          <p:nvPr/>
        </p:nvSpPr>
        <p:spPr>
          <a:xfrm>
            <a:off x="628650" y="3810000"/>
            <a:ext cx="342900" cy="342900"/>
          </a:xfrm>
          <a:prstGeom prst="ellipse">
            <a:avLst/>
          </a:prstGeom>
          <a:solidFill>
            <a:srgbClr val="AE232F"/>
          </a:solidFill>
          <a:ln>
            <a:noFill/>
          </a:ln>
        </p:spPr>
      </p:sp>
      <p:sp>
        <p:nvSpPr>
          <p:cNvPr id="35" name="TextBox 35"/>
          <p:cNvSpPr txBox="1"/>
          <p:nvPr/>
        </p:nvSpPr>
        <p:spPr>
          <a:xfrm>
            <a:off x="746335" y="391572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3</a:t>
            </a:r>
          </a:p>
        </p:txBody>
      </p:sp>
      <p:sp>
        <p:nvSpPr>
          <p:cNvPr id="36" name="TextBox 36"/>
          <p:cNvSpPr txBox="1"/>
          <p:nvPr/>
        </p:nvSpPr>
        <p:spPr>
          <a:xfrm>
            <a:off x="1034415" y="3868102"/>
            <a:ext cx="1827645" cy="213360"/>
          </a:xfrm>
          <a:prstGeom prst="rect">
            <a:avLst/>
          </a:prstGeom>
          <a:noFill/>
          <a:ln>
            <a:noFill/>
          </a:ln>
        </p:spPr>
        <p:txBody>
          <a:bodyPr wrap="none" lIns="0" tIns="0" rIns="0" bIns="0" anchor="t" anchorCtr="0">
            <a:spAutoFit/>
          </a:bodyPr>
          <a:lstStyle/>
          <a:p>
            <a:pPr algn="l"/>
            <a:r>
              <a:rPr lang="zh-CN" sz="1050" b="1" dirty="0">
                <a:solidFill>
                  <a:srgbClr val="AE232F"/>
                </a:solidFill>
                <a:latin typeface="Arial"/>
                <a:ea typeface="Microsoft YaHei"/>
                <a:cs typeface="Arial"/>
              </a:rPr>
              <a:t>Communication &amp; Empathy</a:t>
            </a:r>
          </a:p>
        </p:txBody>
      </p:sp>
      <p:sp>
        <p:nvSpPr>
          <p:cNvPr id="37" name="TextBox 37"/>
          <p:cNvSpPr txBox="1"/>
          <p:nvPr/>
        </p:nvSpPr>
        <p:spPr>
          <a:xfrm>
            <a:off x="1036320" y="4055745"/>
            <a:ext cx="3587306"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Natural rapport-builder — comfortable in medical &amp; scientific</a:t>
            </a:r>
          </a:p>
        </p:txBody>
      </p:sp>
      <p:sp>
        <p:nvSpPr>
          <p:cNvPr id="38" name="TextBox 38"/>
          <p:cNvSpPr txBox="1"/>
          <p:nvPr/>
        </p:nvSpPr>
        <p:spPr>
          <a:xfrm>
            <a:off x="1036320" y="4208145"/>
            <a:ext cx="3701320"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discussions with both senior physicians and ward pharmacists.</a:t>
            </a:r>
          </a:p>
        </p:txBody>
      </p:sp>
      <p:sp>
        <p:nvSpPr>
          <p:cNvPr id="39" name="TextBox 39"/>
          <p:cNvSpPr txBox="1"/>
          <p:nvPr/>
        </p:nvSpPr>
        <p:spPr>
          <a:xfrm>
            <a:off x="1036320" y="4360545"/>
            <a:ext cx="2525173"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English and Thai medical vocabulary fluent.</a:t>
            </a:r>
          </a:p>
        </p:txBody>
      </p:sp>
      <p:sp>
        <p:nvSpPr>
          <p:cNvPr id="40" name="Rectangle 40"/>
          <p:cNvSpPr/>
          <p:nvPr/>
        </p:nvSpPr>
        <p:spPr>
          <a:xfrm>
            <a:off x="533400" y="4781550"/>
            <a:ext cx="5219700" cy="647700"/>
          </a:xfrm>
          <a:prstGeom prst="roundRect">
            <a:avLst>
              <a:gd name="adj" fmla="val 8824"/>
            </a:avLst>
          </a:prstGeom>
          <a:solidFill>
            <a:srgbClr val="F5F5F5"/>
          </a:solidFill>
          <a:ln>
            <a:noFill/>
          </a:ln>
        </p:spPr>
      </p:sp>
      <p:sp>
        <p:nvSpPr>
          <p:cNvPr id="41" name="Freeform 41"/>
          <p:cNvSpPr/>
          <p:nvPr/>
        </p:nvSpPr>
        <p:spPr>
          <a:xfrm>
            <a:off x="931862" y="4982522"/>
            <a:ext cx="174625" cy="145492"/>
          </a:xfrm>
          <a:custGeom>
            <a:avLst/>
            <a:gdLst/>
            <a:ahLst/>
            <a:cxnLst/>
            <a:rect l="l" t="t" r="r" b="b"/>
            <a:pathLst>
              <a:path w="174625" h="145492">
                <a:moveTo>
                  <a:pt x="170259" y="15304"/>
                </a:moveTo>
                <a:cubicBezTo>
                  <a:pt x="172644" y="16680"/>
                  <a:pt x="174239" y="19101"/>
                  <a:pt x="174564" y="21835"/>
                </a:cubicBezTo>
                <a:lnTo>
                  <a:pt x="174625" y="22865"/>
                </a:lnTo>
                <a:lnTo>
                  <a:pt x="174625" y="136371"/>
                </a:lnTo>
                <a:cubicBezTo>
                  <a:pt x="174625" y="139491"/>
                  <a:pt x="172961" y="142373"/>
                  <a:pt x="170259" y="143933"/>
                </a:cubicBezTo>
                <a:cubicBezTo>
                  <a:pt x="167558" y="145492"/>
                  <a:pt x="164230" y="145492"/>
                  <a:pt x="161528" y="143933"/>
                </a:cubicBezTo>
                <a:cubicBezTo>
                  <a:pt x="141440" y="132333"/>
                  <a:pt x="116903" y="131463"/>
                  <a:pt x="96044" y="141610"/>
                </a:cubicBezTo>
                <a:lnTo>
                  <a:pt x="96044" y="9122"/>
                </a:lnTo>
                <a:cubicBezTo>
                  <a:pt x="120465" y="0"/>
                  <a:pt x="147684" y="2267"/>
                  <a:pt x="170259" y="15304"/>
                </a:cubicBezTo>
                <a:moveTo>
                  <a:pt x="78581" y="9131"/>
                </a:moveTo>
                <a:lnTo>
                  <a:pt x="78590" y="141619"/>
                </a:lnTo>
                <a:cubicBezTo>
                  <a:pt x="58576" y="131876"/>
                  <a:pt x="35117" y="132255"/>
                  <a:pt x="15428" y="142640"/>
                </a:cubicBezTo>
                <a:lnTo>
                  <a:pt x="12573" y="144212"/>
                </a:lnTo>
                <a:lnTo>
                  <a:pt x="11674" y="144596"/>
                </a:lnTo>
                <a:lnTo>
                  <a:pt x="11246" y="144736"/>
                </a:lnTo>
                <a:lnTo>
                  <a:pt x="10285" y="144963"/>
                </a:lnTo>
                <a:lnTo>
                  <a:pt x="9753" y="145050"/>
                </a:lnTo>
                <a:lnTo>
                  <a:pt x="8731" y="145103"/>
                </a:lnTo>
                <a:lnTo>
                  <a:pt x="8365" y="145103"/>
                </a:lnTo>
                <a:lnTo>
                  <a:pt x="7404" y="144998"/>
                </a:lnTo>
                <a:lnTo>
                  <a:pt x="6732" y="144876"/>
                </a:lnTo>
                <a:lnTo>
                  <a:pt x="5789" y="144596"/>
                </a:lnTo>
                <a:lnTo>
                  <a:pt x="4689" y="144107"/>
                </a:lnTo>
                <a:lnTo>
                  <a:pt x="3859" y="143618"/>
                </a:lnTo>
                <a:lnTo>
                  <a:pt x="3082" y="143033"/>
                </a:lnTo>
                <a:lnTo>
                  <a:pt x="2558" y="142544"/>
                </a:lnTo>
                <a:lnTo>
                  <a:pt x="1921" y="141828"/>
                </a:lnTo>
                <a:lnTo>
                  <a:pt x="1362" y="141051"/>
                </a:lnTo>
                <a:lnTo>
                  <a:pt x="1170" y="140737"/>
                </a:lnTo>
                <a:lnTo>
                  <a:pt x="891" y="140213"/>
                </a:lnTo>
                <a:lnTo>
                  <a:pt x="506" y="139314"/>
                </a:lnTo>
                <a:lnTo>
                  <a:pt x="367" y="138886"/>
                </a:lnTo>
                <a:lnTo>
                  <a:pt x="140" y="137925"/>
                </a:lnTo>
                <a:lnTo>
                  <a:pt x="52" y="137393"/>
                </a:lnTo>
                <a:lnTo>
                  <a:pt x="17" y="136965"/>
                </a:lnTo>
                <a:lnTo>
                  <a:pt x="0" y="22865"/>
                </a:lnTo>
                <a:cubicBezTo>
                  <a:pt x="0" y="19746"/>
                  <a:pt x="1664" y="16863"/>
                  <a:pt x="4366" y="15304"/>
                </a:cubicBezTo>
                <a:cubicBezTo>
                  <a:pt x="26942" y="2270"/>
                  <a:pt x="54162" y="6"/>
                  <a:pt x="78581" y="9131"/>
                </a:cubicBezTo>
              </a:path>
            </a:pathLst>
          </a:custGeom>
          <a:solidFill>
            <a:srgbClr val="AE232F"/>
          </a:solidFill>
          <a:ln>
            <a:noFill/>
          </a:ln>
        </p:spPr>
      </p:sp>
      <p:sp>
        <p:nvSpPr>
          <p:cNvPr id="42" name="TextBox 42"/>
          <p:cNvSpPr txBox="1"/>
          <p:nvPr/>
        </p:nvSpPr>
        <p:spPr>
          <a:xfrm>
            <a:off x="1227772" y="5006816"/>
            <a:ext cx="906566"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Science Literacy</a:t>
            </a:r>
          </a:p>
        </p:txBody>
      </p:sp>
      <p:sp>
        <p:nvSpPr>
          <p:cNvPr id="43" name="Freeform 43"/>
          <p:cNvSpPr/>
          <p:nvPr/>
        </p:nvSpPr>
        <p:spPr>
          <a:xfrm>
            <a:off x="2570162" y="4970462"/>
            <a:ext cx="174625" cy="165894"/>
          </a:xfrm>
          <a:custGeom>
            <a:avLst/>
            <a:gdLst/>
            <a:ahLst/>
            <a:cxnLst/>
            <a:rect l="l" t="t" r="r" b="b"/>
            <a:pathLst>
              <a:path w="174625" h="165894">
                <a:moveTo>
                  <a:pt x="174625" y="100217"/>
                </a:moveTo>
                <a:lnTo>
                  <a:pt x="174625" y="139700"/>
                </a:lnTo>
                <a:cubicBezTo>
                  <a:pt x="174625" y="154166"/>
                  <a:pt x="162898" y="165894"/>
                  <a:pt x="148431" y="165894"/>
                </a:cubicBezTo>
                <a:lnTo>
                  <a:pt x="26194" y="165894"/>
                </a:lnTo>
                <a:cubicBezTo>
                  <a:pt x="11727" y="165894"/>
                  <a:pt x="0" y="154166"/>
                  <a:pt x="0" y="139700"/>
                </a:cubicBezTo>
                <a:lnTo>
                  <a:pt x="0" y="100217"/>
                </a:lnTo>
                <a:lnTo>
                  <a:pt x="4828" y="102636"/>
                </a:lnTo>
                <a:cubicBezTo>
                  <a:pt x="56722" y="128775"/>
                  <a:pt x="117935" y="128768"/>
                  <a:pt x="169823" y="102618"/>
                </a:cubicBezTo>
                <a:lnTo>
                  <a:pt x="174625" y="100217"/>
                </a:lnTo>
                <a:close/>
                <a:moveTo>
                  <a:pt x="104775" y="0"/>
                </a:moveTo>
                <a:cubicBezTo>
                  <a:pt x="119241" y="0"/>
                  <a:pt x="130969" y="11727"/>
                  <a:pt x="130969" y="26194"/>
                </a:cubicBezTo>
                <a:lnTo>
                  <a:pt x="130969" y="34925"/>
                </a:lnTo>
                <a:lnTo>
                  <a:pt x="148431" y="34925"/>
                </a:lnTo>
                <a:cubicBezTo>
                  <a:pt x="162898" y="34925"/>
                  <a:pt x="174625" y="46652"/>
                  <a:pt x="174625" y="61119"/>
                </a:cubicBezTo>
                <a:lnTo>
                  <a:pt x="174625" y="80694"/>
                </a:lnTo>
                <a:lnTo>
                  <a:pt x="161991" y="87016"/>
                </a:lnTo>
                <a:cubicBezTo>
                  <a:pt x="116180" y="110106"/>
                  <a:pt x="62265" y="110705"/>
                  <a:pt x="15952" y="88640"/>
                </a:cubicBezTo>
                <a:lnTo>
                  <a:pt x="10303" y="85846"/>
                </a:lnTo>
                <a:lnTo>
                  <a:pt x="0" y="80694"/>
                </a:lnTo>
                <a:lnTo>
                  <a:pt x="0" y="61119"/>
                </a:lnTo>
                <a:cubicBezTo>
                  <a:pt x="0" y="46652"/>
                  <a:pt x="11727" y="34925"/>
                  <a:pt x="26194" y="34925"/>
                </a:cubicBezTo>
                <a:lnTo>
                  <a:pt x="43656" y="34925"/>
                </a:lnTo>
                <a:lnTo>
                  <a:pt x="43656" y="26194"/>
                </a:lnTo>
                <a:cubicBezTo>
                  <a:pt x="43656" y="11727"/>
                  <a:pt x="55384" y="0"/>
                  <a:pt x="69850" y="0"/>
                </a:cubicBezTo>
                <a:lnTo>
                  <a:pt x="104775" y="0"/>
                </a:lnTo>
                <a:close/>
                <a:moveTo>
                  <a:pt x="87313" y="69850"/>
                </a:moveTo>
                <a:cubicBezTo>
                  <a:pt x="82490" y="69850"/>
                  <a:pt x="78581" y="73759"/>
                  <a:pt x="78581" y="78581"/>
                </a:cubicBezTo>
                <a:cubicBezTo>
                  <a:pt x="78566" y="81701"/>
                  <a:pt x="80215" y="84591"/>
                  <a:pt x="82909" y="86165"/>
                </a:cubicBezTo>
                <a:cubicBezTo>
                  <a:pt x="85603" y="87738"/>
                  <a:pt x="88931" y="87754"/>
                  <a:pt x="91640" y="86208"/>
                </a:cubicBezTo>
                <a:cubicBezTo>
                  <a:pt x="94350" y="84662"/>
                  <a:pt x="96028" y="81788"/>
                  <a:pt x="96044" y="78669"/>
                </a:cubicBezTo>
                <a:cubicBezTo>
                  <a:pt x="96044" y="73762"/>
                  <a:pt x="92132" y="69850"/>
                  <a:pt x="87313" y="69850"/>
                </a:cubicBezTo>
                <a:close/>
                <a:moveTo>
                  <a:pt x="104775" y="17462"/>
                </a:moveTo>
                <a:lnTo>
                  <a:pt x="69850" y="17462"/>
                </a:lnTo>
                <a:cubicBezTo>
                  <a:pt x="65028" y="17462"/>
                  <a:pt x="61119" y="21372"/>
                  <a:pt x="61119" y="26194"/>
                </a:cubicBezTo>
                <a:lnTo>
                  <a:pt x="61119" y="34925"/>
                </a:lnTo>
                <a:lnTo>
                  <a:pt x="113506" y="34925"/>
                </a:lnTo>
                <a:lnTo>
                  <a:pt x="113506" y="26194"/>
                </a:lnTo>
                <a:cubicBezTo>
                  <a:pt x="113506" y="21372"/>
                  <a:pt x="109597" y="17462"/>
                  <a:pt x="104775" y="17462"/>
                </a:cubicBezTo>
                <a:close/>
              </a:path>
            </a:pathLst>
          </a:custGeom>
          <a:solidFill>
            <a:srgbClr val="AE232F"/>
          </a:solidFill>
          <a:ln>
            <a:noFill/>
          </a:ln>
        </p:spPr>
      </p:sp>
      <p:sp>
        <p:nvSpPr>
          <p:cNvPr id="44" name="TextBox 44"/>
          <p:cNvSpPr txBox="1"/>
          <p:nvPr/>
        </p:nvSpPr>
        <p:spPr>
          <a:xfrm>
            <a:off x="2866072" y="5006816"/>
            <a:ext cx="604028"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Field Ready</a:t>
            </a:r>
          </a:p>
        </p:txBody>
      </p:sp>
      <p:sp>
        <p:nvSpPr>
          <p:cNvPr id="45" name="Freeform 45"/>
          <p:cNvSpPr/>
          <p:nvPr/>
        </p:nvSpPr>
        <p:spPr>
          <a:xfrm>
            <a:off x="4208462" y="4979194"/>
            <a:ext cx="174625" cy="166302"/>
          </a:xfrm>
          <a:custGeom>
            <a:avLst/>
            <a:gdLst/>
            <a:ahLst/>
            <a:cxnLst/>
            <a:rect l="l" t="t" r="r" b="b"/>
            <a:pathLst>
              <a:path w="174625" h="166302">
                <a:moveTo>
                  <a:pt x="139700" y="0"/>
                </a:moveTo>
                <a:cubicBezTo>
                  <a:pt x="158989" y="0"/>
                  <a:pt x="174625" y="15636"/>
                  <a:pt x="174625" y="34925"/>
                </a:cubicBezTo>
                <a:lnTo>
                  <a:pt x="174625" y="104775"/>
                </a:lnTo>
                <a:cubicBezTo>
                  <a:pt x="174625" y="124064"/>
                  <a:pt x="158989" y="139700"/>
                  <a:pt x="139700" y="139700"/>
                </a:cubicBezTo>
                <a:lnTo>
                  <a:pt x="98454" y="139700"/>
                </a:lnTo>
                <a:lnTo>
                  <a:pt x="56875" y="164645"/>
                </a:lnTo>
                <a:cubicBezTo>
                  <a:pt x="54331" y="166172"/>
                  <a:pt x="51185" y="166302"/>
                  <a:pt x="48524" y="164991"/>
                </a:cubicBezTo>
                <a:cubicBezTo>
                  <a:pt x="45862" y="163679"/>
                  <a:pt x="44048" y="161106"/>
                  <a:pt x="43709" y="158158"/>
                </a:cubicBezTo>
                <a:lnTo>
                  <a:pt x="43656" y="157162"/>
                </a:lnTo>
                <a:lnTo>
                  <a:pt x="43656" y="139700"/>
                </a:lnTo>
                <a:lnTo>
                  <a:pt x="34925" y="139700"/>
                </a:lnTo>
                <a:cubicBezTo>
                  <a:pt x="16315" y="139700"/>
                  <a:pt x="974" y="125108"/>
                  <a:pt x="44" y="106521"/>
                </a:cubicBezTo>
                <a:lnTo>
                  <a:pt x="0" y="104775"/>
                </a:lnTo>
                <a:lnTo>
                  <a:pt x="0" y="34925"/>
                </a:lnTo>
                <a:cubicBezTo>
                  <a:pt x="0" y="15636"/>
                  <a:pt x="15636" y="0"/>
                  <a:pt x="34925" y="0"/>
                </a:cubicBezTo>
                <a:close/>
                <a:moveTo>
                  <a:pt x="104775" y="78581"/>
                </a:moveTo>
                <a:lnTo>
                  <a:pt x="52388" y="78581"/>
                </a:lnTo>
                <a:cubicBezTo>
                  <a:pt x="47565" y="78581"/>
                  <a:pt x="43656" y="82490"/>
                  <a:pt x="43656" y="87312"/>
                </a:cubicBezTo>
                <a:cubicBezTo>
                  <a:pt x="43656" y="92135"/>
                  <a:pt x="47565" y="96044"/>
                  <a:pt x="52388" y="96044"/>
                </a:cubicBezTo>
                <a:lnTo>
                  <a:pt x="104775" y="96044"/>
                </a:lnTo>
                <a:cubicBezTo>
                  <a:pt x="109597" y="96044"/>
                  <a:pt x="113506" y="92135"/>
                  <a:pt x="113506" y="87312"/>
                </a:cubicBezTo>
                <a:cubicBezTo>
                  <a:pt x="113506" y="82490"/>
                  <a:pt x="109597" y="78581"/>
                  <a:pt x="104775" y="78581"/>
                </a:cubicBezTo>
                <a:moveTo>
                  <a:pt x="122238" y="43656"/>
                </a:moveTo>
                <a:lnTo>
                  <a:pt x="52388" y="43656"/>
                </a:lnTo>
                <a:cubicBezTo>
                  <a:pt x="47565" y="43656"/>
                  <a:pt x="43656" y="47565"/>
                  <a:pt x="43656" y="52388"/>
                </a:cubicBezTo>
                <a:cubicBezTo>
                  <a:pt x="43656" y="57210"/>
                  <a:pt x="47565" y="61119"/>
                  <a:pt x="52388" y="61119"/>
                </a:cubicBezTo>
                <a:lnTo>
                  <a:pt x="122238" y="61119"/>
                </a:lnTo>
                <a:cubicBezTo>
                  <a:pt x="127060" y="61119"/>
                  <a:pt x="130969" y="57210"/>
                  <a:pt x="130969" y="52388"/>
                </a:cubicBezTo>
                <a:cubicBezTo>
                  <a:pt x="130969" y="47565"/>
                  <a:pt x="127060" y="43656"/>
                  <a:pt x="122238" y="43656"/>
                </a:cubicBezTo>
              </a:path>
            </a:pathLst>
          </a:custGeom>
          <a:solidFill>
            <a:srgbClr val="AE232F"/>
          </a:solidFill>
          <a:ln>
            <a:noFill/>
          </a:ln>
        </p:spPr>
      </p:sp>
      <p:sp>
        <p:nvSpPr>
          <p:cNvPr id="46" name="TextBox 46"/>
          <p:cNvSpPr txBox="1"/>
          <p:nvPr/>
        </p:nvSpPr>
        <p:spPr>
          <a:xfrm>
            <a:off x="4504372" y="5006816"/>
            <a:ext cx="1159597"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Strong Communicator</a:t>
            </a:r>
          </a:p>
        </p:txBody>
      </p:sp>
      <p:sp>
        <p:nvSpPr>
          <p:cNvPr id="47" name="TextBox 47"/>
          <p:cNvSpPr txBox="1"/>
          <p:nvPr/>
        </p:nvSpPr>
        <p:spPr>
          <a:xfrm>
            <a:off x="904875" y="5233988"/>
            <a:ext cx="1554242" cy="152400"/>
          </a:xfrm>
          <a:prstGeom prst="rect">
            <a:avLst/>
          </a:prstGeom>
          <a:noFill/>
          <a:ln>
            <a:noFill/>
          </a:ln>
        </p:spPr>
        <p:txBody>
          <a:bodyPr wrap="none" lIns="0" tIns="0" rIns="0" bIns="0" anchor="t" anchorCtr="0">
            <a:spAutoFit/>
          </a:bodyPr>
          <a:lstStyle/>
          <a:p>
            <a:pPr algn="l"/>
            <a:r>
              <a:rPr lang="zh-CN" sz="750" dirty="0">
                <a:solidFill>
                  <a:srgbClr val="888888"/>
                </a:solidFill>
                <a:latin typeface="Arial"/>
                <a:ea typeface="Microsoft YaHei"/>
                <a:cs typeface="Arial"/>
              </a:rPr>
              <a:t>Clinical credibility from day one</a:t>
            </a:r>
          </a:p>
        </p:txBody>
      </p:sp>
      <p:sp>
        <p:nvSpPr>
          <p:cNvPr id="48" name="TextBox 48"/>
          <p:cNvSpPr txBox="1"/>
          <p:nvPr/>
        </p:nvSpPr>
        <p:spPr>
          <a:xfrm>
            <a:off x="2543175" y="5233988"/>
            <a:ext cx="1214199" cy="152400"/>
          </a:xfrm>
          <a:prstGeom prst="rect">
            <a:avLst/>
          </a:prstGeom>
          <a:noFill/>
          <a:ln>
            <a:noFill/>
          </a:ln>
        </p:spPr>
        <p:txBody>
          <a:bodyPr wrap="none" lIns="0" tIns="0" rIns="0" bIns="0" anchor="t" anchorCtr="0">
            <a:spAutoFit/>
          </a:bodyPr>
          <a:lstStyle/>
          <a:p>
            <a:pPr algn="l"/>
            <a:r>
              <a:rPr lang="zh-CN" sz="750" dirty="0">
                <a:solidFill>
                  <a:srgbClr val="888888"/>
                </a:solidFill>
                <a:latin typeface="Arial"/>
                <a:ea typeface="Microsoft YaHei"/>
                <a:cs typeface="Arial"/>
              </a:rPr>
              <a:t>Proven, not just trained</a:t>
            </a:r>
          </a:p>
        </p:txBody>
      </p:sp>
      <p:sp>
        <p:nvSpPr>
          <p:cNvPr id="49" name="TextBox 49"/>
          <p:cNvSpPr txBox="1"/>
          <p:nvPr/>
        </p:nvSpPr>
        <p:spPr>
          <a:xfrm>
            <a:off x="4181475" y="5233988"/>
            <a:ext cx="984171" cy="152400"/>
          </a:xfrm>
          <a:prstGeom prst="rect">
            <a:avLst/>
          </a:prstGeom>
          <a:noFill/>
          <a:ln>
            <a:noFill/>
          </a:ln>
        </p:spPr>
        <p:txBody>
          <a:bodyPr wrap="none" lIns="0" tIns="0" rIns="0" bIns="0" anchor="t" anchorCtr="0">
            <a:spAutoFit/>
          </a:bodyPr>
          <a:lstStyle/>
          <a:p>
            <a:pPr algn="l"/>
            <a:r>
              <a:rPr lang="zh-CN" sz="750" dirty="0">
                <a:solidFill>
                  <a:srgbClr val="888888"/>
                </a:solidFill>
                <a:latin typeface="Arial"/>
                <a:ea typeface="Microsoft YaHei"/>
                <a:cs typeface="Arial"/>
              </a:rPr>
              <a:t>Physicians trust me</a:t>
            </a:r>
          </a:p>
        </p:txBody>
      </p:sp>
      <p:sp>
        <p:nvSpPr>
          <p:cNvPr id="50" name="Rectangle 50"/>
          <p:cNvSpPr/>
          <p:nvPr/>
        </p:nvSpPr>
        <p:spPr>
          <a:xfrm>
            <a:off x="6248400" y="914400"/>
            <a:ext cx="5600700" cy="4667250"/>
          </a:xfrm>
          <a:prstGeom prst="roundRect">
            <a:avLst>
              <a:gd name="adj" fmla="val 2041"/>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51" name="Rectangle 51"/>
          <p:cNvSpPr/>
          <p:nvPr/>
        </p:nvSpPr>
        <p:spPr>
          <a:xfrm>
            <a:off x="6248400" y="914400"/>
            <a:ext cx="5600700" cy="495300"/>
          </a:xfrm>
          <a:prstGeom prst="roundRect">
            <a:avLst>
              <a:gd name="adj" fmla="val 19231"/>
            </a:avLst>
          </a:prstGeom>
          <a:solidFill>
            <a:srgbClr val="F5F5F5"/>
          </a:solidFill>
          <a:ln w="9525">
            <a:solidFill>
              <a:srgbClr val="E0E0E0"/>
            </a:solidFill>
          </a:ln>
        </p:spPr>
      </p:sp>
      <p:sp>
        <p:nvSpPr>
          <p:cNvPr id="52" name="Rectangle 52"/>
          <p:cNvSpPr/>
          <p:nvPr/>
        </p:nvSpPr>
        <p:spPr>
          <a:xfrm>
            <a:off x="6248400" y="1219200"/>
            <a:ext cx="5600700" cy="190500"/>
          </a:xfrm>
          <a:prstGeom prst="rect">
            <a:avLst/>
          </a:prstGeom>
          <a:solidFill>
            <a:srgbClr val="F5F5F5"/>
          </a:solidFill>
          <a:ln>
            <a:noFill/>
          </a:ln>
        </p:spPr>
      </p:sp>
      <p:sp>
        <p:nvSpPr>
          <p:cNvPr id="53" name="Freeform 53"/>
          <p:cNvSpPr/>
          <p:nvPr/>
        </p:nvSpPr>
        <p:spPr>
          <a:xfrm>
            <a:off x="6461136" y="1062038"/>
            <a:ext cx="224381" cy="211137"/>
          </a:xfrm>
          <a:custGeom>
            <a:avLst/>
            <a:gdLst/>
            <a:ahLst/>
            <a:cxnLst/>
            <a:rect l="l" t="t" r="r" b="b"/>
            <a:pathLst>
              <a:path w="224381" h="211137">
                <a:moveTo>
                  <a:pt x="166676" y="0"/>
                </a:moveTo>
                <a:cubicBezTo>
                  <a:pt x="172310" y="1"/>
                  <a:pt x="177052" y="4217"/>
                  <a:pt x="177711" y="9812"/>
                </a:cubicBezTo>
                <a:lnTo>
                  <a:pt x="177789" y="11113"/>
                </a:lnTo>
                <a:lnTo>
                  <a:pt x="177789" y="35227"/>
                </a:lnTo>
                <a:cubicBezTo>
                  <a:pt x="191601" y="30360"/>
                  <a:pt x="206972" y="35077"/>
                  <a:pt x="215677" y="46854"/>
                </a:cubicBezTo>
                <a:cubicBezTo>
                  <a:pt x="224381" y="58630"/>
                  <a:pt x="224381" y="74709"/>
                  <a:pt x="215677" y="86485"/>
                </a:cubicBezTo>
                <a:cubicBezTo>
                  <a:pt x="206972" y="98262"/>
                  <a:pt x="191601" y="102979"/>
                  <a:pt x="177789" y="98112"/>
                </a:cubicBezTo>
                <a:lnTo>
                  <a:pt x="177789" y="100012"/>
                </a:lnTo>
                <a:cubicBezTo>
                  <a:pt x="177785" y="132548"/>
                  <a:pt x="154306" y="160333"/>
                  <a:pt x="122226" y="165765"/>
                </a:cubicBezTo>
                <a:lnTo>
                  <a:pt x="122226" y="188913"/>
                </a:lnTo>
                <a:lnTo>
                  <a:pt x="155564" y="188913"/>
                </a:lnTo>
                <a:cubicBezTo>
                  <a:pt x="161443" y="188919"/>
                  <a:pt x="166300" y="193504"/>
                  <a:pt x="166645" y="199374"/>
                </a:cubicBezTo>
                <a:cubicBezTo>
                  <a:pt x="166990" y="205243"/>
                  <a:pt x="162702" y="210365"/>
                  <a:pt x="156864" y="211060"/>
                </a:cubicBezTo>
                <a:lnTo>
                  <a:pt x="155564" y="211137"/>
                </a:lnTo>
                <a:lnTo>
                  <a:pt x="66664" y="211137"/>
                </a:lnTo>
                <a:cubicBezTo>
                  <a:pt x="60784" y="211131"/>
                  <a:pt x="55927" y="206546"/>
                  <a:pt x="55583" y="200676"/>
                </a:cubicBezTo>
                <a:cubicBezTo>
                  <a:pt x="55238" y="194807"/>
                  <a:pt x="59525" y="189685"/>
                  <a:pt x="65364" y="188990"/>
                </a:cubicBezTo>
                <a:lnTo>
                  <a:pt x="66664" y="188913"/>
                </a:lnTo>
                <a:lnTo>
                  <a:pt x="100001" y="188913"/>
                </a:lnTo>
                <a:lnTo>
                  <a:pt x="100001" y="165765"/>
                </a:lnTo>
                <a:cubicBezTo>
                  <a:pt x="68850" y="160492"/>
                  <a:pt x="45672" y="134085"/>
                  <a:pt x="44483" y="102513"/>
                </a:cubicBezTo>
                <a:lnTo>
                  <a:pt x="44439" y="100012"/>
                </a:lnTo>
                <a:lnTo>
                  <a:pt x="44439" y="98112"/>
                </a:lnTo>
                <a:cubicBezTo>
                  <a:pt x="34558" y="101610"/>
                  <a:pt x="23607" y="100257"/>
                  <a:pt x="14875" y="94459"/>
                </a:cubicBezTo>
                <a:cubicBezTo>
                  <a:pt x="6142" y="88662"/>
                  <a:pt x="645" y="79095"/>
                  <a:pt x="33" y="68631"/>
                </a:cubicBezTo>
                <a:lnTo>
                  <a:pt x="0" y="66675"/>
                </a:lnTo>
                <a:lnTo>
                  <a:pt x="56" y="64719"/>
                </a:lnTo>
                <a:cubicBezTo>
                  <a:pt x="665" y="54256"/>
                  <a:pt x="6159" y="44688"/>
                  <a:pt x="14889" y="38889"/>
                </a:cubicBezTo>
                <a:cubicBezTo>
                  <a:pt x="23619" y="33089"/>
                  <a:pt x="34569" y="31733"/>
                  <a:pt x="44450" y="35227"/>
                </a:cubicBezTo>
                <a:lnTo>
                  <a:pt x="44439" y="11113"/>
                </a:lnTo>
                <a:cubicBezTo>
                  <a:pt x="44439" y="4975"/>
                  <a:pt x="49414" y="0"/>
                  <a:pt x="55551" y="0"/>
                </a:cubicBezTo>
                <a:lnTo>
                  <a:pt x="166676" y="0"/>
                </a:lnTo>
                <a:close/>
                <a:moveTo>
                  <a:pt x="33326" y="55562"/>
                </a:moveTo>
                <a:cubicBezTo>
                  <a:pt x="27189" y="55562"/>
                  <a:pt x="22214" y="60538"/>
                  <a:pt x="22214" y="66675"/>
                </a:cubicBezTo>
                <a:cubicBezTo>
                  <a:pt x="22214" y="72812"/>
                  <a:pt x="27189" y="77788"/>
                  <a:pt x="33326" y="77788"/>
                </a:cubicBezTo>
                <a:cubicBezTo>
                  <a:pt x="39464" y="77788"/>
                  <a:pt x="44439" y="72812"/>
                  <a:pt x="44439" y="66675"/>
                </a:cubicBezTo>
                <a:cubicBezTo>
                  <a:pt x="44439" y="60538"/>
                  <a:pt x="39464" y="55562"/>
                  <a:pt x="33326" y="55562"/>
                </a:cubicBezTo>
                <a:moveTo>
                  <a:pt x="188901" y="55562"/>
                </a:moveTo>
                <a:cubicBezTo>
                  <a:pt x="182764" y="55562"/>
                  <a:pt x="177789" y="60538"/>
                  <a:pt x="177789" y="66675"/>
                </a:cubicBezTo>
                <a:cubicBezTo>
                  <a:pt x="177789" y="72812"/>
                  <a:pt x="182764" y="77788"/>
                  <a:pt x="188901" y="77788"/>
                </a:cubicBezTo>
                <a:cubicBezTo>
                  <a:pt x="195039" y="77788"/>
                  <a:pt x="200014" y="72812"/>
                  <a:pt x="200014" y="66675"/>
                </a:cubicBezTo>
                <a:cubicBezTo>
                  <a:pt x="200014" y="60538"/>
                  <a:pt x="195039" y="55562"/>
                  <a:pt x="188901" y="55562"/>
                </a:cubicBezTo>
              </a:path>
            </a:pathLst>
          </a:custGeom>
          <a:solidFill>
            <a:srgbClr val="AE232F"/>
          </a:solidFill>
          <a:ln>
            <a:noFill/>
          </a:ln>
        </p:spPr>
      </p:sp>
      <p:sp>
        <p:nvSpPr>
          <p:cNvPr id="54" name="TextBox 54"/>
          <p:cNvSpPr txBox="1"/>
          <p:nvPr/>
        </p:nvSpPr>
        <p:spPr>
          <a:xfrm>
            <a:off x="8319994" y="1081564"/>
            <a:ext cx="1648012" cy="259080"/>
          </a:xfrm>
          <a:prstGeom prst="rect">
            <a:avLst/>
          </a:prstGeom>
          <a:noFill/>
          <a:ln>
            <a:noFill/>
          </a:ln>
        </p:spPr>
        <p:txBody>
          <a:bodyPr wrap="none" lIns="0" tIns="0" rIns="0" bIns="0" anchor="t" anchorCtr="0">
            <a:spAutoFit/>
          </a:bodyPr>
          <a:lstStyle/>
          <a:p>
            <a:pPr algn="ctr"/>
            <a:r>
              <a:rPr lang="zh-CN" sz="1275" b="1" dirty="0">
                <a:solidFill>
                  <a:srgbClr val="AE232F"/>
                </a:solidFill>
                <a:latin typeface="Arial"/>
                <a:ea typeface="Microsoft YaHei"/>
                <a:cs typeface="Arial"/>
              </a:rPr>
              <a:t>Development Areas</a:t>
            </a:r>
          </a:p>
        </p:txBody>
      </p:sp>
      <p:sp>
        <p:nvSpPr>
          <p:cNvPr id="55" name="Rectangle 55"/>
          <p:cNvSpPr/>
          <p:nvPr/>
        </p:nvSpPr>
        <p:spPr>
          <a:xfrm>
            <a:off x="6438900" y="1600200"/>
            <a:ext cx="5219700" cy="1238250"/>
          </a:xfrm>
          <a:prstGeom prst="roundRect">
            <a:avLst>
              <a:gd name="adj" fmla="val 6154"/>
            </a:avLst>
          </a:prstGeom>
          <a:solidFill>
            <a:srgbClr val="F5F5F5"/>
          </a:solidFill>
          <a:ln>
            <a:noFill/>
          </a:ln>
        </p:spPr>
      </p:sp>
      <p:sp>
        <p:nvSpPr>
          <p:cNvPr id="56" name="Rectangle 56"/>
          <p:cNvSpPr/>
          <p:nvPr/>
        </p:nvSpPr>
        <p:spPr>
          <a:xfrm>
            <a:off x="6438900" y="1600200"/>
            <a:ext cx="38100" cy="1238250"/>
          </a:xfrm>
          <a:prstGeom prst="roundRect">
            <a:avLst>
              <a:gd name="adj" fmla="val 50000"/>
            </a:avLst>
          </a:prstGeom>
          <a:solidFill>
            <a:srgbClr val="E0E0E0"/>
          </a:solidFill>
          <a:ln>
            <a:noFill/>
          </a:ln>
        </p:spPr>
      </p:sp>
      <p:sp>
        <p:nvSpPr>
          <p:cNvPr id="57" name="Ellipse 57"/>
          <p:cNvSpPr/>
          <p:nvPr/>
        </p:nvSpPr>
        <p:spPr>
          <a:xfrm>
            <a:off x="6534150" y="1733550"/>
            <a:ext cx="342900" cy="342900"/>
          </a:xfrm>
          <a:prstGeom prst="ellipse">
            <a:avLst/>
          </a:prstGeom>
          <a:solidFill>
            <a:srgbClr val="888888"/>
          </a:solidFill>
          <a:ln>
            <a:noFill/>
          </a:ln>
        </p:spPr>
      </p:sp>
      <p:sp>
        <p:nvSpPr>
          <p:cNvPr id="58" name="TextBox 58"/>
          <p:cNvSpPr txBox="1"/>
          <p:nvPr/>
        </p:nvSpPr>
        <p:spPr>
          <a:xfrm>
            <a:off x="6651835" y="183927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1</a:t>
            </a:r>
          </a:p>
        </p:txBody>
      </p:sp>
      <p:sp>
        <p:nvSpPr>
          <p:cNvPr id="59" name="TextBox 59"/>
          <p:cNvSpPr txBox="1"/>
          <p:nvPr/>
        </p:nvSpPr>
        <p:spPr>
          <a:xfrm>
            <a:off x="6939915" y="1753552"/>
            <a:ext cx="1901154" cy="213360"/>
          </a:xfrm>
          <a:prstGeom prst="rect">
            <a:avLst/>
          </a:prstGeom>
          <a:noFill/>
          <a:ln>
            <a:noFill/>
          </a:ln>
        </p:spPr>
        <p:txBody>
          <a:bodyPr wrap="none" lIns="0" tIns="0" rIns="0" bIns="0" anchor="t" anchorCtr="0">
            <a:spAutoFit/>
          </a:bodyPr>
          <a:lstStyle/>
          <a:p>
            <a:pPr algn="l"/>
            <a:r>
              <a:rPr lang="zh-CN" sz="1050" b="1" dirty="0">
                <a:solidFill>
                  <a:srgbClr val="555555"/>
                </a:solidFill>
                <a:latin typeface="Arial"/>
                <a:ea typeface="Microsoft YaHei"/>
                <a:cs typeface="Arial"/>
              </a:rPr>
              <a:t>Product Portfolio Breadth</a:t>
            </a:r>
          </a:p>
        </p:txBody>
      </p:sp>
      <p:sp>
        <p:nvSpPr>
          <p:cNvPr id="60" name="TextBox 60"/>
          <p:cNvSpPr txBox="1"/>
          <p:nvPr/>
        </p:nvSpPr>
        <p:spPr>
          <a:xfrm>
            <a:off x="6941820" y="1941195"/>
            <a:ext cx="2417159"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No prior Clexane-specific MR experience.</a:t>
            </a:r>
          </a:p>
        </p:txBody>
      </p:sp>
      <p:sp>
        <p:nvSpPr>
          <p:cNvPr id="61" name="TextBox 61"/>
          <p:cNvSpPr txBox="1"/>
          <p:nvPr/>
        </p:nvSpPr>
        <p:spPr>
          <a:xfrm>
            <a:off x="6941820" y="2093595"/>
            <a:ext cx="2945225"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Know the mechanism well — need market exposure.</a:t>
            </a:r>
          </a:p>
        </p:txBody>
      </p:sp>
      <p:sp>
        <p:nvSpPr>
          <p:cNvPr id="62" name="Rectangle 62"/>
          <p:cNvSpPr/>
          <p:nvPr/>
        </p:nvSpPr>
        <p:spPr>
          <a:xfrm>
            <a:off x="6438900" y="2419350"/>
            <a:ext cx="5219700" cy="361950"/>
          </a:xfrm>
          <a:prstGeom prst="roundRect">
            <a:avLst>
              <a:gd name="adj" fmla="val 10526"/>
            </a:avLst>
          </a:prstGeom>
          <a:solidFill>
            <a:srgbClr val="FFFFFF"/>
          </a:solidFill>
          <a:ln>
            <a:noFill/>
          </a:ln>
        </p:spPr>
      </p:sp>
      <p:sp>
        <p:nvSpPr>
          <p:cNvPr id="63" name="TextBox 63"/>
          <p:cNvSpPr txBox="1"/>
          <p:nvPr/>
        </p:nvSpPr>
        <p:spPr>
          <a:xfrm>
            <a:off x="6542722" y="2482691"/>
            <a:ext cx="696714" cy="167640"/>
          </a:xfrm>
          <a:prstGeom prst="rect">
            <a:avLst/>
          </a:prstGeom>
          <a:noFill/>
          <a:ln>
            <a:noFill/>
          </a:ln>
        </p:spPr>
        <p:txBody>
          <a:bodyPr wrap="none" lIns="0" tIns="0" rIns="0" bIns="0" anchor="t" anchorCtr="0">
            <a:spAutoFit/>
          </a:bodyPr>
          <a:lstStyle/>
          <a:p>
            <a:pPr algn="l"/>
            <a:r>
              <a:rPr lang="zh-CN" sz="825" b="1" dirty="0">
                <a:solidFill>
                  <a:srgbClr val="AE232F"/>
                </a:solidFill>
                <a:latin typeface="Arial"/>
                <a:ea typeface="Microsoft YaHei"/>
                <a:cs typeface="Arial"/>
              </a:rPr>
              <a:t>Action Plan:</a:t>
            </a:r>
          </a:p>
        </p:txBody>
      </p:sp>
      <p:sp>
        <p:nvSpPr>
          <p:cNvPr id="64" name="TextBox 64"/>
          <p:cNvSpPr txBox="1"/>
          <p:nvPr/>
        </p:nvSpPr>
        <p:spPr>
          <a:xfrm>
            <a:off x="7419022" y="2482691"/>
            <a:ext cx="3018830"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Completed full Clexane® self-study (PI + ESSENCE trial).</a:t>
            </a:r>
          </a:p>
        </p:txBody>
      </p:sp>
      <p:sp>
        <p:nvSpPr>
          <p:cNvPr id="65" name="TextBox 65"/>
          <p:cNvSpPr txBox="1"/>
          <p:nvPr/>
        </p:nvSpPr>
        <p:spPr>
          <a:xfrm>
            <a:off x="6542722" y="2635091"/>
            <a:ext cx="3552396"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Will shadow senior MR in first 2 weeks and build product call flow.</a:t>
            </a:r>
          </a:p>
        </p:txBody>
      </p:sp>
      <p:sp>
        <p:nvSpPr>
          <p:cNvPr id="66" name="Rectangle 66"/>
          <p:cNvSpPr/>
          <p:nvPr/>
        </p:nvSpPr>
        <p:spPr>
          <a:xfrm>
            <a:off x="6438900" y="3028950"/>
            <a:ext cx="5219700" cy="1238250"/>
          </a:xfrm>
          <a:prstGeom prst="roundRect">
            <a:avLst>
              <a:gd name="adj" fmla="val 6154"/>
            </a:avLst>
          </a:prstGeom>
          <a:solidFill>
            <a:srgbClr val="F5F5F5"/>
          </a:solidFill>
          <a:ln>
            <a:noFill/>
          </a:ln>
        </p:spPr>
      </p:sp>
      <p:sp>
        <p:nvSpPr>
          <p:cNvPr id="67" name="Rectangle 67"/>
          <p:cNvSpPr/>
          <p:nvPr/>
        </p:nvSpPr>
        <p:spPr>
          <a:xfrm>
            <a:off x="6438900" y="3028950"/>
            <a:ext cx="38100" cy="1238250"/>
          </a:xfrm>
          <a:prstGeom prst="roundRect">
            <a:avLst>
              <a:gd name="adj" fmla="val 50000"/>
            </a:avLst>
          </a:prstGeom>
          <a:solidFill>
            <a:srgbClr val="E0E0E0"/>
          </a:solidFill>
          <a:ln>
            <a:noFill/>
          </a:ln>
        </p:spPr>
      </p:sp>
      <p:sp>
        <p:nvSpPr>
          <p:cNvPr id="68" name="Ellipse 68"/>
          <p:cNvSpPr/>
          <p:nvPr/>
        </p:nvSpPr>
        <p:spPr>
          <a:xfrm>
            <a:off x="6534150" y="3162300"/>
            <a:ext cx="342900" cy="342900"/>
          </a:xfrm>
          <a:prstGeom prst="ellipse">
            <a:avLst/>
          </a:prstGeom>
          <a:solidFill>
            <a:srgbClr val="888888"/>
          </a:solidFill>
          <a:ln>
            <a:noFill/>
          </a:ln>
        </p:spPr>
      </p:sp>
      <p:sp>
        <p:nvSpPr>
          <p:cNvPr id="69" name="TextBox 69"/>
          <p:cNvSpPr txBox="1"/>
          <p:nvPr/>
        </p:nvSpPr>
        <p:spPr>
          <a:xfrm>
            <a:off x="6651835" y="326802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2</a:t>
            </a:r>
          </a:p>
        </p:txBody>
      </p:sp>
      <p:sp>
        <p:nvSpPr>
          <p:cNvPr id="70" name="TextBox 70"/>
          <p:cNvSpPr txBox="1"/>
          <p:nvPr/>
        </p:nvSpPr>
        <p:spPr>
          <a:xfrm>
            <a:off x="6939915" y="3182302"/>
            <a:ext cx="1798241" cy="213360"/>
          </a:xfrm>
          <a:prstGeom prst="rect">
            <a:avLst/>
          </a:prstGeom>
          <a:noFill/>
          <a:ln>
            <a:noFill/>
          </a:ln>
        </p:spPr>
        <p:txBody>
          <a:bodyPr wrap="none" lIns="0" tIns="0" rIns="0" bIns="0" anchor="t" anchorCtr="0">
            <a:spAutoFit/>
          </a:bodyPr>
          <a:lstStyle/>
          <a:p>
            <a:pPr algn="l"/>
            <a:r>
              <a:rPr lang="zh-CN" sz="1050" b="1" dirty="0">
                <a:solidFill>
                  <a:srgbClr val="555555"/>
                </a:solidFill>
                <a:latin typeface="Arial"/>
                <a:ea typeface="Microsoft YaHei"/>
                <a:cs typeface="Arial"/>
              </a:rPr>
              <a:t>Territory &amp; CRM Systems</a:t>
            </a:r>
          </a:p>
        </p:txBody>
      </p:sp>
      <p:sp>
        <p:nvSpPr>
          <p:cNvPr id="71" name="TextBox 71"/>
          <p:cNvSpPr txBox="1"/>
          <p:nvPr/>
        </p:nvSpPr>
        <p:spPr>
          <a:xfrm>
            <a:off x="6941820" y="3369945"/>
            <a:ext cx="3137249"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Limited exposure to formal CRM call-reporting tools.</a:t>
            </a:r>
          </a:p>
        </p:txBody>
      </p:sp>
      <p:sp>
        <p:nvSpPr>
          <p:cNvPr id="72" name="TextBox 72"/>
          <p:cNvSpPr txBox="1"/>
          <p:nvPr/>
        </p:nvSpPr>
        <p:spPr>
          <a:xfrm>
            <a:off x="6941820" y="3522345"/>
            <a:ext cx="2351151"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Used manual tracking during internship.</a:t>
            </a:r>
          </a:p>
        </p:txBody>
      </p:sp>
      <p:sp>
        <p:nvSpPr>
          <p:cNvPr id="73" name="Rectangle 73"/>
          <p:cNvSpPr/>
          <p:nvPr/>
        </p:nvSpPr>
        <p:spPr>
          <a:xfrm>
            <a:off x="6438900" y="3848100"/>
            <a:ext cx="5219700" cy="361950"/>
          </a:xfrm>
          <a:prstGeom prst="roundRect">
            <a:avLst>
              <a:gd name="adj" fmla="val 10526"/>
            </a:avLst>
          </a:prstGeom>
          <a:solidFill>
            <a:srgbClr val="FFFFFF"/>
          </a:solidFill>
          <a:ln>
            <a:noFill/>
          </a:ln>
        </p:spPr>
      </p:sp>
      <p:sp>
        <p:nvSpPr>
          <p:cNvPr id="74" name="TextBox 74"/>
          <p:cNvSpPr txBox="1"/>
          <p:nvPr/>
        </p:nvSpPr>
        <p:spPr>
          <a:xfrm>
            <a:off x="6542722" y="3911441"/>
            <a:ext cx="696714" cy="167640"/>
          </a:xfrm>
          <a:prstGeom prst="rect">
            <a:avLst/>
          </a:prstGeom>
          <a:noFill/>
          <a:ln>
            <a:noFill/>
          </a:ln>
        </p:spPr>
        <p:txBody>
          <a:bodyPr wrap="none" lIns="0" tIns="0" rIns="0" bIns="0" anchor="t" anchorCtr="0">
            <a:spAutoFit/>
          </a:bodyPr>
          <a:lstStyle/>
          <a:p>
            <a:pPr algn="l"/>
            <a:r>
              <a:rPr lang="zh-CN" sz="825" b="1" dirty="0">
                <a:solidFill>
                  <a:srgbClr val="AE232F"/>
                </a:solidFill>
                <a:latin typeface="Arial"/>
                <a:ea typeface="Microsoft YaHei"/>
                <a:cs typeface="Arial"/>
              </a:rPr>
              <a:t>Action Plan:</a:t>
            </a:r>
          </a:p>
        </p:txBody>
      </p:sp>
      <p:sp>
        <p:nvSpPr>
          <p:cNvPr id="75" name="TextBox 75"/>
          <p:cNvSpPr txBox="1"/>
          <p:nvPr/>
        </p:nvSpPr>
        <p:spPr>
          <a:xfrm>
            <a:off x="7419022" y="3911441"/>
            <a:ext cx="3112341"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Eager to learn DKSH's CRM quickly — I adapt fast to tools.</a:t>
            </a:r>
          </a:p>
        </p:txBody>
      </p:sp>
      <p:sp>
        <p:nvSpPr>
          <p:cNvPr id="76" name="TextBox 76"/>
          <p:cNvSpPr txBox="1"/>
          <p:nvPr/>
        </p:nvSpPr>
        <p:spPr>
          <a:xfrm>
            <a:off x="6542722" y="4063841"/>
            <a:ext cx="3783425"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My attention to detail translates directly to accurate call reporting.</a:t>
            </a:r>
          </a:p>
        </p:txBody>
      </p:sp>
      <p:sp>
        <p:nvSpPr>
          <p:cNvPr id="77" name="Rectangle 77"/>
          <p:cNvSpPr/>
          <p:nvPr/>
        </p:nvSpPr>
        <p:spPr>
          <a:xfrm>
            <a:off x="6438900" y="4438650"/>
            <a:ext cx="5219700" cy="838200"/>
          </a:xfrm>
          <a:prstGeom prst="roundRect">
            <a:avLst>
              <a:gd name="adj" fmla="val 9091"/>
            </a:avLst>
          </a:prstGeom>
          <a:solidFill>
            <a:srgbClr val="F9E5E7"/>
          </a:solidFill>
          <a:ln>
            <a:noFill/>
          </a:ln>
        </p:spPr>
      </p:sp>
      <p:sp>
        <p:nvSpPr>
          <p:cNvPr id="78" name="Rectangle 78"/>
          <p:cNvSpPr/>
          <p:nvPr/>
        </p:nvSpPr>
        <p:spPr>
          <a:xfrm>
            <a:off x="6438900" y="4438650"/>
            <a:ext cx="38100" cy="838200"/>
          </a:xfrm>
          <a:prstGeom prst="roundRect">
            <a:avLst>
              <a:gd name="adj" fmla="val 50000"/>
            </a:avLst>
          </a:prstGeom>
          <a:solidFill>
            <a:srgbClr val="AE232F"/>
          </a:solidFill>
          <a:ln>
            <a:noFill/>
          </a:ln>
        </p:spPr>
      </p:sp>
      <p:sp>
        <p:nvSpPr>
          <p:cNvPr id="79" name="Freeform 79"/>
          <p:cNvSpPr/>
          <p:nvPr/>
        </p:nvSpPr>
        <p:spPr>
          <a:xfrm>
            <a:off x="6641999" y="4632075"/>
            <a:ext cx="165089" cy="145489"/>
          </a:xfrm>
          <a:custGeom>
            <a:avLst/>
            <a:gdLst/>
            <a:ahLst/>
            <a:cxnLst/>
            <a:rect l="l" t="t" r="r" b="b"/>
            <a:pathLst>
              <a:path w="165089" h="145489">
                <a:moveTo>
                  <a:pt x="42797" y="2425"/>
                </a:moveTo>
                <a:cubicBezTo>
                  <a:pt x="57027" y="0"/>
                  <a:pt x="71588" y="4160"/>
                  <a:pt x="82389" y="13735"/>
                </a:cubicBezTo>
                <a:lnTo>
                  <a:pt x="82683" y="13997"/>
                </a:lnTo>
                <a:lnTo>
                  <a:pt x="82953" y="13759"/>
                </a:lnTo>
                <a:cubicBezTo>
                  <a:pt x="93249" y="4724"/>
                  <a:pt x="106937" y="559"/>
                  <a:pt x="120521" y="2329"/>
                </a:cubicBezTo>
                <a:lnTo>
                  <a:pt x="122474" y="2615"/>
                </a:lnTo>
                <a:cubicBezTo>
                  <a:pt x="139717" y="5592"/>
                  <a:pt x="153939" y="17785"/>
                  <a:pt x="159514" y="34372"/>
                </a:cubicBezTo>
                <a:cubicBezTo>
                  <a:pt x="165089" y="50958"/>
                  <a:pt x="161119" y="69266"/>
                  <a:pt x="149176" y="82054"/>
                </a:cubicBezTo>
                <a:lnTo>
                  <a:pt x="147747" y="83522"/>
                </a:lnTo>
                <a:lnTo>
                  <a:pt x="147366" y="83847"/>
                </a:lnTo>
                <a:lnTo>
                  <a:pt x="88231" y="142418"/>
                </a:lnTo>
                <a:cubicBezTo>
                  <a:pt x="85409" y="145211"/>
                  <a:pt x="80957" y="145489"/>
                  <a:pt x="77809" y="143069"/>
                </a:cubicBezTo>
                <a:lnTo>
                  <a:pt x="77063" y="142418"/>
                </a:lnTo>
                <a:lnTo>
                  <a:pt x="17588" y="83506"/>
                </a:lnTo>
                <a:cubicBezTo>
                  <a:pt x="4740" y="71006"/>
                  <a:pt x="0" y="52350"/>
                  <a:pt x="5322" y="35233"/>
                </a:cubicBezTo>
                <a:cubicBezTo>
                  <a:pt x="10644" y="18116"/>
                  <a:pt x="25127" y="5437"/>
                  <a:pt x="42797" y="2425"/>
                </a:cubicBezTo>
                <a:close/>
              </a:path>
            </a:pathLst>
          </a:custGeom>
          <a:solidFill>
            <a:srgbClr val="AE232F"/>
          </a:solidFill>
          <a:ln>
            <a:noFill/>
          </a:ln>
        </p:spPr>
      </p:sp>
      <p:sp>
        <p:nvSpPr>
          <p:cNvPr id="80" name="TextBox 80"/>
          <p:cNvSpPr txBox="1"/>
          <p:nvPr/>
        </p:nvSpPr>
        <p:spPr>
          <a:xfrm>
            <a:off x="6883718" y="4561999"/>
            <a:ext cx="1062295" cy="198120"/>
          </a:xfrm>
          <a:prstGeom prst="rect">
            <a:avLst/>
          </a:prstGeom>
          <a:noFill/>
          <a:ln>
            <a:noFill/>
          </a:ln>
        </p:spPr>
        <p:txBody>
          <a:bodyPr wrap="none" lIns="0" tIns="0" rIns="0" bIns="0" anchor="t" anchorCtr="0">
            <a:spAutoFit/>
          </a:bodyPr>
          <a:lstStyle/>
          <a:p>
            <a:pPr algn="l"/>
            <a:r>
              <a:rPr lang="zh-CN" sz="975" b="1" dirty="0">
                <a:solidFill>
                  <a:srgbClr val="AE232F"/>
                </a:solidFill>
                <a:latin typeface="Arial"/>
                <a:ea typeface="Microsoft YaHei"/>
                <a:cs typeface="Arial"/>
              </a:rPr>
              <a:t>Growth Mindset</a:t>
            </a:r>
          </a:p>
        </p:txBody>
      </p:sp>
      <p:sp>
        <p:nvSpPr>
          <p:cNvPr id="81" name="TextBox 81"/>
          <p:cNvSpPr txBox="1"/>
          <p:nvPr/>
        </p:nvSpPr>
        <p:spPr>
          <a:xfrm>
            <a:off x="6617970" y="4760595"/>
            <a:ext cx="3245263"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I chose to present development areas honestly because</a:t>
            </a:r>
          </a:p>
        </p:txBody>
      </p:sp>
      <p:sp>
        <p:nvSpPr>
          <p:cNvPr id="82" name="TextBox 82"/>
          <p:cNvSpPr txBox="1"/>
          <p:nvPr/>
        </p:nvSpPr>
        <p:spPr>
          <a:xfrm>
            <a:off x="6617970" y="4932045"/>
            <a:ext cx="3329273"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self-awareness is a clinical skill, too. My learning curve</a:t>
            </a:r>
          </a:p>
        </p:txBody>
      </p:sp>
      <p:sp>
        <p:nvSpPr>
          <p:cNvPr id="83" name="TextBox 83"/>
          <p:cNvSpPr txBox="1"/>
          <p:nvPr/>
        </p:nvSpPr>
        <p:spPr>
          <a:xfrm>
            <a:off x="6617970" y="5103495"/>
            <a:ext cx="3083242"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on Clexane is short — my science base makes it fast.</a:t>
            </a:r>
          </a:p>
        </p:txBody>
      </p:sp>
      <p:sp>
        <p:nvSpPr>
          <p:cNvPr id="84" name="Rectangle 84"/>
          <p:cNvSpPr/>
          <p:nvPr/>
        </p:nvSpPr>
        <p:spPr>
          <a:xfrm>
            <a:off x="342900" y="5715000"/>
            <a:ext cx="11506200" cy="609600"/>
          </a:xfrm>
          <a:prstGeom prst="roundRect">
            <a:avLst>
              <a:gd name="adj" fmla="val 12500"/>
            </a:avLst>
          </a:prstGeom>
          <a:solidFill>
            <a:srgbClr val="AE232F"/>
          </a:solidFill>
          <a:ln>
            <a:noFill/>
          </a:ln>
          <a:effectLst>
            <a:outerShdw blurRad="76200" dist="19050" dir="5400000" algn="ctr" rotWithShape="0">
              <a:srgbClr val="000000">
                <a:alpha val="5250"/>
              </a:srgbClr>
            </a:outerShdw>
          </a:effectLst>
        </p:spPr>
      </p:sp>
      <p:grpSp>
        <p:nvGrpSpPr>
          <p:cNvPr id="87" name="Group 87"/>
          <p:cNvGrpSpPr/>
          <p:nvPr/>
        </p:nvGrpSpPr>
        <p:grpSpPr>
          <a:xfrm>
            <a:off x="611981" y="5891212"/>
            <a:ext cx="166688" cy="238126"/>
            <a:chOff x="611981" y="5891212"/>
            <a:chExt cx="166688" cy="238126"/>
          </a:xfrm>
        </p:grpSpPr>
        <p:sp>
          <p:nvSpPr>
            <p:cNvPr id="85" name="Freeform 85"/>
            <p:cNvSpPr/>
            <p:nvPr/>
          </p:nvSpPr>
          <p:spPr>
            <a:xfrm>
              <a:off x="635794" y="5891212"/>
              <a:ext cx="119062" cy="119062"/>
            </a:xfrm>
            <a:custGeom>
              <a:avLst/>
              <a:gdLst/>
              <a:ahLst/>
              <a:cxnLst/>
              <a:rect l="l" t="t" r="r" b="b"/>
              <a:pathLst>
                <a:path w="119062" h="119062">
                  <a:moveTo>
                    <a:pt x="59531" y="0"/>
                  </a:moveTo>
                  <a:cubicBezTo>
                    <a:pt x="92409" y="0"/>
                    <a:pt x="119062" y="26653"/>
                    <a:pt x="119062" y="59531"/>
                  </a:cubicBezTo>
                  <a:cubicBezTo>
                    <a:pt x="119062" y="92409"/>
                    <a:pt x="92409" y="119062"/>
                    <a:pt x="59531" y="119062"/>
                  </a:cubicBezTo>
                  <a:cubicBezTo>
                    <a:pt x="26653" y="119062"/>
                    <a:pt x="0" y="92409"/>
                    <a:pt x="0" y="59531"/>
                  </a:cubicBezTo>
                  <a:lnTo>
                    <a:pt x="60" y="56948"/>
                  </a:lnTo>
                  <a:cubicBezTo>
                    <a:pt x="1443" y="25106"/>
                    <a:pt x="27659" y="2"/>
                    <a:pt x="59531" y="0"/>
                  </a:cubicBezTo>
                  <a:close/>
                </a:path>
              </a:pathLst>
            </a:custGeom>
            <a:solidFill>
              <a:srgbClr val="FFFFFF"/>
            </a:solidFill>
            <a:ln>
              <a:noFill/>
            </a:ln>
          </p:spPr>
        </p:sp>
        <p:sp>
          <p:nvSpPr>
            <p:cNvPr id="86" name="Freeform 86"/>
            <p:cNvSpPr/>
            <p:nvPr/>
          </p:nvSpPr>
          <p:spPr>
            <a:xfrm>
              <a:off x="611981" y="6034088"/>
              <a:ext cx="166688" cy="95250"/>
            </a:xfrm>
            <a:custGeom>
              <a:avLst/>
              <a:gdLst/>
              <a:ahLst/>
              <a:cxnLst/>
              <a:rect l="l" t="t" r="r" b="b"/>
              <a:pathLst>
                <a:path w="166688" h="95250">
                  <a:moveTo>
                    <a:pt x="107156" y="0"/>
                  </a:moveTo>
                  <a:cubicBezTo>
                    <a:pt x="140034" y="0"/>
                    <a:pt x="166688" y="26653"/>
                    <a:pt x="166688" y="59531"/>
                  </a:cubicBezTo>
                  <a:lnTo>
                    <a:pt x="166688" y="71438"/>
                  </a:lnTo>
                  <a:cubicBezTo>
                    <a:pt x="166688" y="84589"/>
                    <a:pt x="156026" y="95250"/>
                    <a:pt x="142875" y="95250"/>
                  </a:cubicBezTo>
                  <a:lnTo>
                    <a:pt x="23812" y="95250"/>
                  </a:lnTo>
                  <a:cubicBezTo>
                    <a:pt x="10661" y="95250"/>
                    <a:pt x="0" y="84589"/>
                    <a:pt x="0" y="71438"/>
                  </a:cubicBezTo>
                  <a:lnTo>
                    <a:pt x="0" y="59531"/>
                  </a:lnTo>
                  <a:cubicBezTo>
                    <a:pt x="0" y="26653"/>
                    <a:pt x="26653" y="0"/>
                    <a:pt x="59531" y="0"/>
                  </a:cubicBezTo>
                  <a:lnTo>
                    <a:pt x="107156" y="0"/>
                  </a:lnTo>
                  <a:close/>
                </a:path>
              </a:pathLst>
            </a:custGeom>
            <a:solidFill>
              <a:srgbClr val="FFFFFF"/>
            </a:solidFill>
            <a:ln>
              <a:noFill/>
            </a:ln>
          </p:spPr>
        </p:sp>
      </p:grpSp>
      <p:sp>
        <p:nvSpPr>
          <p:cNvPr id="88" name="TextBox 88"/>
          <p:cNvSpPr txBox="1"/>
          <p:nvPr/>
        </p:nvSpPr>
        <p:spPr>
          <a:xfrm>
            <a:off x="938212" y="5831681"/>
            <a:ext cx="2533138"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Why Me for Clexane® MR at DKSH?</a:t>
            </a:r>
          </a:p>
        </p:txBody>
      </p:sp>
      <p:sp>
        <p:nvSpPr>
          <p:cNvPr id="89" name="TextBox 89"/>
          <p:cNvSpPr txBox="1"/>
          <p:nvPr/>
        </p:nvSpPr>
        <p:spPr>
          <a:xfrm>
            <a:off x="940118" y="6057424"/>
            <a:ext cx="9977509" cy="198120"/>
          </a:xfrm>
          <a:prstGeom prst="rect">
            <a:avLst/>
          </a:prstGeom>
          <a:noFill/>
          <a:ln>
            <a:noFill/>
          </a:ln>
        </p:spPr>
        <p:txBody>
          <a:bodyPr wrap="none" lIns="0" tIns="0" rIns="0" bIns="0" anchor="t" anchorCtr="0">
            <a:spAutoFit/>
          </a:bodyPr>
          <a:lstStyle/>
          <a:p>
            <a:pPr algn="l"/>
            <a:r>
              <a:rPr lang="zh-CN" sz="975" dirty="0">
                <a:solidFill>
                  <a:srgbClr val="F9E5E7"/>
                </a:solidFill>
                <a:latin typeface="Arial"/>
                <a:ea typeface="Microsoft YaHei"/>
                <a:cs typeface="Arial"/>
              </a:rPr>
              <a:t>Pharm.D. science + real MR field experience + honest self-awareness = a rep physicians trust and DKSH can develop. I'm not a blank slate — I'm a head start.</a:t>
            </a:r>
          </a:p>
        </p:txBody>
      </p:sp>
      <p:grpSp>
        <p:nvGrpSpPr>
          <p:cNvPr id="92" name="Group 92"/>
          <p:cNvGrpSpPr/>
          <p:nvPr/>
        </p:nvGrpSpPr>
        <p:grpSpPr>
          <a:xfrm>
            <a:off x="0" y="6496050"/>
            <a:ext cx="12192000" cy="361950"/>
            <a:chOff x="0" y="6496050"/>
            <a:chExt cx="12192000" cy="361950"/>
          </a:xfrm>
        </p:grpSpPr>
        <p:sp>
          <p:nvSpPr>
            <p:cNvPr id="90" name="Rectangle 90"/>
            <p:cNvSpPr/>
            <p:nvPr/>
          </p:nvSpPr>
          <p:spPr>
            <a:xfrm>
              <a:off x="0" y="6496050"/>
              <a:ext cx="12192000" cy="361950"/>
            </a:xfrm>
            <a:prstGeom prst="rect">
              <a:avLst/>
            </a:prstGeom>
            <a:solidFill>
              <a:srgbClr val="AE232F"/>
            </a:solidFill>
            <a:ln>
              <a:noFill/>
            </a:ln>
          </p:spPr>
        </p:sp>
        <p:sp>
          <p:nvSpPr>
            <p:cNvPr id="91" name="TextBox 91"/>
            <p:cNvSpPr txBox="1"/>
            <p:nvPr/>
          </p:nvSpPr>
          <p:spPr>
            <a:xfrm>
              <a:off x="4128325" y="6627495"/>
              <a:ext cx="3935349"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Rattanakorn Rattanaroj | Rattanaroj.jan@gmail.com | 080-045-0821</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Polygon 3"/>
          <p:cNvSpPr/>
          <p:nvPr/>
        </p:nvSpPr>
        <p:spPr>
          <a:xfrm>
            <a:off x="0" y="0"/>
            <a:ext cx="3048000" cy="2095500"/>
          </a:xfrm>
          <a:custGeom>
            <a:avLst/>
            <a:gdLst/>
            <a:ahLst/>
            <a:cxnLst/>
            <a:rect l="l" t="t" r="r" b="b"/>
            <a:pathLst>
              <a:path w="3048000" h="2095500">
                <a:moveTo>
                  <a:pt x="0" y="0"/>
                </a:moveTo>
                <a:lnTo>
                  <a:pt x="3048000" y="0"/>
                </a:lnTo>
                <a:lnTo>
                  <a:pt x="0" y="2095500"/>
                </a:lnTo>
                <a:close/>
              </a:path>
            </a:pathLst>
          </a:custGeom>
          <a:solidFill>
            <a:srgbClr val="F9E5E7"/>
          </a:solidFill>
          <a:ln>
            <a:noFill/>
          </a:ln>
        </p:spPr>
      </p:sp>
      <p:sp>
        <p:nvSpPr>
          <p:cNvPr id="4" name="Polygon 4"/>
          <p:cNvSpPr/>
          <p:nvPr/>
        </p:nvSpPr>
        <p:spPr>
          <a:xfrm>
            <a:off x="0" y="0"/>
            <a:ext cx="1905000" cy="1238250"/>
          </a:xfrm>
          <a:custGeom>
            <a:avLst/>
            <a:gdLst/>
            <a:ahLst/>
            <a:cxnLst/>
            <a:rect l="l" t="t" r="r" b="b"/>
            <a:pathLst>
              <a:path w="1905000" h="1238250">
                <a:moveTo>
                  <a:pt x="0" y="0"/>
                </a:moveTo>
                <a:lnTo>
                  <a:pt x="1905000" y="0"/>
                </a:lnTo>
                <a:lnTo>
                  <a:pt x="0" y="1238250"/>
                </a:lnTo>
                <a:close/>
              </a:path>
            </a:pathLst>
          </a:custGeom>
          <a:solidFill>
            <a:srgbClr val="AE232F">
              <a:alpha val="12000"/>
            </a:srgbClr>
          </a:solidFill>
          <a:ln>
            <a:noFill/>
          </a:ln>
        </p:spPr>
      </p:sp>
      <p:sp>
        <p:nvSpPr>
          <p:cNvPr id="5" name="Polygon 5"/>
          <p:cNvSpPr/>
          <p:nvPr/>
        </p:nvSpPr>
        <p:spPr>
          <a:xfrm>
            <a:off x="9144000" y="4762500"/>
            <a:ext cx="3048000" cy="2095500"/>
          </a:xfrm>
          <a:custGeom>
            <a:avLst/>
            <a:gdLst/>
            <a:ahLst/>
            <a:cxnLst/>
            <a:rect l="l" t="t" r="r" b="b"/>
            <a:pathLst>
              <a:path w="3048000" h="2095500">
                <a:moveTo>
                  <a:pt x="3048000" y="2095500"/>
                </a:moveTo>
                <a:lnTo>
                  <a:pt x="0" y="2095500"/>
                </a:lnTo>
                <a:lnTo>
                  <a:pt x="3048000" y="0"/>
                </a:lnTo>
                <a:close/>
              </a:path>
            </a:pathLst>
          </a:custGeom>
          <a:solidFill>
            <a:srgbClr val="F9E5E7"/>
          </a:solidFill>
          <a:ln>
            <a:noFill/>
          </a:ln>
        </p:spPr>
      </p:sp>
      <p:sp>
        <p:nvSpPr>
          <p:cNvPr id="6" name="Polygon 6"/>
          <p:cNvSpPr/>
          <p:nvPr/>
        </p:nvSpPr>
        <p:spPr>
          <a:xfrm>
            <a:off x="10287000" y="5619750"/>
            <a:ext cx="1905000" cy="1238250"/>
          </a:xfrm>
          <a:custGeom>
            <a:avLst/>
            <a:gdLst/>
            <a:ahLst/>
            <a:cxnLst/>
            <a:rect l="l" t="t" r="r" b="b"/>
            <a:pathLst>
              <a:path w="1905000" h="1238250">
                <a:moveTo>
                  <a:pt x="1905000" y="1238250"/>
                </a:moveTo>
                <a:lnTo>
                  <a:pt x="0" y="1238250"/>
                </a:lnTo>
                <a:lnTo>
                  <a:pt x="1905000" y="0"/>
                </a:lnTo>
                <a:close/>
              </a:path>
            </a:pathLst>
          </a:custGeom>
          <a:solidFill>
            <a:srgbClr val="AE232F">
              <a:alpha val="12000"/>
            </a:srgbClr>
          </a:solidFill>
          <a:ln>
            <a:noFill/>
          </a:ln>
        </p:spPr>
      </p:sp>
      <p:sp>
        <p:nvSpPr>
          <p:cNvPr id="7" name="TextBox 7"/>
          <p:cNvSpPr txBox="1"/>
          <p:nvPr/>
        </p:nvSpPr>
        <p:spPr>
          <a:xfrm>
            <a:off x="330518" y="294799"/>
            <a:ext cx="460319" cy="198120"/>
          </a:xfrm>
          <a:prstGeom prst="rect">
            <a:avLst/>
          </a:prstGeom>
          <a:noFill/>
          <a:ln>
            <a:noFill/>
          </a:ln>
        </p:spPr>
        <p:txBody>
          <a:bodyPr wrap="none" lIns="0" tIns="0" rIns="0" bIns="0" anchor="t" anchorCtr="0">
            <a:spAutoFit/>
          </a:bodyPr>
          <a:lstStyle/>
          <a:p>
            <a:pPr algn="l"/>
            <a:r>
              <a:rPr lang="zh-CN" sz="975" dirty="0">
                <a:solidFill>
                  <a:srgbClr val="AE232F">
                    <a:alphaMod val="60000"/>
                  </a:srgbClr>
                </a:solidFill>
                <a:latin typeface="Arial"/>
                <a:ea typeface="Microsoft YaHei"/>
                <a:cs typeface="Arial"/>
              </a:rPr>
              <a:t>06 / 06</a:t>
            </a:r>
          </a:p>
        </p:txBody>
      </p:sp>
      <p:sp>
        <p:nvSpPr>
          <p:cNvPr id="8" name="Rectangle 8"/>
          <p:cNvSpPr/>
          <p:nvPr/>
        </p:nvSpPr>
        <p:spPr>
          <a:xfrm>
            <a:off x="4572000" y="1123950"/>
            <a:ext cx="3048000" cy="38100"/>
          </a:xfrm>
          <a:prstGeom prst="roundRect">
            <a:avLst>
              <a:gd name="adj" fmla="val 50000"/>
            </a:avLst>
          </a:prstGeom>
          <a:solidFill>
            <a:srgbClr val="AE232F"/>
          </a:solidFill>
          <a:ln>
            <a:noFill/>
          </a:ln>
        </p:spPr>
      </p:sp>
      <p:sp>
        <p:nvSpPr>
          <p:cNvPr id="9" name="TextBox 9"/>
          <p:cNvSpPr txBox="1"/>
          <p:nvPr/>
        </p:nvSpPr>
        <p:spPr>
          <a:xfrm>
            <a:off x="2219401" y="1306830"/>
            <a:ext cx="7753198" cy="731520"/>
          </a:xfrm>
          <a:prstGeom prst="rect">
            <a:avLst/>
          </a:prstGeom>
          <a:noFill/>
          <a:ln>
            <a:noFill/>
          </a:ln>
        </p:spPr>
        <p:txBody>
          <a:bodyPr wrap="none" lIns="0" tIns="0" rIns="0" bIns="0" anchor="t" anchorCtr="0">
            <a:spAutoFit/>
          </a:bodyPr>
          <a:lstStyle/>
          <a:p>
            <a:pPr algn="ctr"/>
            <a:r>
              <a:rPr lang="zh-CN" sz="3600" b="1" dirty="0">
                <a:solidFill>
                  <a:srgbClr val="1A1A1A"/>
                </a:solidFill>
                <a:latin typeface="Arial"/>
                <a:ea typeface="Microsoft YaHei"/>
                <a:cs typeface="Arial"/>
              </a:rPr>
              <a:t>Thank You for This Opportunity</a:t>
            </a:r>
          </a:p>
        </p:txBody>
      </p:sp>
      <p:sp>
        <p:nvSpPr>
          <p:cNvPr id="10" name="TextBox 10"/>
          <p:cNvSpPr txBox="1"/>
          <p:nvPr/>
        </p:nvSpPr>
        <p:spPr>
          <a:xfrm>
            <a:off x="3171587" y="1971675"/>
            <a:ext cx="5848826" cy="304800"/>
          </a:xfrm>
          <a:prstGeom prst="rect">
            <a:avLst/>
          </a:prstGeom>
          <a:noFill/>
          <a:ln>
            <a:noFill/>
          </a:ln>
        </p:spPr>
        <p:txBody>
          <a:bodyPr wrap="none" lIns="0" tIns="0" rIns="0" bIns="0" anchor="t" anchorCtr="0">
            <a:spAutoFit/>
          </a:bodyPr>
          <a:lstStyle/>
          <a:p>
            <a:pPr algn="ctr"/>
            <a:r>
              <a:rPr lang="zh-CN" sz="1500" dirty="0">
                <a:solidFill>
                  <a:srgbClr val="AE232F"/>
                </a:solidFill>
                <a:latin typeface="Arial"/>
                <a:ea typeface="Microsoft YaHei"/>
                <a:cs typeface="Arial"/>
              </a:rPr>
              <a:t>I am ready to represent Clexane® with science and purpose.</a:t>
            </a:r>
          </a:p>
        </p:txBody>
      </p:sp>
      <p:sp>
        <p:nvSpPr>
          <p:cNvPr id="11" name="Line 11"/>
          <p:cNvSpPr/>
          <p:nvPr/>
        </p:nvSpPr>
        <p:spPr>
          <a:xfrm>
            <a:off x="4572000" y="2419350"/>
            <a:ext cx="3048000" cy="9525"/>
          </a:xfrm>
          <a:custGeom>
            <a:avLst/>
            <a:gdLst/>
            <a:ahLst/>
            <a:cxnLst/>
            <a:rect l="l" t="t" r="r" b="b"/>
            <a:pathLst>
              <a:path w="3048000" h="9525">
                <a:moveTo>
                  <a:pt x="0" y="0"/>
                </a:moveTo>
                <a:lnTo>
                  <a:pt x="3048000" y="0"/>
                </a:lnTo>
              </a:path>
            </a:pathLst>
          </a:custGeom>
          <a:noFill/>
          <a:ln w="9525">
            <a:solidFill>
              <a:srgbClr val="E0E0E0"/>
            </a:solidFill>
          </a:ln>
        </p:spPr>
      </p:sp>
      <p:sp>
        <p:nvSpPr>
          <p:cNvPr id="12" name="TextBox 12"/>
          <p:cNvSpPr txBox="1"/>
          <p:nvPr/>
        </p:nvSpPr>
        <p:spPr>
          <a:xfrm>
            <a:off x="3700462" y="2689860"/>
            <a:ext cx="4791075" cy="243840"/>
          </a:xfrm>
          <a:prstGeom prst="rect">
            <a:avLst/>
          </a:prstGeom>
          <a:noFill/>
          <a:ln>
            <a:noFill/>
          </a:ln>
        </p:spPr>
        <p:txBody>
          <a:bodyPr wrap="none" lIns="0" tIns="0" rIns="0" bIns="0" anchor="t" anchorCtr="0">
            <a:spAutoFit/>
          </a:bodyPr>
          <a:lstStyle/>
          <a:p>
            <a:pPr algn="ctr"/>
            <a:r>
              <a:rPr lang="zh-CN" sz="1200" dirty="0">
                <a:solidFill>
                  <a:srgbClr val="555555"/>
                </a:solidFill>
                <a:latin typeface="Arial"/>
                <a:ea typeface="Microsoft YaHei"/>
                <a:cs typeface="Arial"/>
              </a:rPr>
              <a:t>My commitment: Every physician I visit will leave knowing one</a:t>
            </a:r>
          </a:p>
        </p:txBody>
      </p:sp>
      <p:sp>
        <p:nvSpPr>
          <p:cNvPr id="13" name="TextBox 13"/>
          <p:cNvSpPr txBox="1"/>
          <p:nvPr/>
        </p:nvSpPr>
        <p:spPr>
          <a:xfrm>
            <a:off x="3244405" y="2899410"/>
            <a:ext cx="5703189" cy="243840"/>
          </a:xfrm>
          <a:prstGeom prst="rect">
            <a:avLst/>
          </a:prstGeom>
          <a:noFill/>
          <a:ln>
            <a:noFill/>
          </a:ln>
        </p:spPr>
        <p:txBody>
          <a:bodyPr wrap="none" lIns="0" tIns="0" rIns="0" bIns="0" anchor="t" anchorCtr="0">
            <a:spAutoFit/>
          </a:bodyPr>
          <a:lstStyle/>
          <a:p>
            <a:pPr algn="ctr"/>
            <a:r>
              <a:rPr lang="zh-CN" sz="1200" dirty="0">
                <a:solidFill>
                  <a:srgbClr val="555555"/>
                </a:solidFill>
                <a:latin typeface="Arial"/>
                <a:ea typeface="Microsoft YaHei"/>
                <a:cs typeface="Arial"/>
              </a:rPr>
              <a:t>new reason to trust Clexane® — backed by evidence, delivered with care.</a:t>
            </a:r>
          </a:p>
        </p:txBody>
      </p:sp>
      <p:sp>
        <p:nvSpPr>
          <p:cNvPr id="14" name="Rectangle 14"/>
          <p:cNvSpPr/>
          <p:nvPr/>
        </p:nvSpPr>
        <p:spPr>
          <a:xfrm>
            <a:off x="3714750" y="3352800"/>
            <a:ext cx="4762500" cy="1333500"/>
          </a:xfrm>
          <a:prstGeom prst="roundRect">
            <a:avLst>
              <a:gd name="adj" fmla="val 8571"/>
            </a:avLst>
          </a:prstGeom>
          <a:solidFill>
            <a:srgbClr val="F5F5F5"/>
          </a:solidFill>
          <a:ln>
            <a:noFill/>
          </a:ln>
          <a:effectLst>
            <a:outerShdw blurRad="95250" dist="28575" dir="5400000" algn="ctr" rotWithShape="0">
              <a:srgbClr val="000000">
                <a:alpha val="6000"/>
              </a:srgbClr>
            </a:outerShdw>
          </a:effectLst>
        </p:spPr>
      </p:sp>
      <p:sp>
        <p:nvSpPr>
          <p:cNvPr id="15" name="Rectangle 15"/>
          <p:cNvSpPr/>
          <p:nvPr/>
        </p:nvSpPr>
        <p:spPr>
          <a:xfrm>
            <a:off x="3714750" y="3352800"/>
            <a:ext cx="4762500" cy="38100"/>
          </a:xfrm>
          <a:prstGeom prst="roundRect">
            <a:avLst>
              <a:gd name="adj" fmla="val 50000"/>
            </a:avLst>
          </a:prstGeom>
          <a:solidFill>
            <a:srgbClr val="AE232F"/>
          </a:solidFill>
          <a:ln>
            <a:noFill/>
          </a:ln>
        </p:spPr>
      </p:sp>
      <p:sp>
        <p:nvSpPr>
          <p:cNvPr id="16" name="TextBox 16"/>
          <p:cNvSpPr txBox="1"/>
          <p:nvPr/>
        </p:nvSpPr>
        <p:spPr>
          <a:xfrm>
            <a:off x="4538508" y="3571875"/>
            <a:ext cx="3114985" cy="304800"/>
          </a:xfrm>
          <a:prstGeom prst="rect">
            <a:avLst/>
          </a:prstGeom>
          <a:noFill/>
          <a:ln>
            <a:noFill/>
          </a:ln>
        </p:spPr>
        <p:txBody>
          <a:bodyPr wrap="none" lIns="0" tIns="0" rIns="0" bIns="0" anchor="t" anchorCtr="0">
            <a:spAutoFit/>
          </a:bodyPr>
          <a:lstStyle/>
          <a:p>
            <a:pPr algn="ctr"/>
            <a:r>
              <a:rPr lang="zh-CN" sz="1500" b="1" dirty="0">
                <a:solidFill>
                  <a:srgbClr val="1A1A1A"/>
                </a:solidFill>
                <a:latin typeface="Arial"/>
                <a:ea typeface="Microsoft YaHei"/>
                <a:cs typeface="Arial"/>
              </a:rPr>
              <a:t>Rattanakorn Rattanaroj (Jan)</a:t>
            </a:r>
          </a:p>
        </p:txBody>
      </p:sp>
      <p:sp>
        <p:nvSpPr>
          <p:cNvPr id="17" name="TextBox 17"/>
          <p:cNvSpPr txBox="1"/>
          <p:nvPr/>
        </p:nvSpPr>
        <p:spPr>
          <a:xfrm>
            <a:off x="4339447" y="3849052"/>
            <a:ext cx="3513106" cy="213360"/>
          </a:xfrm>
          <a:prstGeom prst="rect">
            <a:avLst/>
          </a:prstGeom>
          <a:noFill/>
          <a:ln>
            <a:noFill/>
          </a:ln>
        </p:spPr>
        <p:txBody>
          <a:bodyPr wrap="none" lIns="0" tIns="0" rIns="0" bIns="0" anchor="t" anchorCtr="0">
            <a:spAutoFit/>
          </a:bodyPr>
          <a:lstStyle/>
          <a:p>
            <a:pPr algn="ctr"/>
            <a:r>
              <a:rPr lang="zh-CN" sz="1050" dirty="0">
                <a:solidFill>
                  <a:srgbClr val="AE232F"/>
                </a:solidFill>
                <a:latin typeface="Arial"/>
                <a:ea typeface="Microsoft YaHei"/>
                <a:cs typeface="Arial"/>
              </a:rPr>
              <a:t>Pharm.D. · MR Candidate · Clexane® / DKSH Thailand</a:t>
            </a:r>
          </a:p>
        </p:txBody>
      </p:sp>
      <p:sp>
        <p:nvSpPr>
          <p:cNvPr id="18" name="Line 18"/>
          <p:cNvSpPr/>
          <p:nvPr/>
        </p:nvSpPr>
        <p:spPr>
          <a:xfrm>
            <a:off x="4095750" y="4114800"/>
            <a:ext cx="4000500" cy="9525"/>
          </a:xfrm>
          <a:custGeom>
            <a:avLst/>
            <a:gdLst/>
            <a:ahLst/>
            <a:cxnLst/>
            <a:rect l="l" t="t" r="r" b="b"/>
            <a:pathLst>
              <a:path w="4000500" h="9525">
                <a:moveTo>
                  <a:pt x="0" y="0"/>
                </a:moveTo>
                <a:lnTo>
                  <a:pt x="4000500" y="0"/>
                </a:lnTo>
              </a:path>
            </a:pathLst>
          </a:custGeom>
          <a:noFill/>
          <a:ln w="9525">
            <a:solidFill>
              <a:srgbClr val="E0E0E0"/>
            </a:solidFill>
          </a:ln>
        </p:spPr>
      </p:sp>
      <p:sp>
        <p:nvSpPr>
          <p:cNvPr id="19" name="TextBox 19"/>
          <p:cNvSpPr txBox="1"/>
          <p:nvPr/>
        </p:nvSpPr>
        <p:spPr>
          <a:xfrm>
            <a:off x="3931015" y="4238149"/>
            <a:ext cx="1662970" cy="198120"/>
          </a:xfrm>
          <a:prstGeom prst="rect">
            <a:avLst/>
          </a:prstGeom>
          <a:noFill/>
          <a:ln>
            <a:noFill/>
          </a:ln>
        </p:spPr>
        <p:txBody>
          <a:bodyPr wrap="none" lIns="0" tIns="0" rIns="0" bIns="0" anchor="t" anchorCtr="0">
            <a:spAutoFit/>
          </a:bodyPr>
          <a:lstStyle/>
          <a:p>
            <a:pPr algn="ctr"/>
            <a:r>
              <a:rPr lang="zh-CN" sz="975" dirty="0">
                <a:solidFill>
                  <a:srgbClr val="555555"/>
                </a:solidFill>
                <a:latin typeface="Arial"/>
                <a:ea typeface="Microsoft YaHei"/>
                <a:cs typeface="Arial"/>
              </a:rPr>
              <a:t>Rattanaroj.jan@gmail.com</a:t>
            </a:r>
          </a:p>
        </p:txBody>
      </p:sp>
      <p:sp>
        <p:nvSpPr>
          <p:cNvPr id="20" name="TextBox 20"/>
          <p:cNvSpPr txBox="1"/>
          <p:nvPr/>
        </p:nvSpPr>
        <p:spPr>
          <a:xfrm>
            <a:off x="6064115" y="4238149"/>
            <a:ext cx="63770" cy="198120"/>
          </a:xfrm>
          <a:prstGeom prst="rect">
            <a:avLst/>
          </a:prstGeom>
          <a:noFill/>
          <a:ln>
            <a:noFill/>
          </a:ln>
        </p:spPr>
        <p:txBody>
          <a:bodyPr wrap="none" lIns="0" tIns="0" rIns="0" bIns="0" anchor="t" anchorCtr="0">
            <a:spAutoFit/>
          </a:bodyPr>
          <a:lstStyle/>
          <a:p>
            <a:pPr algn="ctr"/>
            <a:r>
              <a:rPr lang="zh-CN" sz="975" dirty="0">
                <a:solidFill>
                  <a:srgbClr val="E0E0E0"/>
                </a:solidFill>
                <a:latin typeface="Arial"/>
                <a:ea typeface="Microsoft YaHei"/>
                <a:cs typeface="Arial"/>
              </a:rPr>
              <a:t>|</a:t>
            </a:r>
          </a:p>
        </p:txBody>
      </p:sp>
      <p:sp>
        <p:nvSpPr>
          <p:cNvPr id="21" name="TextBox 21"/>
          <p:cNvSpPr txBox="1"/>
          <p:nvPr/>
        </p:nvSpPr>
        <p:spPr>
          <a:xfrm>
            <a:off x="6988064" y="4238149"/>
            <a:ext cx="882872" cy="198120"/>
          </a:xfrm>
          <a:prstGeom prst="rect">
            <a:avLst/>
          </a:prstGeom>
          <a:noFill/>
          <a:ln>
            <a:noFill/>
          </a:ln>
        </p:spPr>
        <p:txBody>
          <a:bodyPr wrap="none" lIns="0" tIns="0" rIns="0" bIns="0" anchor="t" anchorCtr="0">
            <a:spAutoFit/>
          </a:bodyPr>
          <a:lstStyle/>
          <a:p>
            <a:pPr algn="ctr"/>
            <a:r>
              <a:rPr lang="zh-CN" sz="975" dirty="0">
                <a:solidFill>
                  <a:srgbClr val="555555"/>
                </a:solidFill>
                <a:latin typeface="Arial"/>
                <a:ea typeface="Microsoft YaHei"/>
                <a:cs typeface="Arial"/>
              </a:rPr>
              <a:t>080-045-0821</a:t>
            </a:r>
          </a:p>
        </p:txBody>
      </p:sp>
      <p:sp>
        <p:nvSpPr>
          <p:cNvPr id="22" name="TextBox 22"/>
          <p:cNvSpPr txBox="1"/>
          <p:nvPr/>
        </p:nvSpPr>
        <p:spPr>
          <a:xfrm>
            <a:off x="4085272" y="4501991"/>
            <a:ext cx="1110091" cy="167640"/>
          </a:xfrm>
          <a:prstGeom prst="rect">
            <a:avLst/>
          </a:prstGeom>
          <a:noFill/>
          <a:ln>
            <a:noFill/>
          </a:ln>
        </p:spPr>
        <p:txBody>
          <a:bodyPr wrap="none" lIns="0" tIns="0" rIns="0" bIns="0" anchor="t" anchorCtr="0">
            <a:spAutoFit/>
          </a:bodyPr>
          <a:lstStyle/>
          <a:p>
            <a:pPr algn="l"/>
            <a:r>
              <a:rPr lang="zh-CN" sz="825" dirty="0">
                <a:solidFill>
                  <a:srgbClr val="888888"/>
                </a:solidFill>
                <a:latin typeface="Arial"/>
                <a:ea typeface="Microsoft YaHei"/>
                <a:cs typeface="Arial"/>
              </a:rPr>
              <a:t>✔ Pharm.D. GPA 3.50</a:t>
            </a:r>
          </a:p>
        </p:txBody>
      </p:sp>
      <p:sp>
        <p:nvSpPr>
          <p:cNvPr id="23" name="TextBox 23"/>
          <p:cNvSpPr txBox="1"/>
          <p:nvPr/>
        </p:nvSpPr>
        <p:spPr>
          <a:xfrm>
            <a:off x="5609272" y="4501991"/>
            <a:ext cx="961573" cy="167640"/>
          </a:xfrm>
          <a:prstGeom prst="rect">
            <a:avLst/>
          </a:prstGeom>
          <a:noFill/>
          <a:ln>
            <a:noFill/>
          </a:ln>
        </p:spPr>
        <p:txBody>
          <a:bodyPr wrap="none" lIns="0" tIns="0" rIns="0" bIns="0" anchor="t" anchorCtr="0">
            <a:spAutoFit/>
          </a:bodyPr>
          <a:lstStyle/>
          <a:p>
            <a:pPr algn="l"/>
            <a:r>
              <a:rPr lang="zh-CN" sz="825" dirty="0">
                <a:solidFill>
                  <a:srgbClr val="888888"/>
                </a:solidFill>
                <a:latin typeface="Arial"/>
                <a:ea typeface="Microsoft YaHei"/>
                <a:cs typeface="Arial"/>
              </a:rPr>
              <a:t>✔ Roche MR Intern</a:t>
            </a:r>
          </a:p>
        </p:txBody>
      </p:sp>
      <p:sp>
        <p:nvSpPr>
          <p:cNvPr id="24" name="TextBox 24"/>
          <p:cNvSpPr txBox="1"/>
          <p:nvPr/>
        </p:nvSpPr>
        <p:spPr>
          <a:xfrm>
            <a:off x="6942772" y="4501991"/>
            <a:ext cx="1027581" cy="167640"/>
          </a:xfrm>
          <a:prstGeom prst="rect">
            <a:avLst/>
          </a:prstGeom>
          <a:noFill/>
          <a:ln>
            <a:noFill/>
          </a:ln>
        </p:spPr>
        <p:txBody>
          <a:bodyPr wrap="none" lIns="0" tIns="0" rIns="0" bIns="0" anchor="t" anchorCtr="0">
            <a:spAutoFit/>
          </a:bodyPr>
          <a:lstStyle/>
          <a:p>
            <a:pPr algn="l"/>
            <a:r>
              <a:rPr lang="zh-CN" sz="825" dirty="0">
                <a:solidFill>
                  <a:srgbClr val="888888"/>
                </a:solidFill>
                <a:latin typeface="Arial"/>
                <a:ea typeface="Microsoft YaHei"/>
                <a:cs typeface="Arial"/>
              </a:rPr>
              <a:t>✔ 3 Major Hospitals</a:t>
            </a:r>
          </a:p>
        </p:txBody>
      </p:sp>
      <p:sp>
        <p:nvSpPr>
          <p:cNvPr id="25" name="Rectangle 25"/>
          <p:cNvSpPr/>
          <p:nvPr/>
        </p:nvSpPr>
        <p:spPr>
          <a:xfrm>
            <a:off x="0" y="5810250"/>
            <a:ext cx="12192000" cy="685800"/>
          </a:xfrm>
          <a:prstGeom prst="rect">
            <a:avLst/>
          </a:prstGeom>
          <a:solidFill>
            <a:srgbClr val="AE232F"/>
          </a:solidFill>
          <a:ln>
            <a:noFill/>
          </a:ln>
        </p:spPr>
      </p:sp>
      <p:sp>
        <p:nvSpPr>
          <p:cNvPr id="26" name="Ellipse 26"/>
          <p:cNvSpPr/>
          <p:nvPr/>
        </p:nvSpPr>
        <p:spPr>
          <a:xfrm>
            <a:off x="533400" y="6115050"/>
            <a:ext cx="76200" cy="76200"/>
          </a:xfrm>
          <a:prstGeom prst="ellipse">
            <a:avLst/>
          </a:prstGeom>
          <a:solidFill>
            <a:srgbClr val="FFFFFF">
              <a:alpha val="30000"/>
            </a:srgbClr>
          </a:solidFill>
          <a:ln>
            <a:noFill/>
          </a:ln>
        </p:spPr>
      </p:sp>
      <p:sp>
        <p:nvSpPr>
          <p:cNvPr id="27" name="Ellipse 27"/>
          <p:cNvSpPr/>
          <p:nvPr/>
        </p:nvSpPr>
        <p:spPr>
          <a:xfrm>
            <a:off x="723900" y="6115050"/>
            <a:ext cx="76200" cy="76200"/>
          </a:xfrm>
          <a:prstGeom prst="ellipse">
            <a:avLst/>
          </a:prstGeom>
          <a:solidFill>
            <a:srgbClr val="FFFFFF">
              <a:alpha val="20000"/>
            </a:srgbClr>
          </a:solidFill>
          <a:ln>
            <a:noFill/>
          </a:ln>
        </p:spPr>
      </p:sp>
      <p:sp>
        <p:nvSpPr>
          <p:cNvPr id="28" name="Ellipse 28"/>
          <p:cNvSpPr/>
          <p:nvPr/>
        </p:nvSpPr>
        <p:spPr>
          <a:xfrm>
            <a:off x="914400" y="6115050"/>
            <a:ext cx="76200" cy="76200"/>
          </a:xfrm>
          <a:prstGeom prst="ellipse">
            <a:avLst/>
          </a:prstGeom>
          <a:solidFill>
            <a:srgbClr val="FFFFFF">
              <a:alpha val="10000"/>
            </a:srgbClr>
          </a:solidFill>
          <a:ln>
            <a:noFill/>
          </a:ln>
        </p:spPr>
      </p:sp>
      <p:sp>
        <p:nvSpPr>
          <p:cNvPr id="29" name="Ellipse 29"/>
          <p:cNvSpPr/>
          <p:nvPr/>
        </p:nvSpPr>
        <p:spPr>
          <a:xfrm>
            <a:off x="11201400" y="6115050"/>
            <a:ext cx="76200" cy="76200"/>
          </a:xfrm>
          <a:prstGeom prst="ellipse">
            <a:avLst/>
          </a:prstGeom>
          <a:solidFill>
            <a:srgbClr val="FFFFFF">
              <a:alpha val="10000"/>
            </a:srgbClr>
          </a:solidFill>
          <a:ln>
            <a:noFill/>
          </a:ln>
        </p:spPr>
      </p:sp>
      <p:sp>
        <p:nvSpPr>
          <p:cNvPr id="30" name="Ellipse 30"/>
          <p:cNvSpPr/>
          <p:nvPr/>
        </p:nvSpPr>
        <p:spPr>
          <a:xfrm>
            <a:off x="11391900" y="6115050"/>
            <a:ext cx="76200" cy="76200"/>
          </a:xfrm>
          <a:prstGeom prst="ellipse">
            <a:avLst/>
          </a:prstGeom>
          <a:solidFill>
            <a:srgbClr val="FFFFFF">
              <a:alpha val="20000"/>
            </a:srgbClr>
          </a:solidFill>
          <a:ln>
            <a:noFill/>
          </a:ln>
        </p:spPr>
      </p:sp>
      <p:sp>
        <p:nvSpPr>
          <p:cNvPr id="31" name="Ellipse 31"/>
          <p:cNvSpPr/>
          <p:nvPr/>
        </p:nvSpPr>
        <p:spPr>
          <a:xfrm>
            <a:off x="11582400" y="6115050"/>
            <a:ext cx="76200" cy="76200"/>
          </a:xfrm>
          <a:prstGeom prst="ellipse">
            <a:avLst/>
          </a:prstGeom>
          <a:solidFill>
            <a:srgbClr val="FFFFFF">
              <a:alpha val="30000"/>
            </a:srgbClr>
          </a:solidFill>
          <a:ln>
            <a:noFill/>
          </a:ln>
        </p:spPr>
      </p:sp>
      <p:sp>
        <p:nvSpPr>
          <p:cNvPr id="32" name="TextBox 32"/>
          <p:cNvSpPr txBox="1"/>
          <p:nvPr/>
        </p:nvSpPr>
        <p:spPr>
          <a:xfrm>
            <a:off x="3792854" y="5935028"/>
            <a:ext cx="460629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"Science in my hands. Patients in my mind. Growth in my goals."</a:t>
            </a:r>
          </a:p>
        </p:txBody>
      </p:sp>
      <p:sp>
        <p:nvSpPr>
          <p:cNvPr id="33" name="TextBox 33"/>
          <p:cNvSpPr txBox="1"/>
          <p:nvPr/>
        </p:nvSpPr>
        <p:spPr>
          <a:xfrm>
            <a:off x="4725400" y="6208395"/>
            <a:ext cx="2741200" cy="182880"/>
          </a:xfrm>
          <a:prstGeom prst="rect">
            <a:avLst/>
          </a:prstGeom>
          <a:noFill/>
          <a:ln>
            <a:noFill/>
          </a:ln>
        </p:spPr>
        <p:txBody>
          <a:bodyPr wrap="none" lIns="0" tIns="0" rIns="0" bIns="0" anchor="t" anchorCtr="0">
            <a:spAutoFit/>
          </a:bodyPr>
          <a:lstStyle/>
          <a:p>
            <a:pPr algn="ctr"/>
            <a:r>
              <a:rPr lang="zh-CN" sz="900" dirty="0">
                <a:solidFill>
                  <a:srgbClr val="F9E5E7"/>
                </a:solidFill>
                <a:latin typeface="Arial"/>
                <a:ea typeface="Microsoft YaHei"/>
                <a:cs typeface="Arial"/>
              </a:rPr>
              <a:t>— Rattanakorn Rattanaroj (Jan), MR Candidate</a:t>
            </a:r>
          </a:p>
        </p:txBody>
      </p:sp>
      <p:grpSp>
        <p:nvGrpSpPr>
          <p:cNvPr id="36" name="Group 36"/>
          <p:cNvGrpSpPr/>
          <p:nvPr/>
        </p:nvGrpSpPr>
        <p:grpSpPr>
          <a:xfrm>
            <a:off x="0" y="6496050"/>
            <a:ext cx="12192000" cy="361950"/>
            <a:chOff x="0" y="6496050"/>
            <a:chExt cx="12192000" cy="361950"/>
          </a:xfrm>
        </p:grpSpPr>
        <p:sp>
          <p:nvSpPr>
            <p:cNvPr id="34" name="Rectangle 34"/>
            <p:cNvSpPr/>
            <p:nvPr/>
          </p:nvSpPr>
          <p:spPr>
            <a:xfrm>
              <a:off x="0" y="6496050"/>
              <a:ext cx="12192000" cy="361950"/>
            </a:xfrm>
            <a:prstGeom prst="rect">
              <a:avLst/>
            </a:prstGeom>
            <a:solidFill>
              <a:srgbClr val="8A1B25"/>
            </a:solidFill>
            <a:ln>
              <a:noFill/>
            </a:ln>
          </p:spPr>
        </p:sp>
        <p:sp>
          <p:nvSpPr>
            <p:cNvPr id="35" name="TextBox 35"/>
            <p:cNvSpPr txBox="1"/>
            <p:nvPr/>
          </p:nvSpPr>
          <p:spPr>
            <a:xfrm>
              <a:off x="4128325" y="6627495"/>
              <a:ext cx="3935349"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Rattanakorn Rattanaroj | Rattanaroj.jan@gmail.com | 080-045-0821</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2026-06-16T01:02:38Z</dcterms:created>
  <dcterms:modified xsi:type="dcterms:W3CDTF">2026-06-16T01:02:38Z</dcterms:modified>
  <cp:category/>
  <cp:contentStatus/>
</cp:coreProperties>
</file>