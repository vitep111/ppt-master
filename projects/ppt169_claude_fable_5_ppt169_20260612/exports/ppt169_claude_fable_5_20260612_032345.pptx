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notesSlides/_rels/notesSlide1.xml.rels><?xml version="1.0" encoding="UTF-8" standalone="yes"?>
<Relationships xmlns="http://schemas.openxmlformats.org/package/2006/relationships">
  <Relationship Id="rId1"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This is Claude Fable 5, Anthropic's most capable widely released model, and over the next ten minutes we'll cover what it is, what it's exceptional at, and where to put it to work. Fable 5 launched in June twenty twenty-six as the first model in the new Mythos class, built specifically for the most demanding reasoning and long-horizon agentic work.</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Here's the route we'll take. We start with what Fable 5 actually is and where it sits in the model family, then move through the specs, the headline capabilities, and what early customers are reporting. The back half is practical: the use cases worth pointing it at first, the developer experience changes you need to plan for, and the safety architecture that lets a frontier model ship as generally available.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single most important thing to understand is that Fable 5 is not a better Opus — it's a new class above Opus. Launched on June ninth, twenty twenty-six, Fable 5 and its sibling Claude Mythos 5 share the same underlying model: one frontier intelligence with two release postures. Fable 5 is the generally available release and carries additional safety measures for dual-use capabilities, while Mythos 5 ships without those measures to approved organizations through Project Glasswing. If you can call an API, you can use Fable 5 today.</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So where does it sit? The pyramid tells the story: the Mythos class now tops the family, above Opus, Sonnet, and Haiku. Fable 5 is the generally available face of that class at ten dollars in and fifty dollars out per million tokens. The practical guidance is simple — Opus 4.8 remains the default for general work, and you reach for Fable 5 when the task genuinely demands the highest available intelligence: the hardest unsolved problems and the longest autonomous runs.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economics are predictable, which matters for a frontier model. You get a one-million-token context window as the default and the maximum, up to one hundred twenty-eight thousand output tokens per request, and flat pricing at ten and fifty dollars per million tokens — less than half the price of the Mythos Preview it replaces. It's live on five platforms from day one, and the one operational requirement to know about is thirty-day data retention: Fable 5 is not available under zero data retention.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gains land above what prior models could do at all, so don't evaluate it only on yesterday's workloads. Six areas stand out. It sustains multi-hour autonomous runs where a fifteen-minute single request is normal. It compresses months of software engineering into days. It leads finance benchmarks and produces complete enterprise deliverables. Its vision handles dense and degraded images — it played Pokémon FireRed from screenshots alone. It stays effective across millions of tokens, especially with a memory surface. And parallel sub-agent delegation, which used to be a gamble, is now dependable.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Early-access teams are reporting breakthroughs, not increments. Stripe completed a fifty-million-line Ruby migration in a single day — their words were months of work into days. Cursor said it opened up a class of long-horizon problems that were simply out of reach before. GitHub reported it exceeded their previous benchmarks on complex coding tasks, and Cognition measured it as the highest-scoring model ever on FrontierBench, their hardest internal evaluation.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Those signals translate into six use cases, and they share one shape: long, ambiguous, high-stakes work that runs end to end. Autonomous coding agents for overnight refactors and large migrations. Deep research and analysis across the full million-token window. Enterprise deliverables produced as finished artifacts rather than drafts. Orchestration of parallel sub-agent fleets. Vision-heavy workflows like degraded scans and screenshot-driven computer use. And code review, where it finds real bugs with both higher recall and higher precision.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Long-horizon coding is the breakout use case, and Stripe's number is the proof point: fifty million lines migrated in one day. Three practices made that possible, and they apply to any team. Specify the task fully in one well-written first turn. Run at high effort, because deeper planning up front usually lowers total cost. And let the model build and run its own verification harness as it works, instead of checking everything by hand afterward.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second spotlight is enterprise knowledge work, where the shift is that one agent now carries the analysis from raw source material to a shippable deliverable. Financial analysis with benchmark-leading accuracy, documents and decks produced as working files, research synthesis across entire data rooms, and legal review applied with the same judgment on file one and file ten thousand. The takeaway is the absence of hand-offs — analysis and production happen in one context.</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For developers, integration is mostly a model-ID swap, with three behaviors to plan for. First, thinking is always on — adaptive is the only mode, and you control depth with the effort parameter rather than token budgets; low effort on Fable 5 often beats prior models at max. Second, safety classifiers can decline a request, so check the stop reason and configure a fallback to Opus 4.8 — refusals before output are never billed. Third, it runs everywhere Claude runs, with one requirement: thirty-day data retention.</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Fable 5 can be generally available because three safeguards travel with it. Classifiers detect and block harmful cybersecurity, biology, and model-distillation requests, and blocked queries fall back to Opus 4.8 rather than dead-ending. More than a thousand hours of external red-teaming produced no universal jailbreaks. And the thirty-day retention policy uses data for safety purposes only before deletion. Mythos 5 is the same model with those safeguards lifted, but only for vetted partners under trusted-access programs.</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The teams with the best results did one thing differently: they gave Fable 5 their hardest unsolved problems first. So start there. Give it the full specification up front, sweep the effort levels to find your cost-quality point, and let it delegate and verify its own work. The model ID is claude-fable-5, it's available today on every major platform, and the announcement at anthropic dot com has the full details. Thank you.</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notesSlide" Target="../notesSlides/notesSlide13.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858000"/>
            </a:xfrm>
            <a:prstGeom prst="rect">
              <a:avLst/>
            </a:prstGeom>
            <a:gradFill>
              <a:gsLst>
                <a:gs pos="0">
                  <a:srgbClr val="D97757">
                    <a:alpha val="10000"/>
                  </a:srgbClr>
                </a:gs>
                <a:gs pos="100000">
                  <a:srgbClr val="D97757">
                    <a:alpha val="0"/>
                  </a:srgbClr>
                </a:gs>
              </a:gsLst>
              <a:path path="circle">
                <a:fillToRect l="50000" t="50000" r="50000" b="50000"/>
              </a:path>
            </a:gradFill>
            <a:ln>
              <a:noFill/>
            </a:ln>
          </p:spPr>
        </p:sp>
      </p:grpSp>
      <p:sp>
        <p:nvSpPr>
          <p:cNvPr id="5" name="Freeform 5"/>
          <p:cNvSpPr/>
          <p:nvPr/>
        </p:nvSpPr>
        <p:spPr>
          <a:xfrm>
            <a:off x="7620000" y="857250"/>
            <a:ext cx="228600" cy="228600"/>
          </a:xfrm>
          <a:custGeom>
            <a:avLst/>
            <a:gdLst/>
            <a:ahLst/>
            <a:cxnLst/>
            <a:rect l="l" t="t" r="r" b="b"/>
            <a:pathLst>
              <a:path w="228600" h="228600">
                <a:moveTo>
                  <a:pt x="108356" y="228600"/>
                </a:moveTo>
                <a:lnTo>
                  <a:pt x="102641" y="224257"/>
                </a:lnTo>
                <a:lnTo>
                  <a:pt x="99441" y="217170"/>
                </a:lnTo>
                <a:lnTo>
                  <a:pt x="102641" y="202997"/>
                </a:lnTo>
                <a:lnTo>
                  <a:pt x="106299" y="184709"/>
                </a:lnTo>
                <a:lnTo>
                  <a:pt x="109271" y="170078"/>
                </a:lnTo>
                <a:lnTo>
                  <a:pt x="112014" y="152019"/>
                </a:lnTo>
                <a:lnTo>
                  <a:pt x="113614" y="146075"/>
                </a:lnTo>
                <a:lnTo>
                  <a:pt x="113386" y="145618"/>
                </a:lnTo>
                <a:lnTo>
                  <a:pt x="112243" y="145847"/>
                </a:lnTo>
                <a:lnTo>
                  <a:pt x="98527" y="164592"/>
                </a:lnTo>
                <a:lnTo>
                  <a:pt x="77724" y="192710"/>
                </a:lnTo>
                <a:lnTo>
                  <a:pt x="61265" y="210083"/>
                </a:lnTo>
                <a:lnTo>
                  <a:pt x="57379" y="211684"/>
                </a:lnTo>
                <a:lnTo>
                  <a:pt x="50521" y="208255"/>
                </a:lnTo>
                <a:lnTo>
                  <a:pt x="51206" y="201854"/>
                </a:lnTo>
                <a:lnTo>
                  <a:pt x="55093" y="196367"/>
                </a:lnTo>
                <a:lnTo>
                  <a:pt x="77724" y="167335"/>
                </a:lnTo>
                <a:lnTo>
                  <a:pt x="91440" y="149276"/>
                </a:lnTo>
                <a:lnTo>
                  <a:pt x="100355" y="138989"/>
                </a:lnTo>
                <a:lnTo>
                  <a:pt x="100127" y="137617"/>
                </a:lnTo>
                <a:lnTo>
                  <a:pt x="99670" y="137617"/>
                </a:lnTo>
                <a:lnTo>
                  <a:pt x="39319" y="176936"/>
                </a:lnTo>
                <a:lnTo>
                  <a:pt x="28575" y="178308"/>
                </a:lnTo>
                <a:lnTo>
                  <a:pt x="23774" y="173965"/>
                </a:lnTo>
                <a:lnTo>
                  <a:pt x="24460" y="166878"/>
                </a:lnTo>
                <a:lnTo>
                  <a:pt x="26746" y="164592"/>
                </a:lnTo>
                <a:lnTo>
                  <a:pt x="44806" y="152019"/>
                </a:lnTo>
                <a:lnTo>
                  <a:pt x="89840" y="126873"/>
                </a:lnTo>
                <a:lnTo>
                  <a:pt x="90526" y="124587"/>
                </a:lnTo>
                <a:lnTo>
                  <a:pt x="89840" y="123444"/>
                </a:lnTo>
                <a:lnTo>
                  <a:pt x="87554" y="123444"/>
                </a:lnTo>
                <a:lnTo>
                  <a:pt x="80010" y="122987"/>
                </a:lnTo>
                <a:lnTo>
                  <a:pt x="54407" y="122301"/>
                </a:lnTo>
                <a:lnTo>
                  <a:pt x="32233" y="121387"/>
                </a:lnTo>
                <a:lnTo>
                  <a:pt x="10516" y="120244"/>
                </a:lnTo>
                <a:lnTo>
                  <a:pt x="5029" y="119101"/>
                </a:lnTo>
                <a:lnTo>
                  <a:pt x="0" y="112243"/>
                </a:lnTo>
                <a:lnTo>
                  <a:pt x="457" y="108814"/>
                </a:lnTo>
                <a:lnTo>
                  <a:pt x="5029" y="105842"/>
                </a:lnTo>
                <a:lnTo>
                  <a:pt x="11659" y="106299"/>
                </a:lnTo>
                <a:lnTo>
                  <a:pt x="26060" y="107442"/>
                </a:lnTo>
                <a:lnTo>
                  <a:pt x="47777" y="108814"/>
                </a:lnTo>
                <a:lnTo>
                  <a:pt x="63551" y="109728"/>
                </a:lnTo>
                <a:lnTo>
                  <a:pt x="86868" y="112243"/>
                </a:lnTo>
                <a:lnTo>
                  <a:pt x="90526" y="112243"/>
                </a:lnTo>
                <a:lnTo>
                  <a:pt x="90983" y="110642"/>
                </a:lnTo>
                <a:lnTo>
                  <a:pt x="89840" y="109728"/>
                </a:lnTo>
                <a:lnTo>
                  <a:pt x="88925" y="108814"/>
                </a:lnTo>
                <a:lnTo>
                  <a:pt x="66294" y="93726"/>
                </a:lnTo>
                <a:lnTo>
                  <a:pt x="42062" y="77724"/>
                </a:lnTo>
                <a:lnTo>
                  <a:pt x="29261" y="68351"/>
                </a:lnTo>
                <a:lnTo>
                  <a:pt x="22403" y="63551"/>
                </a:lnTo>
                <a:lnTo>
                  <a:pt x="18974" y="59207"/>
                </a:lnTo>
                <a:lnTo>
                  <a:pt x="17602" y="49606"/>
                </a:lnTo>
                <a:lnTo>
                  <a:pt x="23774" y="42748"/>
                </a:lnTo>
                <a:lnTo>
                  <a:pt x="32233" y="43434"/>
                </a:lnTo>
                <a:lnTo>
                  <a:pt x="34290" y="43891"/>
                </a:lnTo>
                <a:lnTo>
                  <a:pt x="42748" y="50521"/>
                </a:lnTo>
                <a:lnTo>
                  <a:pt x="60808" y="64465"/>
                </a:lnTo>
                <a:lnTo>
                  <a:pt x="84582" y="82067"/>
                </a:lnTo>
                <a:lnTo>
                  <a:pt x="88011" y="84811"/>
                </a:lnTo>
                <a:lnTo>
                  <a:pt x="89611" y="83896"/>
                </a:lnTo>
                <a:lnTo>
                  <a:pt x="89611" y="83210"/>
                </a:lnTo>
                <a:lnTo>
                  <a:pt x="88011" y="80696"/>
                </a:lnTo>
                <a:lnTo>
                  <a:pt x="75209" y="57379"/>
                </a:lnTo>
                <a:lnTo>
                  <a:pt x="61493" y="33604"/>
                </a:lnTo>
                <a:lnTo>
                  <a:pt x="55321" y="23774"/>
                </a:lnTo>
                <a:lnTo>
                  <a:pt x="53721" y="17831"/>
                </a:lnTo>
                <a:cubicBezTo>
                  <a:pt x="53111" y="15773"/>
                  <a:pt x="52807" y="13487"/>
                  <a:pt x="52807" y="10973"/>
                </a:cubicBezTo>
                <a:lnTo>
                  <a:pt x="59893" y="1372"/>
                </a:lnTo>
                <a:lnTo>
                  <a:pt x="63779" y="0"/>
                </a:lnTo>
                <a:lnTo>
                  <a:pt x="73381" y="1372"/>
                </a:lnTo>
                <a:lnTo>
                  <a:pt x="77267" y="4801"/>
                </a:lnTo>
                <a:lnTo>
                  <a:pt x="83210" y="18288"/>
                </a:lnTo>
                <a:lnTo>
                  <a:pt x="92583" y="39548"/>
                </a:lnTo>
                <a:lnTo>
                  <a:pt x="107442" y="68351"/>
                </a:lnTo>
                <a:lnTo>
                  <a:pt x="111785" y="77038"/>
                </a:lnTo>
                <a:lnTo>
                  <a:pt x="114071" y="84811"/>
                </a:lnTo>
                <a:lnTo>
                  <a:pt x="114986" y="87325"/>
                </a:lnTo>
                <a:lnTo>
                  <a:pt x="116586" y="87325"/>
                </a:lnTo>
                <a:lnTo>
                  <a:pt x="116586" y="85954"/>
                </a:lnTo>
                <a:lnTo>
                  <a:pt x="117729" y="69494"/>
                </a:lnTo>
                <a:lnTo>
                  <a:pt x="120015" y="49606"/>
                </a:lnTo>
                <a:lnTo>
                  <a:pt x="122301" y="24003"/>
                </a:lnTo>
                <a:lnTo>
                  <a:pt x="122987" y="16688"/>
                </a:lnTo>
                <a:lnTo>
                  <a:pt x="126644" y="8001"/>
                </a:lnTo>
                <a:lnTo>
                  <a:pt x="133731" y="3429"/>
                </a:lnTo>
                <a:lnTo>
                  <a:pt x="139217" y="5944"/>
                </a:lnTo>
                <a:lnTo>
                  <a:pt x="143789" y="12573"/>
                </a:lnTo>
                <a:lnTo>
                  <a:pt x="143104" y="16688"/>
                </a:lnTo>
                <a:lnTo>
                  <a:pt x="140589" y="34290"/>
                </a:lnTo>
                <a:lnTo>
                  <a:pt x="135103" y="61951"/>
                </a:lnTo>
                <a:lnTo>
                  <a:pt x="131674" y="80696"/>
                </a:lnTo>
                <a:lnTo>
                  <a:pt x="133731" y="80696"/>
                </a:lnTo>
                <a:lnTo>
                  <a:pt x="136017" y="78181"/>
                </a:lnTo>
                <a:lnTo>
                  <a:pt x="145390" y="65837"/>
                </a:lnTo>
                <a:lnTo>
                  <a:pt x="161163" y="46177"/>
                </a:lnTo>
                <a:lnTo>
                  <a:pt x="168021" y="38405"/>
                </a:lnTo>
                <a:lnTo>
                  <a:pt x="176251" y="29718"/>
                </a:lnTo>
                <a:lnTo>
                  <a:pt x="181508" y="25603"/>
                </a:lnTo>
                <a:lnTo>
                  <a:pt x="191338" y="25603"/>
                </a:lnTo>
                <a:lnTo>
                  <a:pt x="198425" y="36347"/>
                </a:lnTo>
                <a:lnTo>
                  <a:pt x="195224" y="47549"/>
                </a:lnTo>
                <a:lnTo>
                  <a:pt x="185166" y="60350"/>
                </a:lnTo>
                <a:lnTo>
                  <a:pt x="176708" y="71095"/>
                </a:lnTo>
                <a:lnTo>
                  <a:pt x="164592" y="87325"/>
                </a:lnTo>
                <a:lnTo>
                  <a:pt x="157277" y="100355"/>
                </a:lnTo>
                <a:lnTo>
                  <a:pt x="157963" y="101270"/>
                </a:lnTo>
                <a:lnTo>
                  <a:pt x="159563" y="101270"/>
                </a:lnTo>
                <a:lnTo>
                  <a:pt x="186766" y="95326"/>
                </a:lnTo>
                <a:lnTo>
                  <a:pt x="201625" y="92812"/>
                </a:lnTo>
                <a:lnTo>
                  <a:pt x="218999" y="89840"/>
                </a:lnTo>
                <a:lnTo>
                  <a:pt x="227000" y="93497"/>
                </a:lnTo>
                <a:lnTo>
                  <a:pt x="227914" y="97155"/>
                </a:lnTo>
                <a:lnTo>
                  <a:pt x="224714" y="104927"/>
                </a:lnTo>
                <a:lnTo>
                  <a:pt x="205969" y="109499"/>
                </a:lnTo>
                <a:lnTo>
                  <a:pt x="184023" y="113843"/>
                </a:lnTo>
                <a:lnTo>
                  <a:pt x="151333" y="121615"/>
                </a:lnTo>
                <a:lnTo>
                  <a:pt x="150876" y="121844"/>
                </a:lnTo>
                <a:lnTo>
                  <a:pt x="151333" y="122530"/>
                </a:lnTo>
                <a:lnTo>
                  <a:pt x="165964" y="123901"/>
                </a:lnTo>
                <a:lnTo>
                  <a:pt x="172364" y="124358"/>
                </a:lnTo>
                <a:lnTo>
                  <a:pt x="187909" y="124358"/>
                </a:lnTo>
                <a:lnTo>
                  <a:pt x="216713" y="126416"/>
                </a:lnTo>
                <a:lnTo>
                  <a:pt x="224257" y="131445"/>
                </a:lnTo>
                <a:lnTo>
                  <a:pt x="228600" y="137389"/>
                </a:lnTo>
                <a:lnTo>
                  <a:pt x="227914" y="142189"/>
                </a:lnTo>
                <a:lnTo>
                  <a:pt x="216256" y="147904"/>
                </a:lnTo>
                <a:lnTo>
                  <a:pt x="200711" y="144247"/>
                </a:lnTo>
                <a:lnTo>
                  <a:pt x="164135" y="135560"/>
                </a:lnTo>
                <a:lnTo>
                  <a:pt x="151790" y="132588"/>
                </a:lnTo>
                <a:lnTo>
                  <a:pt x="149962" y="132588"/>
                </a:lnTo>
                <a:lnTo>
                  <a:pt x="149962" y="133502"/>
                </a:lnTo>
                <a:lnTo>
                  <a:pt x="160477" y="143789"/>
                </a:lnTo>
                <a:lnTo>
                  <a:pt x="179451" y="160934"/>
                </a:lnTo>
                <a:lnTo>
                  <a:pt x="203454" y="183109"/>
                </a:lnTo>
                <a:lnTo>
                  <a:pt x="204597" y="188595"/>
                </a:lnTo>
                <a:lnTo>
                  <a:pt x="201625" y="193167"/>
                </a:lnTo>
                <a:lnTo>
                  <a:pt x="198425" y="192710"/>
                </a:lnTo>
                <a:lnTo>
                  <a:pt x="177394" y="176708"/>
                </a:lnTo>
                <a:lnTo>
                  <a:pt x="169164" y="169621"/>
                </a:lnTo>
                <a:lnTo>
                  <a:pt x="150876" y="154305"/>
                </a:lnTo>
                <a:lnTo>
                  <a:pt x="149733" y="154305"/>
                </a:lnTo>
                <a:lnTo>
                  <a:pt x="149733" y="155905"/>
                </a:lnTo>
                <a:lnTo>
                  <a:pt x="153848" y="162077"/>
                </a:lnTo>
                <a:lnTo>
                  <a:pt x="176251" y="195682"/>
                </a:lnTo>
                <a:lnTo>
                  <a:pt x="177394" y="205969"/>
                </a:lnTo>
                <a:lnTo>
                  <a:pt x="175793" y="209169"/>
                </a:lnTo>
                <a:lnTo>
                  <a:pt x="169850" y="211226"/>
                </a:lnTo>
                <a:lnTo>
                  <a:pt x="163678" y="210083"/>
                </a:lnTo>
                <a:lnTo>
                  <a:pt x="150419" y="191795"/>
                </a:lnTo>
                <a:lnTo>
                  <a:pt x="136931" y="170993"/>
                </a:lnTo>
                <a:lnTo>
                  <a:pt x="125959" y="152476"/>
                </a:lnTo>
                <a:lnTo>
                  <a:pt x="124816" y="153391"/>
                </a:lnTo>
                <a:lnTo>
                  <a:pt x="118186" y="222428"/>
                </a:lnTo>
                <a:lnTo>
                  <a:pt x="115214" y="225857"/>
                </a:lnTo>
                <a:lnTo>
                  <a:pt x="108356" y="228600"/>
                </a:lnTo>
                <a:close/>
              </a:path>
            </a:pathLst>
          </a:custGeom>
          <a:solidFill>
            <a:srgbClr val="D97757">
              <a:alpha val="14000"/>
            </a:srgbClr>
          </a:solidFill>
          <a:ln>
            <a:noFill/>
          </a:ln>
        </p:spPr>
      </p:sp>
      <p:grpSp>
        <p:nvGrpSpPr>
          <p:cNvPr id="8" name="Group 8"/>
          <p:cNvGrpSpPr/>
          <p:nvPr/>
        </p:nvGrpSpPr>
        <p:grpSpPr>
          <a:xfrm>
            <a:off x="747712" y="1981200"/>
            <a:ext cx="2044827" cy="507206"/>
            <a:chOff x="747712" y="1981200"/>
            <a:chExt cx="2044827" cy="507206"/>
          </a:xfrm>
        </p:grpSpPr>
        <p:sp>
          <p:nvSpPr>
            <p:cNvPr id="6" name="Rectangle 6"/>
            <p:cNvSpPr/>
            <p:nvPr/>
          </p:nvSpPr>
          <p:spPr>
            <a:xfrm>
              <a:off x="762000" y="1981200"/>
              <a:ext cx="419100" cy="38100"/>
            </a:xfrm>
            <a:prstGeom prst="roundRect">
              <a:avLst>
                <a:gd name="adj" fmla="val 50000"/>
              </a:avLst>
            </a:prstGeom>
            <a:solidFill>
              <a:srgbClr val="D97757"/>
            </a:solidFill>
            <a:ln>
              <a:noFill/>
            </a:ln>
          </p:spPr>
        </p:sp>
        <p:sp>
          <p:nvSpPr>
            <p:cNvPr id="7" name="TextBox 7"/>
            <p:cNvSpPr txBox="1"/>
            <p:nvPr/>
          </p:nvSpPr>
          <p:spPr>
            <a:xfrm>
              <a:off x="747712" y="2259806"/>
              <a:ext cx="2044827" cy="228600"/>
            </a:xfrm>
            <a:prstGeom prst="rect">
              <a:avLst/>
            </a:prstGeom>
            <a:noFill/>
            <a:ln>
              <a:noFill/>
            </a:ln>
          </p:spPr>
          <p:txBody>
            <a:bodyPr wrap="none" lIns="0" tIns="0" rIns="0" bIns="0" anchor="t" anchorCtr="0">
              <a:spAutoFit/>
            </a:bodyPr>
            <a:lstStyle/>
            <a:p>
              <a:pPr algn="l"/>
              <a:r>
                <a:rPr lang="zh-CN" sz="1125" b="1" dirty="0">
                  <a:solidFill>
                    <a:srgbClr val="64748B"/>
                  </a:solidFill>
                  <a:latin typeface="Styrene A"/>
                  <a:ea typeface="Microsoft YaHei"/>
                  <a:cs typeface="Styrene A"/>
                </a:rPr>
                <a:t>ANTHROPIC · MYTHOS CLASS</a:t>
              </a:r>
            </a:p>
          </p:txBody>
        </p:sp>
      </p:grpSp>
      <p:grpSp>
        <p:nvGrpSpPr>
          <p:cNvPr id="11" name="Group 11"/>
          <p:cNvGrpSpPr/>
          <p:nvPr/>
        </p:nvGrpSpPr>
        <p:grpSpPr>
          <a:xfrm>
            <a:off x="651510" y="2623185"/>
            <a:ext cx="5492048" cy="1410653"/>
            <a:chOff x="651510" y="2623185"/>
            <a:chExt cx="5492048" cy="1410653"/>
          </a:xfrm>
        </p:grpSpPr>
        <p:sp>
          <p:nvSpPr>
            <p:cNvPr id="9" name="TextBox 9"/>
            <p:cNvSpPr txBox="1"/>
            <p:nvPr/>
          </p:nvSpPr>
          <p:spPr>
            <a:xfrm>
              <a:off x="651510" y="2623185"/>
              <a:ext cx="5492048" cy="1158240"/>
            </a:xfrm>
            <a:prstGeom prst="rect">
              <a:avLst/>
            </a:prstGeom>
            <a:noFill/>
            <a:ln>
              <a:noFill/>
            </a:ln>
          </p:spPr>
          <p:txBody>
            <a:bodyPr wrap="none" lIns="0" tIns="0" rIns="0" bIns="0" anchor="t" anchorCtr="0">
              <a:spAutoFit/>
            </a:bodyPr>
            <a:lstStyle/>
            <a:p>
              <a:pPr algn="l"/>
              <a:r>
                <a:rPr lang="zh-CN" sz="5700" b="1" dirty="0">
                  <a:solidFill>
                    <a:srgbClr val="191919"/>
                  </a:solidFill>
                  <a:latin typeface="Styrene A"/>
                  <a:ea typeface="Microsoft YaHei"/>
                  <a:cs typeface="Styrene A"/>
                </a:rPr>
                <a:t>Claude Fable 5</a:t>
              </a:r>
            </a:p>
          </p:txBody>
        </p:sp>
        <p:sp>
          <p:nvSpPr>
            <p:cNvPr id="10" name="TextBox 10"/>
            <p:cNvSpPr txBox="1"/>
            <p:nvPr/>
          </p:nvSpPr>
          <p:spPr>
            <a:xfrm>
              <a:off x="729615" y="3515678"/>
              <a:ext cx="3601212" cy="518160"/>
            </a:xfrm>
            <a:prstGeom prst="rect">
              <a:avLst/>
            </a:prstGeom>
            <a:noFill/>
            <a:ln>
              <a:noFill/>
            </a:ln>
          </p:spPr>
          <p:txBody>
            <a:bodyPr wrap="none" lIns="0" tIns="0" rIns="0" bIns="0" anchor="t" anchorCtr="0">
              <a:spAutoFit/>
            </a:bodyPr>
            <a:lstStyle/>
            <a:p>
              <a:pPr algn="l"/>
              <a:r>
                <a:rPr lang="zh-CN" sz="2550" dirty="0">
                  <a:solidFill>
                    <a:srgbClr val="64748B"/>
                  </a:solidFill>
                  <a:latin typeface="Styrene A"/>
                  <a:ea typeface="Microsoft YaHei"/>
                  <a:cs typeface="Styrene A"/>
                </a:rPr>
                <a:t>Overview &amp; Use Cases</a:t>
              </a:r>
            </a:p>
          </p:txBody>
        </p:sp>
      </p:grpSp>
      <p:grpSp>
        <p:nvGrpSpPr>
          <p:cNvPr id="14" name="Group 14"/>
          <p:cNvGrpSpPr/>
          <p:nvPr/>
        </p:nvGrpSpPr>
        <p:grpSpPr>
          <a:xfrm>
            <a:off x="743902" y="4284821"/>
            <a:ext cx="6335482" cy="575310"/>
            <a:chOff x="743902" y="4284821"/>
            <a:chExt cx="6335482" cy="575310"/>
          </a:xfrm>
        </p:grpSpPr>
        <p:sp>
          <p:nvSpPr>
            <p:cNvPr id="12" name="TextBox 12"/>
            <p:cNvSpPr txBox="1"/>
            <p:nvPr/>
          </p:nvSpPr>
          <p:spPr>
            <a:xfrm>
              <a:off x="743902" y="4284821"/>
              <a:ext cx="6335482" cy="289560"/>
            </a:xfrm>
            <a:prstGeom prst="rect">
              <a:avLst/>
            </a:prstGeom>
            <a:noFill/>
            <a:ln>
              <a:noFill/>
            </a:ln>
          </p:spPr>
          <p:txBody>
            <a:bodyPr wrap="none" lIns="0" tIns="0" rIns="0" bIns="0" anchor="t" anchorCtr="0">
              <a:spAutoFit/>
            </a:bodyPr>
            <a:lstStyle/>
            <a:p>
              <a:pPr algn="l"/>
              <a:r>
                <a:rPr lang="zh-CN" sz="1425" dirty="0">
                  <a:solidFill>
                    <a:srgbClr val="191919"/>
                  </a:solidFill>
                  <a:latin typeface="Anthropic Sans"/>
                  <a:ea typeface="Microsoft YaHei"/>
                  <a:cs typeface="Anthropic Sans"/>
                </a:rPr>
                <a:t xml:space="preserve">Anthropic's </a:t>
              </a:r>
              <a:r>
                <a:rPr lang="zh-CN" sz="1425" b="1" dirty="0">
                  <a:solidFill>
                    <a:srgbClr val="D97757"/>
                  </a:solidFill>
                  <a:latin typeface="Anthropic Sans"/>
                  <a:ea typeface="Microsoft YaHei"/>
                  <a:cs typeface="Anthropic Sans"/>
                </a:rPr>
                <a:t>most capable widely released model</a:t>
              </a:r>
              <a:r>
                <a:rPr lang="zh-CN" sz="1425" dirty="0">
                  <a:solidFill>
                    <a:srgbClr val="191919"/>
                  </a:solidFill>
                  <a:latin typeface="Anthropic Sans"/>
                  <a:ea typeface="Microsoft YaHei"/>
                  <a:cs typeface="Anthropic Sans"/>
                </a:rPr>
                <a:t xml:space="preserve"> — built for the most</a:t>
              </a:r>
            </a:p>
          </p:txBody>
        </p:sp>
        <p:sp>
          <p:nvSpPr>
            <p:cNvPr id="13" name="TextBox 13"/>
            <p:cNvSpPr txBox="1"/>
            <p:nvPr/>
          </p:nvSpPr>
          <p:spPr>
            <a:xfrm>
              <a:off x="743902" y="4570571"/>
              <a:ext cx="4862798" cy="289560"/>
            </a:xfrm>
            <a:prstGeom prst="rect">
              <a:avLst/>
            </a:prstGeom>
            <a:noFill/>
            <a:ln>
              <a:noFill/>
            </a:ln>
          </p:spPr>
          <p:txBody>
            <a:bodyPr wrap="none" lIns="0" tIns="0" rIns="0" bIns="0" anchor="t" anchorCtr="0">
              <a:spAutoFit/>
            </a:bodyPr>
            <a:lstStyle/>
            <a:p>
              <a:pPr algn="l"/>
              <a:r>
                <a:rPr lang="zh-CN" sz="1425" dirty="0">
                  <a:solidFill>
                    <a:srgbClr val="191919"/>
                  </a:solidFill>
                  <a:latin typeface="Anthropic Sans"/>
                  <a:ea typeface="Microsoft YaHei"/>
                  <a:cs typeface="Anthropic Sans"/>
                </a:rPr>
                <a:t>demanding reasoning and long-horizon agentic work.</a:t>
              </a:r>
            </a:p>
          </p:txBody>
        </p:sp>
      </p:grpSp>
      <p:grpSp>
        <p:nvGrpSpPr>
          <p:cNvPr id="16" name="Group 16"/>
          <p:cNvGrpSpPr/>
          <p:nvPr/>
        </p:nvGrpSpPr>
        <p:grpSpPr>
          <a:xfrm>
            <a:off x="747712" y="5174456"/>
            <a:ext cx="2608898" cy="228600"/>
            <a:chOff x="747712" y="5174456"/>
            <a:chExt cx="2608898" cy="228600"/>
          </a:xfrm>
        </p:grpSpPr>
        <p:sp>
          <p:nvSpPr>
            <p:cNvPr id="15" name="TextBox 15"/>
            <p:cNvSpPr txBox="1"/>
            <p:nvPr/>
          </p:nvSpPr>
          <p:spPr>
            <a:xfrm>
              <a:off x="747712" y="5174456"/>
              <a:ext cx="2608898" cy="228600"/>
            </a:xfrm>
            <a:prstGeom prst="rect">
              <a:avLst/>
            </a:prstGeom>
            <a:noFill/>
            <a:ln>
              <a:noFill/>
            </a:ln>
          </p:spPr>
          <p:txBody>
            <a:bodyPr wrap="none" lIns="0" tIns="0" rIns="0" bIns="0" anchor="t" anchorCtr="0">
              <a:spAutoFit/>
            </a:bodyPr>
            <a:lstStyle/>
            <a:p>
              <a:pPr algn="l"/>
              <a:r>
                <a:rPr lang="zh-CN" sz="1125" dirty="0">
                  <a:solidFill>
                    <a:srgbClr val="64748B"/>
                  </a:solidFill>
                  <a:latin typeface="Anthropic Sans"/>
                  <a:ea typeface="Microsoft YaHei"/>
                  <a:cs typeface="Anthropic Sans"/>
                </a:rPr>
                <a:t xml:space="preserve">June 2026 · model ID </a:t>
              </a:r>
              <a:r>
                <a:rPr lang="zh-CN" sz="1125" dirty="0">
                  <a:solidFill>
                    <a:srgbClr val="D97757"/>
                  </a:solidFill>
                  <a:latin typeface="Consolas"/>
                  <a:ea typeface="Microsoft YaHei"/>
                  <a:cs typeface="Consolas"/>
                </a:rPr>
                <a:t>claude-fable-5</a:t>
              </a:r>
            </a:p>
          </p:txBody>
        </p:sp>
      </p:grpSp>
      <p:grpSp>
        <p:nvGrpSpPr>
          <p:cNvPr id="19" name="Group 19"/>
          <p:cNvGrpSpPr/>
          <p:nvPr/>
        </p:nvGrpSpPr>
        <p:grpSpPr>
          <a:xfrm>
            <a:off x="762000" y="6019800"/>
            <a:ext cx="1059447" cy="228600"/>
            <a:chOff x="762000" y="6019800"/>
            <a:chExt cx="1059447" cy="228600"/>
          </a:xfrm>
        </p:grpSpPr>
        <p:sp>
          <p:nvSpPr>
            <p:cNvPr id="17" name="Freeform 17"/>
            <p:cNvSpPr/>
            <p:nvPr/>
          </p:nvSpPr>
          <p:spPr>
            <a:xfrm>
              <a:off x="762000" y="6019800"/>
              <a:ext cx="228600" cy="228600"/>
            </a:xfrm>
            <a:custGeom>
              <a:avLst/>
              <a:gdLst/>
              <a:ahLst/>
              <a:cxnLst/>
              <a:rect l="l" t="t" r="r" b="b"/>
              <a:pathLst>
                <a:path w="228600" h="228600">
                  <a:moveTo>
                    <a:pt x="108356" y="228600"/>
                  </a:moveTo>
                  <a:lnTo>
                    <a:pt x="102641" y="224257"/>
                  </a:lnTo>
                  <a:lnTo>
                    <a:pt x="99441" y="217170"/>
                  </a:lnTo>
                  <a:lnTo>
                    <a:pt x="102641" y="202997"/>
                  </a:lnTo>
                  <a:lnTo>
                    <a:pt x="106299" y="184709"/>
                  </a:lnTo>
                  <a:lnTo>
                    <a:pt x="109271" y="170078"/>
                  </a:lnTo>
                  <a:lnTo>
                    <a:pt x="112014" y="152019"/>
                  </a:lnTo>
                  <a:lnTo>
                    <a:pt x="113614" y="146075"/>
                  </a:lnTo>
                  <a:lnTo>
                    <a:pt x="113386" y="145618"/>
                  </a:lnTo>
                  <a:lnTo>
                    <a:pt x="112243" y="145847"/>
                  </a:lnTo>
                  <a:lnTo>
                    <a:pt x="98527" y="164592"/>
                  </a:lnTo>
                  <a:lnTo>
                    <a:pt x="77724" y="192710"/>
                  </a:lnTo>
                  <a:lnTo>
                    <a:pt x="61265" y="210083"/>
                  </a:lnTo>
                  <a:lnTo>
                    <a:pt x="57379" y="211684"/>
                  </a:lnTo>
                  <a:lnTo>
                    <a:pt x="50521" y="208255"/>
                  </a:lnTo>
                  <a:lnTo>
                    <a:pt x="51206" y="201854"/>
                  </a:lnTo>
                  <a:lnTo>
                    <a:pt x="55093" y="196367"/>
                  </a:lnTo>
                  <a:lnTo>
                    <a:pt x="77724" y="167335"/>
                  </a:lnTo>
                  <a:lnTo>
                    <a:pt x="91440" y="149276"/>
                  </a:lnTo>
                  <a:lnTo>
                    <a:pt x="100355" y="138989"/>
                  </a:lnTo>
                  <a:lnTo>
                    <a:pt x="100127" y="137617"/>
                  </a:lnTo>
                  <a:lnTo>
                    <a:pt x="99670" y="137617"/>
                  </a:lnTo>
                  <a:lnTo>
                    <a:pt x="39319" y="176936"/>
                  </a:lnTo>
                  <a:lnTo>
                    <a:pt x="28575" y="178308"/>
                  </a:lnTo>
                  <a:lnTo>
                    <a:pt x="23774" y="173965"/>
                  </a:lnTo>
                  <a:lnTo>
                    <a:pt x="24460" y="166878"/>
                  </a:lnTo>
                  <a:lnTo>
                    <a:pt x="26746" y="164592"/>
                  </a:lnTo>
                  <a:lnTo>
                    <a:pt x="44806" y="152019"/>
                  </a:lnTo>
                  <a:lnTo>
                    <a:pt x="89840" y="126873"/>
                  </a:lnTo>
                  <a:lnTo>
                    <a:pt x="90526" y="124587"/>
                  </a:lnTo>
                  <a:lnTo>
                    <a:pt x="89840" y="123444"/>
                  </a:lnTo>
                  <a:lnTo>
                    <a:pt x="87554" y="123444"/>
                  </a:lnTo>
                  <a:lnTo>
                    <a:pt x="80010" y="122987"/>
                  </a:lnTo>
                  <a:lnTo>
                    <a:pt x="54407" y="122301"/>
                  </a:lnTo>
                  <a:lnTo>
                    <a:pt x="32233" y="121387"/>
                  </a:lnTo>
                  <a:lnTo>
                    <a:pt x="10516" y="120244"/>
                  </a:lnTo>
                  <a:lnTo>
                    <a:pt x="5029" y="119101"/>
                  </a:lnTo>
                  <a:lnTo>
                    <a:pt x="0" y="112243"/>
                  </a:lnTo>
                  <a:lnTo>
                    <a:pt x="457" y="108814"/>
                  </a:lnTo>
                  <a:lnTo>
                    <a:pt x="5029" y="105842"/>
                  </a:lnTo>
                  <a:lnTo>
                    <a:pt x="11659" y="106299"/>
                  </a:lnTo>
                  <a:lnTo>
                    <a:pt x="26060" y="107442"/>
                  </a:lnTo>
                  <a:lnTo>
                    <a:pt x="47777" y="108814"/>
                  </a:lnTo>
                  <a:lnTo>
                    <a:pt x="63551" y="109728"/>
                  </a:lnTo>
                  <a:lnTo>
                    <a:pt x="86868" y="112243"/>
                  </a:lnTo>
                  <a:lnTo>
                    <a:pt x="90526" y="112243"/>
                  </a:lnTo>
                  <a:lnTo>
                    <a:pt x="90983" y="110642"/>
                  </a:lnTo>
                  <a:lnTo>
                    <a:pt x="89840" y="109728"/>
                  </a:lnTo>
                  <a:lnTo>
                    <a:pt x="88925" y="108814"/>
                  </a:lnTo>
                  <a:lnTo>
                    <a:pt x="66294" y="93726"/>
                  </a:lnTo>
                  <a:lnTo>
                    <a:pt x="42062" y="77724"/>
                  </a:lnTo>
                  <a:lnTo>
                    <a:pt x="29261" y="68351"/>
                  </a:lnTo>
                  <a:lnTo>
                    <a:pt x="22403" y="63551"/>
                  </a:lnTo>
                  <a:lnTo>
                    <a:pt x="18974" y="59207"/>
                  </a:lnTo>
                  <a:lnTo>
                    <a:pt x="17602" y="49606"/>
                  </a:lnTo>
                  <a:lnTo>
                    <a:pt x="23774" y="42748"/>
                  </a:lnTo>
                  <a:lnTo>
                    <a:pt x="32233" y="43434"/>
                  </a:lnTo>
                  <a:lnTo>
                    <a:pt x="34290" y="43891"/>
                  </a:lnTo>
                  <a:lnTo>
                    <a:pt x="42748" y="50521"/>
                  </a:lnTo>
                  <a:lnTo>
                    <a:pt x="60808" y="64465"/>
                  </a:lnTo>
                  <a:lnTo>
                    <a:pt x="84582" y="82067"/>
                  </a:lnTo>
                  <a:lnTo>
                    <a:pt x="88011" y="84811"/>
                  </a:lnTo>
                  <a:lnTo>
                    <a:pt x="89611" y="83896"/>
                  </a:lnTo>
                  <a:lnTo>
                    <a:pt x="89611" y="83210"/>
                  </a:lnTo>
                  <a:lnTo>
                    <a:pt x="88011" y="80696"/>
                  </a:lnTo>
                  <a:lnTo>
                    <a:pt x="75209" y="57379"/>
                  </a:lnTo>
                  <a:lnTo>
                    <a:pt x="61493" y="33604"/>
                  </a:lnTo>
                  <a:lnTo>
                    <a:pt x="55321" y="23774"/>
                  </a:lnTo>
                  <a:lnTo>
                    <a:pt x="53721" y="17831"/>
                  </a:lnTo>
                  <a:cubicBezTo>
                    <a:pt x="53111" y="15773"/>
                    <a:pt x="52807" y="13487"/>
                    <a:pt x="52807" y="10973"/>
                  </a:cubicBezTo>
                  <a:lnTo>
                    <a:pt x="59893" y="1372"/>
                  </a:lnTo>
                  <a:lnTo>
                    <a:pt x="63779" y="0"/>
                  </a:lnTo>
                  <a:lnTo>
                    <a:pt x="73381" y="1372"/>
                  </a:lnTo>
                  <a:lnTo>
                    <a:pt x="77267" y="4801"/>
                  </a:lnTo>
                  <a:lnTo>
                    <a:pt x="83210" y="18288"/>
                  </a:lnTo>
                  <a:lnTo>
                    <a:pt x="92583" y="39548"/>
                  </a:lnTo>
                  <a:lnTo>
                    <a:pt x="107442" y="68351"/>
                  </a:lnTo>
                  <a:lnTo>
                    <a:pt x="111785" y="77038"/>
                  </a:lnTo>
                  <a:lnTo>
                    <a:pt x="114071" y="84811"/>
                  </a:lnTo>
                  <a:lnTo>
                    <a:pt x="114986" y="87325"/>
                  </a:lnTo>
                  <a:lnTo>
                    <a:pt x="116586" y="87325"/>
                  </a:lnTo>
                  <a:lnTo>
                    <a:pt x="116586" y="85954"/>
                  </a:lnTo>
                  <a:lnTo>
                    <a:pt x="117729" y="69494"/>
                  </a:lnTo>
                  <a:lnTo>
                    <a:pt x="120015" y="49606"/>
                  </a:lnTo>
                  <a:lnTo>
                    <a:pt x="122301" y="24003"/>
                  </a:lnTo>
                  <a:lnTo>
                    <a:pt x="122987" y="16688"/>
                  </a:lnTo>
                  <a:lnTo>
                    <a:pt x="126644" y="8001"/>
                  </a:lnTo>
                  <a:lnTo>
                    <a:pt x="133731" y="3429"/>
                  </a:lnTo>
                  <a:lnTo>
                    <a:pt x="139217" y="5944"/>
                  </a:lnTo>
                  <a:lnTo>
                    <a:pt x="143789" y="12573"/>
                  </a:lnTo>
                  <a:lnTo>
                    <a:pt x="143104" y="16688"/>
                  </a:lnTo>
                  <a:lnTo>
                    <a:pt x="140589" y="34290"/>
                  </a:lnTo>
                  <a:lnTo>
                    <a:pt x="135103" y="61951"/>
                  </a:lnTo>
                  <a:lnTo>
                    <a:pt x="131674" y="80696"/>
                  </a:lnTo>
                  <a:lnTo>
                    <a:pt x="133731" y="80696"/>
                  </a:lnTo>
                  <a:lnTo>
                    <a:pt x="136017" y="78181"/>
                  </a:lnTo>
                  <a:lnTo>
                    <a:pt x="145390" y="65837"/>
                  </a:lnTo>
                  <a:lnTo>
                    <a:pt x="161163" y="46177"/>
                  </a:lnTo>
                  <a:lnTo>
                    <a:pt x="168021" y="38405"/>
                  </a:lnTo>
                  <a:lnTo>
                    <a:pt x="176251" y="29718"/>
                  </a:lnTo>
                  <a:lnTo>
                    <a:pt x="181508" y="25603"/>
                  </a:lnTo>
                  <a:lnTo>
                    <a:pt x="191338" y="25603"/>
                  </a:lnTo>
                  <a:lnTo>
                    <a:pt x="198425" y="36347"/>
                  </a:lnTo>
                  <a:lnTo>
                    <a:pt x="195224" y="47549"/>
                  </a:lnTo>
                  <a:lnTo>
                    <a:pt x="185166" y="60350"/>
                  </a:lnTo>
                  <a:lnTo>
                    <a:pt x="176708" y="71095"/>
                  </a:lnTo>
                  <a:lnTo>
                    <a:pt x="164592" y="87325"/>
                  </a:lnTo>
                  <a:lnTo>
                    <a:pt x="157277" y="100355"/>
                  </a:lnTo>
                  <a:lnTo>
                    <a:pt x="157963" y="101270"/>
                  </a:lnTo>
                  <a:lnTo>
                    <a:pt x="159563" y="101270"/>
                  </a:lnTo>
                  <a:lnTo>
                    <a:pt x="186766" y="95326"/>
                  </a:lnTo>
                  <a:lnTo>
                    <a:pt x="201625" y="92812"/>
                  </a:lnTo>
                  <a:lnTo>
                    <a:pt x="218999" y="89840"/>
                  </a:lnTo>
                  <a:lnTo>
                    <a:pt x="227000" y="93497"/>
                  </a:lnTo>
                  <a:lnTo>
                    <a:pt x="227914" y="97155"/>
                  </a:lnTo>
                  <a:lnTo>
                    <a:pt x="224714" y="104927"/>
                  </a:lnTo>
                  <a:lnTo>
                    <a:pt x="205969" y="109499"/>
                  </a:lnTo>
                  <a:lnTo>
                    <a:pt x="184023" y="113843"/>
                  </a:lnTo>
                  <a:lnTo>
                    <a:pt x="151333" y="121615"/>
                  </a:lnTo>
                  <a:lnTo>
                    <a:pt x="150876" y="121844"/>
                  </a:lnTo>
                  <a:lnTo>
                    <a:pt x="151333" y="122530"/>
                  </a:lnTo>
                  <a:lnTo>
                    <a:pt x="165964" y="123901"/>
                  </a:lnTo>
                  <a:lnTo>
                    <a:pt x="172364" y="124358"/>
                  </a:lnTo>
                  <a:lnTo>
                    <a:pt x="187909" y="124358"/>
                  </a:lnTo>
                  <a:lnTo>
                    <a:pt x="216713" y="126416"/>
                  </a:lnTo>
                  <a:lnTo>
                    <a:pt x="224257" y="131445"/>
                  </a:lnTo>
                  <a:lnTo>
                    <a:pt x="228600" y="137389"/>
                  </a:lnTo>
                  <a:lnTo>
                    <a:pt x="227914" y="142189"/>
                  </a:lnTo>
                  <a:lnTo>
                    <a:pt x="216256" y="147904"/>
                  </a:lnTo>
                  <a:lnTo>
                    <a:pt x="200711" y="144247"/>
                  </a:lnTo>
                  <a:lnTo>
                    <a:pt x="164135" y="135560"/>
                  </a:lnTo>
                  <a:lnTo>
                    <a:pt x="151790" y="132588"/>
                  </a:lnTo>
                  <a:lnTo>
                    <a:pt x="149962" y="132588"/>
                  </a:lnTo>
                  <a:lnTo>
                    <a:pt x="149962" y="133502"/>
                  </a:lnTo>
                  <a:lnTo>
                    <a:pt x="160477" y="143789"/>
                  </a:lnTo>
                  <a:lnTo>
                    <a:pt x="179451" y="160934"/>
                  </a:lnTo>
                  <a:lnTo>
                    <a:pt x="203454" y="183109"/>
                  </a:lnTo>
                  <a:lnTo>
                    <a:pt x="204597" y="188595"/>
                  </a:lnTo>
                  <a:lnTo>
                    <a:pt x="201625" y="193167"/>
                  </a:lnTo>
                  <a:lnTo>
                    <a:pt x="198425" y="192710"/>
                  </a:lnTo>
                  <a:lnTo>
                    <a:pt x="177394" y="176708"/>
                  </a:lnTo>
                  <a:lnTo>
                    <a:pt x="169164" y="169621"/>
                  </a:lnTo>
                  <a:lnTo>
                    <a:pt x="150876" y="154305"/>
                  </a:lnTo>
                  <a:lnTo>
                    <a:pt x="149733" y="154305"/>
                  </a:lnTo>
                  <a:lnTo>
                    <a:pt x="149733" y="155905"/>
                  </a:lnTo>
                  <a:lnTo>
                    <a:pt x="153848" y="162077"/>
                  </a:lnTo>
                  <a:lnTo>
                    <a:pt x="176251" y="195682"/>
                  </a:lnTo>
                  <a:lnTo>
                    <a:pt x="177394" y="205969"/>
                  </a:lnTo>
                  <a:lnTo>
                    <a:pt x="175793" y="209169"/>
                  </a:lnTo>
                  <a:lnTo>
                    <a:pt x="169850" y="211226"/>
                  </a:lnTo>
                  <a:lnTo>
                    <a:pt x="163678" y="210083"/>
                  </a:lnTo>
                  <a:lnTo>
                    <a:pt x="150419" y="191795"/>
                  </a:lnTo>
                  <a:lnTo>
                    <a:pt x="136931" y="170993"/>
                  </a:lnTo>
                  <a:lnTo>
                    <a:pt x="125959" y="152476"/>
                  </a:lnTo>
                  <a:lnTo>
                    <a:pt x="124816" y="153391"/>
                  </a:lnTo>
                  <a:lnTo>
                    <a:pt x="118186" y="222428"/>
                  </a:lnTo>
                  <a:lnTo>
                    <a:pt x="115214" y="225857"/>
                  </a:lnTo>
                  <a:lnTo>
                    <a:pt x="108356" y="228600"/>
                  </a:lnTo>
                  <a:close/>
                </a:path>
              </a:pathLst>
            </a:custGeom>
            <a:solidFill>
              <a:srgbClr val="D97757"/>
            </a:solidFill>
            <a:ln>
              <a:noFill/>
            </a:ln>
          </p:spPr>
        </p:sp>
        <p:sp>
          <p:nvSpPr>
            <p:cNvPr id="18" name="Freeform 18"/>
            <p:cNvSpPr/>
            <p:nvPr/>
          </p:nvSpPr>
          <p:spPr>
            <a:xfrm>
              <a:off x="1047750" y="6045864"/>
              <a:ext cx="773697" cy="176479"/>
            </a:xfrm>
            <a:custGeom>
              <a:avLst/>
              <a:gdLst/>
              <a:ahLst/>
              <a:cxnLst/>
              <a:rect l="l" t="t" r="r" b="b"/>
              <a:pathLst>
                <a:path w="773697" h="176479">
                  <a:moveTo>
                    <a:pt x="90526" y="176479"/>
                  </a:moveTo>
                  <a:cubicBezTo>
                    <a:pt x="73228" y="176479"/>
                    <a:pt x="57722" y="173012"/>
                    <a:pt x="44006" y="166078"/>
                  </a:cubicBezTo>
                  <a:cubicBezTo>
                    <a:pt x="30290" y="159143"/>
                    <a:pt x="19507" y="149352"/>
                    <a:pt x="11659" y="136703"/>
                  </a:cubicBezTo>
                  <a:cubicBezTo>
                    <a:pt x="3886" y="124053"/>
                    <a:pt x="0" y="109423"/>
                    <a:pt x="0" y="92811"/>
                  </a:cubicBezTo>
                  <a:cubicBezTo>
                    <a:pt x="0" y="75438"/>
                    <a:pt x="3924" y="59969"/>
                    <a:pt x="11773" y="46406"/>
                  </a:cubicBezTo>
                  <a:cubicBezTo>
                    <a:pt x="19622" y="32766"/>
                    <a:pt x="30442" y="22212"/>
                    <a:pt x="44234" y="14745"/>
                  </a:cubicBezTo>
                  <a:cubicBezTo>
                    <a:pt x="58102" y="7201"/>
                    <a:pt x="73724" y="3429"/>
                    <a:pt x="91097" y="3429"/>
                  </a:cubicBezTo>
                  <a:cubicBezTo>
                    <a:pt x="101841" y="3429"/>
                    <a:pt x="112585" y="4610"/>
                    <a:pt x="123330" y="6972"/>
                  </a:cubicBezTo>
                  <a:cubicBezTo>
                    <a:pt x="134150" y="9335"/>
                    <a:pt x="143561" y="12954"/>
                    <a:pt x="151562" y="17831"/>
                  </a:cubicBezTo>
                  <a:lnTo>
                    <a:pt x="151562" y="55550"/>
                  </a:lnTo>
                  <a:lnTo>
                    <a:pt x="141275" y="55550"/>
                  </a:lnTo>
                  <a:cubicBezTo>
                    <a:pt x="138455" y="42215"/>
                    <a:pt x="132969" y="32271"/>
                    <a:pt x="124816" y="25718"/>
                  </a:cubicBezTo>
                  <a:cubicBezTo>
                    <a:pt x="116738" y="19164"/>
                    <a:pt x="105499" y="15888"/>
                    <a:pt x="91097" y="15888"/>
                  </a:cubicBezTo>
                  <a:cubicBezTo>
                    <a:pt x="77762" y="15888"/>
                    <a:pt x="66637" y="19012"/>
                    <a:pt x="57722" y="25260"/>
                  </a:cubicBezTo>
                  <a:cubicBezTo>
                    <a:pt x="48882" y="31433"/>
                    <a:pt x="42329" y="40005"/>
                    <a:pt x="38062" y="50978"/>
                  </a:cubicBezTo>
                  <a:cubicBezTo>
                    <a:pt x="33795" y="61951"/>
                    <a:pt x="31661" y="74561"/>
                    <a:pt x="31661" y="88811"/>
                  </a:cubicBezTo>
                  <a:cubicBezTo>
                    <a:pt x="31661" y="102984"/>
                    <a:pt x="34061" y="115748"/>
                    <a:pt x="38862" y="127101"/>
                  </a:cubicBezTo>
                  <a:cubicBezTo>
                    <a:pt x="43663" y="138455"/>
                    <a:pt x="50749" y="147447"/>
                    <a:pt x="60122" y="154076"/>
                  </a:cubicBezTo>
                  <a:cubicBezTo>
                    <a:pt x="69494" y="160629"/>
                    <a:pt x="80734" y="163906"/>
                    <a:pt x="93840" y="163906"/>
                  </a:cubicBezTo>
                  <a:cubicBezTo>
                    <a:pt x="102832" y="163906"/>
                    <a:pt x="110566" y="162039"/>
                    <a:pt x="117043" y="158305"/>
                  </a:cubicBezTo>
                  <a:cubicBezTo>
                    <a:pt x="123520" y="154571"/>
                    <a:pt x="128968" y="149542"/>
                    <a:pt x="133388" y="143218"/>
                  </a:cubicBezTo>
                  <a:cubicBezTo>
                    <a:pt x="137808" y="136817"/>
                    <a:pt x="141999" y="129006"/>
                    <a:pt x="145961" y="119786"/>
                  </a:cubicBezTo>
                  <a:lnTo>
                    <a:pt x="156820" y="119786"/>
                  </a:lnTo>
                  <a:lnTo>
                    <a:pt x="149390" y="161391"/>
                  </a:lnTo>
                  <a:cubicBezTo>
                    <a:pt x="141846" y="166344"/>
                    <a:pt x="132740" y="170116"/>
                    <a:pt x="122072" y="172707"/>
                  </a:cubicBezTo>
                  <a:cubicBezTo>
                    <a:pt x="111481" y="175222"/>
                    <a:pt x="100965" y="176479"/>
                    <a:pt x="90526" y="176479"/>
                  </a:cubicBezTo>
                  <a:close/>
                  <a:moveTo>
                    <a:pt x="171107" y="173964"/>
                  </a:moveTo>
                  <a:lnTo>
                    <a:pt x="171107" y="164020"/>
                  </a:lnTo>
                  <a:cubicBezTo>
                    <a:pt x="174841" y="163487"/>
                    <a:pt x="177813" y="162915"/>
                    <a:pt x="180023" y="162306"/>
                  </a:cubicBezTo>
                  <a:cubicBezTo>
                    <a:pt x="182308" y="161620"/>
                    <a:pt x="184137" y="160515"/>
                    <a:pt x="185509" y="158991"/>
                  </a:cubicBezTo>
                  <a:cubicBezTo>
                    <a:pt x="186957" y="157467"/>
                    <a:pt x="187681" y="155333"/>
                    <a:pt x="187681" y="152590"/>
                  </a:cubicBezTo>
                  <a:lnTo>
                    <a:pt x="187681" y="29489"/>
                  </a:lnTo>
                  <a:lnTo>
                    <a:pt x="171107" y="22403"/>
                  </a:lnTo>
                  <a:lnTo>
                    <a:pt x="171107" y="14745"/>
                  </a:lnTo>
                  <a:lnTo>
                    <a:pt x="205854" y="0"/>
                  </a:lnTo>
                  <a:lnTo>
                    <a:pt x="214884" y="0"/>
                  </a:lnTo>
                  <a:lnTo>
                    <a:pt x="214884" y="152590"/>
                  </a:lnTo>
                  <a:cubicBezTo>
                    <a:pt x="214884" y="155410"/>
                    <a:pt x="215570" y="157581"/>
                    <a:pt x="216941" y="159105"/>
                  </a:cubicBezTo>
                  <a:cubicBezTo>
                    <a:pt x="218389" y="160629"/>
                    <a:pt x="220218" y="161696"/>
                    <a:pt x="222428" y="162306"/>
                  </a:cubicBezTo>
                  <a:cubicBezTo>
                    <a:pt x="224714" y="162915"/>
                    <a:pt x="227762" y="163487"/>
                    <a:pt x="231572" y="164020"/>
                  </a:cubicBezTo>
                  <a:lnTo>
                    <a:pt x="231572" y="173964"/>
                  </a:lnTo>
                  <a:lnTo>
                    <a:pt x="171107" y="173964"/>
                  </a:lnTo>
                  <a:close/>
                  <a:moveTo>
                    <a:pt x="276492" y="176479"/>
                  </a:moveTo>
                  <a:cubicBezTo>
                    <a:pt x="270319" y="176479"/>
                    <a:pt x="264719" y="175260"/>
                    <a:pt x="259690" y="172821"/>
                  </a:cubicBezTo>
                  <a:cubicBezTo>
                    <a:pt x="254660" y="170383"/>
                    <a:pt x="250698" y="166878"/>
                    <a:pt x="247802" y="162306"/>
                  </a:cubicBezTo>
                  <a:cubicBezTo>
                    <a:pt x="244907" y="157734"/>
                    <a:pt x="243459" y="152400"/>
                    <a:pt x="243459" y="146304"/>
                  </a:cubicBezTo>
                  <a:cubicBezTo>
                    <a:pt x="243459" y="137007"/>
                    <a:pt x="246317" y="129616"/>
                    <a:pt x="252032" y="124130"/>
                  </a:cubicBezTo>
                  <a:cubicBezTo>
                    <a:pt x="257823" y="118567"/>
                    <a:pt x="265900" y="114338"/>
                    <a:pt x="276263" y="111442"/>
                  </a:cubicBezTo>
                  <a:lnTo>
                    <a:pt x="316611" y="100012"/>
                  </a:lnTo>
                  <a:lnTo>
                    <a:pt x="316611" y="85496"/>
                  </a:lnTo>
                  <a:cubicBezTo>
                    <a:pt x="316611" y="77648"/>
                    <a:pt x="314782" y="71590"/>
                    <a:pt x="311125" y="67323"/>
                  </a:cubicBezTo>
                  <a:cubicBezTo>
                    <a:pt x="307543" y="62979"/>
                    <a:pt x="302019" y="60808"/>
                    <a:pt x="294551" y="60808"/>
                  </a:cubicBezTo>
                  <a:cubicBezTo>
                    <a:pt x="287922" y="60808"/>
                    <a:pt x="282931" y="62827"/>
                    <a:pt x="279578" y="66866"/>
                  </a:cubicBezTo>
                  <a:cubicBezTo>
                    <a:pt x="276301" y="70828"/>
                    <a:pt x="274663" y="76314"/>
                    <a:pt x="274663" y="83324"/>
                  </a:cubicBezTo>
                  <a:lnTo>
                    <a:pt x="274663" y="94069"/>
                  </a:lnTo>
                  <a:lnTo>
                    <a:pt x="257061" y="94069"/>
                  </a:lnTo>
                  <a:cubicBezTo>
                    <a:pt x="254927" y="92697"/>
                    <a:pt x="253251" y="90868"/>
                    <a:pt x="252032" y="88582"/>
                  </a:cubicBezTo>
                  <a:cubicBezTo>
                    <a:pt x="250889" y="86220"/>
                    <a:pt x="250317" y="83629"/>
                    <a:pt x="250317" y="80810"/>
                  </a:cubicBezTo>
                  <a:cubicBezTo>
                    <a:pt x="250317" y="74485"/>
                    <a:pt x="252565" y="69075"/>
                    <a:pt x="257061" y="64580"/>
                  </a:cubicBezTo>
                  <a:cubicBezTo>
                    <a:pt x="261557" y="60008"/>
                    <a:pt x="267272" y="56579"/>
                    <a:pt x="274206" y="54293"/>
                  </a:cubicBezTo>
                  <a:cubicBezTo>
                    <a:pt x="281140" y="52007"/>
                    <a:pt x="288188" y="50864"/>
                    <a:pt x="295351" y="50864"/>
                  </a:cubicBezTo>
                  <a:cubicBezTo>
                    <a:pt x="310439" y="50864"/>
                    <a:pt x="322288" y="54331"/>
                    <a:pt x="330899" y="61265"/>
                  </a:cubicBezTo>
                  <a:cubicBezTo>
                    <a:pt x="339509" y="68199"/>
                    <a:pt x="343814" y="78714"/>
                    <a:pt x="343814" y="92811"/>
                  </a:cubicBezTo>
                  <a:lnTo>
                    <a:pt x="343814" y="150533"/>
                  </a:lnTo>
                  <a:cubicBezTo>
                    <a:pt x="343814" y="153581"/>
                    <a:pt x="344500" y="155905"/>
                    <a:pt x="345872" y="157505"/>
                  </a:cubicBezTo>
                  <a:cubicBezTo>
                    <a:pt x="347243" y="159105"/>
                    <a:pt x="349034" y="160248"/>
                    <a:pt x="351244" y="160934"/>
                  </a:cubicBezTo>
                  <a:cubicBezTo>
                    <a:pt x="353530" y="161544"/>
                    <a:pt x="356616" y="162115"/>
                    <a:pt x="360502" y="162649"/>
                  </a:cubicBezTo>
                  <a:lnTo>
                    <a:pt x="360502" y="172593"/>
                  </a:lnTo>
                  <a:cubicBezTo>
                    <a:pt x="357530" y="173660"/>
                    <a:pt x="354406" y="174498"/>
                    <a:pt x="351130" y="175107"/>
                  </a:cubicBezTo>
                  <a:cubicBezTo>
                    <a:pt x="347929" y="175717"/>
                    <a:pt x="344843" y="176022"/>
                    <a:pt x="341871" y="176022"/>
                  </a:cubicBezTo>
                  <a:cubicBezTo>
                    <a:pt x="334785" y="176022"/>
                    <a:pt x="329070" y="174422"/>
                    <a:pt x="324726" y="171221"/>
                  </a:cubicBezTo>
                  <a:cubicBezTo>
                    <a:pt x="320459" y="167945"/>
                    <a:pt x="317868" y="163144"/>
                    <a:pt x="316954" y="156819"/>
                  </a:cubicBezTo>
                  <a:cubicBezTo>
                    <a:pt x="311620" y="163144"/>
                    <a:pt x="305562" y="168021"/>
                    <a:pt x="298780" y="171450"/>
                  </a:cubicBezTo>
                  <a:cubicBezTo>
                    <a:pt x="292075" y="174803"/>
                    <a:pt x="284645" y="176479"/>
                    <a:pt x="276492" y="176479"/>
                  </a:cubicBezTo>
                  <a:close/>
                  <a:moveTo>
                    <a:pt x="289979" y="158191"/>
                  </a:moveTo>
                  <a:cubicBezTo>
                    <a:pt x="294780" y="158191"/>
                    <a:pt x="299466" y="157086"/>
                    <a:pt x="304038" y="154876"/>
                  </a:cubicBezTo>
                  <a:cubicBezTo>
                    <a:pt x="308686" y="152590"/>
                    <a:pt x="312877" y="149580"/>
                    <a:pt x="316611" y="145847"/>
                  </a:cubicBezTo>
                  <a:lnTo>
                    <a:pt x="316611" y="110528"/>
                  </a:lnTo>
                  <a:lnTo>
                    <a:pt x="287350" y="119215"/>
                  </a:lnTo>
                  <a:cubicBezTo>
                    <a:pt x="281864" y="120891"/>
                    <a:pt x="277673" y="123482"/>
                    <a:pt x="274777" y="126987"/>
                  </a:cubicBezTo>
                  <a:cubicBezTo>
                    <a:pt x="271882" y="130492"/>
                    <a:pt x="270434" y="134912"/>
                    <a:pt x="270434" y="140246"/>
                  </a:cubicBezTo>
                  <a:cubicBezTo>
                    <a:pt x="270434" y="143675"/>
                    <a:pt x="271272" y="146761"/>
                    <a:pt x="272948" y="149504"/>
                  </a:cubicBezTo>
                  <a:cubicBezTo>
                    <a:pt x="274625" y="152247"/>
                    <a:pt x="276949" y="154381"/>
                    <a:pt x="279921" y="155905"/>
                  </a:cubicBezTo>
                  <a:cubicBezTo>
                    <a:pt x="282892" y="157429"/>
                    <a:pt x="286245" y="158191"/>
                    <a:pt x="289979" y="158191"/>
                  </a:cubicBezTo>
                  <a:close/>
                  <a:moveTo>
                    <a:pt x="415366" y="176479"/>
                  </a:moveTo>
                  <a:cubicBezTo>
                    <a:pt x="403098" y="176479"/>
                    <a:pt x="393916" y="173279"/>
                    <a:pt x="387820" y="166878"/>
                  </a:cubicBezTo>
                  <a:cubicBezTo>
                    <a:pt x="381800" y="160477"/>
                    <a:pt x="378790" y="151447"/>
                    <a:pt x="378790" y="139789"/>
                  </a:cubicBezTo>
                  <a:lnTo>
                    <a:pt x="378790" y="77838"/>
                  </a:lnTo>
                  <a:lnTo>
                    <a:pt x="362102" y="71666"/>
                  </a:lnTo>
                  <a:lnTo>
                    <a:pt x="363017" y="64008"/>
                  </a:lnTo>
                  <a:lnTo>
                    <a:pt x="396850" y="50864"/>
                  </a:lnTo>
                  <a:lnTo>
                    <a:pt x="405994" y="50864"/>
                  </a:lnTo>
                  <a:lnTo>
                    <a:pt x="405994" y="135217"/>
                  </a:lnTo>
                  <a:cubicBezTo>
                    <a:pt x="405994" y="142456"/>
                    <a:pt x="407784" y="147828"/>
                    <a:pt x="411366" y="151333"/>
                  </a:cubicBezTo>
                  <a:cubicBezTo>
                    <a:pt x="414947" y="154838"/>
                    <a:pt x="420433" y="156591"/>
                    <a:pt x="427825" y="156591"/>
                  </a:cubicBezTo>
                  <a:cubicBezTo>
                    <a:pt x="432702" y="156591"/>
                    <a:pt x="437807" y="155486"/>
                    <a:pt x="443141" y="153276"/>
                  </a:cubicBezTo>
                  <a:cubicBezTo>
                    <a:pt x="448475" y="150990"/>
                    <a:pt x="453390" y="148056"/>
                    <a:pt x="457886" y="144475"/>
                  </a:cubicBezTo>
                  <a:lnTo>
                    <a:pt x="457886" y="77838"/>
                  </a:lnTo>
                  <a:lnTo>
                    <a:pt x="441198" y="71666"/>
                  </a:lnTo>
                  <a:lnTo>
                    <a:pt x="441198" y="64008"/>
                  </a:lnTo>
                  <a:lnTo>
                    <a:pt x="476060" y="50864"/>
                  </a:lnTo>
                  <a:lnTo>
                    <a:pt x="485089" y="50864"/>
                  </a:lnTo>
                  <a:lnTo>
                    <a:pt x="485089" y="143789"/>
                  </a:lnTo>
                  <a:cubicBezTo>
                    <a:pt x="485089" y="146837"/>
                    <a:pt x="485775" y="149199"/>
                    <a:pt x="487147" y="150876"/>
                  </a:cubicBezTo>
                  <a:cubicBezTo>
                    <a:pt x="488518" y="152476"/>
                    <a:pt x="490309" y="153619"/>
                    <a:pt x="492519" y="154305"/>
                  </a:cubicBezTo>
                  <a:cubicBezTo>
                    <a:pt x="494805" y="154991"/>
                    <a:pt x="497891" y="155600"/>
                    <a:pt x="501777" y="156134"/>
                  </a:cubicBezTo>
                  <a:lnTo>
                    <a:pt x="501777" y="165963"/>
                  </a:lnTo>
                  <a:lnTo>
                    <a:pt x="466915" y="175679"/>
                  </a:lnTo>
                  <a:lnTo>
                    <a:pt x="457886" y="175679"/>
                  </a:lnTo>
                  <a:lnTo>
                    <a:pt x="457886" y="155676"/>
                  </a:lnTo>
                  <a:cubicBezTo>
                    <a:pt x="451866" y="161925"/>
                    <a:pt x="445084" y="166954"/>
                    <a:pt x="437540" y="170764"/>
                  </a:cubicBezTo>
                  <a:cubicBezTo>
                    <a:pt x="429997" y="174574"/>
                    <a:pt x="422605" y="176479"/>
                    <a:pt x="415366" y="176479"/>
                  </a:cubicBezTo>
                  <a:close/>
                  <a:moveTo>
                    <a:pt x="565099" y="176479"/>
                  </a:moveTo>
                  <a:cubicBezTo>
                    <a:pt x="554965" y="176479"/>
                    <a:pt x="545897" y="174041"/>
                    <a:pt x="537896" y="169164"/>
                  </a:cubicBezTo>
                  <a:cubicBezTo>
                    <a:pt x="529895" y="164211"/>
                    <a:pt x="523646" y="157467"/>
                    <a:pt x="519151" y="148933"/>
                  </a:cubicBezTo>
                  <a:cubicBezTo>
                    <a:pt x="514655" y="140398"/>
                    <a:pt x="512407" y="130949"/>
                    <a:pt x="512407" y="120586"/>
                  </a:cubicBezTo>
                  <a:cubicBezTo>
                    <a:pt x="512407" y="106946"/>
                    <a:pt x="515112" y="94869"/>
                    <a:pt x="520522" y="84353"/>
                  </a:cubicBezTo>
                  <a:cubicBezTo>
                    <a:pt x="526009" y="73838"/>
                    <a:pt x="533705" y="65646"/>
                    <a:pt x="543611" y="59779"/>
                  </a:cubicBezTo>
                  <a:cubicBezTo>
                    <a:pt x="553517" y="53835"/>
                    <a:pt x="565023" y="50864"/>
                    <a:pt x="578129" y="50864"/>
                  </a:cubicBezTo>
                  <a:cubicBezTo>
                    <a:pt x="582168" y="50864"/>
                    <a:pt x="586321" y="51321"/>
                    <a:pt x="590588" y="52235"/>
                  </a:cubicBezTo>
                  <a:cubicBezTo>
                    <a:pt x="594931" y="53073"/>
                    <a:pt x="599084" y="54293"/>
                    <a:pt x="603047" y="55893"/>
                  </a:cubicBezTo>
                  <a:lnTo>
                    <a:pt x="603047" y="29375"/>
                  </a:lnTo>
                  <a:lnTo>
                    <a:pt x="586359" y="22403"/>
                  </a:lnTo>
                  <a:lnTo>
                    <a:pt x="586359" y="14745"/>
                  </a:lnTo>
                  <a:lnTo>
                    <a:pt x="621220" y="0"/>
                  </a:lnTo>
                  <a:lnTo>
                    <a:pt x="630250" y="0"/>
                  </a:lnTo>
                  <a:lnTo>
                    <a:pt x="630250" y="143789"/>
                  </a:lnTo>
                  <a:cubicBezTo>
                    <a:pt x="630250" y="146837"/>
                    <a:pt x="630936" y="149199"/>
                    <a:pt x="632308" y="150876"/>
                  </a:cubicBezTo>
                  <a:cubicBezTo>
                    <a:pt x="633755" y="152476"/>
                    <a:pt x="635584" y="153619"/>
                    <a:pt x="637794" y="154305"/>
                  </a:cubicBezTo>
                  <a:cubicBezTo>
                    <a:pt x="640080" y="154991"/>
                    <a:pt x="643128" y="155600"/>
                    <a:pt x="646938" y="156134"/>
                  </a:cubicBezTo>
                  <a:lnTo>
                    <a:pt x="646938" y="165963"/>
                  </a:lnTo>
                  <a:lnTo>
                    <a:pt x="612076" y="175679"/>
                  </a:lnTo>
                  <a:lnTo>
                    <a:pt x="603047" y="175679"/>
                  </a:lnTo>
                  <a:lnTo>
                    <a:pt x="603047" y="160477"/>
                  </a:lnTo>
                  <a:cubicBezTo>
                    <a:pt x="597713" y="165506"/>
                    <a:pt x="591807" y="169430"/>
                    <a:pt x="585330" y="172250"/>
                  </a:cubicBezTo>
                  <a:cubicBezTo>
                    <a:pt x="578930" y="175069"/>
                    <a:pt x="572186" y="176479"/>
                    <a:pt x="565099" y="176479"/>
                  </a:cubicBezTo>
                  <a:close/>
                  <a:moveTo>
                    <a:pt x="576301" y="158077"/>
                  </a:moveTo>
                  <a:cubicBezTo>
                    <a:pt x="580796" y="158077"/>
                    <a:pt x="585368" y="157162"/>
                    <a:pt x="590017" y="155333"/>
                  </a:cubicBezTo>
                  <a:cubicBezTo>
                    <a:pt x="594665" y="153505"/>
                    <a:pt x="599008" y="150990"/>
                    <a:pt x="603047" y="147790"/>
                  </a:cubicBezTo>
                  <a:lnTo>
                    <a:pt x="603047" y="72580"/>
                  </a:lnTo>
                  <a:cubicBezTo>
                    <a:pt x="596113" y="66942"/>
                    <a:pt x="588416" y="64122"/>
                    <a:pt x="579958" y="64122"/>
                  </a:cubicBezTo>
                  <a:cubicBezTo>
                    <a:pt x="571424" y="64122"/>
                    <a:pt x="564223" y="66294"/>
                    <a:pt x="558356" y="70637"/>
                  </a:cubicBezTo>
                  <a:cubicBezTo>
                    <a:pt x="552488" y="74981"/>
                    <a:pt x="548069" y="80886"/>
                    <a:pt x="545097" y="88354"/>
                  </a:cubicBezTo>
                  <a:cubicBezTo>
                    <a:pt x="542201" y="95745"/>
                    <a:pt x="540753" y="104013"/>
                    <a:pt x="540753" y="113157"/>
                  </a:cubicBezTo>
                  <a:cubicBezTo>
                    <a:pt x="540753" y="121844"/>
                    <a:pt x="542049" y="129578"/>
                    <a:pt x="544640" y="136360"/>
                  </a:cubicBezTo>
                  <a:cubicBezTo>
                    <a:pt x="547230" y="143065"/>
                    <a:pt x="551193" y="148361"/>
                    <a:pt x="556527" y="152247"/>
                  </a:cubicBezTo>
                  <a:cubicBezTo>
                    <a:pt x="561861" y="156134"/>
                    <a:pt x="568452" y="158077"/>
                    <a:pt x="576301" y="158077"/>
                  </a:cubicBezTo>
                  <a:close/>
                  <a:moveTo>
                    <a:pt x="716775" y="176479"/>
                  </a:moveTo>
                  <a:cubicBezTo>
                    <a:pt x="705498" y="176479"/>
                    <a:pt x="695363" y="173850"/>
                    <a:pt x="686372" y="168592"/>
                  </a:cubicBezTo>
                  <a:cubicBezTo>
                    <a:pt x="677380" y="163334"/>
                    <a:pt x="670331" y="156019"/>
                    <a:pt x="665226" y="146647"/>
                  </a:cubicBezTo>
                  <a:cubicBezTo>
                    <a:pt x="660121" y="137274"/>
                    <a:pt x="657568" y="126758"/>
                    <a:pt x="657568" y="115100"/>
                  </a:cubicBezTo>
                  <a:cubicBezTo>
                    <a:pt x="657568" y="103060"/>
                    <a:pt x="660159" y="92164"/>
                    <a:pt x="665340" y="82410"/>
                  </a:cubicBezTo>
                  <a:cubicBezTo>
                    <a:pt x="670598" y="72580"/>
                    <a:pt x="677761" y="64884"/>
                    <a:pt x="686829" y="59322"/>
                  </a:cubicBezTo>
                  <a:cubicBezTo>
                    <a:pt x="695973" y="53683"/>
                    <a:pt x="706145" y="50864"/>
                    <a:pt x="717347" y="50864"/>
                  </a:cubicBezTo>
                  <a:cubicBezTo>
                    <a:pt x="725957" y="50864"/>
                    <a:pt x="733882" y="52654"/>
                    <a:pt x="741121" y="56236"/>
                  </a:cubicBezTo>
                  <a:cubicBezTo>
                    <a:pt x="748360" y="59817"/>
                    <a:pt x="754380" y="64846"/>
                    <a:pt x="759181" y="71323"/>
                  </a:cubicBezTo>
                  <a:cubicBezTo>
                    <a:pt x="764057" y="77800"/>
                    <a:pt x="767258" y="85268"/>
                    <a:pt x="768782" y="93726"/>
                  </a:cubicBezTo>
                  <a:lnTo>
                    <a:pt x="685114" y="119558"/>
                  </a:lnTo>
                  <a:cubicBezTo>
                    <a:pt x="687400" y="130149"/>
                    <a:pt x="691934" y="138493"/>
                    <a:pt x="698716" y="144589"/>
                  </a:cubicBezTo>
                  <a:cubicBezTo>
                    <a:pt x="705574" y="150685"/>
                    <a:pt x="714070" y="153733"/>
                    <a:pt x="724205" y="153733"/>
                  </a:cubicBezTo>
                  <a:cubicBezTo>
                    <a:pt x="732663" y="153733"/>
                    <a:pt x="740245" y="151600"/>
                    <a:pt x="746951" y="147332"/>
                  </a:cubicBezTo>
                  <a:cubicBezTo>
                    <a:pt x="753656" y="142989"/>
                    <a:pt x="759600" y="136436"/>
                    <a:pt x="764781" y="127673"/>
                  </a:cubicBezTo>
                  <a:lnTo>
                    <a:pt x="773697" y="130530"/>
                  </a:lnTo>
                  <a:cubicBezTo>
                    <a:pt x="771639" y="139674"/>
                    <a:pt x="767906" y="147713"/>
                    <a:pt x="762495" y="154648"/>
                  </a:cubicBezTo>
                  <a:cubicBezTo>
                    <a:pt x="757085" y="161582"/>
                    <a:pt x="750418" y="166954"/>
                    <a:pt x="742493" y="170764"/>
                  </a:cubicBezTo>
                  <a:cubicBezTo>
                    <a:pt x="734644" y="174574"/>
                    <a:pt x="726072" y="176479"/>
                    <a:pt x="716775" y="176479"/>
                  </a:cubicBezTo>
                  <a:close/>
                  <a:moveTo>
                    <a:pt x="739407" y="90182"/>
                  </a:moveTo>
                  <a:cubicBezTo>
                    <a:pt x="738340" y="84925"/>
                    <a:pt x="736511" y="80315"/>
                    <a:pt x="733920" y="76352"/>
                  </a:cubicBezTo>
                  <a:cubicBezTo>
                    <a:pt x="731406" y="72314"/>
                    <a:pt x="728281" y="69189"/>
                    <a:pt x="724548" y="66980"/>
                  </a:cubicBezTo>
                  <a:cubicBezTo>
                    <a:pt x="720814" y="64770"/>
                    <a:pt x="716699" y="63665"/>
                    <a:pt x="712203" y="63665"/>
                  </a:cubicBezTo>
                  <a:cubicBezTo>
                    <a:pt x="706565" y="63665"/>
                    <a:pt x="701573" y="65380"/>
                    <a:pt x="697230" y="68809"/>
                  </a:cubicBezTo>
                  <a:cubicBezTo>
                    <a:pt x="692963" y="72161"/>
                    <a:pt x="689610" y="76962"/>
                    <a:pt x="687172" y="83210"/>
                  </a:cubicBezTo>
                  <a:cubicBezTo>
                    <a:pt x="684809" y="89382"/>
                    <a:pt x="683628" y="96545"/>
                    <a:pt x="683628" y="104699"/>
                  </a:cubicBezTo>
                  <a:cubicBezTo>
                    <a:pt x="683628" y="106146"/>
                    <a:pt x="683666" y="107251"/>
                    <a:pt x="683743" y="108013"/>
                  </a:cubicBezTo>
                  <a:lnTo>
                    <a:pt x="739407" y="90182"/>
                  </a:lnTo>
                  <a:close/>
                </a:path>
              </a:pathLst>
            </a:custGeom>
            <a:solidFill>
              <a:srgbClr val="191919"/>
            </a:solidFill>
            <a:ln>
              <a:noFill/>
            </a:ln>
          </p:spPr>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400"/>
                                        <p:tgtEl>
                                          <p:spTgt spid="8"/>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00"/>
                                        <p:tgtEl>
                                          <p:spTgt spid="11"/>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400"/>
                                        <p:tgtEl>
                                          <p:spTgt spid="14"/>
                                        </p:tgtEl>
                                      </p:cBhvr>
                                    </p:animEffect>
                                  </p:childTnLst>
                                </p:cTn>
                              </p:par>
                            </p:childTnLst>
                          </p:cTn>
                        </p:par>
                        <p:par>
                          <p:cTn id="16" fill="hold">
                            <p:stCondLst>
                              <p:cond delay="2700"/>
                            </p:stCondLst>
                            <p:childTnLst>
                              <p:par>
                                <p:cTn id="17" presetID="23" presetClass="entr" presetSubtype="0" fill="hold" nodeType="after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image">
                                      <p:cBhvr>
                                        <p:cTn id="19" dur="4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14" grpId="0"/>
      <p:bldP spid="1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729615" y="590550"/>
            <a:ext cx="3868198" cy="862012"/>
            <a:chOff x="729615" y="590550"/>
            <a:chExt cx="3868198" cy="862012"/>
          </a:xfrm>
        </p:grpSpPr>
        <p:sp>
          <p:nvSpPr>
            <p:cNvPr id="3" name="Rectangle 3"/>
            <p:cNvSpPr/>
            <p:nvPr/>
          </p:nvSpPr>
          <p:spPr>
            <a:xfrm>
              <a:off x="762000" y="590550"/>
              <a:ext cx="419100" cy="38100"/>
            </a:xfrm>
            <a:prstGeom prst="roundRect">
              <a:avLst>
                <a:gd name="adj" fmla="val 50000"/>
              </a:avLst>
            </a:prstGeom>
            <a:solidFill>
              <a:srgbClr val="D97757"/>
            </a:solidFill>
            <a:ln>
              <a:noFill/>
            </a:ln>
          </p:spPr>
        </p:sp>
        <p:sp>
          <p:nvSpPr>
            <p:cNvPr id="4" name="TextBox 4"/>
            <p:cNvSpPr txBox="1"/>
            <p:nvPr/>
          </p:nvSpPr>
          <p:spPr>
            <a:xfrm>
              <a:off x="729615" y="791528"/>
              <a:ext cx="2992536" cy="518160"/>
            </a:xfrm>
            <a:prstGeom prst="rect">
              <a:avLst/>
            </a:prstGeom>
            <a:noFill/>
            <a:ln>
              <a:noFill/>
            </a:ln>
          </p:spPr>
          <p:txBody>
            <a:bodyPr wrap="none" lIns="0" tIns="0" rIns="0" bIns="0" anchor="t" anchorCtr="0">
              <a:spAutoFit/>
            </a:bodyPr>
            <a:lstStyle/>
            <a:p>
              <a:pPr algn="l"/>
              <a:r>
                <a:rPr lang="zh-CN" sz="2550" b="1" dirty="0">
                  <a:solidFill>
                    <a:srgbClr val="191919"/>
                  </a:solidFill>
                  <a:latin typeface="Styrene A"/>
                  <a:ea typeface="Microsoft YaHei"/>
                  <a:cs typeface="Styrene A"/>
                </a:rPr>
                <a:t>What we'll cover</a:t>
              </a:r>
            </a:p>
          </p:txBody>
        </p:sp>
        <p:sp>
          <p:nvSpPr>
            <p:cNvPr id="5" name="TextBox 5"/>
            <p:cNvSpPr txBox="1"/>
            <p:nvPr/>
          </p:nvSpPr>
          <p:spPr>
            <a:xfrm>
              <a:off x="748665" y="1239202"/>
              <a:ext cx="3849148" cy="213360"/>
            </a:xfrm>
            <a:prstGeom prst="rect">
              <a:avLst/>
            </a:prstGeom>
            <a:noFill/>
            <a:ln>
              <a:noFill/>
            </a:ln>
          </p:spPr>
          <p:txBody>
            <a:bodyPr wrap="none" lIns="0" tIns="0" rIns="0" bIns="0" anchor="t" anchorCtr="0">
              <a:spAutoFit/>
            </a:bodyPr>
            <a:lstStyle/>
            <a:p>
              <a:pPr algn="l"/>
              <a:r>
                <a:rPr lang="zh-CN" sz="1050" b="1" dirty="0">
                  <a:solidFill>
                    <a:srgbClr val="64748B"/>
                  </a:solidFill>
                  <a:latin typeface="Anthropic Sans"/>
                  <a:ea typeface="Microsoft YaHei"/>
                  <a:cs typeface="Anthropic Sans"/>
                </a:rPr>
                <a:t>EIGHT STOPS — FROM WHAT IT IS TO HOW IT SHIPS SAFELY</a:t>
              </a:r>
            </a:p>
          </p:txBody>
        </p:sp>
      </p:grpSp>
      <p:sp>
        <p:nvSpPr>
          <p:cNvPr id="7" name="Line 7"/>
          <p:cNvSpPr/>
          <p:nvPr/>
        </p:nvSpPr>
        <p:spPr>
          <a:xfrm>
            <a:off x="1066800" y="1981200"/>
            <a:ext cx="9525" cy="3905250"/>
          </a:xfrm>
          <a:custGeom>
            <a:avLst/>
            <a:gdLst/>
            <a:ahLst/>
            <a:cxnLst/>
            <a:rect l="l" t="t" r="r" b="b"/>
            <a:pathLst>
              <a:path w="9525" h="3905250">
                <a:moveTo>
                  <a:pt x="0" y="0"/>
                </a:moveTo>
                <a:lnTo>
                  <a:pt x="0" y="3905250"/>
                </a:lnTo>
              </a:path>
            </a:pathLst>
          </a:custGeom>
          <a:noFill/>
          <a:ln w="28575" cap="rnd">
            <a:solidFill>
              <a:srgbClr val="D97757">
                <a:alpha val="35000"/>
              </a:srgbClr>
            </a:solidFill>
          </a:ln>
        </p:spPr>
      </p:sp>
      <p:sp>
        <p:nvSpPr>
          <p:cNvPr id="8" name="Line 8"/>
          <p:cNvSpPr/>
          <p:nvPr/>
        </p:nvSpPr>
        <p:spPr>
          <a:xfrm>
            <a:off x="6591300" y="1981200"/>
            <a:ext cx="9525" cy="3905250"/>
          </a:xfrm>
          <a:custGeom>
            <a:avLst/>
            <a:gdLst/>
            <a:ahLst/>
            <a:cxnLst/>
            <a:rect l="l" t="t" r="r" b="b"/>
            <a:pathLst>
              <a:path w="9525" h="3905250">
                <a:moveTo>
                  <a:pt x="0" y="0"/>
                </a:moveTo>
                <a:lnTo>
                  <a:pt x="0" y="3905250"/>
                </a:lnTo>
              </a:path>
            </a:pathLst>
          </a:custGeom>
          <a:noFill/>
          <a:ln w="28575" cap="rnd">
            <a:solidFill>
              <a:srgbClr val="D97757">
                <a:alpha val="35000"/>
              </a:srgbClr>
            </a:solidFill>
          </a:ln>
        </p:spPr>
      </p:sp>
      <p:grpSp>
        <p:nvGrpSpPr>
          <p:cNvPr id="25" name="Group 25"/>
          <p:cNvGrpSpPr/>
          <p:nvPr/>
        </p:nvGrpSpPr>
        <p:grpSpPr>
          <a:xfrm>
            <a:off x="857250" y="2000250"/>
            <a:ext cx="4112466" cy="3643312"/>
            <a:chOff x="857250" y="2000250"/>
            <a:chExt cx="4112466" cy="3643312"/>
          </a:xfrm>
        </p:grpSpPr>
        <p:sp>
          <p:nvSpPr>
            <p:cNvPr id="9" name="Ellipse 9"/>
            <p:cNvSpPr/>
            <p:nvPr/>
          </p:nvSpPr>
          <p:spPr>
            <a:xfrm>
              <a:off x="857250" y="2000250"/>
              <a:ext cx="419100" cy="419100"/>
            </a:xfrm>
            <a:prstGeom prst="ellipse">
              <a:avLst/>
            </a:prstGeom>
            <a:solidFill>
              <a:srgbClr val="FFFFFF"/>
            </a:solidFill>
            <a:ln w="23812">
              <a:solidFill>
                <a:srgbClr val="D97757"/>
              </a:solidFill>
            </a:ln>
          </p:spPr>
        </p:sp>
        <p:sp>
          <p:nvSpPr>
            <p:cNvPr id="10" name="TextBox 10"/>
            <p:cNvSpPr txBox="1"/>
            <p:nvPr/>
          </p:nvSpPr>
          <p:spPr>
            <a:xfrm>
              <a:off x="965877" y="2145506"/>
              <a:ext cx="201847" cy="228600"/>
            </a:xfrm>
            <a:prstGeom prst="rect">
              <a:avLst/>
            </a:prstGeom>
            <a:noFill/>
            <a:ln>
              <a:noFill/>
            </a:ln>
          </p:spPr>
          <p:txBody>
            <a:bodyPr wrap="none" lIns="0" tIns="0" rIns="0" bIns="0" anchor="t" anchorCtr="0">
              <a:spAutoFit/>
            </a:bodyPr>
            <a:lstStyle/>
            <a:p>
              <a:pPr algn="ctr"/>
              <a:r>
                <a:rPr lang="zh-CN" sz="1125" b="1" dirty="0">
                  <a:solidFill>
                    <a:srgbClr val="D97757"/>
                  </a:solidFill>
                  <a:latin typeface="Styrene A"/>
                  <a:ea typeface="Microsoft YaHei"/>
                  <a:cs typeface="Styrene A"/>
                </a:rPr>
                <a:t>01</a:t>
              </a:r>
            </a:p>
          </p:txBody>
        </p:sp>
        <p:sp>
          <p:nvSpPr>
            <p:cNvPr id="11" name="TextBox 11"/>
            <p:cNvSpPr txBox="1"/>
            <p:nvPr/>
          </p:nvSpPr>
          <p:spPr>
            <a:xfrm>
              <a:off x="1485900" y="2009775"/>
              <a:ext cx="2253877" cy="304800"/>
            </a:xfrm>
            <a:prstGeom prst="rect">
              <a:avLst/>
            </a:prstGeom>
            <a:noFill/>
            <a:ln>
              <a:noFill/>
            </a:ln>
          </p:spPr>
          <p:txBody>
            <a:bodyPr wrap="none" lIns="0" tIns="0" rIns="0" bIns="0" anchor="t" anchorCtr="0">
              <a:spAutoFit/>
            </a:bodyPr>
            <a:lstStyle/>
            <a:p>
              <a:pPr algn="l"/>
              <a:r>
                <a:rPr lang="zh-CN" sz="1500" b="1" dirty="0">
                  <a:solidFill>
                    <a:srgbClr val="191919"/>
                  </a:solidFill>
                  <a:latin typeface="Styrene A"/>
                  <a:ea typeface="Microsoft YaHei"/>
                  <a:cs typeface="Styrene A"/>
                </a:rPr>
                <a:t>What is Claude Fable 5</a:t>
              </a:r>
            </a:p>
          </p:txBody>
        </p:sp>
        <p:sp>
          <p:nvSpPr>
            <p:cNvPr id="12" name="TextBox 12"/>
            <p:cNvSpPr txBox="1"/>
            <p:nvPr/>
          </p:nvSpPr>
          <p:spPr>
            <a:xfrm>
              <a:off x="1491615" y="2286952"/>
              <a:ext cx="2539984"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Anthropic Sans"/>
                  <a:ea typeface="Microsoft YaHei"/>
                  <a:cs typeface="Anthropic Sans"/>
                </a:rPr>
                <a:t>Positioning and the new Mythos class</a:t>
              </a:r>
            </a:p>
          </p:txBody>
        </p:sp>
        <p:sp>
          <p:nvSpPr>
            <p:cNvPr id="13" name="Ellipse 13"/>
            <p:cNvSpPr/>
            <p:nvPr/>
          </p:nvSpPr>
          <p:spPr>
            <a:xfrm>
              <a:off x="857250" y="3048000"/>
              <a:ext cx="419100" cy="419100"/>
            </a:xfrm>
            <a:prstGeom prst="ellipse">
              <a:avLst/>
            </a:prstGeom>
            <a:solidFill>
              <a:srgbClr val="FFFFFF"/>
            </a:solidFill>
            <a:ln w="23812">
              <a:solidFill>
                <a:srgbClr val="D97757"/>
              </a:solidFill>
            </a:ln>
          </p:spPr>
        </p:sp>
        <p:sp>
          <p:nvSpPr>
            <p:cNvPr id="14" name="TextBox 14"/>
            <p:cNvSpPr txBox="1"/>
            <p:nvPr/>
          </p:nvSpPr>
          <p:spPr>
            <a:xfrm>
              <a:off x="965877" y="3193256"/>
              <a:ext cx="201847" cy="228600"/>
            </a:xfrm>
            <a:prstGeom prst="rect">
              <a:avLst/>
            </a:prstGeom>
            <a:noFill/>
            <a:ln>
              <a:noFill/>
            </a:ln>
          </p:spPr>
          <p:txBody>
            <a:bodyPr wrap="none" lIns="0" tIns="0" rIns="0" bIns="0" anchor="t" anchorCtr="0">
              <a:spAutoFit/>
            </a:bodyPr>
            <a:lstStyle/>
            <a:p>
              <a:pPr algn="ctr"/>
              <a:r>
                <a:rPr lang="zh-CN" sz="1125" b="1" dirty="0">
                  <a:solidFill>
                    <a:srgbClr val="D97757"/>
                  </a:solidFill>
                  <a:latin typeface="Styrene A"/>
                  <a:ea typeface="Microsoft YaHei"/>
                  <a:cs typeface="Styrene A"/>
                </a:rPr>
                <a:t>02</a:t>
              </a:r>
            </a:p>
          </p:txBody>
        </p:sp>
        <p:sp>
          <p:nvSpPr>
            <p:cNvPr id="15" name="TextBox 15"/>
            <p:cNvSpPr txBox="1"/>
            <p:nvPr/>
          </p:nvSpPr>
          <p:spPr>
            <a:xfrm>
              <a:off x="1485900" y="3057525"/>
              <a:ext cx="1707809" cy="304800"/>
            </a:xfrm>
            <a:prstGeom prst="rect">
              <a:avLst/>
            </a:prstGeom>
            <a:noFill/>
            <a:ln>
              <a:noFill/>
            </a:ln>
          </p:spPr>
          <p:txBody>
            <a:bodyPr wrap="none" lIns="0" tIns="0" rIns="0" bIns="0" anchor="t" anchorCtr="0">
              <a:spAutoFit/>
            </a:bodyPr>
            <a:lstStyle/>
            <a:p>
              <a:pPr algn="l"/>
              <a:r>
                <a:rPr lang="zh-CN" sz="1500" b="1" dirty="0">
                  <a:solidFill>
                    <a:srgbClr val="191919"/>
                  </a:solidFill>
                  <a:latin typeface="Styrene A"/>
                  <a:ea typeface="Microsoft YaHei"/>
                  <a:cs typeface="Styrene A"/>
                </a:rPr>
                <a:t>The model family</a:t>
              </a:r>
            </a:p>
          </p:txBody>
        </p:sp>
        <p:sp>
          <p:nvSpPr>
            <p:cNvPr id="16" name="TextBox 16"/>
            <p:cNvSpPr txBox="1"/>
            <p:nvPr/>
          </p:nvSpPr>
          <p:spPr>
            <a:xfrm>
              <a:off x="1491615" y="3334702"/>
              <a:ext cx="3478101"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Anthropic Sans"/>
                  <a:ea typeface="Microsoft YaHei"/>
                  <a:cs typeface="Anthropic Sans"/>
                </a:rPr>
                <a:t>Where Fable 5 sits relative to Opus, Sonnet, Haiku</a:t>
              </a:r>
            </a:p>
          </p:txBody>
        </p:sp>
        <p:sp>
          <p:nvSpPr>
            <p:cNvPr id="17" name="Ellipse 17"/>
            <p:cNvSpPr/>
            <p:nvPr/>
          </p:nvSpPr>
          <p:spPr>
            <a:xfrm>
              <a:off x="857250" y="4095750"/>
              <a:ext cx="419100" cy="419100"/>
            </a:xfrm>
            <a:prstGeom prst="ellipse">
              <a:avLst/>
            </a:prstGeom>
            <a:solidFill>
              <a:srgbClr val="FFFFFF"/>
            </a:solidFill>
            <a:ln w="23812">
              <a:solidFill>
                <a:srgbClr val="D97757"/>
              </a:solidFill>
            </a:ln>
          </p:spPr>
        </p:sp>
        <p:sp>
          <p:nvSpPr>
            <p:cNvPr id="18" name="TextBox 18"/>
            <p:cNvSpPr txBox="1"/>
            <p:nvPr/>
          </p:nvSpPr>
          <p:spPr>
            <a:xfrm>
              <a:off x="965877" y="4241006"/>
              <a:ext cx="201847" cy="228600"/>
            </a:xfrm>
            <a:prstGeom prst="rect">
              <a:avLst/>
            </a:prstGeom>
            <a:noFill/>
            <a:ln>
              <a:noFill/>
            </a:ln>
          </p:spPr>
          <p:txBody>
            <a:bodyPr wrap="none" lIns="0" tIns="0" rIns="0" bIns="0" anchor="t" anchorCtr="0">
              <a:spAutoFit/>
            </a:bodyPr>
            <a:lstStyle/>
            <a:p>
              <a:pPr algn="ctr"/>
              <a:r>
                <a:rPr lang="zh-CN" sz="1125" b="1" dirty="0">
                  <a:solidFill>
                    <a:srgbClr val="D97757"/>
                  </a:solidFill>
                  <a:latin typeface="Styrene A"/>
                  <a:ea typeface="Microsoft YaHei"/>
                  <a:cs typeface="Styrene A"/>
                </a:rPr>
                <a:t>03</a:t>
              </a:r>
            </a:p>
          </p:txBody>
        </p:sp>
        <p:sp>
          <p:nvSpPr>
            <p:cNvPr id="19" name="TextBox 19"/>
            <p:cNvSpPr txBox="1"/>
            <p:nvPr/>
          </p:nvSpPr>
          <p:spPr>
            <a:xfrm>
              <a:off x="1485900" y="4105275"/>
              <a:ext cx="1791819" cy="304800"/>
            </a:xfrm>
            <a:prstGeom prst="rect">
              <a:avLst/>
            </a:prstGeom>
            <a:noFill/>
            <a:ln>
              <a:noFill/>
            </a:ln>
          </p:spPr>
          <p:txBody>
            <a:bodyPr wrap="none" lIns="0" tIns="0" rIns="0" bIns="0" anchor="t" anchorCtr="0">
              <a:spAutoFit/>
            </a:bodyPr>
            <a:lstStyle/>
            <a:p>
              <a:pPr algn="l"/>
              <a:r>
                <a:rPr lang="zh-CN" sz="1500" b="1" dirty="0">
                  <a:solidFill>
                    <a:srgbClr val="191919"/>
                  </a:solidFill>
                  <a:latin typeface="Styrene A"/>
                  <a:ea typeface="Microsoft YaHei"/>
                  <a:cs typeface="Styrene A"/>
                </a:rPr>
                <a:t>Specs at a glance</a:t>
              </a:r>
            </a:p>
          </p:txBody>
        </p:sp>
        <p:sp>
          <p:nvSpPr>
            <p:cNvPr id="20" name="TextBox 20"/>
            <p:cNvSpPr txBox="1"/>
            <p:nvPr/>
          </p:nvSpPr>
          <p:spPr>
            <a:xfrm>
              <a:off x="1491615" y="4382452"/>
              <a:ext cx="2602992"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Anthropic Sans"/>
                  <a:ea typeface="Microsoft YaHei"/>
                  <a:cs typeface="Anthropic Sans"/>
                </a:rPr>
                <a:t>Context, output, pricing, availability</a:t>
              </a:r>
            </a:p>
          </p:txBody>
        </p:sp>
        <p:sp>
          <p:nvSpPr>
            <p:cNvPr id="21" name="Ellipse 21"/>
            <p:cNvSpPr/>
            <p:nvPr/>
          </p:nvSpPr>
          <p:spPr>
            <a:xfrm>
              <a:off x="857250" y="5143500"/>
              <a:ext cx="419100" cy="419100"/>
            </a:xfrm>
            <a:prstGeom prst="ellipse">
              <a:avLst/>
            </a:prstGeom>
            <a:solidFill>
              <a:srgbClr val="FFFFFF"/>
            </a:solidFill>
            <a:ln w="23812">
              <a:solidFill>
                <a:srgbClr val="D97757"/>
              </a:solidFill>
            </a:ln>
          </p:spPr>
        </p:sp>
        <p:sp>
          <p:nvSpPr>
            <p:cNvPr id="22" name="TextBox 22"/>
            <p:cNvSpPr txBox="1"/>
            <p:nvPr/>
          </p:nvSpPr>
          <p:spPr>
            <a:xfrm>
              <a:off x="965877" y="5288756"/>
              <a:ext cx="201847" cy="228600"/>
            </a:xfrm>
            <a:prstGeom prst="rect">
              <a:avLst/>
            </a:prstGeom>
            <a:noFill/>
            <a:ln>
              <a:noFill/>
            </a:ln>
          </p:spPr>
          <p:txBody>
            <a:bodyPr wrap="none" lIns="0" tIns="0" rIns="0" bIns="0" anchor="t" anchorCtr="0">
              <a:spAutoFit/>
            </a:bodyPr>
            <a:lstStyle/>
            <a:p>
              <a:pPr algn="ctr"/>
              <a:r>
                <a:rPr lang="zh-CN" sz="1125" b="1" dirty="0">
                  <a:solidFill>
                    <a:srgbClr val="D97757"/>
                  </a:solidFill>
                  <a:latin typeface="Styrene A"/>
                  <a:ea typeface="Microsoft YaHei"/>
                  <a:cs typeface="Styrene A"/>
                </a:rPr>
                <a:t>04</a:t>
              </a:r>
            </a:p>
          </p:txBody>
        </p:sp>
        <p:sp>
          <p:nvSpPr>
            <p:cNvPr id="23" name="TextBox 23"/>
            <p:cNvSpPr txBox="1"/>
            <p:nvPr/>
          </p:nvSpPr>
          <p:spPr>
            <a:xfrm>
              <a:off x="1485900" y="5153025"/>
              <a:ext cx="2096357" cy="304800"/>
            </a:xfrm>
            <a:prstGeom prst="rect">
              <a:avLst/>
            </a:prstGeom>
            <a:noFill/>
            <a:ln>
              <a:noFill/>
            </a:ln>
          </p:spPr>
          <p:txBody>
            <a:bodyPr wrap="none" lIns="0" tIns="0" rIns="0" bIns="0" anchor="t" anchorCtr="0">
              <a:spAutoFit/>
            </a:bodyPr>
            <a:lstStyle/>
            <a:p>
              <a:pPr algn="l"/>
              <a:r>
                <a:rPr lang="zh-CN" sz="1500" b="1" dirty="0">
                  <a:solidFill>
                    <a:srgbClr val="191919"/>
                  </a:solidFill>
                  <a:latin typeface="Styrene A"/>
                  <a:ea typeface="Microsoft YaHei"/>
                  <a:cs typeface="Styrene A"/>
                </a:rPr>
                <a:t>Headline capabilities</a:t>
              </a:r>
            </a:p>
          </p:txBody>
        </p:sp>
        <p:sp>
          <p:nvSpPr>
            <p:cNvPr id="24" name="TextBox 24"/>
            <p:cNvSpPr txBox="1"/>
            <p:nvPr/>
          </p:nvSpPr>
          <p:spPr>
            <a:xfrm>
              <a:off x="1491615" y="5430202"/>
              <a:ext cx="2084927"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Anthropic Sans"/>
                  <a:ea typeface="Microsoft YaHei"/>
                  <a:cs typeface="Anthropic Sans"/>
                </a:rPr>
                <a:t>Six areas where the gains land</a:t>
              </a:r>
            </a:p>
          </p:txBody>
        </p:sp>
      </p:grpSp>
      <p:grpSp>
        <p:nvGrpSpPr>
          <p:cNvPr id="42" name="Group 42"/>
          <p:cNvGrpSpPr/>
          <p:nvPr/>
        </p:nvGrpSpPr>
        <p:grpSpPr>
          <a:xfrm>
            <a:off x="6362700" y="2000250"/>
            <a:ext cx="3697462" cy="3643312"/>
            <a:chOff x="6362700" y="2000250"/>
            <a:chExt cx="3697462" cy="3643312"/>
          </a:xfrm>
        </p:grpSpPr>
        <p:sp>
          <p:nvSpPr>
            <p:cNvPr id="26" name="Ellipse 26"/>
            <p:cNvSpPr/>
            <p:nvPr/>
          </p:nvSpPr>
          <p:spPr>
            <a:xfrm>
              <a:off x="6381750" y="2000250"/>
              <a:ext cx="419100" cy="419100"/>
            </a:xfrm>
            <a:prstGeom prst="ellipse">
              <a:avLst/>
            </a:prstGeom>
            <a:solidFill>
              <a:srgbClr val="FFFFFF"/>
            </a:solidFill>
            <a:ln w="23812">
              <a:solidFill>
                <a:srgbClr val="D97757"/>
              </a:solidFill>
            </a:ln>
          </p:spPr>
        </p:sp>
        <p:sp>
          <p:nvSpPr>
            <p:cNvPr id="27" name="TextBox 27"/>
            <p:cNvSpPr txBox="1"/>
            <p:nvPr/>
          </p:nvSpPr>
          <p:spPr>
            <a:xfrm>
              <a:off x="6490377" y="2145506"/>
              <a:ext cx="201847" cy="228600"/>
            </a:xfrm>
            <a:prstGeom prst="rect">
              <a:avLst/>
            </a:prstGeom>
            <a:noFill/>
            <a:ln>
              <a:noFill/>
            </a:ln>
          </p:spPr>
          <p:txBody>
            <a:bodyPr wrap="none" lIns="0" tIns="0" rIns="0" bIns="0" anchor="t" anchorCtr="0">
              <a:spAutoFit/>
            </a:bodyPr>
            <a:lstStyle/>
            <a:p>
              <a:pPr algn="ctr"/>
              <a:r>
                <a:rPr lang="zh-CN" sz="1125" b="1" dirty="0">
                  <a:solidFill>
                    <a:srgbClr val="D97757"/>
                  </a:solidFill>
                  <a:latin typeface="Styrene A"/>
                  <a:ea typeface="Microsoft YaHei"/>
                  <a:cs typeface="Styrene A"/>
                </a:rPr>
                <a:t>05</a:t>
              </a:r>
            </a:p>
          </p:txBody>
        </p:sp>
        <p:sp>
          <p:nvSpPr>
            <p:cNvPr id="28" name="TextBox 28"/>
            <p:cNvSpPr txBox="1"/>
            <p:nvPr/>
          </p:nvSpPr>
          <p:spPr>
            <a:xfrm>
              <a:off x="7010400" y="2009775"/>
              <a:ext cx="2358890" cy="304800"/>
            </a:xfrm>
            <a:prstGeom prst="rect">
              <a:avLst/>
            </a:prstGeom>
            <a:noFill/>
            <a:ln>
              <a:noFill/>
            </a:ln>
          </p:spPr>
          <p:txBody>
            <a:bodyPr wrap="none" lIns="0" tIns="0" rIns="0" bIns="0" anchor="t" anchorCtr="0">
              <a:spAutoFit/>
            </a:bodyPr>
            <a:lstStyle/>
            <a:p>
              <a:pPr algn="l"/>
              <a:r>
                <a:rPr lang="zh-CN" sz="1500" b="1" dirty="0">
                  <a:solidFill>
                    <a:srgbClr val="191919"/>
                  </a:solidFill>
                  <a:latin typeface="Styrene A"/>
                  <a:ea typeface="Microsoft YaHei"/>
                  <a:cs typeface="Styrene A"/>
                </a:rPr>
                <a:t>Early customer signals</a:t>
              </a:r>
            </a:p>
          </p:txBody>
        </p:sp>
        <p:sp>
          <p:nvSpPr>
            <p:cNvPr id="29" name="TextBox 29"/>
            <p:cNvSpPr txBox="1"/>
            <p:nvPr/>
          </p:nvSpPr>
          <p:spPr>
            <a:xfrm>
              <a:off x="7016115" y="2286952"/>
              <a:ext cx="2322957"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Anthropic Sans"/>
                  <a:ea typeface="Microsoft YaHei"/>
                  <a:cs typeface="Anthropic Sans"/>
                </a:rPr>
                <a:t>Stripe, Cursor, GitHub, Cognition</a:t>
              </a:r>
            </a:p>
          </p:txBody>
        </p:sp>
        <p:sp>
          <p:nvSpPr>
            <p:cNvPr id="30" name="Ellipse 30"/>
            <p:cNvSpPr/>
            <p:nvPr/>
          </p:nvSpPr>
          <p:spPr>
            <a:xfrm>
              <a:off x="6381750" y="3048000"/>
              <a:ext cx="419100" cy="419100"/>
            </a:xfrm>
            <a:prstGeom prst="ellipse">
              <a:avLst/>
            </a:prstGeom>
            <a:solidFill>
              <a:srgbClr val="FFFFFF"/>
            </a:solidFill>
            <a:ln w="23812">
              <a:solidFill>
                <a:srgbClr val="D97757"/>
              </a:solidFill>
            </a:ln>
          </p:spPr>
        </p:sp>
        <p:sp>
          <p:nvSpPr>
            <p:cNvPr id="31" name="TextBox 31"/>
            <p:cNvSpPr txBox="1"/>
            <p:nvPr/>
          </p:nvSpPr>
          <p:spPr>
            <a:xfrm>
              <a:off x="6490377" y="3193256"/>
              <a:ext cx="201847" cy="228600"/>
            </a:xfrm>
            <a:prstGeom prst="rect">
              <a:avLst/>
            </a:prstGeom>
            <a:noFill/>
            <a:ln>
              <a:noFill/>
            </a:ln>
          </p:spPr>
          <p:txBody>
            <a:bodyPr wrap="none" lIns="0" tIns="0" rIns="0" bIns="0" anchor="t" anchorCtr="0">
              <a:spAutoFit/>
            </a:bodyPr>
            <a:lstStyle/>
            <a:p>
              <a:pPr algn="ctr"/>
              <a:r>
                <a:rPr lang="zh-CN" sz="1125" b="1" dirty="0">
                  <a:solidFill>
                    <a:srgbClr val="D97757"/>
                  </a:solidFill>
                  <a:latin typeface="Styrene A"/>
                  <a:ea typeface="Microsoft YaHei"/>
                  <a:cs typeface="Styrene A"/>
                </a:rPr>
                <a:t>06</a:t>
              </a:r>
            </a:p>
          </p:txBody>
        </p:sp>
        <p:sp>
          <p:nvSpPr>
            <p:cNvPr id="32" name="TextBox 32"/>
            <p:cNvSpPr txBox="1"/>
            <p:nvPr/>
          </p:nvSpPr>
          <p:spPr>
            <a:xfrm>
              <a:off x="7010400" y="3057525"/>
              <a:ext cx="1025223" cy="304800"/>
            </a:xfrm>
            <a:prstGeom prst="rect">
              <a:avLst/>
            </a:prstGeom>
            <a:noFill/>
            <a:ln>
              <a:noFill/>
            </a:ln>
          </p:spPr>
          <p:txBody>
            <a:bodyPr wrap="none" lIns="0" tIns="0" rIns="0" bIns="0" anchor="t" anchorCtr="0">
              <a:spAutoFit/>
            </a:bodyPr>
            <a:lstStyle/>
            <a:p>
              <a:pPr algn="l"/>
              <a:r>
                <a:rPr lang="zh-CN" sz="1500" b="1" dirty="0">
                  <a:solidFill>
                    <a:srgbClr val="191919"/>
                  </a:solidFill>
                  <a:latin typeface="Styrene A"/>
                  <a:ea typeface="Microsoft YaHei"/>
                  <a:cs typeface="Styrene A"/>
                </a:rPr>
                <a:t>Use cases</a:t>
              </a:r>
            </a:p>
          </p:txBody>
        </p:sp>
        <p:sp>
          <p:nvSpPr>
            <p:cNvPr id="33" name="TextBox 33"/>
            <p:cNvSpPr txBox="1"/>
            <p:nvPr/>
          </p:nvSpPr>
          <p:spPr>
            <a:xfrm>
              <a:off x="7016115" y="3334702"/>
              <a:ext cx="3044047"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Anthropic Sans"/>
                  <a:ea typeface="Microsoft YaHei"/>
                  <a:cs typeface="Anthropic Sans"/>
                </a:rPr>
                <a:t>Where to point it first, with two spotlights</a:t>
              </a:r>
            </a:p>
          </p:txBody>
        </p:sp>
        <p:sp>
          <p:nvSpPr>
            <p:cNvPr id="34" name="Ellipse 34"/>
            <p:cNvSpPr/>
            <p:nvPr/>
          </p:nvSpPr>
          <p:spPr>
            <a:xfrm>
              <a:off x="6381750" y="4095750"/>
              <a:ext cx="419100" cy="419100"/>
            </a:xfrm>
            <a:prstGeom prst="ellipse">
              <a:avLst/>
            </a:prstGeom>
            <a:solidFill>
              <a:srgbClr val="FFFFFF"/>
            </a:solidFill>
            <a:ln w="23812">
              <a:solidFill>
                <a:srgbClr val="D97757"/>
              </a:solidFill>
            </a:ln>
          </p:spPr>
        </p:sp>
        <p:sp>
          <p:nvSpPr>
            <p:cNvPr id="35" name="TextBox 35"/>
            <p:cNvSpPr txBox="1"/>
            <p:nvPr/>
          </p:nvSpPr>
          <p:spPr>
            <a:xfrm>
              <a:off x="6490377" y="4241006"/>
              <a:ext cx="201847" cy="228600"/>
            </a:xfrm>
            <a:prstGeom prst="rect">
              <a:avLst/>
            </a:prstGeom>
            <a:noFill/>
            <a:ln>
              <a:noFill/>
            </a:ln>
          </p:spPr>
          <p:txBody>
            <a:bodyPr wrap="none" lIns="0" tIns="0" rIns="0" bIns="0" anchor="t" anchorCtr="0">
              <a:spAutoFit/>
            </a:bodyPr>
            <a:lstStyle/>
            <a:p>
              <a:pPr algn="ctr"/>
              <a:r>
                <a:rPr lang="zh-CN" sz="1125" b="1" dirty="0">
                  <a:solidFill>
                    <a:srgbClr val="D97757"/>
                  </a:solidFill>
                  <a:latin typeface="Styrene A"/>
                  <a:ea typeface="Microsoft YaHei"/>
                  <a:cs typeface="Styrene A"/>
                </a:rPr>
                <a:t>07</a:t>
              </a:r>
            </a:p>
          </p:txBody>
        </p:sp>
        <p:sp>
          <p:nvSpPr>
            <p:cNvPr id="36" name="TextBox 36"/>
            <p:cNvSpPr txBox="1"/>
            <p:nvPr/>
          </p:nvSpPr>
          <p:spPr>
            <a:xfrm>
              <a:off x="7010400" y="4105275"/>
              <a:ext cx="2190869" cy="304800"/>
            </a:xfrm>
            <a:prstGeom prst="rect">
              <a:avLst/>
            </a:prstGeom>
            <a:noFill/>
            <a:ln>
              <a:noFill/>
            </a:ln>
          </p:spPr>
          <p:txBody>
            <a:bodyPr wrap="none" lIns="0" tIns="0" rIns="0" bIns="0" anchor="t" anchorCtr="0">
              <a:spAutoFit/>
            </a:bodyPr>
            <a:lstStyle/>
            <a:p>
              <a:pPr algn="l"/>
              <a:r>
                <a:rPr lang="zh-CN" sz="1500" b="1" dirty="0">
                  <a:solidFill>
                    <a:srgbClr val="191919"/>
                  </a:solidFill>
                  <a:latin typeface="Styrene A"/>
                  <a:ea typeface="Microsoft YaHei"/>
                  <a:cs typeface="Styrene A"/>
                </a:rPr>
                <a:t>Developer experience</a:t>
              </a:r>
            </a:p>
          </p:txBody>
        </p:sp>
        <p:sp>
          <p:nvSpPr>
            <p:cNvPr id="37" name="TextBox 37"/>
            <p:cNvSpPr txBox="1"/>
            <p:nvPr/>
          </p:nvSpPr>
          <p:spPr>
            <a:xfrm>
              <a:off x="7016115" y="4382452"/>
              <a:ext cx="1706880"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Anthropic Sans"/>
                  <a:ea typeface="Microsoft YaHei"/>
                  <a:cs typeface="Anthropic Sans"/>
                </a:rPr>
                <a:t>API behaviors to plan for</a:t>
              </a:r>
            </a:p>
          </p:txBody>
        </p:sp>
        <p:sp>
          <p:nvSpPr>
            <p:cNvPr id="38" name="Ellipse 38"/>
            <p:cNvSpPr/>
            <p:nvPr/>
          </p:nvSpPr>
          <p:spPr>
            <a:xfrm>
              <a:off x="6362700" y="5124450"/>
              <a:ext cx="457200" cy="457200"/>
            </a:xfrm>
            <a:prstGeom prst="ellipse">
              <a:avLst/>
            </a:prstGeom>
            <a:solidFill>
              <a:srgbClr val="D97757"/>
            </a:solidFill>
            <a:ln>
              <a:noFill/>
            </a:ln>
          </p:spPr>
        </p:sp>
        <p:sp>
          <p:nvSpPr>
            <p:cNvPr id="39" name="TextBox 39"/>
            <p:cNvSpPr txBox="1"/>
            <p:nvPr/>
          </p:nvSpPr>
          <p:spPr>
            <a:xfrm>
              <a:off x="6490377" y="5288756"/>
              <a:ext cx="201847"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Styrene A"/>
                  <a:ea typeface="Microsoft YaHei"/>
                  <a:cs typeface="Styrene A"/>
                </a:rPr>
                <a:t>08</a:t>
              </a:r>
            </a:p>
          </p:txBody>
        </p:sp>
        <p:sp>
          <p:nvSpPr>
            <p:cNvPr id="40" name="TextBox 40"/>
            <p:cNvSpPr txBox="1"/>
            <p:nvPr/>
          </p:nvSpPr>
          <p:spPr>
            <a:xfrm>
              <a:off x="7010400" y="5153025"/>
              <a:ext cx="2127861" cy="304800"/>
            </a:xfrm>
            <a:prstGeom prst="rect">
              <a:avLst/>
            </a:prstGeom>
            <a:noFill/>
            <a:ln>
              <a:noFill/>
            </a:ln>
          </p:spPr>
          <p:txBody>
            <a:bodyPr wrap="none" lIns="0" tIns="0" rIns="0" bIns="0" anchor="t" anchorCtr="0">
              <a:spAutoFit/>
            </a:bodyPr>
            <a:lstStyle/>
            <a:p>
              <a:pPr algn="l"/>
              <a:r>
                <a:rPr lang="zh-CN" sz="1500" b="1" dirty="0">
                  <a:solidFill>
                    <a:srgbClr val="191919"/>
                  </a:solidFill>
                  <a:latin typeface="Styrene A"/>
                  <a:ea typeface="Microsoft YaHei"/>
                  <a:cs typeface="Styrene A"/>
                </a:rPr>
                <a:t>Safety architecture</a:t>
              </a:r>
            </a:p>
          </p:txBody>
        </p:sp>
        <p:sp>
          <p:nvSpPr>
            <p:cNvPr id="41" name="TextBox 41"/>
            <p:cNvSpPr txBox="1"/>
            <p:nvPr/>
          </p:nvSpPr>
          <p:spPr>
            <a:xfrm>
              <a:off x="7016115" y="5430202"/>
              <a:ext cx="2827020"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Anthropic Sans"/>
                  <a:ea typeface="Microsoft YaHei"/>
                  <a:cs typeface="Anthropic Sans"/>
                </a:rPr>
                <a:t>How frontier capability ships responsibly</a:t>
              </a:r>
            </a:p>
          </p:txBody>
        </p:sp>
      </p:grpSp>
      <p:grpSp>
        <p:nvGrpSpPr>
          <p:cNvPr id="45" name="Group 45"/>
          <p:cNvGrpSpPr/>
          <p:nvPr/>
        </p:nvGrpSpPr>
        <p:grpSpPr>
          <a:xfrm>
            <a:off x="751522" y="6502241"/>
            <a:ext cx="10688955" cy="167640"/>
            <a:chOff x="751522" y="6502241"/>
            <a:chExt cx="10688955" cy="167640"/>
          </a:xfrm>
        </p:grpSpPr>
        <p:sp>
          <p:nvSpPr>
            <p:cNvPr id="43" name="TextBox 43"/>
            <p:cNvSpPr txBox="1"/>
            <p:nvPr/>
          </p:nvSpPr>
          <p:spPr>
            <a:xfrm>
              <a:off x="751522" y="6502241"/>
              <a:ext cx="2028706" cy="167640"/>
            </a:xfrm>
            <a:prstGeom prst="rect">
              <a:avLst/>
            </a:prstGeom>
            <a:noFill/>
            <a:ln>
              <a:noFill/>
            </a:ln>
          </p:spPr>
          <p:txBody>
            <a:bodyPr wrap="none" lIns="0" tIns="0" rIns="0" bIns="0" anchor="t" anchorCtr="0">
              <a:spAutoFit/>
            </a:bodyPr>
            <a:lstStyle/>
            <a:p>
              <a:pPr algn="l"/>
              <a:r>
                <a:rPr lang="zh-CN" sz="825" dirty="0">
                  <a:solidFill>
                    <a:srgbClr val="94A3B8"/>
                  </a:solidFill>
                  <a:latin typeface="Anthropic Sans"/>
                  <a:ea typeface="Microsoft YaHei"/>
                  <a:cs typeface="Anthropic Sans"/>
                </a:rPr>
                <a:t>Claude Fable 5 · Overview &amp; Use Cases</a:t>
              </a:r>
            </a:p>
          </p:txBody>
        </p:sp>
        <p:sp>
          <p:nvSpPr>
            <p:cNvPr id="44" name="TextBox 44"/>
            <p:cNvSpPr txBox="1"/>
            <p:nvPr/>
          </p:nvSpPr>
          <p:spPr>
            <a:xfrm>
              <a:off x="11298507" y="6502241"/>
              <a:ext cx="141970" cy="167640"/>
            </a:xfrm>
            <a:prstGeom prst="rect">
              <a:avLst/>
            </a:prstGeom>
            <a:noFill/>
            <a:ln>
              <a:noFill/>
            </a:ln>
          </p:spPr>
          <p:txBody>
            <a:bodyPr wrap="none" lIns="0" tIns="0" rIns="0" bIns="0" anchor="t" anchorCtr="0">
              <a:spAutoFit/>
            </a:bodyPr>
            <a:lstStyle/>
            <a:p>
              <a:pPr algn="r"/>
              <a:r>
                <a:rPr lang="zh-CN" sz="825" dirty="0">
                  <a:solidFill>
                    <a:srgbClr val="94A3B8"/>
                  </a:solidFill>
                  <a:latin typeface="Anthropic Sans"/>
                  <a:ea typeface="Microsoft YaHei"/>
                  <a:cs typeface="Anthropic Sans"/>
                </a:rPr>
                <a:t>02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childTnLst>
                          </p:cTn>
                        </p:par>
                        <p:par>
                          <p:cTn id="8" fill="hold">
                            <p:stCondLst>
                              <p:cond delay="900"/>
                            </p:stCondLst>
                            <p:childTnLst>
                              <p:par>
                                <p:cTn id="9" presetID="22" presetClass="entr" presetSubtype="1" fill="hold" nodeType="after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wipe(left)">
                                      <p:cBhvr>
                                        <p:cTn id="11" dur="4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4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4" name="Group 4"/>
          <p:cNvGrpSpPr/>
          <p:nvPr/>
        </p:nvGrpSpPr>
        <p:grpSpPr>
          <a:xfrm>
            <a:off x="748665" y="1124902"/>
            <a:ext cx="1982014" cy="213360"/>
            <a:chOff x="748665" y="1124902"/>
            <a:chExt cx="1982014" cy="213360"/>
          </a:xfrm>
        </p:grpSpPr>
        <p:sp>
          <p:nvSpPr>
            <p:cNvPr id="3" name="TextBox 3"/>
            <p:cNvSpPr txBox="1"/>
            <p:nvPr/>
          </p:nvSpPr>
          <p:spPr>
            <a:xfrm>
              <a:off x="748665" y="1124902"/>
              <a:ext cx="1982014" cy="213360"/>
            </a:xfrm>
            <a:prstGeom prst="rect">
              <a:avLst/>
            </a:prstGeom>
            <a:noFill/>
            <a:ln>
              <a:noFill/>
            </a:ln>
          </p:spPr>
          <p:txBody>
            <a:bodyPr wrap="none" lIns="0" tIns="0" rIns="0" bIns="0" anchor="t" anchorCtr="0">
              <a:spAutoFit/>
            </a:bodyPr>
            <a:lstStyle/>
            <a:p>
              <a:pPr algn="l"/>
              <a:r>
                <a:rPr lang="zh-CN" sz="1050" b="1" dirty="0">
                  <a:solidFill>
                    <a:srgbClr val="64748B"/>
                  </a:solidFill>
                  <a:latin typeface="Styrene A"/>
                  <a:ea typeface="Microsoft YaHei"/>
                  <a:cs typeface="Styrene A"/>
                </a:rPr>
                <a:t>01 · WHAT IS CLAUDE FABLE 5</a:t>
              </a:r>
            </a:p>
          </p:txBody>
        </p:sp>
      </p:grpSp>
      <p:grpSp>
        <p:nvGrpSpPr>
          <p:cNvPr id="8" name="Group 8"/>
          <p:cNvGrpSpPr/>
          <p:nvPr/>
        </p:nvGrpSpPr>
        <p:grpSpPr>
          <a:xfrm>
            <a:off x="708660" y="1699260"/>
            <a:ext cx="7749064" cy="1534478"/>
            <a:chOff x="708660" y="1699260"/>
            <a:chExt cx="7749064" cy="1534478"/>
          </a:xfrm>
        </p:grpSpPr>
        <p:sp>
          <p:nvSpPr>
            <p:cNvPr id="5" name="TextBox 5"/>
            <p:cNvSpPr txBox="1"/>
            <p:nvPr/>
          </p:nvSpPr>
          <p:spPr>
            <a:xfrm>
              <a:off x="708660" y="1699260"/>
              <a:ext cx="6722507" cy="853440"/>
            </a:xfrm>
            <a:prstGeom prst="rect">
              <a:avLst/>
            </a:prstGeom>
            <a:noFill/>
            <a:ln>
              <a:noFill/>
            </a:ln>
          </p:spPr>
          <p:txBody>
            <a:bodyPr wrap="none" lIns="0" tIns="0" rIns="0" bIns="0" anchor="t" anchorCtr="0">
              <a:spAutoFit/>
            </a:bodyPr>
            <a:lstStyle/>
            <a:p>
              <a:pPr algn="l"/>
              <a:r>
                <a:rPr lang="zh-CN" sz="4200" b="1" dirty="0">
                  <a:solidFill>
                    <a:srgbClr val="191919"/>
                  </a:solidFill>
                  <a:latin typeface="Styrene A"/>
                  <a:ea typeface="Microsoft YaHei"/>
                  <a:cs typeface="Styrene A"/>
                </a:rPr>
                <a:t xml:space="preserve">A new class </a:t>
              </a:r>
              <a:r>
                <a:rPr lang="zh-CN" sz="4200" b="1" dirty="0">
                  <a:solidFill>
                    <a:srgbClr val="D97757"/>
                  </a:solidFill>
                  <a:latin typeface="Styrene A"/>
                  <a:ea typeface="Microsoft YaHei"/>
                  <a:cs typeface="Styrene A"/>
                </a:rPr>
                <a:t>above Opus</a:t>
              </a:r>
            </a:p>
          </p:txBody>
        </p:sp>
        <p:sp>
          <p:nvSpPr>
            <p:cNvPr id="6" name="TextBox 6"/>
            <p:cNvSpPr txBox="1"/>
            <p:nvPr/>
          </p:nvSpPr>
          <p:spPr>
            <a:xfrm>
              <a:off x="737235" y="2494598"/>
              <a:ext cx="7720489" cy="396240"/>
            </a:xfrm>
            <a:prstGeom prst="rect">
              <a:avLst/>
            </a:prstGeom>
            <a:noFill/>
            <a:ln>
              <a:noFill/>
            </a:ln>
          </p:spPr>
          <p:txBody>
            <a:bodyPr wrap="none" lIns="0" tIns="0" rIns="0" bIns="0" anchor="t" anchorCtr="0">
              <a:spAutoFit/>
            </a:bodyPr>
            <a:lstStyle/>
            <a:p>
              <a:pPr algn="l"/>
              <a:r>
                <a:rPr lang="zh-CN" sz="1950" dirty="0">
                  <a:solidFill>
                    <a:srgbClr val="64748B"/>
                  </a:solidFill>
                  <a:latin typeface="Styrene A"/>
                  <a:ea typeface="Microsoft YaHei"/>
                  <a:cs typeface="Styrene A"/>
                </a:rPr>
                <a:t>The first Mythos-class model — built for the most demanding</a:t>
              </a:r>
            </a:p>
          </p:txBody>
        </p:sp>
        <p:sp>
          <p:nvSpPr>
            <p:cNvPr id="7" name="TextBox 7"/>
            <p:cNvSpPr txBox="1"/>
            <p:nvPr/>
          </p:nvSpPr>
          <p:spPr>
            <a:xfrm>
              <a:off x="737235" y="2837498"/>
              <a:ext cx="5302187" cy="396240"/>
            </a:xfrm>
            <a:prstGeom prst="rect">
              <a:avLst/>
            </a:prstGeom>
            <a:noFill/>
            <a:ln>
              <a:noFill/>
            </a:ln>
          </p:spPr>
          <p:txBody>
            <a:bodyPr wrap="none" lIns="0" tIns="0" rIns="0" bIns="0" anchor="t" anchorCtr="0">
              <a:spAutoFit/>
            </a:bodyPr>
            <a:lstStyle/>
            <a:p>
              <a:pPr algn="l"/>
              <a:r>
                <a:rPr lang="zh-CN" sz="1950" dirty="0">
                  <a:solidFill>
                    <a:srgbClr val="64748B"/>
                  </a:solidFill>
                  <a:latin typeface="Styrene A"/>
                  <a:ea typeface="Microsoft YaHei"/>
                  <a:cs typeface="Styrene A"/>
                </a:rPr>
                <a:t>reasoning and long-horizon agentic work.</a:t>
              </a:r>
            </a:p>
          </p:txBody>
        </p:sp>
      </p:grpSp>
      <p:sp>
        <p:nvSpPr>
          <p:cNvPr id="9" name="Rectangle 9"/>
          <p:cNvSpPr/>
          <p:nvPr/>
        </p:nvSpPr>
        <p:spPr>
          <a:xfrm>
            <a:off x="762000" y="3505200"/>
            <a:ext cx="609600" cy="38100"/>
          </a:xfrm>
          <a:prstGeom prst="roundRect">
            <a:avLst>
              <a:gd name="adj" fmla="val 50000"/>
            </a:avLst>
          </a:prstGeom>
          <a:solidFill>
            <a:srgbClr val="D97757"/>
          </a:solidFill>
          <a:ln>
            <a:noFill/>
          </a:ln>
        </p:spPr>
      </p:sp>
      <p:grpSp>
        <p:nvGrpSpPr>
          <p:cNvPr id="12" name="Group 12"/>
          <p:cNvGrpSpPr/>
          <p:nvPr/>
        </p:nvGrpSpPr>
        <p:grpSpPr>
          <a:xfrm>
            <a:off x="743902" y="3941921"/>
            <a:ext cx="7447121" cy="1756410"/>
            <a:chOff x="743902" y="3941921"/>
            <a:chExt cx="7447121" cy="1756410"/>
          </a:xfrm>
        </p:grpSpPr>
        <p:sp>
          <p:nvSpPr>
            <p:cNvPr id="10" name="TextBox 10"/>
            <p:cNvSpPr txBox="1"/>
            <p:nvPr/>
          </p:nvSpPr>
          <p:spPr>
            <a:xfrm>
              <a:off x="743902" y="3941921"/>
              <a:ext cx="6868001" cy="594360"/>
            </a:xfrm>
            <a:prstGeom prst="rect">
              <a:avLst/>
            </a:prstGeom>
            <a:noFill/>
            <a:ln>
              <a:noFill/>
            </a:ln>
          </p:spPr>
          <p:txBody>
            <a:bodyPr wrap="square" lIns="0" tIns="0" rIns="0" bIns="0" anchor="t" anchorCtr="0"/>
            <a:lstStyle/>
            <a:p>
              <a:pPr algn="l">
                <a:lnSpc>
                  <a:spcPts val="2400"/>
                </a:lnSpc>
              </a:pPr>
              <a:r>
                <a:rPr lang="zh-CN" sz="1425" dirty="0">
                  <a:solidFill>
                    <a:srgbClr val="191919"/>
                  </a:solidFill>
                  <a:latin typeface="Anthropic Sans"/>
                  <a:ea typeface="Microsoft YaHei"/>
                  <a:cs typeface="Anthropic Sans"/>
                </a:rPr>
                <a:t xml:space="preserve">Launched </a:t>
              </a:r>
              <a:r>
                <a:rPr lang="zh-CN" sz="1425" b="1" dirty="0">
                  <a:solidFill>
                    <a:srgbClr val="191919"/>
                  </a:solidFill>
                  <a:latin typeface="Anthropic Sans"/>
                  <a:ea typeface="Microsoft YaHei"/>
                  <a:cs typeface="Anthropic Sans"/>
                </a:rPr>
                <a:t>June 9, 2026</a:t>
              </a:r>
              <a:r>
                <a:rPr lang="zh-CN" sz="1425" dirty="0">
                  <a:solidFill>
                    <a:srgbClr val="191919"/>
                  </a:solidFill>
                  <a:latin typeface="Anthropic Sans"/>
                  <a:ea typeface="Microsoft YaHei"/>
                  <a:cs typeface="Anthropic Sans"/>
                </a:rPr>
                <a:t xml:space="preserve">, Fable 5 and its sibling Claude Mythos 5 share the same </a:t>
              </a:r>
              <a:r>
                <a:rPr lang="zh-CN" sz="1425" dirty="0">
                  <a:solidFill>
                    <a:srgbClr val="191919"/>
                  </a:solidFill>
                  <a:latin typeface="Anthropic Sans"/>
                  <a:ea typeface="Microsoft YaHei"/>
                  <a:cs typeface="Anthropic Sans"/>
                </a:rPr>
                <a:t>underlying model: one frontier intelligence, two release postures.</a:t>
              </a:r>
            </a:p>
          </p:txBody>
        </p:sp>
        <p:sp>
          <p:nvSpPr>
            <p:cNvPr id="11" name="TextBox 11"/>
            <p:cNvSpPr txBox="1"/>
            <p:nvPr/>
          </p:nvSpPr>
          <p:spPr>
            <a:xfrm>
              <a:off x="743902" y="4799171"/>
              <a:ext cx="7447121" cy="899160"/>
            </a:xfrm>
            <a:prstGeom prst="rect">
              <a:avLst/>
            </a:prstGeom>
            <a:noFill/>
            <a:ln>
              <a:noFill/>
            </a:ln>
          </p:spPr>
          <p:txBody>
            <a:bodyPr wrap="square" lIns="0" tIns="0" rIns="0" bIns="0" anchor="t" anchorCtr="0"/>
            <a:lstStyle/>
            <a:p>
              <a:pPr algn="l">
                <a:lnSpc>
                  <a:spcPts val="2400"/>
                </a:lnSpc>
              </a:pPr>
              <a:r>
                <a:rPr lang="zh-CN" sz="1425" dirty="0">
                  <a:solidFill>
                    <a:srgbClr val="191919"/>
                  </a:solidFill>
                  <a:latin typeface="Anthropic Sans"/>
                  <a:ea typeface="Microsoft YaHei"/>
                  <a:cs typeface="Anthropic Sans"/>
                </a:rPr>
                <a:t xml:space="preserve">Fable 5 is the </a:t>
              </a:r>
              <a:r>
                <a:rPr lang="zh-CN" sz="1425" b="1" dirty="0">
                  <a:solidFill>
                    <a:srgbClr val="D97757"/>
                  </a:solidFill>
                  <a:latin typeface="Anthropic Sans"/>
                  <a:ea typeface="Microsoft YaHei"/>
                  <a:cs typeface="Anthropic Sans"/>
                </a:rPr>
                <a:t>generally available</a:t>
              </a:r>
              <a:r>
                <a:rPr lang="zh-CN" sz="1425" dirty="0">
                  <a:solidFill>
                    <a:srgbClr val="191919"/>
                  </a:solidFill>
                  <a:latin typeface="Anthropic Sans"/>
                  <a:ea typeface="Microsoft YaHei"/>
                  <a:cs typeface="Anthropic Sans"/>
                </a:rPr>
                <a:t xml:space="preserve"> release and carries additional safety measures for </a:t>
              </a:r>
              <a:r>
                <a:rPr lang="zh-CN" sz="1425" dirty="0">
                  <a:solidFill>
                    <a:srgbClr val="191919"/>
                  </a:solidFill>
                  <a:latin typeface="Anthropic Sans"/>
                  <a:ea typeface="Microsoft YaHei"/>
                  <a:cs typeface="Anthropic Sans"/>
                </a:rPr>
                <a:t xml:space="preserve">dual-use capabilities. Mythos 5 ships without those measures, to approved </a:t>
              </a:r>
              <a:r>
                <a:rPr lang="zh-CN" sz="1425" dirty="0">
                  <a:solidFill>
                    <a:srgbClr val="191919"/>
                  </a:solidFill>
                  <a:latin typeface="Anthropic Sans"/>
                  <a:ea typeface="Microsoft YaHei"/>
                  <a:cs typeface="Anthropic Sans"/>
                </a:rPr>
                <a:t>organizations only, through Project Glasswing.</a:t>
              </a:r>
            </a:p>
          </p:txBody>
        </p:sp>
      </p:grpSp>
      <p:grpSp>
        <p:nvGrpSpPr>
          <p:cNvPr id="14" name="Group 14"/>
          <p:cNvGrpSpPr/>
          <p:nvPr/>
        </p:nvGrpSpPr>
        <p:grpSpPr>
          <a:xfrm>
            <a:off x="746760" y="5871210"/>
            <a:ext cx="8154295" cy="243840"/>
            <a:chOff x="746760" y="5871210"/>
            <a:chExt cx="8154295" cy="243840"/>
          </a:xfrm>
        </p:grpSpPr>
        <p:sp>
          <p:nvSpPr>
            <p:cNvPr id="13" name="TextBox 13"/>
            <p:cNvSpPr txBox="1"/>
            <p:nvPr/>
          </p:nvSpPr>
          <p:spPr>
            <a:xfrm>
              <a:off x="746760" y="5871210"/>
              <a:ext cx="8154295" cy="243840"/>
            </a:xfrm>
            <a:prstGeom prst="rect">
              <a:avLst/>
            </a:prstGeom>
            <a:noFill/>
            <a:ln>
              <a:noFill/>
            </a:ln>
          </p:spPr>
          <p:txBody>
            <a:bodyPr wrap="none" lIns="0" tIns="0" rIns="0" bIns="0" anchor="t" anchorCtr="0">
              <a:spAutoFit/>
            </a:bodyPr>
            <a:lstStyle/>
            <a:p>
              <a:pPr algn="l"/>
              <a:r>
                <a:rPr lang="zh-CN" sz="1200" b="1" dirty="0">
                  <a:solidFill>
                    <a:srgbClr val="64748B"/>
                  </a:solidFill>
                  <a:latin typeface="Anthropic Sans"/>
                  <a:ea typeface="Microsoft YaHei"/>
                  <a:cs typeface="Anthropic Sans"/>
                </a:rPr>
                <a:t>Anthropic's most capable widely released model — for work above what prior models could do at all.</a:t>
              </a:r>
            </a:p>
          </p:txBody>
        </p:sp>
      </p:grpSp>
      <p:grpSp>
        <p:nvGrpSpPr>
          <p:cNvPr id="17" name="Group 17"/>
          <p:cNvGrpSpPr/>
          <p:nvPr/>
        </p:nvGrpSpPr>
        <p:grpSpPr>
          <a:xfrm>
            <a:off x="751522" y="6502241"/>
            <a:ext cx="10688955" cy="167640"/>
            <a:chOff x="751522" y="6502241"/>
            <a:chExt cx="10688955" cy="167640"/>
          </a:xfrm>
        </p:grpSpPr>
        <p:sp>
          <p:nvSpPr>
            <p:cNvPr id="15" name="TextBox 15"/>
            <p:cNvSpPr txBox="1"/>
            <p:nvPr/>
          </p:nvSpPr>
          <p:spPr>
            <a:xfrm>
              <a:off x="751522" y="6502241"/>
              <a:ext cx="2028706" cy="167640"/>
            </a:xfrm>
            <a:prstGeom prst="rect">
              <a:avLst/>
            </a:prstGeom>
            <a:noFill/>
            <a:ln>
              <a:noFill/>
            </a:ln>
          </p:spPr>
          <p:txBody>
            <a:bodyPr wrap="none" lIns="0" tIns="0" rIns="0" bIns="0" anchor="t" anchorCtr="0">
              <a:spAutoFit/>
            </a:bodyPr>
            <a:lstStyle/>
            <a:p>
              <a:pPr algn="l"/>
              <a:r>
                <a:rPr lang="zh-CN" sz="825" dirty="0">
                  <a:solidFill>
                    <a:srgbClr val="94A3B8"/>
                  </a:solidFill>
                  <a:latin typeface="Anthropic Sans"/>
                  <a:ea typeface="Microsoft YaHei"/>
                  <a:cs typeface="Anthropic Sans"/>
                </a:rPr>
                <a:t>Claude Fable 5 · Overview &amp; Use Cases</a:t>
              </a:r>
            </a:p>
          </p:txBody>
        </p:sp>
        <p:sp>
          <p:nvSpPr>
            <p:cNvPr id="16" name="TextBox 16"/>
            <p:cNvSpPr txBox="1"/>
            <p:nvPr/>
          </p:nvSpPr>
          <p:spPr>
            <a:xfrm>
              <a:off x="11298507" y="6502241"/>
              <a:ext cx="141970" cy="167640"/>
            </a:xfrm>
            <a:prstGeom prst="rect">
              <a:avLst/>
            </a:prstGeom>
            <a:noFill/>
            <a:ln>
              <a:noFill/>
            </a:ln>
          </p:spPr>
          <p:txBody>
            <a:bodyPr wrap="none" lIns="0" tIns="0" rIns="0" bIns="0" anchor="t" anchorCtr="0">
              <a:spAutoFit/>
            </a:bodyPr>
            <a:lstStyle/>
            <a:p>
              <a:pPr algn="r"/>
              <a:r>
                <a:rPr lang="zh-CN" sz="825" dirty="0">
                  <a:solidFill>
                    <a:srgbClr val="94A3B8"/>
                  </a:solidFill>
                  <a:latin typeface="Anthropic Sans"/>
                  <a:ea typeface="Microsoft YaHei"/>
                  <a:cs typeface="Anthropic Sans"/>
                </a:rPr>
                <a:t>03</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slide(fromBottom)">
                                      <p:cBhvr>
                                        <p:cTn id="7" dur="400"/>
                                        <p:tgtEl>
                                          <p:spTgt spid="4"/>
                                        </p:tgtEl>
                                      </p:cBhvr>
                                    </p:animEffect>
                                  </p:childTnLst>
                                </p:cTn>
                              </p:par>
                            </p:childTnLst>
                          </p:cTn>
                        </p:par>
                        <p:par>
                          <p:cTn id="8" fill="hold">
                            <p:stCondLst>
                              <p:cond delay="900"/>
                            </p:stCondLst>
                            <p:childTnLst>
                              <p:par>
                                <p:cTn id="9" presetID="23"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image">
                                      <p:cBhvr>
                                        <p:cTn id="11" dur="400"/>
                                        <p:tgtEl>
                                          <p:spTgt spid="8"/>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childTnLst>
                          </p:cTn>
                        </p:par>
                        <p:par>
                          <p:cTn id="16" fill="hold">
                            <p:stCondLst>
                              <p:cond delay="2700"/>
                            </p:stCondLst>
                            <p:childTnLst>
                              <p:par>
                                <p:cTn id="17" presetID="22" presetClass="entr" presetSubtype="1" fill="hold" nodeType="after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wipe(left)">
                                      <p:cBhvr>
                                        <p:cTn id="19"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12" grpId="0"/>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731520" y="495300"/>
            <a:ext cx="5521643" cy="842962"/>
            <a:chOff x="731520" y="495300"/>
            <a:chExt cx="5521643" cy="842962"/>
          </a:xfrm>
        </p:grpSpPr>
        <p:sp>
          <p:nvSpPr>
            <p:cNvPr id="3" name="Rectangle 3"/>
            <p:cNvSpPr/>
            <p:nvPr/>
          </p:nvSpPr>
          <p:spPr>
            <a:xfrm>
              <a:off x="762000" y="495300"/>
              <a:ext cx="419100" cy="38100"/>
            </a:xfrm>
            <a:prstGeom prst="roundRect">
              <a:avLst>
                <a:gd name="adj" fmla="val 50000"/>
              </a:avLst>
            </a:prstGeom>
            <a:solidFill>
              <a:srgbClr val="D97757"/>
            </a:solidFill>
            <a:ln>
              <a:noFill/>
            </a:ln>
          </p:spPr>
        </p:sp>
        <p:sp>
          <p:nvSpPr>
            <p:cNvPr id="4" name="TextBox 4"/>
            <p:cNvSpPr txBox="1"/>
            <p:nvPr/>
          </p:nvSpPr>
          <p:spPr>
            <a:xfrm>
              <a:off x="731520" y="693420"/>
              <a:ext cx="5521643" cy="487680"/>
            </a:xfrm>
            <a:prstGeom prst="rect">
              <a:avLst/>
            </a:prstGeom>
            <a:noFill/>
            <a:ln>
              <a:noFill/>
            </a:ln>
          </p:spPr>
          <p:txBody>
            <a:bodyPr wrap="none" lIns="0" tIns="0" rIns="0" bIns="0" anchor="t" anchorCtr="0">
              <a:spAutoFit/>
            </a:bodyPr>
            <a:lstStyle/>
            <a:p>
              <a:pPr algn="l"/>
              <a:r>
                <a:rPr lang="zh-CN" sz="2400" b="1" dirty="0">
                  <a:solidFill>
                    <a:srgbClr val="191919"/>
                  </a:solidFill>
                  <a:latin typeface="Styrene A"/>
                  <a:ea typeface="Microsoft YaHei"/>
                  <a:cs typeface="Styrene A"/>
                </a:rPr>
                <a:t>The Mythos class sits above Opus</a:t>
              </a:r>
            </a:p>
          </p:txBody>
        </p:sp>
        <p:sp>
          <p:nvSpPr>
            <p:cNvPr id="5" name="TextBox 5"/>
            <p:cNvSpPr txBox="1"/>
            <p:nvPr/>
          </p:nvSpPr>
          <p:spPr>
            <a:xfrm>
              <a:off x="748665" y="1124902"/>
              <a:ext cx="4907680" cy="213360"/>
            </a:xfrm>
            <a:prstGeom prst="rect">
              <a:avLst/>
            </a:prstGeom>
            <a:noFill/>
            <a:ln>
              <a:noFill/>
            </a:ln>
          </p:spPr>
          <p:txBody>
            <a:bodyPr wrap="none" lIns="0" tIns="0" rIns="0" bIns="0" anchor="t" anchorCtr="0">
              <a:spAutoFit/>
            </a:bodyPr>
            <a:lstStyle/>
            <a:p>
              <a:pPr algn="l"/>
              <a:r>
                <a:rPr lang="zh-CN" sz="1050" b="1" dirty="0">
                  <a:solidFill>
                    <a:srgbClr val="64748B"/>
                  </a:solidFill>
                  <a:latin typeface="Anthropic Sans"/>
                  <a:ea typeface="Microsoft YaHei"/>
                  <a:cs typeface="Anthropic Sans"/>
                </a:rPr>
                <a:t>02 · THE MODEL FAMILY — AND FABLE 5 IS ITS GENERALLY AVAILABLE FACE</a:t>
              </a:r>
            </a:p>
          </p:txBody>
        </p:sp>
      </p:grpSp>
      <p:grpSp>
        <p:nvGrpSpPr>
          <p:cNvPr id="15" name="Group 15"/>
          <p:cNvGrpSpPr/>
          <p:nvPr/>
        </p:nvGrpSpPr>
        <p:grpSpPr>
          <a:xfrm>
            <a:off x="962025" y="1600200"/>
            <a:ext cx="4362450" cy="3695700"/>
            <a:chOff x="962025" y="1600200"/>
            <a:chExt cx="4362450" cy="3695700"/>
          </a:xfrm>
        </p:grpSpPr>
        <p:sp>
          <p:nvSpPr>
            <p:cNvPr id="7" name="Polygon 7"/>
            <p:cNvSpPr/>
            <p:nvPr/>
          </p:nvSpPr>
          <p:spPr>
            <a:xfrm>
              <a:off x="2476500" y="1600200"/>
              <a:ext cx="1333500" cy="952500"/>
            </a:xfrm>
            <a:custGeom>
              <a:avLst/>
              <a:gdLst/>
              <a:ahLst/>
              <a:cxnLst/>
              <a:rect l="l" t="t" r="r" b="b"/>
              <a:pathLst>
                <a:path w="1333500" h="952500">
                  <a:moveTo>
                    <a:pt x="666750" y="0"/>
                  </a:moveTo>
                  <a:lnTo>
                    <a:pt x="1333500" y="952500"/>
                  </a:lnTo>
                  <a:lnTo>
                    <a:pt x="0" y="952500"/>
                  </a:lnTo>
                  <a:close/>
                </a:path>
              </a:pathLst>
            </a:custGeom>
            <a:solidFill>
              <a:srgbClr val="D97757"/>
            </a:solidFill>
            <a:ln>
              <a:noFill/>
            </a:ln>
          </p:spPr>
        </p:sp>
        <p:sp>
          <p:nvSpPr>
            <p:cNvPr id="8" name="Polygon 8"/>
            <p:cNvSpPr/>
            <p:nvPr/>
          </p:nvSpPr>
          <p:spPr>
            <a:xfrm>
              <a:off x="1971675" y="2628900"/>
              <a:ext cx="2343150" cy="838200"/>
            </a:xfrm>
            <a:custGeom>
              <a:avLst/>
              <a:gdLst/>
              <a:ahLst/>
              <a:cxnLst/>
              <a:rect l="l" t="t" r="r" b="b"/>
              <a:pathLst>
                <a:path w="2343150" h="838200">
                  <a:moveTo>
                    <a:pt x="457200" y="0"/>
                  </a:moveTo>
                  <a:lnTo>
                    <a:pt x="1885950" y="0"/>
                  </a:lnTo>
                  <a:lnTo>
                    <a:pt x="2343150" y="838200"/>
                  </a:lnTo>
                  <a:lnTo>
                    <a:pt x="0" y="838200"/>
                  </a:lnTo>
                  <a:close/>
                </a:path>
              </a:pathLst>
            </a:custGeom>
            <a:solidFill>
              <a:srgbClr val="D97757">
                <a:alpha val="75000"/>
              </a:srgbClr>
            </a:solidFill>
            <a:ln>
              <a:noFill/>
            </a:ln>
          </p:spPr>
        </p:sp>
        <p:sp>
          <p:nvSpPr>
            <p:cNvPr id="9" name="Polygon 9"/>
            <p:cNvSpPr/>
            <p:nvPr/>
          </p:nvSpPr>
          <p:spPr>
            <a:xfrm>
              <a:off x="1466850" y="3543300"/>
              <a:ext cx="3352800" cy="838200"/>
            </a:xfrm>
            <a:custGeom>
              <a:avLst/>
              <a:gdLst/>
              <a:ahLst/>
              <a:cxnLst/>
              <a:rect l="l" t="t" r="r" b="b"/>
              <a:pathLst>
                <a:path w="3352800" h="838200">
                  <a:moveTo>
                    <a:pt x="457200" y="0"/>
                  </a:moveTo>
                  <a:lnTo>
                    <a:pt x="2895600" y="0"/>
                  </a:lnTo>
                  <a:lnTo>
                    <a:pt x="3352800" y="838200"/>
                  </a:lnTo>
                  <a:lnTo>
                    <a:pt x="0" y="838200"/>
                  </a:lnTo>
                  <a:close/>
                </a:path>
              </a:pathLst>
            </a:custGeom>
            <a:solidFill>
              <a:srgbClr val="D97757">
                <a:alpha val="45000"/>
              </a:srgbClr>
            </a:solidFill>
            <a:ln>
              <a:noFill/>
            </a:ln>
          </p:spPr>
        </p:sp>
        <p:sp>
          <p:nvSpPr>
            <p:cNvPr id="10" name="Polygon 10"/>
            <p:cNvSpPr/>
            <p:nvPr/>
          </p:nvSpPr>
          <p:spPr>
            <a:xfrm>
              <a:off x="962025" y="4457700"/>
              <a:ext cx="4362450" cy="838200"/>
            </a:xfrm>
            <a:custGeom>
              <a:avLst/>
              <a:gdLst/>
              <a:ahLst/>
              <a:cxnLst/>
              <a:rect l="l" t="t" r="r" b="b"/>
              <a:pathLst>
                <a:path w="4362450" h="838200">
                  <a:moveTo>
                    <a:pt x="466725" y="0"/>
                  </a:moveTo>
                  <a:lnTo>
                    <a:pt x="3895725" y="0"/>
                  </a:lnTo>
                  <a:lnTo>
                    <a:pt x="4362450" y="838200"/>
                  </a:lnTo>
                  <a:lnTo>
                    <a:pt x="0" y="838200"/>
                  </a:lnTo>
                  <a:close/>
                </a:path>
              </a:pathLst>
            </a:custGeom>
            <a:solidFill>
              <a:srgbClr val="D97757">
                <a:alpha val="22000"/>
              </a:srgbClr>
            </a:solidFill>
            <a:ln>
              <a:noFill/>
            </a:ln>
          </p:spPr>
        </p:sp>
        <p:sp>
          <p:nvSpPr>
            <p:cNvPr id="11" name="TextBox 11"/>
            <p:cNvSpPr txBox="1"/>
            <p:nvPr/>
          </p:nvSpPr>
          <p:spPr>
            <a:xfrm>
              <a:off x="2878311" y="2295049"/>
              <a:ext cx="529878" cy="198120"/>
            </a:xfrm>
            <a:prstGeom prst="rect">
              <a:avLst/>
            </a:prstGeom>
            <a:noFill/>
            <a:ln>
              <a:noFill/>
            </a:ln>
          </p:spPr>
          <p:txBody>
            <a:bodyPr wrap="none" lIns="0" tIns="0" rIns="0" bIns="0" anchor="t" anchorCtr="0">
              <a:spAutoFit/>
            </a:bodyPr>
            <a:lstStyle/>
            <a:p>
              <a:pPr algn="ctr"/>
              <a:r>
                <a:rPr lang="zh-CN" sz="975" b="1" dirty="0">
                  <a:solidFill>
                    <a:srgbClr val="FFFFFF"/>
                  </a:solidFill>
                  <a:latin typeface="Styrene A"/>
                  <a:ea typeface="Microsoft YaHei"/>
                  <a:cs typeface="Styrene A"/>
                </a:rPr>
                <a:t>MYTHOS</a:t>
              </a:r>
            </a:p>
          </p:txBody>
        </p:sp>
        <p:sp>
          <p:nvSpPr>
            <p:cNvPr id="12" name="TextBox 12"/>
            <p:cNvSpPr txBox="1"/>
            <p:nvPr/>
          </p:nvSpPr>
          <p:spPr>
            <a:xfrm>
              <a:off x="2786357" y="2983706"/>
              <a:ext cx="713786"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Styrene A"/>
                  <a:ea typeface="Microsoft YaHei"/>
                  <a:cs typeface="Styrene A"/>
                </a:rPr>
                <a:t>OPUS 4.8</a:t>
              </a:r>
            </a:p>
          </p:txBody>
        </p:sp>
        <p:sp>
          <p:nvSpPr>
            <p:cNvPr id="13" name="TextBox 13"/>
            <p:cNvSpPr txBox="1"/>
            <p:nvPr/>
          </p:nvSpPr>
          <p:spPr>
            <a:xfrm>
              <a:off x="2670153" y="3890010"/>
              <a:ext cx="946194" cy="243840"/>
            </a:xfrm>
            <a:prstGeom prst="rect">
              <a:avLst/>
            </a:prstGeom>
            <a:noFill/>
            <a:ln>
              <a:noFill/>
            </a:ln>
          </p:spPr>
          <p:txBody>
            <a:bodyPr wrap="none" lIns="0" tIns="0" rIns="0" bIns="0" anchor="t" anchorCtr="0">
              <a:spAutoFit/>
            </a:bodyPr>
            <a:lstStyle/>
            <a:p>
              <a:pPr algn="ctr"/>
              <a:r>
                <a:rPr lang="zh-CN" sz="1200" b="1" dirty="0">
                  <a:solidFill>
                    <a:srgbClr val="191919"/>
                  </a:solidFill>
                  <a:latin typeface="Styrene A"/>
                  <a:ea typeface="Microsoft YaHei"/>
                  <a:cs typeface="Styrene A"/>
                </a:rPr>
                <a:t>SONNET 4.6</a:t>
              </a:r>
            </a:p>
          </p:txBody>
        </p:sp>
        <p:sp>
          <p:nvSpPr>
            <p:cNvPr id="14" name="TextBox 14"/>
            <p:cNvSpPr txBox="1"/>
            <p:nvPr/>
          </p:nvSpPr>
          <p:spPr>
            <a:xfrm>
              <a:off x="2729845" y="4796314"/>
              <a:ext cx="826809" cy="259080"/>
            </a:xfrm>
            <a:prstGeom prst="rect">
              <a:avLst/>
            </a:prstGeom>
            <a:noFill/>
            <a:ln>
              <a:noFill/>
            </a:ln>
          </p:spPr>
          <p:txBody>
            <a:bodyPr wrap="none" lIns="0" tIns="0" rIns="0" bIns="0" anchor="t" anchorCtr="0">
              <a:spAutoFit/>
            </a:bodyPr>
            <a:lstStyle/>
            <a:p>
              <a:pPr algn="ctr"/>
              <a:r>
                <a:rPr lang="zh-CN" sz="1275" b="1" dirty="0">
                  <a:solidFill>
                    <a:srgbClr val="191919"/>
                  </a:solidFill>
                  <a:latin typeface="Styrene A"/>
                  <a:ea typeface="Microsoft YaHei"/>
                  <a:cs typeface="Styrene A"/>
                </a:rPr>
                <a:t>HAIKU 4.5</a:t>
              </a:r>
            </a:p>
          </p:txBody>
        </p:sp>
      </p:grpSp>
      <p:grpSp>
        <p:nvGrpSpPr>
          <p:cNvPr id="28" name="Group 28"/>
          <p:cNvGrpSpPr/>
          <p:nvPr/>
        </p:nvGrpSpPr>
        <p:grpSpPr>
          <a:xfrm>
            <a:off x="3638550" y="1881664"/>
            <a:ext cx="6290620" cy="3202305"/>
            <a:chOff x="3638550" y="1881664"/>
            <a:chExt cx="6290620" cy="3202305"/>
          </a:xfrm>
        </p:grpSpPr>
        <p:sp>
          <p:nvSpPr>
            <p:cNvPr id="16" name="Line 16"/>
            <p:cNvSpPr/>
            <p:nvPr/>
          </p:nvSpPr>
          <p:spPr>
            <a:xfrm>
              <a:off x="3638550" y="2143125"/>
              <a:ext cx="1838325" cy="9525"/>
            </a:xfrm>
            <a:custGeom>
              <a:avLst/>
              <a:gdLst/>
              <a:ahLst/>
              <a:cxnLst/>
              <a:rect l="l" t="t" r="r" b="b"/>
              <a:pathLst>
                <a:path w="1838325" h="9525">
                  <a:moveTo>
                    <a:pt x="0" y="0"/>
                  </a:moveTo>
                  <a:lnTo>
                    <a:pt x="1838325" y="0"/>
                  </a:lnTo>
                </a:path>
              </a:pathLst>
            </a:custGeom>
            <a:noFill/>
            <a:ln w="14288">
              <a:solidFill>
                <a:srgbClr val="94A3B8"/>
              </a:solidFill>
              <a:prstDash val="dash"/>
            </a:ln>
          </p:spPr>
        </p:sp>
        <p:sp>
          <p:nvSpPr>
            <p:cNvPr id="17" name="TextBox 17"/>
            <p:cNvSpPr txBox="1"/>
            <p:nvPr/>
          </p:nvSpPr>
          <p:spPr>
            <a:xfrm>
              <a:off x="5603558" y="1881664"/>
              <a:ext cx="2942299" cy="259080"/>
            </a:xfrm>
            <a:prstGeom prst="rect">
              <a:avLst/>
            </a:prstGeom>
            <a:noFill/>
            <a:ln>
              <a:noFill/>
            </a:ln>
          </p:spPr>
          <p:txBody>
            <a:bodyPr wrap="none" lIns="0" tIns="0" rIns="0" bIns="0" anchor="t" anchorCtr="0">
              <a:spAutoFit/>
            </a:bodyPr>
            <a:lstStyle/>
            <a:p>
              <a:pPr algn="l"/>
              <a:r>
                <a:rPr lang="zh-CN" sz="1275" b="1" dirty="0">
                  <a:solidFill>
                    <a:srgbClr val="191919"/>
                  </a:solidFill>
                  <a:latin typeface="Styrene A"/>
                  <a:ea typeface="Microsoft YaHei"/>
                  <a:cs typeface="Styrene A"/>
                </a:rPr>
                <a:t xml:space="preserve">Mythos class </a:t>
              </a:r>
              <a:r>
                <a:rPr lang="zh-CN" sz="1275" dirty="0">
                  <a:solidFill>
                    <a:srgbClr val="D97757"/>
                  </a:solidFill>
                  <a:latin typeface="Styrene A"/>
                  <a:ea typeface="Microsoft YaHei"/>
                  <a:cs typeface="Styrene A"/>
                </a:rPr>
                <a:t>— Fable 5 · Mythos 5</a:t>
              </a:r>
            </a:p>
          </p:txBody>
        </p:sp>
        <p:sp>
          <p:nvSpPr>
            <p:cNvPr id="18" name="TextBox 18"/>
            <p:cNvSpPr txBox="1"/>
            <p:nvPr/>
          </p:nvSpPr>
          <p:spPr>
            <a:xfrm>
              <a:off x="5607368" y="2123599"/>
              <a:ext cx="4321802"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nthropic Sans"/>
                  <a:ea typeface="Microsoft YaHei"/>
                  <a:cs typeface="Anthropic Sans"/>
                </a:rPr>
                <a:t>$10 in · $50 out per MTok — frontier reasoning, long-horizon agents</a:t>
              </a:r>
            </a:p>
          </p:txBody>
        </p:sp>
        <p:sp>
          <p:nvSpPr>
            <p:cNvPr id="19" name="Line 19"/>
            <p:cNvSpPr/>
            <p:nvPr/>
          </p:nvSpPr>
          <p:spPr>
            <a:xfrm>
              <a:off x="4133850" y="3048000"/>
              <a:ext cx="1343025" cy="9525"/>
            </a:xfrm>
            <a:custGeom>
              <a:avLst/>
              <a:gdLst/>
              <a:ahLst/>
              <a:cxnLst/>
              <a:rect l="l" t="t" r="r" b="b"/>
              <a:pathLst>
                <a:path w="1343025" h="9525">
                  <a:moveTo>
                    <a:pt x="0" y="0"/>
                  </a:moveTo>
                  <a:lnTo>
                    <a:pt x="1343025" y="0"/>
                  </a:lnTo>
                </a:path>
              </a:pathLst>
            </a:custGeom>
            <a:noFill/>
            <a:ln w="14288">
              <a:solidFill>
                <a:srgbClr val="94A3B8"/>
              </a:solidFill>
              <a:prstDash val="dash"/>
            </a:ln>
          </p:spPr>
        </p:sp>
        <p:sp>
          <p:nvSpPr>
            <p:cNvPr id="20" name="TextBox 20"/>
            <p:cNvSpPr txBox="1"/>
            <p:nvPr/>
          </p:nvSpPr>
          <p:spPr>
            <a:xfrm>
              <a:off x="5604510" y="2823210"/>
              <a:ext cx="761371" cy="243840"/>
            </a:xfrm>
            <a:prstGeom prst="rect">
              <a:avLst/>
            </a:prstGeom>
            <a:noFill/>
            <a:ln>
              <a:noFill/>
            </a:ln>
          </p:spPr>
          <p:txBody>
            <a:bodyPr wrap="none" lIns="0" tIns="0" rIns="0" bIns="0" anchor="t" anchorCtr="0">
              <a:spAutoFit/>
            </a:bodyPr>
            <a:lstStyle/>
            <a:p>
              <a:pPr algn="l"/>
              <a:r>
                <a:rPr lang="zh-CN" sz="1200" b="1" dirty="0">
                  <a:solidFill>
                    <a:srgbClr val="191919"/>
                  </a:solidFill>
                  <a:latin typeface="Styrene A"/>
                  <a:ea typeface="Microsoft YaHei"/>
                  <a:cs typeface="Styrene A"/>
                </a:rPr>
                <a:t>Opus 4.8</a:t>
              </a:r>
            </a:p>
          </p:txBody>
        </p:sp>
        <p:sp>
          <p:nvSpPr>
            <p:cNvPr id="21" name="TextBox 21"/>
            <p:cNvSpPr txBox="1"/>
            <p:nvPr/>
          </p:nvSpPr>
          <p:spPr>
            <a:xfrm>
              <a:off x="5607368" y="3057049"/>
              <a:ext cx="3795236"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nthropic Sans"/>
                  <a:ea typeface="Microsoft YaHei"/>
                  <a:cs typeface="Anthropic Sans"/>
                </a:rPr>
                <a:t>$5 · $25 — most capable Opus; the default for general work</a:t>
              </a:r>
            </a:p>
          </p:txBody>
        </p:sp>
        <p:sp>
          <p:nvSpPr>
            <p:cNvPr id="22" name="Line 22"/>
            <p:cNvSpPr/>
            <p:nvPr/>
          </p:nvSpPr>
          <p:spPr>
            <a:xfrm>
              <a:off x="4638675" y="3962400"/>
              <a:ext cx="838200" cy="9525"/>
            </a:xfrm>
            <a:custGeom>
              <a:avLst/>
              <a:gdLst/>
              <a:ahLst/>
              <a:cxnLst/>
              <a:rect l="l" t="t" r="r" b="b"/>
              <a:pathLst>
                <a:path w="838200" h="9525">
                  <a:moveTo>
                    <a:pt x="0" y="0"/>
                  </a:moveTo>
                  <a:lnTo>
                    <a:pt x="838200" y="0"/>
                  </a:lnTo>
                </a:path>
              </a:pathLst>
            </a:custGeom>
            <a:noFill/>
            <a:ln w="14288">
              <a:solidFill>
                <a:srgbClr val="94A3B8"/>
              </a:solidFill>
              <a:prstDash val="dash"/>
            </a:ln>
          </p:spPr>
        </p:sp>
        <p:sp>
          <p:nvSpPr>
            <p:cNvPr id="23" name="TextBox 23"/>
            <p:cNvSpPr txBox="1"/>
            <p:nvPr/>
          </p:nvSpPr>
          <p:spPr>
            <a:xfrm>
              <a:off x="5604510" y="3737610"/>
              <a:ext cx="912590" cy="243840"/>
            </a:xfrm>
            <a:prstGeom prst="rect">
              <a:avLst/>
            </a:prstGeom>
            <a:noFill/>
            <a:ln>
              <a:noFill/>
            </a:ln>
          </p:spPr>
          <p:txBody>
            <a:bodyPr wrap="none" lIns="0" tIns="0" rIns="0" bIns="0" anchor="t" anchorCtr="0">
              <a:spAutoFit/>
            </a:bodyPr>
            <a:lstStyle/>
            <a:p>
              <a:pPr algn="l"/>
              <a:r>
                <a:rPr lang="zh-CN" sz="1200" b="1" dirty="0">
                  <a:solidFill>
                    <a:srgbClr val="191919"/>
                  </a:solidFill>
                  <a:latin typeface="Styrene A"/>
                  <a:ea typeface="Microsoft YaHei"/>
                  <a:cs typeface="Styrene A"/>
                </a:rPr>
                <a:t>Sonnet 4.6</a:t>
              </a:r>
            </a:p>
          </p:txBody>
        </p:sp>
        <p:sp>
          <p:nvSpPr>
            <p:cNvPr id="24" name="TextBox 24"/>
            <p:cNvSpPr txBox="1"/>
            <p:nvPr/>
          </p:nvSpPr>
          <p:spPr>
            <a:xfrm>
              <a:off x="5607368" y="3971449"/>
              <a:ext cx="2748605"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nthropic Sans"/>
                  <a:ea typeface="Microsoft YaHei"/>
                  <a:cs typeface="Anthropic Sans"/>
                </a:rPr>
                <a:t>$3 · $15 — best speed × intelligence balance</a:t>
              </a:r>
            </a:p>
          </p:txBody>
        </p:sp>
        <p:sp>
          <p:nvSpPr>
            <p:cNvPr id="25" name="Line 25"/>
            <p:cNvSpPr/>
            <p:nvPr/>
          </p:nvSpPr>
          <p:spPr>
            <a:xfrm>
              <a:off x="5143500" y="4876800"/>
              <a:ext cx="333375" cy="9525"/>
            </a:xfrm>
            <a:custGeom>
              <a:avLst/>
              <a:gdLst/>
              <a:ahLst/>
              <a:cxnLst/>
              <a:rect l="l" t="t" r="r" b="b"/>
              <a:pathLst>
                <a:path w="333375" h="9525">
                  <a:moveTo>
                    <a:pt x="0" y="0"/>
                  </a:moveTo>
                  <a:lnTo>
                    <a:pt x="333375" y="0"/>
                  </a:lnTo>
                </a:path>
              </a:pathLst>
            </a:custGeom>
            <a:noFill/>
            <a:ln w="14288">
              <a:solidFill>
                <a:srgbClr val="94A3B8"/>
              </a:solidFill>
              <a:prstDash val="dash"/>
            </a:ln>
          </p:spPr>
        </p:sp>
        <p:sp>
          <p:nvSpPr>
            <p:cNvPr id="26" name="TextBox 26"/>
            <p:cNvSpPr txBox="1"/>
            <p:nvPr/>
          </p:nvSpPr>
          <p:spPr>
            <a:xfrm>
              <a:off x="5604510" y="4652010"/>
              <a:ext cx="778173" cy="243840"/>
            </a:xfrm>
            <a:prstGeom prst="rect">
              <a:avLst/>
            </a:prstGeom>
            <a:noFill/>
            <a:ln>
              <a:noFill/>
            </a:ln>
          </p:spPr>
          <p:txBody>
            <a:bodyPr wrap="none" lIns="0" tIns="0" rIns="0" bIns="0" anchor="t" anchorCtr="0">
              <a:spAutoFit/>
            </a:bodyPr>
            <a:lstStyle/>
            <a:p>
              <a:pPr algn="l"/>
              <a:r>
                <a:rPr lang="zh-CN" sz="1200" b="1" dirty="0">
                  <a:solidFill>
                    <a:srgbClr val="191919"/>
                  </a:solidFill>
                  <a:latin typeface="Styrene A"/>
                  <a:ea typeface="Microsoft YaHei"/>
                  <a:cs typeface="Styrene A"/>
                </a:rPr>
                <a:t>Haiku 4.5</a:t>
              </a:r>
            </a:p>
          </p:txBody>
        </p:sp>
        <p:sp>
          <p:nvSpPr>
            <p:cNvPr id="27" name="TextBox 27"/>
            <p:cNvSpPr txBox="1"/>
            <p:nvPr/>
          </p:nvSpPr>
          <p:spPr>
            <a:xfrm>
              <a:off x="5607368" y="4885849"/>
              <a:ext cx="2540579" cy="198120"/>
            </a:xfrm>
            <a:prstGeom prst="rect">
              <a:avLst/>
            </a:prstGeom>
            <a:noFill/>
            <a:ln>
              <a:noFill/>
            </a:ln>
          </p:spPr>
          <p:txBody>
            <a:bodyPr wrap="none" lIns="0" tIns="0" rIns="0" bIns="0" anchor="t" anchorCtr="0">
              <a:spAutoFit/>
            </a:bodyPr>
            <a:lstStyle/>
            <a:p>
              <a:pPr algn="l"/>
              <a:r>
                <a:rPr lang="zh-CN" sz="975" dirty="0">
                  <a:solidFill>
                    <a:srgbClr val="64748B"/>
                  </a:solidFill>
                  <a:latin typeface="Anthropic Sans"/>
                  <a:ea typeface="Microsoft YaHei"/>
                  <a:cs typeface="Anthropic Sans"/>
                </a:rPr>
                <a:t>$1 · $5 — fastest, most cost-effective</a:t>
              </a:r>
            </a:p>
          </p:txBody>
        </p:sp>
      </p:grpSp>
      <p:grpSp>
        <p:nvGrpSpPr>
          <p:cNvPr id="53" name="Group 53"/>
          <p:cNvGrpSpPr/>
          <p:nvPr/>
        </p:nvGrpSpPr>
        <p:grpSpPr>
          <a:xfrm>
            <a:off x="8858250" y="1619250"/>
            <a:ext cx="2762250" cy="3686175"/>
            <a:chOff x="8858250" y="1619250"/>
            <a:chExt cx="2762250" cy="3686175"/>
          </a:xfrm>
        </p:grpSpPr>
        <p:sp>
          <p:nvSpPr>
            <p:cNvPr id="29" name="Rectangle 29"/>
            <p:cNvSpPr/>
            <p:nvPr/>
          </p:nvSpPr>
          <p:spPr>
            <a:xfrm>
              <a:off x="8858250" y="1619250"/>
              <a:ext cx="2762250" cy="3676650"/>
            </a:xfrm>
            <a:prstGeom prst="roundRect">
              <a:avLst>
                <a:gd name="adj" fmla="val 4138"/>
              </a:avLst>
            </a:prstGeom>
            <a:solidFill>
              <a:srgbClr val="F8FAFC"/>
            </a:solidFill>
            <a:ln w="9525">
              <a:solidFill>
                <a:srgbClr val="E2E8F0"/>
              </a:solidFill>
            </a:ln>
          </p:spPr>
        </p:sp>
        <p:sp>
          <p:nvSpPr>
            <p:cNvPr id="30" name="TextBox 30"/>
            <p:cNvSpPr txBox="1"/>
            <p:nvPr/>
          </p:nvSpPr>
          <p:spPr>
            <a:xfrm>
              <a:off x="9107805" y="1892618"/>
              <a:ext cx="1158981" cy="274320"/>
            </a:xfrm>
            <a:prstGeom prst="rect">
              <a:avLst/>
            </a:prstGeom>
            <a:noFill/>
            <a:ln>
              <a:noFill/>
            </a:ln>
          </p:spPr>
          <p:txBody>
            <a:bodyPr wrap="none" lIns="0" tIns="0" rIns="0" bIns="0" anchor="t" anchorCtr="0">
              <a:spAutoFit/>
            </a:bodyPr>
            <a:lstStyle/>
            <a:p>
              <a:pPr algn="l"/>
              <a:r>
                <a:rPr lang="zh-CN" sz="1350" b="1" dirty="0">
                  <a:solidFill>
                    <a:srgbClr val="191919"/>
                  </a:solidFill>
                  <a:latin typeface="Styrene A"/>
                  <a:ea typeface="Microsoft YaHei"/>
                  <a:cs typeface="Styrene A"/>
                </a:rPr>
                <a:t>Same model,</a:t>
              </a:r>
            </a:p>
          </p:txBody>
        </p:sp>
        <p:sp>
          <p:nvSpPr>
            <p:cNvPr id="31" name="TextBox 31"/>
            <p:cNvSpPr txBox="1"/>
            <p:nvPr/>
          </p:nvSpPr>
          <p:spPr>
            <a:xfrm>
              <a:off x="9107805" y="2121218"/>
              <a:ext cx="1272395" cy="274320"/>
            </a:xfrm>
            <a:prstGeom prst="rect">
              <a:avLst/>
            </a:prstGeom>
            <a:noFill/>
            <a:ln>
              <a:noFill/>
            </a:ln>
          </p:spPr>
          <p:txBody>
            <a:bodyPr wrap="none" lIns="0" tIns="0" rIns="0" bIns="0" anchor="t" anchorCtr="0">
              <a:spAutoFit/>
            </a:bodyPr>
            <a:lstStyle/>
            <a:p>
              <a:pPr algn="l"/>
              <a:r>
                <a:rPr lang="zh-CN" sz="1350" b="1" dirty="0">
                  <a:solidFill>
                    <a:srgbClr val="191919"/>
                  </a:solidFill>
                  <a:latin typeface="Styrene A"/>
                  <a:ea typeface="Microsoft YaHei"/>
                  <a:cs typeface="Styrene A"/>
                </a:rPr>
                <a:t>two postures</a:t>
              </a:r>
            </a:p>
          </p:txBody>
        </p:sp>
        <p:sp>
          <p:nvSpPr>
            <p:cNvPr id="32" name="TextBox 32"/>
            <p:cNvSpPr txBox="1"/>
            <p:nvPr/>
          </p:nvSpPr>
          <p:spPr>
            <a:xfrm>
              <a:off x="9110662" y="2602706"/>
              <a:ext cx="556266" cy="228600"/>
            </a:xfrm>
            <a:prstGeom prst="rect">
              <a:avLst/>
            </a:prstGeom>
            <a:noFill/>
            <a:ln>
              <a:noFill/>
            </a:ln>
          </p:spPr>
          <p:txBody>
            <a:bodyPr wrap="none" lIns="0" tIns="0" rIns="0" bIns="0" anchor="t" anchorCtr="0">
              <a:spAutoFit/>
            </a:bodyPr>
            <a:lstStyle/>
            <a:p>
              <a:pPr algn="l"/>
              <a:r>
                <a:rPr lang="zh-CN" sz="1125" b="1" dirty="0">
                  <a:solidFill>
                    <a:srgbClr val="D97757"/>
                  </a:solidFill>
                  <a:latin typeface="Styrene A"/>
                  <a:ea typeface="Microsoft YaHei"/>
                  <a:cs typeface="Styrene A"/>
                </a:rPr>
                <a:t>Fable 5</a:t>
              </a:r>
            </a:p>
          </p:txBody>
        </p:sp>
        <p:sp>
          <p:nvSpPr>
            <p:cNvPr id="33" name="Freeform 33"/>
            <p:cNvSpPr/>
            <p:nvPr/>
          </p:nvSpPr>
          <p:spPr>
            <a:xfrm>
              <a:off x="9156700" y="2882900"/>
              <a:ext cx="95250" cy="63500"/>
            </a:xfrm>
            <a:custGeom>
              <a:avLst/>
              <a:gdLst/>
              <a:ahLst/>
              <a:cxnLst/>
              <a:rect l="l" t="t" r="r" b="b"/>
              <a:pathLst>
                <a:path w="95250" h="63500">
                  <a:moveTo>
                    <a:pt x="0" y="31750"/>
                  </a:moveTo>
                  <a:lnTo>
                    <a:pt x="31750" y="63500"/>
                  </a:lnTo>
                  <a:lnTo>
                    <a:pt x="95250" y="0"/>
                  </a:lnTo>
                </a:path>
              </a:pathLst>
            </a:custGeom>
            <a:noFill/>
            <a:ln w="19050">
              <a:solidFill>
                <a:srgbClr val="10B981"/>
              </a:solidFill>
            </a:ln>
          </p:spPr>
        </p:sp>
        <p:sp>
          <p:nvSpPr>
            <p:cNvPr id="34" name="TextBox 34"/>
            <p:cNvSpPr txBox="1"/>
            <p:nvPr/>
          </p:nvSpPr>
          <p:spPr>
            <a:xfrm>
              <a:off x="9341168" y="2857024"/>
              <a:ext cx="1188410" cy="198120"/>
            </a:xfrm>
            <a:prstGeom prst="rect">
              <a:avLst/>
            </a:prstGeom>
            <a:noFill/>
            <a:ln>
              <a:noFill/>
            </a:ln>
          </p:spPr>
          <p:txBody>
            <a:bodyPr wrap="none" lIns="0" tIns="0" rIns="0" bIns="0" anchor="t" anchorCtr="0">
              <a:spAutoFit/>
            </a:bodyPr>
            <a:lstStyle/>
            <a:p>
              <a:pPr algn="l"/>
              <a:r>
                <a:rPr lang="zh-CN" sz="975" dirty="0">
                  <a:solidFill>
                    <a:srgbClr val="191919"/>
                  </a:solidFill>
                  <a:latin typeface="Anthropic Sans"/>
                  <a:ea typeface="Microsoft YaHei"/>
                  <a:cs typeface="Anthropic Sans"/>
                </a:rPr>
                <a:t>Generally available</a:t>
              </a:r>
            </a:p>
          </p:txBody>
        </p:sp>
        <p:grpSp>
          <p:nvGrpSpPr>
            <p:cNvPr id="37" name="Group 37"/>
            <p:cNvGrpSpPr/>
            <p:nvPr/>
          </p:nvGrpSpPr>
          <p:grpSpPr>
            <a:xfrm>
              <a:off x="9135430" y="3086100"/>
              <a:ext cx="124004" cy="114300"/>
              <a:chOff x="9135430" y="3086100"/>
              <a:chExt cx="124004" cy="114300"/>
            </a:xfrm>
          </p:grpSpPr>
          <p:sp>
            <p:nvSpPr>
              <p:cNvPr id="35" name="Freeform 35"/>
              <p:cNvSpPr/>
              <p:nvPr/>
            </p:nvSpPr>
            <p:spPr>
              <a:xfrm>
                <a:off x="9135430" y="3086100"/>
                <a:ext cx="124004" cy="113322"/>
              </a:xfrm>
              <a:custGeom>
                <a:avLst/>
                <a:gdLst/>
                <a:ahLst/>
                <a:cxnLst/>
                <a:rect l="l" t="t" r="r" b="b"/>
                <a:pathLst>
                  <a:path w="124004" h="113322">
                    <a:moveTo>
                      <a:pt x="62291" y="113322"/>
                    </a:moveTo>
                    <a:cubicBezTo>
                      <a:pt x="22511" y="100991"/>
                      <a:pt x="0" y="59007"/>
                      <a:pt x="11745" y="19050"/>
                    </a:cubicBezTo>
                    <a:cubicBezTo>
                      <a:pt x="31528" y="19955"/>
                      <a:pt x="50887" y="13123"/>
                      <a:pt x="65720" y="0"/>
                    </a:cubicBezTo>
                    <a:cubicBezTo>
                      <a:pt x="80552" y="13123"/>
                      <a:pt x="99911" y="19955"/>
                      <a:pt x="119695" y="19050"/>
                    </a:cubicBezTo>
                    <a:cubicBezTo>
                      <a:pt x="124004" y="33713"/>
                      <a:pt x="123805" y="49333"/>
                      <a:pt x="119123" y="63881"/>
                    </a:cubicBezTo>
                  </a:path>
                </a:pathLst>
              </a:custGeom>
              <a:noFill/>
              <a:ln w="19050">
                <a:solidFill>
                  <a:srgbClr val="10B981"/>
                </a:solidFill>
              </a:ln>
            </p:spPr>
          </p:sp>
          <p:sp>
            <p:nvSpPr>
              <p:cNvPr id="36" name="Freeform 36"/>
              <p:cNvSpPr/>
              <p:nvPr/>
            </p:nvSpPr>
            <p:spPr>
              <a:xfrm>
                <a:off x="9220200" y="3175000"/>
                <a:ext cx="38100" cy="25400"/>
              </a:xfrm>
              <a:custGeom>
                <a:avLst/>
                <a:gdLst/>
                <a:ahLst/>
                <a:cxnLst/>
                <a:rect l="l" t="t" r="r" b="b"/>
                <a:pathLst>
                  <a:path w="38100" h="25400">
                    <a:moveTo>
                      <a:pt x="0" y="12700"/>
                    </a:moveTo>
                    <a:lnTo>
                      <a:pt x="12700" y="25400"/>
                    </a:lnTo>
                    <a:lnTo>
                      <a:pt x="38100" y="0"/>
                    </a:lnTo>
                  </a:path>
                </a:pathLst>
              </a:custGeom>
              <a:noFill/>
              <a:ln w="19050">
                <a:solidFill>
                  <a:srgbClr val="10B981"/>
                </a:solidFill>
              </a:ln>
            </p:spPr>
          </p:sp>
        </p:grpSp>
        <p:sp>
          <p:nvSpPr>
            <p:cNvPr id="38" name="TextBox 38"/>
            <p:cNvSpPr txBox="1"/>
            <p:nvPr/>
          </p:nvSpPr>
          <p:spPr>
            <a:xfrm>
              <a:off x="9341168" y="3085624"/>
              <a:ext cx="1760482" cy="198120"/>
            </a:xfrm>
            <a:prstGeom prst="rect">
              <a:avLst/>
            </a:prstGeom>
            <a:noFill/>
            <a:ln>
              <a:noFill/>
            </a:ln>
          </p:spPr>
          <p:txBody>
            <a:bodyPr wrap="none" lIns="0" tIns="0" rIns="0" bIns="0" anchor="t" anchorCtr="0">
              <a:spAutoFit/>
            </a:bodyPr>
            <a:lstStyle/>
            <a:p>
              <a:pPr algn="l"/>
              <a:r>
                <a:rPr lang="zh-CN" sz="975" dirty="0">
                  <a:solidFill>
                    <a:srgbClr val="191919"/>
                  </a:solidFill>
                  <a:latin typeface="Anthropic Sans"/>
                  <a:ea typeface="Microsoft YaHei"/>
                  <a:cs typeface="Anthropic Sans"/>
                </a:rPr>
                <a:t>Dual-use safety classifiers</a:t>
              </a:r>
            </a:p>
          </p:txBody>
        </p:sp>
        <p:sp>
          <p:nvSpPr>
            <p:cNvPr id="39" name="Line 39"/>
            <p:cNvSpPr/>
            <p:nvPr/>
          </p:nvSpPr>
          <p:spPr>
            <a:xfrm>
              <a:off x="9124950" y="3429000"/>
              <a:ext cx="2228850" cy="9525"/>
            </a:xfrm>
            <a:custGeom>
              <a:avLst/>
              <a:gdLst/>
              <a:ahLst/>
              <a:cxnLst/>
              <a:rect l="l" t="t" r="r" b="b"/>
              <a:pathLst>
                <a:path w="2228850" h="9525">
                  <a:moveTo>
                    <a:pt x="0" y="0"/>
                  </a:moveTo>
                  <a:lnTo>
                    <a:pt x="2228850" y="0"/>
                  </a:lnTo>
                </a:path>
              </a:pathLst>
            </a:custGeom>
            <a:noFill/>
            <a:ln w="9525">
              <a:solidFill>
                <a:srgbClr val="E2E8F0"/>
              </a:solidFill>
            </a:ln>
          </p:spPr>
        </p:sp>
        <p:sp>
          <p:nvSpPr>
            <p:cNvPr id="40" name="TextBox 40"/>
            <p:cNvSpPr txBox="1"/>
            <p:nvPr/>
          </p:nvSpPr>
          <p:spPr>
            <a:xfrm>
              <a:off x="9110662" y="3612356"/>
              <a:ext cx="713786" cy="228600"/>
            </a:xfrm>
            <a:prstGeom prst="rect">
              <a:avLst/>
            </a:prstGeom>
            <a:noFill/>
            <a:ln>
              <a:noFill/>
            </a:ln>
          </p:spPr>
          <p:txBody>
            <a:bodyPr wrap="none" lIns="0" tIns="0" rIns="0" bIns="0" anchor="t" anchorCtr="0">
              <a:spAutoFit/>
            </a:bodyPr>
            <a:lstStyle/>
            <a:p>
              <a:pPr algn="l"/>
              <a:r>
                <a:rPr lang="zh-CN" sz="1125" b="1" dirty="0">
                  <a:solidFill>
                    <a:srgbClr val="191919"/>
                  </a:solidFill>
                  <a:latin typeface="Styrene A"/>
                  <a:ea typeface="Microsoft YaHei"/>
                  <a:cs typeface="Styrene A"/>
                </a:rPr>
                <a:t>Mythos 5</a:t>
              </a:r>
            </a:p>
          </p:txBody>
        </p:sp>
        <p:grpSp>
          <p:nvGrpSpPr>
            <p:cNvPr id="44" name="Group 44"/>
            <p:cNvGrpSpPr/>
            <p:nvPr/>
          </p:nvGrpSpPr>
          <p:grpSpPr>
            <a:xfrm>
              <a:off x="9141356" y="3867150"/>
              <a:ext cx="119589" cy="114300"/>
              <a:chOff x="9141356" y="3867150"/>
              <a:chExt cx="119589" cy="114300"/>
            </a:xfrm>
          </p:grpSpPr>
          <p:sp>
            <p:nvSpPr>
              <p:cNvPr id="41" name="Freeform 41"/>
              <p:cNvSpPr/>
              <p:nvPr/>
            </p:nvSpPr>
            <p:spPr>
              <a:xfrm>
                <a:off x="9141356" y="3867150"/>
                <a:ext cx="119589" cy="114300"/>
              </a:xfrm>
              <a:custGeom>
                <a:avLst/>
                <a:gdLst/>
                <a:ahLst/>
                <a:cxnLst/>
                <a:rect l="l" t="t" r="r" b="b"/>
                <a:pathLst>
                  <a:path w="119589" h="114300">
                    <a:moveTo>
                      <a:pt x="59794" y="0"/>
                    </a:moveTo>
                    <a:cubicBezTo>
                      <a:pt x="74627" y="13123"/>
                      <a:pt x="93986" y="19955"/>
                      <a:pt x="113769" y="19050"/>
                    </a:cubicBezTo>
                    <a:cubicBezTo>
                      <a:pt x="119589" y="38846"/>
                      <a:pt x="117131" y="60156"/>
                      <a:pt x="106958" y="78108"/>
                    </a:cubicBezTo>
                    <a:cubicBezTo>
                      <a:pt x="96786" y="96060"/>
                      <a:pt x="79767" y="109119"/>
                      <a:pt x="59794" y="114300"/>
                    </a:cubicBezTo>
                    <a:cubicBezTo>
                      <a:pt x="39821" y="109119"/>
                      <a:pt x="22803" y="96060"/>
                      <a:pt x="12630" y="78108"/>
                    </a:cubicBezTo>
                    <a:cubicBezTo>
                      <a:pt x="2458" y="60156"/>
                      <a:pt x="0" y="38846"/>
                      <a:pt x="5819" y="19050"/>
                    </a:cubicBezTo>
                    <a:cubicBezTo>
                      <a:pt x="25603" y="19955"/>
                      <a:pt x="44962" y="13123"/>
                      <a:pt x="59794" y="0"/>
                    </a:cubicBezTo>
                  </a:path>
                </a:pathLst>
              </a:custGeom>
              <a:noFill/>
              <a:ln w="19050">
                <a:solidFill>
                  <a:srgbClr val="64748B"/>
                </a:solidFill>
              </a:ln>
            </p:spPr>
          </p:sp>
          <p:sp>
            <p:nvSpPr>
              <p:cNvPr id="42" name="Freeform 42"/>
              <p:cNvSpPr/>
              <p:nvPr/>
            </p:nvSpPr>
            <p:spPr>
              <a:xfrm>
                <a:off x="9194800" y="3911600"/>
                <a:ext cx="12700" cy="12700"/>
              </a:xfrm>
              <a:custGeom>
                <a:avLst/>
                <a:gdLst/>
                <a:ahLst/>
                <a:cxnLst/>
                <a:rect l="l" t="t" r="r" b="b"/>
                <a:pathLst>
                  <a:path w="12700" h="12700">
                    <a:moveTo>
                      <a:pt x="0" y="6350"/>
                    </a:moveTo>
                    <a:cubicBezTo>
                      <a:pt x="0" y="9857"/>
                      <a:pt x="2843" y="12700"/>
                      <a:pt x="6350" y="12700"/>
                    </a:cubicBezTo>
                    <a:cubicBezTo>
                      <a:pt x="9857" y="12700"/>
                      <a:pt x="12700" y="9857"/>
                      <a:pt x="12700" y="6350"/>
                    </a:cubicBezTo>
                    <a:cubicBezTo>
                      <a:pt x="12700" y="2843"/>
                      <a:pt x="9857" y="0"/>
                      <a:pt x="6350" y="0"/>
                    </a:cubicBezTo>
                    <a:cubicBezTo>
                      <a:pt x="2843" y="0"/>
                      <a:pt x="0" y="2843"/>
                      <a:pt x="0" y="6350"/>
                    </a:cubicBezTo>
                  </a:path>
                </a:pathLst>
              </a:custGeom>
              <a:noFill/>
              <a:ln w="19050">
                <a:solidFill>
                  <a:srgbClr val="64748B"/>
                </a:solidFill>
              </a:ln>
            </p:spPr>
          </p:sp>
          <p:sp>
            <p:nvSpPr>
              <p:cNvPr id="43" name="Freeform 43"/>
              <p:cNvSpPr/>
              <p:nvPr/>
            </p:nvSpPr>
            <p:spPr>
              <a:xfrm>
                <a:off x="9201150" y="3924300"/>
                <a:ext cx="9525" cy="15875"/>
              </a:xfrm>
              <a:custGeom>
                <a:avLst/>
                <a:gdLst/>
                <a:ahLst/>
                <a:cxnLst/>
                <a:rect l="l" t="t" r="r" b="b"/>
                <a:pathLst>
                  <a:path w="9525" h="15875">
                    <a:moveTo>
                      <a:pt x="0" y="0"/>
                    </a:moveTo>
                    <a:lnTo>
                      <a:pt x="0" y="15875"/>
                    </a:lnTo>
                  </a:path>
                </a:pathLst>
              </a:custGeom>
              <a:noFill/>
              <a:ln w="19050">
                <a:solidFill>
                  <a:srgbClr val="64748B"/>
                </a:solidFill>
              </a:ln>
            </p:spPr>
          </p:sp>
        </p:grpSp>
        <p:sp>
          <p:nvSpPr>
            <p:cNvPr id="45" name="TextBox 45"/>
            <p:cNvSpPr txBox="1"/>
            <p:nvPr/>
          </p:nvSpPr>
          <p:spPr>
            <a:xfrm>
              <a:off x="9341168" y="3866674"/>
              <a:ext cx="1643467" cy="198120"/>
            </a:xfrm>
            <a:prstGeom prst="rect">
              <a:avLst/>
            </a:prstGeom>
            <a:noFill/>
            <a:ln>
              <a:noFill/>
            </a:ln>
          </p:spPr>
          <p:txBody>
            <a:bodyPr wrap="none" lIns="0" tIns="0" rIns="0" bIns="0" anchor="t" anchorCtr="0">
              <a:spAutoFit/>
            </a:bodyPr>
            <a:lstStyle/>
            <a:p>
              <a:pPr algn="l"/>
              <a:r>
                <a:rPr lang="zh-CN" sz="975" dirty="0">
                  <a:solidFill>
                    <a:srgbClr val="191919"/>
                  </a:solidFill>
                  <a:latin typeface="Anthropic Sans"/>
                  <a:ea typeface="Microsoft YaHei"/>
                  <a:cs typeface="Anthropic Sans"/>
                </a:rPr>
                <a:t>Without those classifiers</a:t>
              </a:r>
            </a:p>
          </p:txBody>
        </p:sp>
        <p:grpSp>
          <p:nvGrpSpPr>
            <p:cNvPr id="49" name="Group 49"/>
            <p:cNvGrpSpPr/>
            <p:nvPr/>
          </p:nvGrpSpPr>
          <p:grpSpPr>
            <a:xfrm>
              <a:off x="9156700" y="4095750"/>
              <a:ext cx="88900" cy="114300"/>
              <a:chOff x="9156700" y="4095750"/>
              <a:chExt cx="88900" cy="114300"/>
            </a:xfrm>
          </p:grpSpPr>
          <p:sp>
            <p:nvSpPr>
              <p:cNvPr id="46" name="Freeform 46"/>
              <p:cNvSpPr/>
              <p:nvPr/>
            </p:nvSpPr>
            <p:spPr>
              <a:xfrm>
                <a:off x="9156700" y="4146550"/>
                <a:ext cx="88900" cy="63500"/>
              </a:xfrm>
              <a:custGeom>
                <a:avLst/>
                <a:gdLst/>
                <a:ahLst/>
                <a:cxnLst/>
                <a:rect l="l" t="t" r="r" b="b"/>
                <a:pathLst>
                  <a:path w="88900" h="63500">
                    <a:moveTo>
                      <a:pt x="0" y="12700"/>
                    </a:moveTo>
                    <a:cubicBezTo>
                      <a:pt x="0" y="5686"/>
                      <a:pt x="5686" y="0"/>
                      <a:pt x="12700" y="0"/>
                    </a:cubicBezTo>
                    <a:lnTo>
                      <a:pt x="76200" y="0"/>
                    </a:lnTo>
                    <a:cubicBezTo>
                      <a:pt x="83214" y="0"/>
                      <a:pt x="88900" y="5686"/>
                      <a:pt x="88900" y="12700"/>
                    </a:cubicBezTo>
                    <a:lnTo>
                      <a:pt x="88900" y="50800"/>
                    </a:lnTo>
                    <a:cubicBezTo>
                      <a:pt x="88900" y="57814"/>
                      <a:pt x="83214" y="63500"/>
                      <a:pt x="76200" y="63500"/>
                    </a:cubicBezTo>
                    <a:lnTo>
                      <a:pt x="12700" y="63500"/>
                    </a:lnTo>
                    <a:cubicBezTo>
                      <a:pt x="5686" y="63500"/>
                      <a:pt x="0" y="57814"/>
                      <a:pt x="0" y="50800"/>
                    </a:cubicBezTo>
                    <a:lnTo>
                      <a:pt x="0" y="12700"/>
                    </a:lnTo>
                  </a:path>
                </a:pathLst>
              </a:custGeom>
              <a:noFill/>
              <a:ln w="19050">
                <a:solidFill>
                  <a:srgbClr val="64748B"/>
                </a:solidFill>
              </a:ln>
            </p:spPr>
          </p:sp>
          <p:sp>
            <p:nvSpPr>
              <p:cNvPr id="47" name="Freeform 47"/>
              <p:cNvSpPr/>
              <p:nvPr/>
            </p:nvSpPr>
            <p:spPr>
              <a:xfrm>
                <a:off x="9194800" y="4171950"/>
                <a:ext cx="12700" cy="12700"/>
              </a:xfrm>
              <a:custGeom>
                <a:avLst/>
                <a:gdLst/>
                <a:ahLst/>
                <a:cxnLst/>
                <a:rect l="l" t="t" r="r" b="b"/>
                <a:pathLst>
                  <a:path w="12700" h="12700">
                    <a:moveTo>
                      <a:pt x="0" y="6350"/>
                    </a:moveTo>
                    <a:cubicBezTo>
                      <a:pt x="0" y="9857"/>
                      <a:pt x="2843" y="12700"/>
                      <a:pt x="6350" y="12700"/>
                    </a:cubicBezTo>
                    <a:cubicBezTo>
                      <a:pt x="9857" y="12700"/>
                      <a:pt x="12700" y="9857"/>
                      <a:pt x="12700" y="6350"/>
                    </a:cubicBezTo>
                    <a:cubicBezTo>
                      <a:pt x="12700" y="2843"/>
                      <a:pt x="9857" y="0"/>
                      <a:pt x="6350" y="0"/>
                    </a:cubicBezTo>
                    <a:cubicBezTo>
                      <a:pt x="2843" y="0"/>
                      <a:pt x="0" y="2843"/>
                      <a:pt x="0" y="6350"/>
                    </a:cubicBezTo>
                  </a:path>
                </a:pathLst>
              </a:custGeom>
              <a:noFill/>
              <a:ln w="19050">
                <a:solidFill>
                  <a:srgbClr val="64748B"/>
                </a:solidFill>
              </a:ln>
            </p:spPr>
          </p:sp>
          <p:sp>
            <p:nvSpPr>
              <p:cNvPr id="48" name="Freeform 48"/>
              <p:cNvSpPr/>
              <p:nvPr/>
            </p:nvSpPr>
            <p:spPr>
              <a:xfrm>
                <a:off x="9175750" y="4095750"/>
                <a:ext cx="50800" cy="50800"/>
              </a:xfrm>
              <a:custGeom>
                <a:avLst/>
                <a:gdLst/>
                <a:ahLst/>
                <a:cxnLst/>
                <a:rect l="l" t="t" r="r" b="b"/>
                <a:pathLst>
                  <a:path w="50800" h="50800">
                    <a:moveTo>
                      <a:pt x="0" y="50800"/>
                    </a:moveTo>
                    <a:lnTo>
                      <a:pt x="0" y="25400"/>
                    </a:lnTo>
                    <a:cubicBezTo>
                      <a:pt x="0" y="11372"/>
                      <a:pt x="11372" y="0"/>
                      <a:pt x="25400" y="0"/>
                    </a:cubicBezTo>
                    <a:cubicBezTo>
                      <a:pt x="39428" y="0"/>
                      <a:pt x="50800" y="11372"/>
                      <a:pt x="50800" y="25400"/>
                    </a:cubicBezTo>
                    <a:lnTo>
                      <a:pt x="50800" y="50800"/>
                    </a:lnTo>
                  </a:path>
                </a:pathLst>
              </a:custGeom>
              <a:noFill/>
              <a:ln w="19050">
                <a:solidFill>
                  <a:srgbClr val="64748B"/>
                </a:solidFill>
              </a:ln>
            </p:spPr>
          </p:sp>
        </p:grpSp>
        <p:sp>
          <p:nvSpPr>
            <p:cNvPr id="50" name="TextBox 50"/>
            <p:cNvSpPr txBox="1"/>
            <p:nvPr/>
          </p:nvSpPr>
          <p:spPr>
            <a:xfrm>
              <a:off x="9341168" y="4095274"/>
              <a:ext cx="1428941" cy="198120"/>
            </a:xfrm>
            <a:prstGeom prst="rect">
              <a:avLst/>
            </a:prstGeom>
            <a:noFill/>
            <a:ln>
              <a:noFill/>
            </a:ln>
          </p:spPr>
          <p:txBody>
            <a:bodyPr wrap="none" lIns="0" tIns="0" rIns="0" bIns="0" anchor="t" anchorCtr="0">
              <a:spAutoFit/>
            </a:bodyPr>
            <a:lstStyle/>
            <a:p>
              <a:pPr algn="l"/>
              <a:r>
                <a:rPr lang="zh-CN" sz="975" dirty="0">
                  <a:solidFill>
                    <a:srgbClr val="191919"/>
                  </a:solidFill>
                  <a:latin typeface="Anthropic Sans"/>
                  <a:ea typeface="Microsoft YaHei"/>
                  <a:cs typeface="Anthropic Sans"/>
                </a:rPr>
                <a:t>Project Glasswing only</a:t>
              </a:r>
            </a:p>
          </p:txBody>
        </p:sp>
        <p:sp>
          <p:nvSpPr>
            <p:cNvPr id="51" name="Line 51"/>
            <p:cNvSpPr/>
            <p:nvPr/>
          </p:nvSpPr>
          <p:spPr>
            <a:xfrm>
              <a:off x="9124950" y="4438650"/>
              <a:ext cx="2228850" cy="9525"/>
            </a:xfrm>
            <a:custGeom>
              <a:avLst/>
              <a:gdLst/>
              <a:ahLst/>
              <a:cxnLst/>
              <a:rect l="l" t="t" r="r" b="b"/>
              <a:pathLst>
                <a:path w="2228850" h="9525">
                  <a:moveTo>
                    <a:pt x="0" y="0"/>
                  </a:moveTo>
                  <a:lnTo>
                    <a:pt x="2228850" y="0"/>
                  </a:lnTo>
                </a:path>
              </a:pathLst>
            </a:custGeom>
            <a:noFill/>
            <a:ln w="9525">
              <a:solidFill>
                <a:srgbClr val="E2E8F0"/>
              </a:solidFill>
            </a:ln>
          </p:spPr>
        </p:sp>
        <p:sp>
          <p:nvSpPr>
            <p:cNvPr id="52" name="TextBox 52"/>
            <p:cNvSpPr txBox="1"/>
            <p:nvPr/>
          </p:nvSpPr>
          <p:spPr>
            <a:xfrm>
              <a:off x="9113520" y="4608195"/>
              <a:ext cx="1794510" cy="697230"/>
            </a:xfrm>
            <a:prstGeom prst="rect">
              <a:avLst/>
            </a:prstGeom>
            <a:noFill/>
            <a:ln>
              <a:noFill/>
            </a:ln>
          </p:spPr>
          <p:txBody>
            <a:bodyPr wrap="square" lIns="0" tIns="0" rIns="0" bIns="0" anchor="t" anchorCtr="0"/>
            <a:lstStyle/>
            <a:p>
              <a:pPr algn="l">
                <a:lnSpc>
                  <a:spcPts val="1350"/>
                </a:lnSpc>
              </a:pPr>
              <a:r>
                <a:rPr lang="zh-CN" sz="900" dirty="0">
                  <a:solidFill>
                    <a:srgbClr val="64748B"/>
                  </a:solidFill>
                  <a:latin typeface="Anthropic Sans"/>
                  <a:ea typeface="Microsoft YaHei"/>
                  <a:cs typeface="Anthropic Sans"/>
                </a:rPr>
                <a:t xml:space="preserve">Reach for Fable 5 when the task </a:t>
              </a:r>
              <a:r>
                <a:rPr lang="zh-CN" sz="900" dirty="0">
                  <a:solidFill>
                    <a:srgbClr val="64748B"/>
                  </a:solidFill>
                  <a:latin typeface="Anthropic Sans"/>
                  <a:ea typeface="Microsoft YaHei"/>
                  <a:cs typeface="Anthropic Sans"/>
                </a:rPr>
                <a:t xml:space="preserve">demands the highest available </a:t>
              </a:r>
              <a:r>
                <a:rPr lang="zh-CN" sz="900" dirty="0">
                  <a:solidFill>
                    <a:srgbClr val="64748B"/>
                  </a:solidFill>
                  <a:latin typeface="Anthropic Sans"/>
                  <a:ea typeface="Microsoft YaHei"/>
                  <a:cs typeface="Anthropic Sans"/>
                </a:rPr>
                <a:t xml:space="preserve">intelligence; Opus 4.8 remains </a:t>
              </a:r>
              <a:r>
                <a:rPr lang="zh-CN" sz="900" dirty="0">
                  <a:solidFill>
                    <a:srgbClr val="64748B"/>
                  </a:solidFill>
                  <a:latin typeface="Anthropic Sans"/>
                  <a:ea typeface="Microsoft YaHei"/>
                  <a:cs typeface="Anthropic Sans"/>
                </a:rPr>
                <a:t>the default for general work.</a:t>
              </a:r>
            </a:p>
          </p:txBody>
        </p:sp>
      </p:grpSp>
      <p:grpSp>
        <p:nvGrpSpPr>
          <p:cNvPr id="56" name="Group 56"/>
          <p:cNvGrpSpPr/>
          <p:nvPr/>
        </p:nvGrpSpPr>
        <p:grpSpPr>
          <a:xfrm>
            <a:off x="751522" y="6502241"/>
            <a:ext cx="10688955" cy="167640"/>
            <a:chOff x="751522" y="6502241"/>
            <a:chExt cx="10688955" cy="167640"/>
          </a:xfrm>
        </p:grpSpPr>
        <p:sp>
          <p:nvSpPr>
            <p:cNvPr id="54" name="TextBox 54"/>
            <p:cNvSpPr txBox="1"/>
            <p:nvPr/>
          </p:nvSpPr>
          <p:spPr>
            <a:xfrm>
              <a:off x="751522" y="6502241"/>
              <a:ext cx="2749296" cy="167640"/>
            </a:xfrm>
            <a:prstGeom prst="rect">
              <a:avLst/>
            </a:prstGeom>
            <a:noFill/>
            <a:ln>
              <a:noFill/>
            </a:ln>
          </p:spPr>
          <p:txBody>
            <a:bodyPr wrap="none" lIns="0" tIns="0" rIns="0" bIns="0" anchor="t" anchorCtr="0">
              <a:spAutoFit/>
            </a:bodyPr>
            <a:lstStyle/>
            <a:p>
              <a:pPr algn="l"/>
              <a:r>
                <a:rPr lang="zh-CN" sz="825" dirty="0">
                  <a:solidFill>
                    <a:srgbClr val="94A3B8"/>
                  </a:solidFill>
                  <a:latin typeface="Anthropic Sans"/>
                  <a:ea typeface="Microsoft YaHei"/>
                  <a:cs typeface="Anthropic Sans"/>
                </a:rPr>
                <a:t>Source: Anthropic model documentation, June 2026</a:t>
              </a:r>
            </a:p>
          </p:txBody>
        </p:sp>
        <p:sp>
          <p:nvSpPr>
            <p:cNvPr id="55" name="TextBox 55"/>
            <p:cNvSpPr txBox="1"/>
            <p:nvPr/>
          </p:nvSpPr>
          <p:spPr>
            <a:xfrm>
              <a:off x="11298507" y="6502241"/>
              <a:ext cx="141970" cy="167640"/>
            </a:xfrm>
            <a:prstGeom prst="rect">
              <a:avLst/>
            </a:prstGeom>
            <a:noFill/>
            <a:ln>
              <a:noFill/>
            </a:ln>
          </p:spPr>
          <p:txBody>
            <a:bodyPr wrap="none" lIns="0" tIns="0" rIns="0" bIns="0" anchor="t" anchorCtr="0">
              <a:spAutoFit/>
            </a:bodyPr>
            <a:lstStyle/>
            <a:p>
              <a:pPr algn="r"/>
              <a:r>
                <a:rPr lang="zh-CN" sz="825" dirty="0">
                  <a:solidFill>
                    <a:srgbClr val="94A3B8"/>
                  </a:solidFill>
                  <a:latin typeface="Anthropic Sans"/>
                  <a:ea typeface="Microsoft YaHei"/>
                  <a:cs typeface="Anthropic Sans"/>
                </a:rPr>
                <a:t>04</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slide(fromBottom)">
                                      <p:cBhvr>
                                        <p:cTn id="7" dur="400"/>
                                        <p:tgtEl>
                                          <p:spTgt spid="15"/>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slide(fromBottom)">
                                      <p:cBhvr>
                                        <p:cTn id="11" dur="400"/>
                                        <p:tgtEl>
                                          <p:spTgt spid="28"/>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53"/>
                                        </p:tgtEl>
                                        <p:attrNameLst>
                                          <p:attrName>style.visibility</p:attrName>
                                        </p:attrNameLst>
                                      </p:cBhvr>
                                      <p:to>
                                        <p:strVal val="visible"/>
                                      </p:to>
                                    </p:set>
                                    <p:animEffect transition="in" filter="fade">
                                      <p:cBhvr>
                                        <p:cTn id="15" dur="4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8" grpId="0"/>
      <p:bldP spid="5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731520" y="495300"/>
            <a:ext cx="6294539" cy="842962"/>
            <a:chOff x="731520" y="495300"/>
            <a:chExt cx="6294539" cy="842962"/>
          </a:xfrm>
        </p:grpSpPr>
        <p:sp>
          <p:nvSpPr>
            <p:cNvPr id="3" name="Rectangle 3"/>
            <p:cNvSpPr/>
            <p:nvPr/>
          </p:nvSpPr>
          <p:spPr>
            <a:xfrm>
              <a:off x="762000" y="495300"/>
              <a:ext cx="419100" cy="38100"/>
            </a:xfrm>
            <a:prstGeom prst="roundRect">
              <a:avLst>
                <a:gd name="adj" fmla="val 50000"/>
              </a:avLst>
            </a:prstGeom>
            <a:solidFill>
              <a:srgbClr val="D97757"/>
            </a:solidFill>
            <a:ln>
              <a:noFill/>
            </a:ln>
          </p:spPr>
        </p:sp>
        <p:sp>
          <p:nvSpPr>
            <p:cNvPr id="4" name="TextBox 4"/>
            <p:cNvSpPr txBox="1"/>
            <p:nvPr/>
          </p:nvSpPr>
          <p:spPr>
            <a:xfrm>
              <a:off x="731520" y="693420"/>
              <a:ext cx="6294539" cy="487680"/>
            </a:xfrm>
            <a:prstGeom prst="rect">
              <a:avLst/>
            </a:prstGeom>
            <a:noFill/>
            <a:ln>
              <a:noFill/>
            </a:ln>
          </p:spPr>
          <p:txBody>
            <a:bodyPr wrap="none" lIns="0" tIns="0" rIns="0" bIns="0" anchor="t" anchorCtr="0">
              <a:spAutoFit/>
            </a:bodyPr>
            <a:lstStyle/>
            <a:p>
              <a:pPr algn="l"/>
              <a:r>
                <a:rPr lang="zh-CN" sz="2400" b="1" dirty="0">
                  <a:solidFill>
                    <a:srgbClr val="191919"/>
                  </a:solidFill>
                  <a:latin typeface="Styrene A"/>
                  <a:ea typeface="Microsoft YaHei"/>
                  <a:cs typeface="Styrene A"/>
                </a:rPr>
                <a:t>Frontier scale, predictable economics</a:t>
              </a:r>
            </a:p>
          </p:txBody>
        </p:sp>
        <p:sp>
          <p:nvSpPr>
            <p:cNvPr id="5" name="TextBox 5"/>
            <p:cNvSpPr txBox="1"/>
            <p:nvPr/>
          </p:nvSpPr>
          <p:spPr>
            <a:xfrm>
              <a:off x="748665" y="1124902"/>
              <a:ext cx="4973838" cy="213360"/>
            </a:xfrm>
            <a:prstGeom prst="rect">
              <a:avLst/>
            </a:prstGeom>
            <a:noFill/>
            <a:ln>
              <a:noFill/>
            </a:ln>
          </p:spPr>
          <p:txBody>
            <a:bodyPr wrap="none" lIns="0" tIns="0" rIns="0" bIns="0" anchor="t" anchorCtr="0">
              <a:spAutoFit/>
            </a:bodyPr>
            <a:lstStyle/>
            <a:p>
              <a:pPr algn="l"/>
              <a:r>
                <a:rPr lang="zh-CN" sz="1050" b="1" dirty="0">
                  <a:solidFill>
                    <a:srgbClr val="64748B"/>
                  </a:solidFill>
                  <a:latin typeface="Anthropic Sans"/>
                  <a:ea typeface="Microsoft YaHei"/>
                  <a:cs typeface="Anthropic Sans"/>
                </a:rPr>
                <a:t>03 · SPECS AT A GLANCE — LESS THAN HALF THE PRICE OF MYTHOS PREVIEW</a:t>
              </a:r>
            </a:p>
          </p:txBody>
        </p:sp>
      </p:grpSp>
      <p:grpSp>
        <p:nvGrpSpPr>
          <p:cNvPr id="16" name="Group 16"/>
          <p:cNvGrpSpPr/>
          <p:nvPr/>
        </p:nvGrpSpPr>
        <p:grpSpPr>
          <a:xfrm>
            <a:off x="762000" y="1600200"/>
            <a:ext cx="3429000" cy="2095500"/>
            <a:chOff x="762000" y="1600200"/>
            <a:chExt cx="3429000" cy="2095500"/>
          </a:xfrm>
        </p:grpSpPr>
        <p:sp>
          <p:nvSpPr>
            <p:cNvPr id="7" name="Rectangle 7"/>
            <p:cNvSpPr/>
            <p:nvPr/>
          </p:nvSpPr>
          <p:spPr>
            <a:xfrm>
              <a:off x="762000" y="1600200"/>
              <a:ext cx="3429000" cy="2095500"/>
            </a:xfrm>
            <a:prstGeom prst="roundRect">
              <a:avLst>
                <a:gd name="adj" fmla="val 5455"/>
              </a:avLst>
            </a:prstGeom>
            <a:solidFill>
              <a:srgbClr val="FFFFFF"/>
            </a:solidFill>
            <a:ln w="14288">
              <a:solidFill>
                <a:srgbClr val="E2E8F0"/>
              </a:solidFill>
            </a:ln>
          </p:spPr>
        </p:sp>
        <p:sp>
          <p:nvSpPr>
            <p:cNvPr id="8" name="Rectangle 8"/>
            <p:cNvSpPr/>
            <p:nvPr/>
          </p:nvSpPr>
          <p:spPr>
            <a:xfrm>
              <a:off x="762000" y="1809750"/>
              <a:ext cx="47625" cy="533400"/>
            </a:xfrm>
            <a:prstGeom prst="roundRect">
              <a:avLst>
                <a:gd name="adj" fmla="val 50000"/>
              </a:avLst>
            </a:prstGeom>
            <a:solidFill>
              <a:srgbClr val="D97757"/>
            </a:solidFill>
            <a:ln>
              <a:noFill/>
            </a:ln>
          </p:spPr>
        </p:sp>
        <p:grpSp>
          <p:nvGrpSpPr>
            <p:cNvPr id="12" name="Group 12"/>
            <p:cNvGrpSpPr/>
            <p:nvPr/>
          </p:nvGrpSpPr>
          <p:grpSpPr>
            <a:xfrm>
              <a:off x="1082675" y="1907381"/>
              <a:ext cx="215900" cy="242888"/>
              <a:chOff x="1082675" y="1907381"/>
              <a:chExt cx="215900" cy="242888"/>
            </a:xfrm>
          </p:grpSpPr>
          <p:sp>
            <p:nvSpPr>
              <p:cNvPr id="9" name="Freeform 9"/>
              <p:cNvSpPr/>
              <p:nvPr/>
            </p:nvSpPr>
            <p:spPr>
              <a:xfrm>
                <a:off x="1082675" y="1907381"/>
                <a:ext cx="215900" cy="80962"/>
              </a:xfrm>
              <a:custGeom>
                <a:avLst/>
                <a:gdLst/>
                <a:ahLst/>
                <a:cxnLst/>
                <a:rect l="l" t="t" r="r" b="b"/>
                <a:pathLst>
                  <a:path w="215900" h="80962">
                    <a:moveTo>
                      <a:pt x="0" y="40481"/>
                    </a:moveTo>
                    <a:cubicBezTo>
                      <a:pt x="0" y="62838"/>
                      <a:pt x="48331" y="80962"/>
                      <a:pt x="107950" y="80962"/>
                    </a:cubicBezTo>
                    <a:cubicBezTo>
                      <a:pt x="167569" y="80962"/>
                      <a:pt x="215900" y="62838"/>
                      <a:pt x="215900" y="40481"/>
                    </a:cubicBezTo>
                    <a:cubicBezTo>
                      <a:pt x="215900" y="18124"/>
                      <a:pt x="167569" y="0"/>
                      <a:pt x="107950" y="0"/>
                    </a:cubicBezTo>
                    <a:cubicBezTo>
                      <a:pt x="48331" y="0"/>
                      <a:pt x="0" y="18124"/>
                      <a:pt x="0" y="40481"/>
                    </a:cubicBezTo>
                  </a:path>
                </a:pathLst>
              </a:custGeom>
              <a:noFill/>
              <a:ln w="19050">
                <a:solidFill>
                  <a:srgbClr val="D97757"/>
                </a:solidFill>
              </a:ln>
            </p:spPr>
          </p:sp>
          <p:sp>
            <p:nvSpPr>
              <p:cNvPr id="10" name="Freeform 10"/>
              <p:cNvSpPr/>
              <p:nvPr/>
            </p:nvSpPr>
            <p:spPr>
              <a:xfrm>
                <a:off x="1082675" y="1947862"/>
                <a:ext cx="215900" cy="121444"/>
              </a:xfrm>
              <a:custGeom>
                <a:avLst/>
                <a:gdLst/>
                <a:ahLst/>
                <a:cxnLst/>
                <a:rect l="l" t="t" r="r" b="b"/>
                <a:pathLst>
                  <a:path w="215900" h="121444">
                    <a:moveTo>
                      <a:pt x="0" y="0"/>
                    </a:moveTo>
                    <a:lnTo>
                      <a:pt x="0" y="80962"/>
                    </a:lnTo>
                    <a:cubicBezTo>
                      <a:pt x="0" y="103320"/>
                      <a:pt x="48331" y="121444"/>
                      <a:pt x="107950" y="121444"/>
                    </a:cubicBezTo>
                    <a:cubicBezTo>
                      <a:pt x="167569" y="121444"/>
                      <a:pt x="215900" y="103320"/>
                      <a:pt x="215900" y="80962"/>
                    </a:cubicBezTo>
                    <a:lnTo>
                      <a:pt x="215900" y="0"/>
                    </a:lnTo>
                  </a:path>
                </a:pathLst>
              </a:custGeom>
              <a:noFill/>
              <a:ln w="19050">
                <a:solidFill>
                  <a:srgbClr val="D97757"/>
                </a:solidFill>
              </a:ln>
            </p:spPr>
          </p:sp>
          <p:sp>
            <p:nvSpPr>
              <p:cNvPr id="11" name="Freeform 11"/>
              <p:cNvSpPr/>
              <p:nvPr/>
            </p:nvSpPr>
            <p:spPr>
              <a:xfrm>
                <a:off x="1082675" y="2028825"/>
                <a:ext cx="215900" cy="121444"/>
              </a:xfrm>
              <a:custGeom>
                <a:avLst/>
                <a:gdLst/>
                <a:ahLst/>
                <a:cxnLst/>
                <a:rect l="l" t="t" r="r" b="b"/>
                <a:pathLst>
                  <a:path w="215900" h="121444">
                    <a:moveTo>
                      <a:pt x="0" y="0"/>
                    </a:moveTo>
                    <a:lnTo>
                      <a:pt x="0" y="80962"/>
                    </a:lnTo>
                    <a:cubicBezTo>
                      <a:pt x="0" y="103320"/>
                      <a:pt x="48331" y="121444"/>
                      <a:pt x="107950" y="121444"/>
                    </a:cubicBezTo>
                    <a:cubicBezTo>
                      <a:pt x="167569" y="121444"/>
                      <a:pt x="215900" y="103320"/>
                      <a:pt x="215900" y="80962"/>
                    </a:cubicBezTo>
                    <a:lnTo>
                      <a:pt x="215900" y="0"/>
                    </a:lnTo>
                  </a:path>
                </a:pathLst>
              </a:custGeom>
              <a:noFill/>
              <a:ln w="19050">
                <a:solidFill>
                  <a:srgbClr val="D97757"/>
                </a:solidFill>
              </a:ln>
            </p:spPr>
          </p:sp>
        </p:grpSp>
        <p:sp>
          <p:nvSpPr>
            <p:cNvPr id="13" name="TextBox 13"/>
            <p:cNvSpPr txBox="1"/>
            <p:nvPr/>
          </p:nvSpPr>
          <p:spPr>
            <a:xfrm>
              <a:off x="1014412" y="2469356"/>
              <a:ext cx="1225725" cy="228600"/>
            </a:xfrm>
            <a:prstGeom prst="rect">
              <a:avLst/>
            </a:prstGeom>
            <a:noFill/>
            <a:ln>
              <a:noFill/>
            </a:ln>
          </p:spPr>
          <p:txBody>
            <a:bodyPr wrap="none" lIns="0" tIns="0" rIns="0" bIns="0" anchor="t" anchorCtr="0">
              <a:spAutoFit/>
            </a:bodyPr>
            <a:lstStyle/>
            <a:p>
              <a:pPr algn="l"/>
              <a:r>
                <a:rPr lang="zh-CN" sz="1125" b="1" dirty="0">
                  <a:solidFill>
                    <a:srgbClr val="64748B"/>
                  </a:solidFill>
                  <a:latin typeface="Anthropic Sans"/>
                  <a:ea typeface="Microsoft YaHei"/>
                  <a:cs typeface="Anthropic Sans"/>
                </a:rPr>
                <a:t>Context window</a:t>
              </a:r>
            </a:p>
          </p:txBody>
        </p:sp>
        <p:sp>
          <p:nvSpPr>
            <p:cNvPr id="14" name="TextBox 14"/>
            <p:cNvSpPr txBox="1"/>
            <p:nvPr/>
          </p:nvSpPr>
          <p:spPr>
            <a:xfrm>
              <a:off x="981075" y="2738438"/>
              <a:ext cx="2668072" cy="762000"/>
            </a:xfrm>
            <a:prstGeom prst="rect">
              <a:avLst/>
            </a:prstGeom>
            <a:noFill/>
            <a:ln>
              <a:noFill/>
            </a:ln>
          </p:spPr>
          <p:txBody>
            <a:bodyPr wrap="none" lIns="0" tIns="0" rIns="0" bIns="0" anchor="t" anchorCtr="0">
              <a:spAutoFit/>
            </a:bodyPr>
            <a:lstStyle/>
            <a:p>
              <a:pPr algn="l"/>
              <a:r>
                <a:rPr lang="zh-CN" sz="3750" b="1" dirty="0">
                  <a:solidFill>
                    <a:srgbClr val="191919"/>
                  </a:solidFill>
                  <a:latin typeface="Styrene A"/>
                  <a:ea typeface="Microsoft YaHei"/>
                  <a:cs typeface="Styrene A"/>
                </a:rPr>
                <a:t xml:space="preserve">1M </a:t>
              </a:r>
              <a:r>
                <a:rPr lang="zh-CN" sz="1500" dirty="0">
                  <a:solidFill>
                    <a:srgbClr val="64748B"/>
                  </a:solidFill>
                  <a:latin typeface="Styrene A"/>
                  <a:ea typeface="Microsoft YaHei"/>
                  <a:cs typeface="Styrene A"/>
                </a:rPr>
                <a:t>tokens</a:t>
              </a:r>
            </a:p>
          </p:txBody>
        </p:sp>
        <p:sp>
          <p:nvSpPr>
            <p:cNvPr id="15" name="TextBox 15"/>
            <p:cNvSpPr txBox="1"/>
            <p:nvPr/>
          </p:nvSpPr>
          <p:spPr>
            <a:xfrm>
              <a:off x="1016318" y="3342799"/>
              <a:ext cx="1331428" cy="198120"/>
            </a:xfrm>
            <a:prstGeom prst="rect">
              <a:avLst/>
            </a:prstGeom>
            <a:noFill/>
            <a:ln>
              <a:noFill/>
            </a:ln>
          </p:spPr>
          <p:txBody>
            <a:bodyPr wrap="none" lIns="0" tIns="0" rIns="0" bIns="0" anchor="t" anchorCtr="0">
              <a:spAutoFit/>
            </a:bodyPr>
            <a:lstStyle/>
            <a:p>
              <a:pPr algn="l"/>
              <a:r>
                <a:rPr lang="zh-CN" sz="975" dirty="0">
                  <a:solidFill>
                    <a:srgbClr val="94A3B8"/>
                  </a:solidFill>
                  <a:latin typeface="Anthropic Sans"/>
                  <a:ea typeface="Microsoft YaHei"/>
                  <a:cs typeface="Anthropic Sans"/>
                </a:rPr>
                <a:t>Default and maximum</a:t>
              </a:r>
            </a:p>
          </p:txBody>
        </p:sp>
      </p:grpSp>
      <p:grpSp>
        <p:nvGrpSpPr>
          <p:cNvPr id="23" name="Group 23"/>
          <p:cNvGrpSpPr/>
          <p:nvPr/>
        </p:nvGrpSpPr>
        <p:grpSpPr>
          <a:xfrm>
            <a:off x="4476750" y="1600200"/>
            <a:ext cx="3429000" cy="2095500"/>
            <a:chOff x="4476750" y="1600200"/>
            <a:chExt cx="3429000" cy="2095500"/>
          </a:xfrm>
        </p:grpSpPr>
        <p:sp>
          <p:nvSpPr>
            <p:cNvPr id="17" name="Rectangle 17"/>
            <p:cNvSpPr/>
            <p:nvPr/>
          </p:nvSpPr>
          <p:spPr>
            <a:xfrm>
              <a:off x="4476750" y="1600200"/>
              <a:ext cx="3429000" cy="2095500"/>
            </a:xfrm>
            <a:prstGeom prst="roundRect">
              <a:avLst>
                <a:gd name="adj" fmla="val 5455"/>
              </a:avLst>
            </a:prstGeom>
            <a:solidFill>
              <a:srgbClr val="FFFFFF"/>
            </a:solidFill>
            <a:ln w="14288">
              <a:solidFill>
                <a:srgbClr val="E2E8F0"/>
              </a:solidFill>
            </a:ln>
          </p:spPr>
        </p:sp>
        <p:sp>
          <p:nvSpPr>
            <p:cNvPr id="18" name="Rectangle 18"/>
            <p:cNvSpPr/>
            <p:nvPr/>
          </p:nvSpPr>
          <p:spPr>
            <a:xfrm>
              <a:off x="4476750" y="1809750"/>
              <a:ext cx="47625" cy="533400"/>
            </a:xfrm>
            <a:prstGeom prst="roundRect">
              <a:avLst>
                <a:gd name="adj" fmla="val 50000"/>
              </a:avLst>
            </a:prstGeom>
            <a:solidFill>
              <a:srgbClr val="D97757"/>
            </a:solidFill>
            <a:ln>
              <a:noFill/>
            </a:ln>
          </p:spPr>
        </p:sp>
        <p:sp>
          <p:nvSpPr>
            <p:cNvPr id="19" name="Freeform 19"/>
            <p:cNvSpPr/>
            <p:nvPr/>
          </p:nvSpPr>
          <p:spPr>
            <a:xfrm>
              <a:off x="4810919" y="1907381"/>
              <a:ext cx="188912" cy="242888"/>
            </a:xfrm>
            <a:custGeom>
              <a:avLst/>
              <a:gdLst/>
              <a:ahLst/>
              <a:cxnLst/>
              <a:rect l="l" t="t" r="r" b="b"/>
              <a:pathLst>
                <a:path w="188912" h="242888">
                  <a:moveTo>
                    <a:pt x="107950" y="0"/>
                  </a:moveTo>
                  <a:lnTo>
                    <a:pt x="107950" y="94456"/>
                  </a:lnTo>
                  <a:lnTo>
                    <a:pt x="188912" y="94456"/>
                  </a:lnTo>
                  <a:lnTo>
                    <a:pt x="80963" y="242888"/>
                  </a:lnTo>
                  <a:lnTo>
                    <a:pt x="80963" y="148431"/>
                  </a:lnTo>
                  <a:lnTo>
                    <a:pt x="0" y="148431"/>
                  </a:lnTo>
                  <a:lnTo>
                    <a:pt x="107950" y="0"/>
                  </a:lnTo>
                </a:path>
              </a:pathLst>
            </a:custGeom>
            <a:noFill/>
            <a:ln w="19050">
              <a:solidFill>
                <a:srgbClr val="D97757"/>
              </a:solidFill>
            </a:ln>
          </p:spPr>
        </p:sp>
        <p:sp>
          <p:nvSpPr>
            <p:cNvPr id="20" name="TextBox 20"/>
            <p:cNvSpPr txBox="1"/>
            <p:nvPr/>
          </p:nvSpPr>
          <p:spPr>
            <a:xfrm>
              <a:off x="4729162" y="2469356"/>
              <a:ext cx="887057" cy="228600"/>
            </a:xfrm>
            <a:prstGeom prst="rect">
              <a:avLst/>
            </a:prstGeom>
            <a:noFill/>
            <a:ln>
              <a:noFill/>
            </a:ln>
          </p:spPr>
          <p:txBody>
            <a:bodyPr wrap="none" lIns="0" tIns="0" rIns="0" bIns="0" anchor="t" anchorCtr="0">
              <a:spAutoFit/>
            </a:bodyPr>
            <a:lstStyle/>
            <a:p>
              <a:pPr algn="l"/>
              <a:r>
                <a:rPr lang="zh-CN" sz="1125" b="1" dirty="0">
                  <a:solidFill>
                    <a:srgbClr val="64748B"/>
                  </a:solidFill>
                  <a:latin typeface="Anthropic Sans"/>
                  <a:ea typeface="Microsoft YaHei"/>
                  <a:cs typeface="Anthropic Sans"/>
                </a:rPr>
                <a:t>Max output</a:t>
              </a:r>
            </a:p>
          </p:txBody>
        </p:sp>
        <p:sp>
          <p:nvSpPr>
            <p:cNvPr id="21" name="TextBox 21"/>
            <p:cNvSpPr txBox="1"/>
            <p:nvPr/>
          </p:nvSpPr>
          <p:spPr>
            <a:xfrm>
              <a:off x="4695825" y="2738438"/>
              <a:ext cx="3140631" cy="762000"/>
            </a:xfrm>
            <a:prstGeom prst="rect">
              <a:avLst/>
            </a:prstGeom>
            <a:noFill/>
            <a:ln>
              <a:noFill/>
            </a:ln>
          </p:spPr>
          <p:txBody>
            <a:bodyPr wrap="none" lIns="0" tIns="0" rIns="0" bIns="0" anchor="t" anchorCtr="0">
              <a:spAutoFit/>
            </a:bodyPr>
            <a:lstStyle/>
            <a:p>
              <a:pPr algn="l"/>
              <a:r>
                <a:rPr lang="zh-CN" sz="3750" b="1" dirty="0">
                  <a:solidFill>
                    <a:srgbClr val="191919"/>
                  </a:solidFill>
                  <a:latin typeface="Styrene A"/>
                  <a:ea typeface="Microsoft YaHei"/>
                  <a:cs typeface="Styrene A"/>
                </a:rPr>
                <a:t xml:space="preserve">128K </a:t>
              </a:r>
              <a:r>
                <a:rPr lang="zh-CN" sz="1500" dirty="0">
                  <a:solidFill>
                    <a:srgbClr val="64748B"/>
                  </a:solidFill>
                  <a:latin typeface="Styrene A"/>
                  <a:ea typeface="Microsoft YaHei"/>
                  <a:cs typeface="Styrene A"/>
                </a:rPr>
                <a:t>tokens</a:t>
              </a:r>
            </a:p>
          </p:txBody>
        </p:sp>
        <p:sp>
          <p:nvSpPr>
            <p:cNvPr id="22" name="TextBox 22"/>
            <p:cNvSpPr txBox="1"/>
            <p:nvPr/>
          </p:nvSpPr>
          <p:spPr>
            <a:xfrm>
              <a:off x="4731068" y="3342799"/>
              <a:ext cx="1526453" cy="198120"/>
            </a:xfrm>
            <a:prstGeom prst="rect">
              <a:avLst/>
            </a:prstGeom>
            <a:noFill/>
            <a:ln>
              <a:noFill/>
            </a:ln>
          </p:spPr>
          <p:txBody>
            <a:bodyPr wrap="none" lIns="0" tIns="0" rIns="0" bIns="0" anchor="t" anchorCtr="0">
              <a:spAutoFit/>
            </a:bodyPr>
            <a:lstStyle/>
            <a:p>
              <a:pPr algn="l"/>
              <a:r>
                <a:rPr lang="zh-CN" sz="975" dirty="0">
                  <a:solidFill>
                    <a:srgbClr val="94A3B8"/>
                  </a:solidFill>
                  <a:latin typeface="Anthropic Sans"/>
                  <a:ea typeface="Microsoft YaHei"/>
                  <a:cs typeface="Anthropic Sans"/>
                </a:rPr>
                <a:t>Per request, streaming</a:t>
              </a:r>
            </a:p>
          </p:txBody>
        </p:sp>
      </p:grpSp>
      <p:grpSp>
        <p:nvGrpSpPr>
          <p:cNvPr id="33" name="Group 33"/>
          <p:cNvGrpSpPr/>
          <p:nvPr/>
        </p:nvGrpSpPr>
        <p:grpSpPr>
          <a:xfrm>
            <a:off x="8191500" y="1600200"/>
            <a:ext cx="3832265" cy="2095500"/>
            <a:chOff x="8191500" y="1600200"/>
            <a:chExt cx="3832265" cy="2095500"/>
          </a:xfrm>
        </p:grpSpPr>
        <p:sp>
          <p:nvSpPr>
            <p:cNvPr id="24" name="Rectangle 24"/>
            <p:cNvSpPr/>
            <p:nvPr/>
          </p:nvSpPr>
          <p:spPr>
            <a:xfrm>
              <a:off x="8191500" y="1600200"/>
              <a:ext cx="3429000" cy="2095500"/>
            </a:xfrm>
            <a:prstGeom prst="roundRect">
              <a:avLst>
                <a:gd name="adj" fmla="val 5455"/>
              </a:avLst>
            </a:prstGeom>
            <a:solidFill>
              <a:srgbClr val="FFFFFF"/>
            </a:solidFill>
            <a:ln w="14288">
              <a:solidFill>
                <a:srgbClr val="E2E8F0"/>
              </a:solidFill>
            </a:ln>
          </p:spPr>
        </p:sp>
        <p:sp>
          <p:nvSpPr>
            <p:cNvPr id="25" name="Rectangle 25"/>
            <p:cNvSpPr/>
            <p:nvPr/>
          </p:nvSpPr>
          <p:spPr>
            <a:xfrm>
              <a:off x="8191500" y="1809750"/>
              <a:ext cx="47625" cy="533400"/>
            </a:xfrm>
            <a:prstGeom prst="roundRect">
              <a:avLst>
                <a:gd name="adj" fmla="val 50000"/>
              </a:avLst>
            </a:prstGeom>
            <a:solidFill>
              <a:srgbClr val="D97757"/>
            </a:solidFill>
            <a:ln>
              <a:noFill/>
            </a:ln>
          </p:spPr>
        </p:sp>
        <p:grpSp>
          <p:nvGrpSpPr>
            <p:cNvPr id="29" name="Group 29"/>
            <p:cNvGrpSpPr/>
            <p:nvPr/>
          </p:nvGrpSpPr>
          <p:grpSpPr>
            <a:xfrm>
              <a:off x="8498681" y="1907381"/>
              <a:ext cx="242888" cy="242888"/>
              <a:chOff x="8498681" y="1907381"/>
              <a:chExt cx="242888" cy="242888"/>
            </a:xfrm>
          </p:grpSpPr>
          <p:sp>
            <p:nvSpPr>
              <p:cNvPr id="26" name="Freeform 26"/>
              <p:cNvSpPr/>
              <p:nvPr/>
            </p:nvSpPr>
            <p:spPr>
              <a:xfrm>
                <a:off x="8498681" y="1907381"/>
                <a:ext cx="242888" cy="242888"/>
              </a:xfrm>
              <a:custGeom>
                <a:avLst/>
                <a:gdLst/>
                <a:ahLst/>
                <a:cxnLst/>
                <a:rect l="l" t="t" r="r" b="b"/>
                <a:pathLst>
                  <a:path w="242888" h="242888">
                    <a:moveTo>
                      <a:pt x="0" y="121444"/>
                    </a:moveTo>
                    <a:cubicBezTo>
                      <a:pt x="0" y="188515"/>
                      <a:pt x="54372" y="242888"/>
                      <a:pt x="121444" y="242888"/>
                    </a:cubicBezTo>
                    <a:cubicBezTo>
                      <a:pt x="188515" y="242888"/>
                      <a:pt x="242888" y="188515"/>
                      <a:pt x="242888" y="121444"/>
                    </a:cubicBezTo>
                    <a:cubicBezTo>
                      <a:pt x="242888" y="54372"/>
                      <a:pt x="188515" y="0"/>
                      <a:pt x="121444" y="0"/>
                    </a:cubicBezTo>
                    <a:cubicBezTo>
                      <a:pt x="54372" y="0"/>
                      <a:pt x="0" y="54372"/>
                      <a:pt x="0" y="121444"/>
                    </a:cubicBezTo>
                  </a:path>
                </a:pathLst>
              </a:custGeom>
              <a:noFill/>
              <a:ln w="19050">
                <a:solidFill>
                  <a:srgbClr val="D97757"/>
                </a:solidFill>
              </a:ln>
            </p:spPr>
          </p:sp>
          <p:sp>
            <p:nvSpPr>
              <p:cNvPr id="27" name="Freeform 27"/>
              <p:cNvSpPr/>
              <p:nvPr/>
            </p:nvSpPr>
            <p:spPr>
              <a:xfrm>
                <a:off x="8579644" y="1974514"/>
                <a:ext cx="80962" cy="108621"/>
              </a:xfrm>
              <a:custGeom>
                <a:avLst/>
                <a:gdLst/>
                <a:ahLst/>
                <a:cxnLst/>
                <a:rect l="l" t="t" r="r" b="b"/>
                <a:pathLst>
                  <a:path w="80962" h="108621">
                    <a:moveTo>
                      <a:pt x="78264" y="13829"/>
                    </a:moveTo>
                    <a:cubicBezTo>
                      <a:pt x="73283" y="5189"/>
                      <a:pt x="63943" y="0"/>
                      <a:pt x="53975" y="336"/>
                    </a:cubicBezTo>
                    <a:lnTo>
                      <a:pt x="26988" y="336"/>
                    </a:lnTo>
                    <a:cubicBezTo>
                      <a:pt x="12083" y="336"/>
                      <a:pt x="0" y="12418"/>
                      <a:pt x="0" y="27323"/>
                    </a:cubicBezTo>
                    <a:cubicBezTo>
                      <a:pt x="0" y="42228"/>
                      <a:pt x="12083" y="54311"/>
                      <a:pt x="26988" y="54311"/>
                    </a:cubicBezTo>
                    <a:lnTo>
                      <a:pt x="53975" y="54311"/>
                    </a:lnTo>
                    <a:cubicBezTo>
                      <a:pt x="68880" y="54311"/>
                      <a:pt x="80962" y="66393"/>
                      <a:pt x="80962" y="81298"/>
                    </a:cubicBezTo>
                    <a:cubicBezTo>
                      <a:pt x="80962" y="96203"/>
                      <a:pt x="68880" y="108286"/>
                      <a:pt x="53975" y="108286"/>
                    </a:cubicBezTo>
                    <a:lnTo>
                      <a:pt x="26988" y="108286"/>
                    </a:lnTo>
                    <a:cubicBezTo>
                      <a:pt x="17020" y="108621"/>
                      <a:pt x="7680" y="103432"/>
                      <a:pt x="2699" y="94792"/>
                    </a:cubicBezTo>
                  </a:path>
                </a:pathLst>
              </a:custGeom>
              <a:noFill/>
              <a:ln w="19050">
                <a:solidFill>
                  <a:srgbClr val="D97757"/>
                </a:solidFill>
              </a:ln>
            </p:spPr>
          </p:sp>
          <p:sp>
            <p:nvSpPr>
              <p:cNvPr id="28" name="Freeform 28"/>
              <p:cNvSpPr/>
              <p:nvPr/>
            </p:nvSpPr>
            <p:spPr>
              <a:xfrm>
                <a:off x="8620125" y="1961356"/>
                <a:ext cx="9525" cy="134938"/>
              </a:xfrm>
              <a:custGeom>
                <a:avLst/>
                <a:gdLst/>
                <a:ahLst/>
                <a:cxnLst/>
                <a:rect l="l" t="t" r="r" b="b"/>
                <a:pathLst>
                  <a:path w="9525" h="134938">
                    <a:moveTo>
                      <a:pt x="0" y="0"/>
                    </a:moveTo>
                    <a:lnTo>
                      <a:pt x="0" y="134938"/>
                    </a:lnTo>
                  </a:path>
                </a:pathLst>
              </a:custGeom>
              <a:noFill/>
              <a:ln w="19050">
                <a:solidFill>
                  <a:srgbClr val="D97757"/>
                </a:solidFill>
              </a:ln>
            </p:spPr>
          </p:sp>
        </p:grpSp>
        <p:sp>
          <p:nvSpPr>
            <p:cNvPr id="30" name="TextBox 30"/>
            <p:cNvSpPr txBox="1"/>
            <p:nvPr/>
          </p:nvSpPr>
          <p:spPr>
            <a:xfrm>
              <a:off x="8443912" y="2469356"/>
              <a:ext cx="1288732" cy="228600"/>
            </a:xfrm>
            <a:prstGeom prst="rect">
              <a:avLst/>
            </a:prstGeom>
            <a:noFill/>
            <a:ln>
              <a:noFill/>
            </a:ln>
          </p:spPr>
          <p:txBody>
            <a:bodyPr wrap="none" lIns="0" tIns="0" rIns="0" bIns="0" anchor="t" anchorCtr="0">
              <a:spAutoFit/>
            </a:bodyPr>
            <a:lstStyle/>
            <a:p>
              <a:pPr algn="l"/>
              <a:r>
                <a:rPr lang="zh-CN" sz="1125" b="1" dirty="0">
                  <a:solidFill>
                    <a:srgbClr val="64748B"/>
                  </a:solidFill>
                  <a:latin typeface="Anthropic Sans"/>
                  <a:ea typeface="Microsoft YaHei"/>
                  <a:cs typeface="Anthropic Sans"/>
                </a:rPr>
                <a:t>Pricing per MTok</a:t>
              </a:r>
            </a:p>
          </p:txBody>
        </p:sp>
        <p:sp>
          <p:nvSpPr>
            <p:cNvPr id="31" name="TextBox 31"/>
            <p:cNvSpPr txBox="1"/>
            <p:nvPr/>
          </p:nvSpPr>
          <p:spPr>
            <a:xfrm>
              <a:off x="8410575" y="2738438"/>
              <a:ext cx="3613190" cy="762000"/>
            </a:xfrm>
            <a:prstGeom prst="rect">
              <a:avLst/>
            </a:prstGeom>
            <a:noFill/>
            <a:ln>
              <a:noFill/>
            </a:ln>
          </p:spPr>
          <p:txBody>
            <a:bodyPr wrap="none" lIns="0" tIns="0" rIns="0" bIns="0" anchor="t" anchorCtr="0">
              <a:spAutoFit/>
            </a:bodyPr>
            <a:lstStyle/>
            <a:p>
              <a:pPr algn="l"/>
              <a:r>
                <a:rPr lang="zh-CN" sz="3750" b="1" dirty="0">
                  <a:solidFill>
                    <a:srgbClr val="191919"/>
                  </a:solidFill>
                  <a:latin typeface="Styrene A"/>
                  <a:ea typeface="Microsoft YaHei"/>
                  <a:cs typeface="Styrene A"/>
                </a:rPr>
                <a:t xml:space="preserve">$10 </a:t>
              </a:r>
              <a:r>
                <a:rPr lang="zh-CN" sz="1500" dirty="0">
                  <a:solidFill>
                    <a:srgbClr val="64748B"/>
                  </a:solidFill>
                  <a:latin typeface="Styrene A"/>
                  <a:ea typeface="Microsoft YaHei"/>
                  <a:cs typeface="Styrene A"/>
                </a:rPr>
                <a:t>in</a:t>
              </a:r>
              <a:r>
                <a:rPr lang="zh-CN" sz="3750" b="1" dirty="0">
                  <a:solidFill>
                    <a:srgbClr val="191919"/>
                  </a:solidFill>
                  <a:latin typeface="Styrene A"/>
                  <a:ea typeface="Microsoft YaHei"/>
                  <a:cs typeface="Styrene A"/>
                </a:rPr>
                <a:t xml:space="preserve"> </a:t>
              </a:r>
              <a:r>
                <a:rPr lang="zh-CN" sz="3750" b="1" dirty="0">
                  <a:solidFill>
                    <a:srgbClr val="D97757"/>
                  </a:solidFill>
                  <a:latin typeface="Styrene A"/>
                  <a:ea typeface="Microsoft YaHei"/>
                  <a:cs typeface="Styrene A"/>
                </a:rPr>
                <a:t>$50</a:t>
              </a:r>
              <a:r>
                <a:rPr lang="zh-CN" sz="3750" b="1" dirty="0">
                  <a:solidFill>
                    <a:srgbClr val="191919"/>
                  </a:solidFill>
                  <a:latin typeface="Styrene A"/>
                  <a:ea typeface="Microsoft YaHei"/>
                  <a:cs typeface="Styrene A"/>
                </a:rPr>
                <a:t xml:space="preserve"> </a:t>
              </a:r>
              <a:r>
                <a:rPr lang="zh-CN" sz="1500" dirty="0">
                  <a:solidFill>
                    <a:srgbClr val="64748B"/>
                  </a:solidFill>
                  <a:latin typeface="Styrene A"/>
                  <a:ea typeface="Microsoft YaHei"/>
                  <a:cs typeface="Styrene A"/>
                </a:rPr>
                <a:t>out</a:t>
              </a:r>
            </a:p>
          </p:txBody>
        </p:sp>
        <p:sp>
          <p:nvSpPr>
            <p:cNvPr id="32" name="TextBox 32"/>
            <p:cNvSpPr txBox="1"/>
            <p:nvPr/>
          </p:nvSpPr>
          <p:spPr>
            <a:xfrm>
              <a:off x="8445818" y="3342799"/>
              <a:ext cx="1994511" cy="198120"/>
            </a:xfrm>
            <a:prstGeom prst="rect">
              <a:avLst/>
            </a:prstGeom>
            <a:noFill/>
            <a:ln>
              <a:noFill/>
            </a:ln>
          </p:spPr>
          <p:txBody>
            <a:bodyPr wrap="none" lIns="0" tIns="0" rIns="0" bIns="0" anchor="t" anchorCtr="0">
              <a:spAutoFit/>
            </a:bodyPr>
            <a:lstStyle/>
            <a:p>
              <a:pPr algn="l"/>
              <a:r>
                <a:rPr lang="zh-CN" sz="975" dirty="0">
                  <a:solidFill>
                    <a:srgbClr val="94A3B8"/>
                  </a:solidFill>
                  <a:latin typeface="Anthropic Sans"/>
                  <a:ea typeface="Microsoft YaHei"/>
                  <a:cs typeface="Anthropic Sans"/>
                </a:rPr>
                <a:t>Flat — no long-context premium</a:t>
              </a:r>
            </a:p>
          </p:txBody>
        </p:sp>
      </p:grpSp>
      <p:grpSp>
        <p:nvGrpSpPr>
          <p:cNvPr id="45" name="Group 45"/>
          <p:cNvGrpSpPr/>
          <p:nvPr/>
        </p:nvGrpSpPr>
        <p:grpSpPr>
          <a:xfrm>
            <a:off x="762000" y="3981450"/>
            <a:ext cx="3429000" cy="2095500"/>
            <a:chOff x="762000" y="3981450"/>
            <a:chExt cx="3429000" cy="2095500"/>
          </a:xfrm>
        </p:grpSpPr>
        <p:sp>
          <p:nvSpPr>
            <p:cNvPr id="34" name="Rectangle 34"/>
            <p:cNvSpPr/>
            <p:nvPr/>
          </p:nvSpPr>
          <p:spPr>
            <a:xfrm>
              <a:off x="762000" y="3981450"/>
              <a:ext cx="3429000" cy="2095500"/>
            </a:xfrm>
            <a:prstGeom prst="roundRect">
              <a:avLst>
                <a:gd name="adj" fmla="val 5455"/>
              </a:avLst>
            </a:prstGeom>
            <a:solidFill>
              <a:srgbClr val="FFFFFF"/>
            </a:solidFill>
            <a:ln w="14288">
              <a:solidFill>
                <a:srgbClr val="E2E8F0"/>
              </a:solidFill>
            </a:ln>
          </p:spPr>
        </p:sp>
        <p:sp>
          <p:nvSpPr>
            <p:cNvPr id="35" name="Rectangle 35"/>
            <p:cNvSpPr/>
            <p:nvPr/>
          </p:nvSpPr>
          <p:spPr>
            <a:xfrm>
              <a:off x="762000" y="4191000"/>
              <a:ext cx="47625" cy="533400"/>
            </a:xfrm>
            <a:prstGeom prst="roundRect">
              <a:avLst>
                <a:gd name="adj" fmla="val 50000"/>
              </a:avLst>
            </a:prstGeom>
            <a:solidFill>
              <a:srgbClr val="D97757"/>
            </a:solidFill>
            <a:ln>
              <a:noFill/>
            </a:ln>
          </p:spPr>
        </p:sp>
        <p:grpSp>
          <p:nvGrpSpPr>
            <p:cNvPr id="41" name="Group 41"/>
            <p:cNvGrpSpPr/>
            <p:nvPr/>
          </p:nvGrpSpPr>
          <p:grpSpPr>
            <a:xfrm>
              <a:off x="1069181" y="4288631"/>
              <a:ext cx="242888" cy="242888"/>
              <a:chOff x="1069181" y="4288631"/>
              <a:chExt cx="242888" cy="242888"/>
            </a:xfrm>
          </p:grpSpPr>
          <p:sp>
            <p:nvSpPr>
              <p:cNvPr id="36" name="Freeform 36"/>
              <p:cNvSpPr/>
              <p:nvPr/>
            </p:nvSpPr>
            <p:spPr>
              <a:xfrm>
                <a:off x="1069181" y="4288631"/>
                <a:ext cx="242888" cy="242888"/>
              </a:xfrm>
              <a:custGeom>
                <a:avLst/>
                <a:gdLst/>
                <a:ahLst/>
                <a:cxnLst/>
                <a:rect l="l" t="t" r="r" b="b"/>
                <a:pathLst>
                  <a:path w="242888" h="242888">
                    <a:moveTo>
                      <a:pt x="0" y="121444"/>
                    </a:moveTo>
                    <a:cubicBezTo>
                      <a:pt x="0" y="188515"/>
                      <a:pt x="54372" y="242888"/>
                      <a:pt x="121444" y="242888"/>
                    </a:cubicBezTo>
                    <a:cubicBezTo>
                      <a:pt x="188515" y="242888"/>
                      <a:pt x="242888" y="188515"/>
                      <a:pt x="242888" y="121444"/>
                    </a:cubicBezTo>
                    <a:cubicBezTo>
                      <a:pt x="242888" y="54372"/>
                      <a:pt x="188515" y="0"/>
                      <a:pt x="121444" y="0"/>
                    </a:cubicBezTo>
                    <a:cubicBezTo>
                      <a:pt x="54372" y="0"/>
                      <a:pt x="0" y="54372"/>
                      <a:pt x="0" y="121444"/>
                    </a:cubicBezTo>
                  </a:path>
                </a:pathLst>
              </a:custGeom>
              <a:noFill/>
              <a:ln w="19050">
                <a:solidFill>
                  <a:srgbClr val="D97757"/>
                </a:solidFill>
              </a:ln>
            </p:spPr>
          </p:sp>
          <p:sp>
            <p:nvSpPr>
              <p:cNvPr id="37" name="Freeform 37"/>
              <p:cNvSpPr/>
              <p:nvPr/>
            </p:nvSpPr>
            <p:spPr>
              <a:xfrm>
                <a:off x="1077278" y="4369594"/>
                <a:ext cx="226695" cy="9525"/>
              </a:xfrm>
              <a:custGeom>
                <a:avLst/>
                <a:gdLst/>
                <a:ahLst/>
                <a:cxnLst/>
                <a:rect l="l" t="t" r="r" b="b"/>
                <a:pathLst>
                  <a:path w="226695" h="9525">
                    <a:moveTo>
                      <a:pt x="0" y="0"/>
                    </a:moveTo>
                    <a:lnTo>
                      <a:pt x="226695" y="0"/>
                    </a:lnTo>
                  </a:path>
                </a:pathLst>
              </a:custGeom>
              <a:noFill/>
              <a:ln w="19050">
                <a:solidFill>
                  <a:srgbClr val="D97757"/>
                </a:solidFill>
              </a:ln>
            </p:spPr>
          </p:sp>
          <p:sp>
            <p:nvSpPr>
              <p:cNvPr id="38" name="Freeform 38"/>
              <p:cNvSpPr/>
              <p:nvPr/>
            </p:nvSpPr>
            <p:spPr>
              <a:xfrm>
                <a:off x="1077278" y="4450556"/>
                <a:ext cx="226695" cy="9525"/>
              </a:xfrm>
              <a:custGeom>
                <a:avLst/>
                <a:gdLst/>
                <a:ahLst/>
                <a:cxnLst/>
                <a:rect l="l" t="t" r="r" b="b"/>
                <a:pathLst>
                  <a:path w="226695" h="9525">
                    <a:moveTo>
                      <a:pt x="0" y="0"/>
                    </a:moveTo>
                    <a:lnTo>
                      <a:pt x="226695" y="0"/>
                    </a:lnTo>
                  </a:path>
                </a:pathLst>
              </a:custGeom>
              <a:noFill/>
              <a:ln w="19050">
                <a:solidFill>
                  <a:srgbClr val="D97757"/>
                </a:solidFill>
              </a:ln>
            </p:spPr>
          </p:sp>
          <p:sp>
            <p:nvSpPr>
              <p:cNvPr id="39" name="Freeform 39"/>
              <p:cNvSpPr/>
              <p:nvPr/>
            </p:nvSpPr>
            <p:spPr>
              <a:xfrm>
                <a:off x="1137499" y="4288631"/>
                <a:ext cx="46379" cy="242888"/>
              </a:xfrm>
              <a:custGeom>
                <a:avLst/>
                <a:gdLst/>
                <a:ahLst/>
                <a:cxnLst/>
                <a:rect l="l" t="t" r="r" b="b"/>
                <a:pathLst>
                  <a:path w="46379" h="242888">
                    <a:moveTo>
                      <a:pt x="46379" y="0"/>
                    </a:moveTo>
                    <a:cubicBezTo>
                      <a:pt x="0" y="74321"/>
                      <a:pt x="0" y="168567"/>
                      <a:pt x="46379" y="242888"/>
                    </a:cubicBezTo>
                  </a:path>
                </a:pathLst>
              </a:custGeom>
              <a:noFill/>
              <a:ln w="19050">
                <a:solidFill>
                  <a:srgbClr val="D97757"/>
                </a:solidFill>
              </a:ln>
            </p:spPr>
          </p:sp>
          <p:sp>
            <p:nvSpPr>
              <p:cNvPr id="40" name="Freeform 40"/>
              <p:cNvSpPr/>
              <p:nvPr/>
            </p:nvSpPr>
            <p:spPr>
              <a:xfrm>
                <a:off x="1197372" y="4288631"/>
                <a:ext cx="46379" cy="242888"/>
              </a:xfrm>
              <a:custGeom>
                <a:avLst/>
                <a:gdLst/>
                <a:ahLst/>
                <a:cxnLst/>
                <a:rect l="l" t="t" r="r" b="b"/>
                <a:pathLst>
                  <a:path w="46379" h="242888">
                    <a:moveTo>
                      <a:pt x="0" y="0"/>
                    </a:moveTo>
                    <a:cubicBezTo>
                      <a:pt x="46379" y="74321"/>
                      <a:pt x="46379" y="168567"/>
                      <a:pt x="0" y="242888"/>
                    </a:cubicBezTo>
                  </a:path>
                </a:pathLst>
              </a:custGeom>
              <a:noFill/>
              <a:ln w="19050">
                <a:solidFill>
                  <a:srgbClr val="D97757"/>
                </a:solidFill>
              </a:ln>
            </p:spPr>
          </p:sp>
        </p:grpSp>
        <p:sp>
          <p:nvSpPr>
            <p:cNvPr id="42" name="TextBox 42"/>
            <p:cNvSpPr txBox="1"/>
            <p:nvPr/>
          </p:nvSpPr>
          <p:spPr>
            <a:xfrm>
              <a:off x="1014412" y="4850606"/>
              <a:ext cx="1241477" cy="228600"/>
            </a:xfrm>
            <a:prstGeom prst="rect">
              <a:avLst/>
            </a:prstGeom>
            <a:noFill/>
            <a:ln>
              <a:noFill/>
            </a:ln>
          </p:spPr>
          <p:txBody>
            <a:bodyPr wrap="none" lIns="0" tIns="0" rIns="0" bIns="0" anchor="t" anchorCtr="0">
              <a:spAutoFit/>
            </a:bodyPr>
            <a:lstStyle/>
            <a:p>
              <a:pPr algn="l"/>
              <a:r>
                <a:rPr lang="zh-CN" sz="1125" b="1" dirty="0">
                  <a:solidFill>
                    <a:srgbClr val="64748B"/>
                  </a:solidFill>
                  <a:latin typeface="Anthropic Sans"/>
                  <a:ea typeface="Microsoft YaHei"/>
                  <a:cs typeface="Anthropic Sans"/>
                </a:rPr>
                <a:t>Platforms at GA</a:t>
              </a:r>
            </a:p>
          </p:txBody>
        </p:sp>
        <p:sp>
          <p:nvSpPr>
            <p:cNvPr id="43" name="TextBox 43"/>
            <p:cNvSpPr txBox="1"/>
            <p:nvPr/>
          </p:nvSpPr>
          <p:spPr>
            <a:xfrm>
              <a:off x="981075" y="5119688"/>
              <a:ext cx="384036" cy="762000"/>
            </a:xfrm>
            <a:prstGeom prst="rect">
              <a:avLst/>
            </a:prstGeom>
            <a:noFill/>
            <a:ln>
              <a:noFill/>
            </a:ln>
          </p:spPr>
          <p:txBody>
            <a:bodyPr wrap="none" lIns="0" tIns="0" rIns="0" bIns="0" anchor="t" anchorCtr="0">
              <a:spAutoFit/>
            </a:bodyPr>
            <a:lstStyle/>
            <a:p>
              <a:pPr algn="l"/>
              <a:r>
                <a:rPr lang="zh-CN" sz="3750" b="1" dirty="0">
                  <a:solidFill>
                    <a:srgbClr val="191919"/>
                  </a:solidFill>
                  <a:latin typeface="Styrene A"/>
                  <a:ea typeface="Microsoft YaHei"/>
                  <a:cs typeface="Styrene A"/>
                </a:rPr>
                <a:t>5</a:t>
              </a:r>
            </a:p>
          </p:txBody>
        </p:sp>
        <p:sp>
          <p:nvSpPr>
            <p:cNvPr id="44" name="TextBox 44"/>
            <p:cNvSpPr txBox="1"/>
            <p:nvPr/>
          </p:nvSpPr>
          <p:spPr>
            <a:xfrm>
              <a:off x="1016318" y="5724049"/>
              <a:ext cx="2911126" cy="198120"/>
            </a:xfrm>
            <a:prstGeom prst="rect">
              <a:avLst/>
            </a:prstGeom>
            <a:noFill/>
            <a:ln>
              <a:noFill/>
            </a:ln>
          </p:spPr>
          <p:txBody>
            <a:bodyPr wrap="none" lIns="0" tIns="0" rIns="0" bIns="0" anchor="t" anchorCtr="0">
              <a:spAutoFit/>
            </a:bodyPr>
            <a:lstStyle/>
            <a:p>
              <a:pPr algn="l"/>
              <a:r>
                <a:rPr lang="zh-CN" sz="975" dirty="0">
                  <a:solidFill>
                    <a:srgbClr val="94A3B8"/>
                  </a:solidFill>
                  <a:latin typeface="Anthropic Sans"/>
                  <a:ea typeface="Microsoft YaHei"/>
                  <a:cs typeface="Anthropic Sans"/>
                </a:rPr>
                <a:t>Claude API · AWS · Bedrock · Vertex · Foundry</a:t>
              </a:r>
            </a:p>
          </p:txBody>
        </p:sp>
      </p:grpSp>
      <p:grpSp>
        <p:nvGrpSpPr>
          <p:cNvPr id="57" name="Group 57"/>
          <p:cNvGrpSpPr/>
          <p:nvPr/>
        </p:nvGrpSpPr>
        <p:grpSpPr>
          <a:xfrm>
            <a:off x="4476750" y="3981450"/>
            <a:ext cx="3429000" cy="2095500"/>
            <a:chOff x="4476750" y="3981450"/>
            <a:chExt cx="3429000" cy="2095500"/>
          </a:xfrm>
        </p:grpSpPr>
        <p:sp>
          <p:nvSpPr>
            <p:cNvPr id="46" name="Rectangle 46"/>
            <p:cNvSpPr/>
            <p:nvPr/>
          </p:nvSpPr>
          <p:spPr>
            <a:xfrm>
              <a:off x="4476750" y="3981450"/>
              <a:ext cx="3429000" cy="2095500"/>
            </a:xfrm>
            <a:prstGeom prst="roundRect">
              <a:avLst>
                <a:gd name="adj" fmla="val 5455"/>
              </a:avLst>
            </a:prstGeom>
            <a:solidFill>
              <a:srgbClr val="FFFFFF"/>
            </a:solidFill>
            <a:ln w="14288">
              <a:solidFill>
                <a:srgbClr val="E2E8F0"/>
              </a:solidFill>
            </a:ln>
          </p:spPr>
        </p:sp>
        <p:sp>
          <p:nvSpPr>
            <p:cNvPr id="47" name="Rectangle 47"/>
            <p:cNvSpPr/>
            <p:nvPr/>
          </p:nvSpPr>
          <p:spPr>
            <a:xfrm>
              <a:off x="4476750" y="4191000"/>
              <a:ext cx="47625" cy="533400"/>
            </a:xfrm>
            <a:prstGeom prst="roundRect">
              <a:avLst>
                <a:gd name="adj" fmla="val 50000"/>
              </a:avLst>
            </a:prstGeom>
            <a:solidFill>
              <a:srgbClr val="D97757"/>
            </a:solidFill>
            <a:ln>
              <a:noFill/>
            </a:ln>
          </p:spPr>
        </p:sp>
        <p:grpSp>
          <p:nvGrpSpPr>
            <p:cNvPr id="53" name="Group 53"/>
            <p:cNvGrpSpPr/>
            <p:nvPr/>
          </p:nvGrpSpPr>
          <p:grpSpPr>
            <a:xfrm>
              <a:off x="4797425" y="4288631"/>
              <a:ext cx="215900" cy="242888"/>
              <a:chOff x="4797425" y="4288631"/>
              <a:chExt cx="215900" cy="242888"/>
            </a:xfrm>
          </p:grpSpPr>
          <p:sp>
            <p:nvSpPr>
              <p:cNvPr id="48" name="Freeform 48"/>
              <p:cNvSpPr/>
              <p:nvPr/>
            </p:nvSpPr>
            <p:spPr>
              <a:xfrm>
                <a:off x="4797425" y="4315619"/>
                <a:ext cx="215900" cy="215900"/>
              </a:xfrm>
              <a:custGeom>
                <a:avLst/>
                <a:gdLst/>
                <a:ahLst/>
                <a:cxnLst/>
                <a:rect l="l" t="t" r="r" b="b"/>
                <a:pathLst>
                  <a:path w="215900" h="215900">
                    <a:moveTo>
                      <a:pt x="0" y="26988"/>
                    </a:moveTo>
                    <a:cubicBezTo>
                      <a:pt x="0" y="12083"/>
                      <a:pt x="12083" y="0"/>
                      <a:pt x="26987" y="0"/>
                    </a:cubicBezTo>
                    <a:lnTo>
                      <a:pt x="188912" y="0"/>
                    </a:lnTo>
                    <a:cubicBezTo>
                      <a:pt x="203817" y="0"/>
                      <a:pt x="215900" y="12083"/>
                      <a:pt x="215900" y="26988"/>
                    </a:cubicBezTo>
                    <a:lnTo>
                      <a:pt x="215900" y="188913"/>
                    </a:lnTo>
                    <a:cubicBezTo>
                      <a:pt x="215900" y="203817"/>
                      <a:pt x="203817" y="215900"/>
                      <a:pt x="188912" y="215900"/>
                    </a:cubicBezTo>
                    <a:lnTo>
                      <a:pt x="26987" y="215900"/>
                    </a:lnTo>
                    <a:cubicBezTo>
                      <a:pt x="12083" y="215900"/>
                      <a:pt x="0" y="203817"/>
                      <a:pt x="0" y="188913"/>
                    </a:cubicBezTo>
                    <a:lnTo>
                      <a:pt x="0" y="26988"/>
                    </a:lnTo>
                  </a:path>
                </a:pathLst>
              </a:custGeom>
              <a:noFill/>
              <a:ln w="19050">
                <a:solidFill>
                  <a:srgbClr val="D97757"/>
                </a:solidFill>
              </a:ln>
            </p:spPr>
          </p:sp>
          <p:sp>
            <p:nvSpPr>
              <p:cNvPr id="49" name="Freeform 49"/>
              <p:cNvSpPr/>
              <p:nvPr/>
            </p:nvSpPr>
            <p:spPr>
              <a:xfrm>
                <a:off x="4959350" y="4288631"/>
                <a:ext cx="9525" cy="53975"/>
              </a:xfrm>
              <a:custGeom>
                <a:avLst/>
                <a:gdLst/>
                <a:ahLst/>
                <a:cxnLst/>
                <a:rect l="l" t="t" r="r" b="b"/>
                <a:pathLst>
                  <a:path w="9525" h="53975">
                    <a:moveTo>
                      <a:pt x="0" y="0"/>
                    </a:moveTo>
                    <a:lnTo>
                      <a:pt x="0" y="53975"/>
                    </a:lnTo>
                  </a:path>
                </a:pathLst>
              </a:custGeom>
              <a:noFill/>
              <a:ln w="19050">
                <a:solidFill>
                  <a:srgbClr val="D97757"/>
                </a:solidFill>
              </a:ln>
            </p:spPr>
          </p:sp>
          <p:sp>
            <p:nvSpPr>
              <p:cNvPr id="50" name="Freeform 50"/>
              <p:cNvSpPr/>
              <p:nvPr/>
            </p:nvSpPr>
            <p:spPr>
              <a:xfrm>
                <a:off x="4851400" y="4288631"/>
                <a:ext cx="9525" cy="53975"/>
              </a:xfrm>
              <a:custGeom>
                <a:avLst/>
                <a:gdLst/>
                <a:ahLst/>
                <a:cxnLst/>
                <a:rect l="l" t="t" r="r" b="b"/>
                <a:pathLst>
                  <a:path w="9525" h="53975">
                    <a:moveTo>
                      <a:pt x="0" y="0"/>
                    </a:moveTo>
                    <a:lnTo>
                      <a:pt x="0" y="53975"/>
                    </a:lnTo>
                  </a:path>
                </a:pathLst>
              </a:custGeom>
              <a:noFill/>
              <a:ln w="19050">
                <a:solidFill>
                  <a:srgbClr val="D97757"/>
                </a:solidFill>
              </a:ln>
            </p:spPr>
          </p:sp>
          <p:sp>
            <p:nvSpPr>
              <p:cNvPr id="51" name="Freeform 51"/>
              <p:cNvSpPr/>
              <p:nvPr/>
            </p:nvSpPr>
            <p:spPr>
              <a:xfrm>
                <a:off x="4797425" y="4396581"/>
                <a:ext cx="215900" cy="9525"/>
              </a:xfrm>
              <a:custGeom>
                <a:avLst/>
                <a:gdLst/>
                <a:ahLst/>
                <a:cxnLst/>
                <a:rect l="l" t="t" r="r" b="b"/>
                <a:pathLst>
                  <a:path w="215900" h="9525">
                    <a:moveTo>
                      <a:pt x="0" y="0"/>
                    </a:moveTo>
                    <a:lnTo>
                      <a:pt x="215900" y="0"/>
                    </a:lnTo>
                  </a:path>
                </a:pathLst>
              </a:custGeom>
              <a:noFill/>
              <a:ln w="19050">
                <a:solidFill>
                  <a:srgbClr val="D97757"/>
                </a:solidFill>
              </a:ln>
            </p:spPr>
          </p:sp>
          <p:sp>
            <p:nvSpPr>
              <p:cNvPr id="52" name="Freeform 52"/>
              <p:cNvSpPr/>
              <p:nvPr/>
            </p:nvSpPr>
            <p:spPr>
              <a:xfrm>
                <a:off x="4851400" y="4450556"/>
                <a:ext cx="26987" cy="26987"/>
              </a:xfrm>
              <a:custGeom>
                <a:avLst/>
                <a:gdLst/>
                <a:ahLst/>
                <a:cxnLst/>
                <a:rect l="l" t="t" r="r" b="b"/>
                <a:pathLst>
                  <a:path w="26987" h="26987">
                    <a:moveTo>
                      <a:pt x="0" y="0"/>
                    </a:moveTo>
                    <a:lnTo>
                      <a:pt x="26987" y="0"/>
                    </a:lnTo>
                    <a:lnTo>
                      <a:pt x="26987" y="26987"/>
                    </a:lnTo>
                    <a:lnTo>
                      <a:pt x="0" y="26987"/>
                    </a:lnTo>
                    <a:lnTo>
                      <a:pt x="0" y="0"/>
                    </a:lnTo>
                  </a:path>
                </a:pathLst>
              </a:custGeom>
              <a:noFill/>
              <a:ln w="19050">
                <a:solidFill>
                  <a:srgbClr val="D97757"/>
                </a:solidFill>
              </a:ln>
            </p:spPr>
          </p:sp>
        </p:grpSp>
        <p:sp>
          <p:nvSpPr>
            <p:cNvPr id="54" name="TextBox 54"/>
            <p:cNvSpPr txBox="1"/>
            <p:nvPr/>
          </p:nvSpPr>
          <p:spPr>
            <a:xfrm>
              <a:off x="4729162" y="4850606"/>
              <a:ext cx="1438376" cy="228600"/>
            </a:xfrm>
            <a:prstGeom prst="rect">
              <a:avLst/>
            </a:prstGeom>
            <a:noFill/>
            <a:ln>
              <a:noFill/>
            </a:ln>
          </p:spPr>
          <p:txBody>
            <a:bodyPr wrap="none" lIns="0" tIns="0" rIns="0" bIns="0" anchor="t" anchorCtr="0">
              <a:spAutoFit/>
            </a:bodyPr>
            <a:lstStyle/>
            <a:p>
              <a:pPr algn="l"/>
              <a:r>
                <a:rPr lang="zh-CN" sz="1125" b="1" dirty="0">
                  <a:solidFill>
                    <a:srgbClr val="64748B"/>
                  </a:solidFill>
                  <a:latin typeface="Anthropic Sans"/>
                  <a:ea typeface="Microsoft YaHei"/>
                  <a:cs typeface="Anthropic Sans"/>
                </a:rPr>
                <a:t>Generally available</a:t>
              </a:r>
            </a:p>
          </p:txBody>
        </p:sp>
        <p:sp>
          <p:nvSpPr>
            <p:cNvPr id="55" name="TextBox 55"/>
            <p:cNvSpPr txBox="1"/>
            <p:nvPr/>
          </p:nvSpPr>
          <p:spPr>
            <a:xfrm>
              <a:off x="4695825" y="5119688"/>
              <a:ext cx="2720578" cy="762000"/>
            </a:xfrm>
            <a:prstGeom prst="rect">
              <a:avLst/>
            </a:prstGeom>
            <a:noFill/>
            <a:ln>
              <a:noFill/>
            </a:ln>
          </p:spPr>
          <p:txBody>
            <a:bodyPr wrap="none" lIns="0" tIns="0" rIns="0" bIns="0" anchor="t" anchorCtr="0">
              <a:spAutoFit/>
            </a:bodyPr>
            <a:lstStyle/>
            <a:p>
              <a:pPr algn="l"/>
              <a:r>
                <a:rPr lang="zh-CN" sz="3750" b="1" dirty="0">
                  <a:solidFill>
                    <a:srgbClr val="191919"/>
                  </a:solidFill>
                  <a:latin typeface="Styrene A"/>
                  <a:ea typeface="Microsoft YaHei"/>
                  <a:cs typeface="Styrene A"/>
                </a:rPr>
                <a:t xml:space="preserve">Jun 9 </a:t>
              </a:r>
              <a:r>
                <a:rPr lang="zh-CN" sz="1500" dirty="0">
                  <a:solidFill>
                    <a:srgbClr val="64748B"/>
                  </a:solidFill>
                  <a:latin typeface="Styrene A"/>
                  <a:ea typeface="Microsoft YaHei"/>
                  <a:cs typeface="Styrene A"/>
                </a:rPr>
                <a:t>2026</a:t>
              </a:r>
            </a:p>
          </p:txBody>
        </p:sp>
        <p:sp>
          <p:nvSpPr>
            <p:cNvPr id="56" name="TextBox 56"/>
            <p:cNvSpPr txBox="1"/>
            <p:nvPr/>
          </p:nvSpPr>
          <p:spPr>
            <a:xfrm>
              <a:off x="4731068" y="5724049"/>
              <a:ext cx="3047643" cy="198120"/>
            </a:xfrm>
            <a:prstGeom prst="rect">
              <a:avLst/>
            </a:prstGeom>
            <a:noFill/>
            <a:ln>
              <a:noFill/>
            </a:ln>
          </p:spPr>
          <p:txBody>
            <a:bodyPr wrap="none" lIns="0" tIns="0" rIns="0" bIns="0" anchor="t" anchorCtr="0">
              <a:spAutoFit/>
            </a:bodyPr>
            <a:lstStyle/>
            <a:p>
              <a:pPr algn="l"/>
              <a:r>
                <a:rPr lang="zh-CN" sz="975" dirty="0">
                  <a:solidFill>
                    <a:srgbClr val="94A3B8"/>
                  </a:solidFill>
                  <a:latin typeface="Anthropic Sans"/>
                  <a:ea typeface="Microsoft YaHei"/>
                  <a:cs typeface="Anthropic Sans"/>
                </a:rPr>
                <a:t>API immediately; subscriptions staged to Jun 23</a:t>
              </a:r>
            </a:p>
          </p:txBody>
        </p:sp>
      </p:grpSp>
      <p:grpSp>
        <p:nvGrpSpPr>
          <p:cNvPr id="67" name="Group 67"/>
          <p:cNvGrpSpPr/>
          <p:nvPr/>
        </p:nvGrpSpPr>
        <p:grpSpPr>
          <a:xfrm>
            <a:off x="8191500" y="3981450"/>
            <a:ext cx="3429000" cy="2095500"/>
            <a:chOff x="8191500" y="3981450"/>
            <a:chExt cx="3429000" cy="2095500"/>
          </a:xfrm>
        </p:grpSpPr>
        <p:sp>
          <p:nvSpPr>
            <p:cNvPr id="58" name="Rectangle 58"/>
            <p:cNvSpPr/>
            <p:nvPr/>
          </p:nvSpPr>
          <p:spPr>
            <a:xfrm>
              <a:off x="8191500" y="3981450"/>
              <a:ext cx="3429000" cy="2095500"/>
            </a:xfrm>
            <a:prstGeom prst="roundRect">
              <a:avLst>
                <a:gd name="adj" fmla="val 5455"/>
              </a:avLst>
            </a:prstGeom>
            <a:solidFill>
              <a:srgbClr val="FFFFFF"/>
            </a:solidFill>
            <a:ln w="14288">
              <a:solidFill>
                <a:srgbClr val="E2E8F0"/>
              </a:solidFill>
            </a:ln>
          </p:spPr>
        </p:sp>
        <p:sp>
          <p:nvSpPr>
            <p:cNvPr id="59" name="Rectangle 59"/>
            <p:cNvSpPr/>
            <p:nvPr/>
          </p:nvSpPr>
          <p:spPr>
            <a:xfrm>
              <a:off x="8191500" y="4191000"/>
              <a:ext cx="47625" cy="533400"/>
            </a:xfrm>
            <a:prstGeom prst="roundRect">
              <a:avLst>
                <a:gd name="adj" fmla="val 50000"/>
              </a:avLst>
            </a:prstGeom>
            <a:solidFill>
              <a:srgbClr val="D97757"/>
            </a:solidFill>
            <a:ln>
              <a:noFill/>
            </a:ln>
          </p:spPr>
        </p:sp>
        <p:grpSp>
          <p:nvGrpSpPr>
            <p:cNvPr id="63" name="Group 63"/>
            <p:cNvGrpSpPr/>
            <p:nvPr/>
          </p:nvGrpSpPr>
          <p:grpSpPr>
            <a:xfrm>
              <a:off x="8525669" y="4288631"/>
              <a:ext cx="188912" cy="242888"/>
              <a:chOff x="8525669" y="4288631"/>
              <a:chExt cx="188912" cy="242888"/>
            </a:xfrm>
          </p:grpSpPr>
          <p:sp>
            <p:nvSpPr>
              <p:cNvPr id="60" name="Freeform 60"/>
              <p:cNvSpPr/>
              <p:nvPr/>
            </p:nvSpPr>
            <p:spPr>
              <a:xfrm>
                <a:off x="8525669" y="4396581"/>
                <a:ext cx="188912" cy="134938"/>
              </a:xfrm>
              <a:custGeom>
                <a:avLst/>
                <a:gdLst/>
                <a:ahLst/>
                <a:cxnLst/>
                <a:rect l="l" t="t" r="r" b="b"/>
                <a:pathLst>
                  <a:path w="188912" h="134938">
                    <a:moveTo>
                      <a:pt x="0" y="26988"/>
                    </a:moveTo>
                    <a:cubicBezTo>
                      <a:pt x="0" y="12083"/>
                      <a:pt x="12083" y="0"/>
                      <a:pt x="26987" y="0"/>
                    </a:cubicBezTo>
                    <a:lnTo>
                      <a:pt x="161925" y="0"/>
                    </a:lnTo>
                    <a:cubicBezTo>
                      <a:pt x="176830" y="0"/>
                      <a:pt x="188912" y="12083"/>
                      <a:pt x="188912" y="26988"/>
                    </a:cubicBezTo>
                    <a:lnTo>
                      <a:pt x="188912" y="107950"/>
                    </a:lnTo>
                    <a:cubicBezTo>
                      <a:pt x="188912" y="122855"/>
                      <a:pt x="176830" y="134938"/>
                      <a:pt x="161925" y="134938"/>
                    </a:cubicBezTo>
                    <a:lnTo>
                      <a:pt x="26987" y="134938"/>
                    </a:lnTo>
                    <a:cubicBezTo>
                      <a:pt x="12083" y="134938"/>
                      <a:pt x="0" y="122855"/>
                      <a:pt x="0" y="107950"/>
                    </a:cubicBezTo>
                    <a:lnTo>
                      <a:pt x="0" y="26988"/>
                    </a:lnTo>
                  </a:path>
                </a:pathLst>
              </a:custGeom>
              <a:noFill/>
              <a:ln w="19050">
                <a:solidFill>
                  <a:srgbClr val="D97757"/>
                </a:solidFill>
              </a:ln>
            </p:spPr>
          </p:sp>
          <p:sp>
            <p:nvSpPr>
              <p:cNvPr id="61" name="Freeform 61"/>
              <p:cNvSpPr/>
              <p:nvPr/>
            </p:nvSpPr>
            <p:spPr>
              <a:xfrm>
                <a:off x="8606631" y="4450556"/>
                <a:ext cx="26987" cy="26987"/>
              </a:xfrm>
              <a:custGeom>
                <a:avLst/>
                <a:gdLst/>
                <a:ahLst/>
                <a:cxnLst/>
                <a:rect l="l" t="t" r="r" b="b"/>
                <a:pathLst>
                  <a:path w="26987" h="26987">
                    <a:moveTo>
                      <a:pt x="0" y="13494"/>
                    </a:moveTo>
                    <a:cubicBezTo>
                      <a:pt x="0" y="20946"/>
                      <a:pt x="6041" y="26987"/>
                      <a:pt x="13494" y="26987"/>
                    </a:cubicBezTo>
                    <a:cubicBezTo>
                      <a:pt x="20946" y="26987"/>
                      <a:pt x="26987" y="20946"/>
                      <a:pt x="26987" y="13494"/>
                    </a:cubicBezTo>
                    <a:cubicBezTo>
                      <a:pt x="26987" y="6041"/>
                      <a:pt x="20946" y="0"/>
                      <a:pt x="13494" y="0"/>
                    </a:cubicBezTo>
                    <a:cubicBezTo>
                      <a:pt x="6041" y="0"/>
                      <a:pt x="0" y="6041"/>
                      <a:pt x="0" y="13494"/>
                    </a:cubicBezTo>
                  </a:path>
                </a:pathLst>
              </a:custGeom>
              <a:noFill/>
              <a:ln w="19050">
                <a:solidFill>
                  <a:srgbClr val="D97757"/>
                </a:solidFill>
              </a:ln>
            </p:spPr>
          </p:sp>
          <p:sp>
            <p:nvSpPr>
              <p:cNvPr id="62" name="Freeform 62"/>
              <p:cNvSpPr/>
              <p:nvPr/>
            </p:nvSpPr>
            <p:spPr>
              <a:xfrm>
                <a:off x="8566150" y="4288631"/>
                <a:ext cx="107950" cy="107950"/>
              </a:xfrm>
              <a:custGeom>
                <a:avLst/>
                <a:gdLst/>
                <a:ahLst/>
                <a:cxnLst/>
                <a:rect l="l" t="t" r="r" b="b"/>
                <a:pathLst>
                  <a:path w="107950" h="107950">
                    <a:moveTo>
                      <a:pt x="0" y="107950"/>
                    </a:moveTo>
                    <a:lnTo>
                      <a:pt x="0" y="53975"/>
                    </a:lnTo>
                    <a:cubicBezTo>
                      <a:pt x="0" y="24165"/>
                      <a:pt x="24165" y="0"/>
                      <a:pt x="53975" y="0"/>
                    </a:cubicBezTo>
                    <a:cubicBezTo>
                      <a:pt x="83785" y="0"/>
                      <a:pt x="107950" y="24165"/>
                      <a:pt x="107950" y="53975"/>
                    </a:cubicBezTo>
                    <a:lnTo>
                      <a:pt x="107950" y="107950"/>
                    </a:lnTo>
                  </a:path>
                </a:pathLst>
              </a:custGeom>
              <a:noFill/>
              <a:ln w="19050">
                <a:solidFill>
                  <a:srgbClr val="D97757"/>
                </a:solidFill>
              </a:ln>
            </p:spPr>
          </p:sp>
        </p:grpSp>
        <p:sp>
          <p:nvSpPr>
            <p:cNvPr id="64" name="TextBox 64"/>
            <p:cNvSpPr txBox="1"/>
            <p:nvPr/>
          </p:nvSpPr>
          <p:spPr>
            <a:xfrm>
              <a:off x="8443912" y="4850606"/>
              <a:ext cx="1162717" cy="228600"/>
            </a:xfrm>
            <a:prstGeom prst="rect">
              <a:avLst/>
            </a:prstGeom>
            <a:noFill/>
            <a:ln>
              <a:noFill/>
            </a:ln>
          </p:spPr>
          <p:txBody>
            <a:bodyPr wrap="none" lIns="0" tIns="0" rIns="0" bIns="0" anchor="t" anchorCtr="0">
              <a:spAutoFit/>
            </a:bodyPr>
            <a:lstStyle/>
            <a:p>
              <a:pPr algn="l"/>
              <a:r>
                <a:rPr lang="zh-CN" sz="1125" b="1" dirty="0">
                  <a:solidFill>
                    <a:srgbClr val="64748B"/>
                  </a:solidFill>
                  <a:latin typeface="Anthropic Sans"/>
                  <a:ea typeface="Microsoft YaHei"/>
                  <a:cs typeface="Anthropic Sans"/>
                </a:rPr>
                <a:t>Data retention</a:t>
              </a:r>
            </a:p>
          </p:txBody>
        </p:sp>
        <p:sp>
          <p:nvSpPr>
            <p:cNvPr id="65" name="TextBox 65"/>
            <p:cNvSpPr txBox="1"/>
            <p:nvPr/>
          </p:nvSpPr>
          <p:spPr>
            <a:xfrm>
              <a:off x="8410575" y="5119688"/>
              <a:ext cx="1985486" cy="762000"/>
            </a:xfrm>
            <a:prstGeom prst="rect">
              <a:avLst/>
            </a:prstGeom>
            <a:noFill/>
            <a:ln>
              <a:noFill/>
            </a:ln>
          </p:spPr>
          <p:txBody>
            <a:bodyPr wrap="none" lIns="0" tIns="0" rIns="0" bIns="0" anchor="t" anchorCtr="0">
              <a:spAutoFit/>
            </a:bodyPr>
            <a:lstStyle/>
            <a:p>
              <a:pPr algn="l"/>
              <a:r>
                <a:rPr lang="zh-CN" sz="3750" b="1" dirty="0">
                  <a:solidFill>
                    <a:srgbClr val="191919"/>
                  </a:solidFill>
                  <a:latin typeface="Styrene A"/>
                  <a:ea typeface="Microsoft YaHei"/>
                  <a:cs typeface="Styrene A"/>
                </a:rPr>
                <a:t xml:space="preserve">30 </a:t>
              </a:r>
              <a:r>
                <a:rPr lang="zh-CN" sz="1500" dirty="0">
                  <a:solidFill>
                    <a:srgbClr val="64748B"/>
                  </a:solidFill>
                  <a:latin typeface="Styrene A"/>
                  <a:ea typeface="Microsoft YaHei"/>
                  <a:cs typeface="Styrene A"/>
                </a:rPr>
                <a:t>days</a:t>
              </a:r>
            </a:p>
          </p:txBody>
        </p:sp>
        <p:sp>
          <p:nvSpPr>
            <p:cNvPr id="66" name="TextBox 66"/>
            <p:cNvSpPr txBox="1"/>
            <p:nvPr/>
          </p:nvSpPr>
          <p:spPr>
            <a:xfrm>
              <a:off x="8445818" y="5724049"/>
              <a:ext cx="2514576" cy="198120"/>
            </a:xfrm>
            <a:prstGeom prst="rect">
              <a:avLst/>
            </a:prstGeom>
            <a:noFill/>
            <a:ln>
              <a:noFill/>
            </a:ln>
          </p:spPr>
          <p:txBody>
            <a:bodyPr wrap="none" lIns="0" tIns="0" rIns="0" bIns="0" anchor="t" anchorCtr="0">
              <a:spAutoFit/>
            </a:bodyPr>
            <a:lstStyle/>
            <a:p>
              <a:pPr algn="l"/>
              <a:r>
                <a:rPr lang="zh-CN" sz="975" dirty="0">
                  <a:solidFill>
                    <a:srgbClr val="94A3B8"/>
                  </a:solidFill>
                  <a:latin typeface="Anthropic Sans"/>
                  <a:ea typeface="Microsoft YaHei"/>
                  <a:cs typeface="Anthropic Sans"/>
                </a:rPr>
                <a:t>Covered Model — not available under ZDR</a:t>
              </a:r>
            </a:p>
          </p:txBody>
        </p:sp>
      </p:grpSp>
      <p:grpSp>
        <p:nvGrpSpPr>
          <p:cNvPr id="70" name="Group 70"/>
          <p:cNvGrpSpPr/>
          <p:nvPr/>
        </p:nvGrpSpPr>
        <p:grpSpPr>
          <a:xfrm>
            <a:off x="751522" y="6502241"/>
            <a:ext cx="10688955" cy="167640"/>
            <a:chOff x="751522" y="6502241"/>
            <a:chExt cx="10688955" cy="167640"/>
          </a:xfrm>
        </p:grpSpPr>
        <p:sp>
          <p:nvSpPr>
            <p:cNvPr id="68" name="TextBox 68"/>
            <p:cNvSpPr txBox="1"/>
            <p:nvPr/>
          </p:nvSpPr>
          <p:spPr>
            <a:xfrm>
              <a:off x="751522" y="6502241"/>
              <a:ext cx="4217980" cy="167640"/>
            </a:xfrm>
            <a:prstGeom prst="rect">
              <a:avLst/>
            </a:prstGeom>
            <a:noFill/>
            <a:ln>
              <a:noFill/>
            </a:ln>
          </p:spPr>
          <p:txBody>
            <a:bodyPr wrap="none" lIns="0" tIns="0" rIns="0" bIns="0" anchor="t" anchorCtr="0">
              <a:spAutoFit/>
            </a:bodyPr>
            <a:lstStyle/>
            <a:p>
              <a:pPr algn="l"/>
              <a:r>
                <a:rPr lang="zh-CN" sz="825" dirty="0">
                  <a:solidFill>
                    <a:srgbClr val="94A3B8"/>
                  </a:solidFill>
                  <a:latin typeface="Anthropic Sans"/>
                  <a:ea typeface="Microsoft YaHei"/>
                  <a:cs typeface="Anthropic Sans"/>
                </a:rPr>
                <a:t>Source: platform.claude.com — Introducing Claude Fable 5 and Claude Mythos 5</a:t>
              </a:r>
            </a:p>
          </p:txBody>
        </p:sp>
        <p:sp>
          <p:nvSpPr>
            <p:cNvPr id="69" name="TextBox 69"/>
            <p:cNvSpPr txBox="1"/>
            <p:nvPr/>
          </p:nvSpPr>
          <p:spPr>
            <a:xfrm>
              <a:off x="11298507" y="6502241"/>
              <a:ext cx="141970" cy="167640"/>
            </a:xfrm>
            <a:prstGeom prst="rect">
              <a:avLst/>
            </a:prstGeom>
            <a:noFill/>
            <a:ln>
              <a:noFill/>
            </a:ln>
          </p:spPr>
          <p:txBody>
            <a:bodyPr wrap="none" lIns="0" tIns="0" rIns="0" bIns="0" anchor="t" anchorCtr="0">
              <a:spAutoFit/>
            </a:bodyPr>
            <a:lstStyle/>
            <a:p>
              <a:pPr algn="r"/>
              <a:r>
                <a:rPr lang="zh-CN" sz="825" dirty="0">
                  <a:solidFill>
                    <a:srgbClr val="94A3B8"/>
                  </a:solidFill>
                  <a:latin typeface="Anthropic Sans"/>
                  <a:ea typeface="Microsoft YaHei"/>
                  <a:cs typeface="Anthropic Sans"/>
                </a:rPr>
                <a:t>05</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nodeType="after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dissolve">
                                      <p:cBhvr>
                                        <p:cTn id="7" dur="400"/>
                                        <p:tgtEl>
                                          <p:spTgt spid="16"/>
                                        </p:tgtEl>
                                      </p:cBhvr>
                                    </p:animEffect>
                                  </p:childTnLst>
                                </p:cTn>
                              </p:par>
                            </p:childTnLst>
                          </p:cTn>
                        </p:par>
                        <p:par>
                          <p:cTn id="8" fill="hold">
                            <p:stCondLst>
                              <p:cond delay="900"/>
                            </p:stCondLst>
                            <p:childTnLst>
                              <p:par>
                                <p:cTn id="9" presetID="6" presetClass="entr" presetSubtype="0"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circle(in)">
                                      <p:cBhvr>
                                        <p:cTn id="11" dur="400"/>
                                        <p:tgtEl>
                                          <p:spTgt spid="23"/>
                                        </p:tgtEl>
                                      </p:cBhvr>
                                    </p:animEffect>
                                  </p:childTnLst>
                                </p:cTn>
                              </p:par>
                            </p:childTnLst>
                          </p:cTn>
                        </p:par>
                        <p:par>
                          <p:cTn id="12" fill="hold">
                            <p:stCondLst>
                              <p:cond delay="1800"/>
                            </p:stCondLst>
                            <p:childTnLst>
                              <p:par>
                                <p:cTn id="13" presetID="4" presetClass="entr" presetSubtype="0" fill="hold" nodeType="afterEffect">
                                  <p:stCondLst>
                                    <p:cond delay="0"/>
                                  </p:stCondLst>
                                  <p:childTnLst>
                                    <p:set>
                                      <p:cBhvr>
                                        <p:cTn id="14" dur="1" fill="hold">
                                          <p:stCondLst>
                                            <p:cond delay="0"/>
                                          </p:stCondLst>
                                        </p:cTn>
                                        <p:tgtEl>
                                          <p:spTgt spid="33"/>
                                        </p:tgtEl>
                                        <p:attrNameLst>
                                          <p:attrName>style.visibility</p:attrName>
                                        </p:attrNameLst>
                                      </p:cBhvr>
                                      <p:to>
                                        <p:strVal val="visible"/>
                                      </p:to>
                                    </p:set>
                                    <p:animEffect transition="in" filter="box(in)">
                                      <p:cBhvr>
                                        <p:cTn id="15" dur="400"/>
                                        <p:tgtEl>
                                          <p:spTgt spid="33"/>
                                        </p:tgtEl>
                                      </p:cBhvr>
                                    </p:animEffect>
                                  </p:childTnLst>
                                </p:cTn>
                              </p:par>
                            </p:childTnLst>
                          </p:cTn>
                        </p:par>
                        <p:par>
                          <p:cTn id="16" fill="hold">
                            <p:stCondLst>
                              <p:cond delay="2700"/>
                            </p:stCondLst>
                            <p:childTnLst>
                              <p:par>
                                <p:cTn id="17" presetID="8" presetClass="entr" presetSubtype="0" fill="hold" nodeType="afterEffect">
                                  <p:stCondLst>
                                    <p:cond delay="0"/>
                                  </p:stCondLst>
                                  <p:childTnLst>
                                    <p:set>
                                      <p:cBhvr>
                                        <p:cTn id="18" dur="1" fill="hold">
                                          <p:stCondLst>
                                            <p:cond delay="0"/>
                                          </p:stCondLst>
                                        </p:cTn>
                                        <p:tgtEl>
                                          <p:spTgt spid="45"/>
                                        </p:tgtEl>
                                        <p:attrNameLst>
                                          <p:attrName>style.visibility</p:attrName>
                                        </p:attrNameLst>
                                      </p:cBhvr>
                                      <p:to>
                                        <p:strVal val="visible"/>
                                      </p:to>
                                    </p:set>
                                    <p:animEffect transition="in" filter="diamond(in)">
                                      <p:cBhvr>
                                        <p:cTn id="19" dur="400"/>
                                        <p:tgtEl>
                                          <p:spTgt spid="45"/>
                                        </p:tgtEl>
                                      </p:cBhvr>
                                    </p:animEffect>
                                  </p:childTnLst>
                                </p:cTn>
                              </p:par>
                            </p:childTnLst>
                          </p:cTn>
                        </p:par>
                        <p:par>
                          <p:cTn id="20" fill="hold">
                            <p:stCondLst>
                              <p:cond delay="3600"/>
                            </p:stCondLst>
                            <p:childTnLst>
                              <p:par>
                                <p:cTn id="21" presetID="21" presetClass="entr" presetSubtype="0" fill="hold" nodeType="afterEffect">
                                  <p:stCondLst>
                                    <p:cond delay="0"/>
                                  </p:stCondLst>
                                  <p:childTnLst>
                                    <p:set>
                                      <p:cBhvr>
                                        <p:cTn id="22" dur="1" fill="hold">
                                          <p:stCondLst>
                                            <p:cond delay="0"/>
                                          </p:stCondLst>
                                        </p:cTn>
                                        <p:tgtEl>
                                          <p:spTgt spid="57"/>
                                        </p:tgtEl>
                                        <p:attrNameLst>
                                          <p:attrName>style.visibility</p:attrName>
                                        </p:attrNameLst>
                                      </p:cBhvr>
                                      <p:to>
                                        <p:strVal val="visible"/>
                                      </p:to>
                                    </p:set>
                                    <p:animEffect transition="in" filter="wheel(4)">
                                      <p:cBhvr>
                                        <p:cTn id="23" dur="400"/>
                                        <p:tgtEl>
                                          <p:spTgt spid="57"/>
                                        </p:tgtEl>
                                      </p:cBhvr>
                                    </p:animEffect>
                                  </p:childTnLst>
                                </p:cTn>
                              </p:par>
                            </p:childTnLst>
                          </p:cTn>
                        </p:par>
                        <p:par>
                          <p:cTn id="24" fill="hold">
                            <p:stCondLst>
                              <p:cond delay="4500"/>
                            </p:stCondLst>
                            <p:childTnLst>
                              <p:par>
                                <p:cTn id="25" presetID="23" presetClass="entr" presetSubtype="0" fill="hold" nodeType="afterEffect">
                                  <p:stCondLst>
                                    <p:cond delay="0"/>
                                  </p:stCondLst>
                                  <p:childTnLst>
                                    <p:set>
                                      <p:cBhvr>
                                        <p:cTn id="26" dur="1" fill="hold">
                                          <p:stCondLst>
                                            <p:cond delay="0"/>
                                          </p:stCondLst>
                                        </p:cTn>
                                        <p:tgtEl>
                                          <p:spTgt spid="67"/>
                                        </p:tgtEl>
                                        <p:attrNameLst>
                                          <p:attrName>style.visibility</p:attrName>
                                        </p:attrNameLst>
                                      </p:cBhvr>
                                      <p:to>
                                        <p:strVal val="visible"/>
                                      </p:to>
                                    </p:set>
                                    <p:animEffect transition="in" filter="image">
                                      <p:cBhvr>
                                        <p:cTn id="27" dur="4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23" grpId="0"/>
      <p:bldP spid="33" grpId="0"/>
      <p:bldP spid="45" grpId="0"/>
      <p:bldP spid="57" grpId="0"/>
      <p:bldP spid="6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731520" y="495300"/>
            <a:ext cx="7789926" cy="842962"/>
            <a:chOff x="731520" y="495300"/>
            <a:chExt cx="7789926" cy="842962"/>
          </a:xfrm>
        </p:grpSpPr>
        <p:sp>
          <p:nvSpPr>
            <p:cNvPr id="3" name="Rectangle 3"/>
            <p:cNvSpPr/>
            <p:nvPr/>
          </p:nvSpPr>
          <p:spPr>
            <a:xfrm>
              <a:off x="762000" y="495300"/>
              <a:ext cx="419100" cy="38100"/>
            </a:xfrm>
            <a:prstGeom prst="roundRect">
              <a:avLst>
                <a:gd name="adj" fmla="val 50000"/>
              </a:avLst>
            </a:prstGeom>
            <a:solidFill>
              <a:srgbClr val="D97757"/>
            </a:solidFill>
            <a:ln>
              <a:noFill/>
            </a:ln>
          </p:spPr>
        </p:sp>
        <p:sp>
          <p:nvSpPr>
            <p:cNvPr id="4" name="TextBox 4"/>
            <p:cNvSpPr txBox="1"/>
            <p:nvPr/>
          </p:nvSpPr>
          <p:spPr>
            <a:xfrm>
              <a:off x="731520" y="693420"/>
              <a:ext cx="7789926" cy="487680"/>
            </a:xfrm>
            <a:prstGeom prst="rect">
              <a:avLst/>
            </a:prstGeom>
            <a:noFill/>
            <a:ln>
              <a:noFill/>
            </a:ln>
          </p:spPr>
          <p:txBody>
            <a:bodyPr wrap="none" lIns="0" tIns="0" rIns="0" bIns="0" anchor="t" anchorCtr="0">
              <a:spAutoFit/>
            </a:bodyPr>
            <a:lstStyle/>
            <a:p>
              <a:pPr algn="l"/>
              <a:r>
                <a:rPr lang="zh-CN" sz="2400" b="1" dirty="0">
                  <a:solidFill>
                    <a:srgbClr val="191919"/>
                  </a:solidFill>
                  <a:latin typeface="Styrene A"/>
                  <a:ea typeface="Microsoft YaHei"/>
                  <a:cs typeface="Styrene A"/>
                </a:rPr>
                <a:t>The gains land above what prior models could do</a:t>
              </a:r>
            </a:p>
          </p:txBody>
        </p:sp>
        <p:sp>
          <p:nvSpPr>
            <p:cNvPr id="5" name="TextBox 5"/>
            <p:cNvSpPr txBox="1"/>
            <p:nvPr/>
          </p:nvSpPr>
          <p:spPr>
            <a:xfrm>
              <a:off x="748665" y="1124902"/>
              <a:ext cx="5760387" cy="213360"/>
            </a:xfrm>
            <a:prstGeom prst="rect">
              <a:avLst/>
            </a:prstGeom>
            <a:noFill/>
            <a:ln>
              <a:noFill/>
            </a:ln>
          </p:spPr>
          <p:txBody>
            <a:bodyPr wrap="none" lIns="0" tIns="0" rIns="0" bIns="0" anchor="t" anchorCtr="0">
              <a:spAutoFit/>
            </a:bodyPr>
            <a:lstStyle/>
            <a:p>
              <a:pPr algn="l"/>
              <a:r>
                <a:rPr lang="zh-CN" sz="1050" b="1" dirty="0">
                  <a:solidFill>
                    <a:srgbClr val="64748B"/>
                  </a:solidFill>
                  <a:latin typeface="Anthropic Sans"/>
                  <a:ea typeface="Microsoft YaHei"/>
                  <a:cs typeface="Anthropic Sans"/>
                </a:rPr>
                <a:t>04 · HEADLINE CAPABILITIES — DON'T EVALUATE IT ONLY ON YESTERDAY'S WORKLOADS</a:t>
              </a:r>
            </a:p>
          </p:txBody>
        </p:sp>
      </p:grpSp>
      <p:grpSp>
        <p:nvGrpSpPr>
          <p:cNvPr id="17" name="Group 17"/>
          <p:cNvGrpSpPr/>
          <p:nvPr/>
        </p:nvGrpSpPr>
        <p:grpSpPr>
          <a:xfrm>
            <a:off x="762000" y="1543050"/>
            <a:ext cx="3429000" cy="2333625"/>
            <a:chOff x="762000" y="1543050"/>
            <a:chExt cx="3429000" cy="2333625"/>
          </a:xfrm>
        </p:grpSpPr>
        <p:sp>
          <p:nvSpPr>
            <p:cNvPr id="7" name="Rectangle 7"/>
            <p:cNvSpPr/>
            <p:nvPr/>
          </p:nvSpPr>
          <p:spPr>
            <a:xfrm>
              <a:off x="762000" y="1543050"/>
              <a:ext cx="3429000" cy="2333625"/>
            </a:xfrm>
            <a:prstGeom prst="roundRect">
              <a:avLst>
                <a:gd name="adj" fmla="val 4898"/>
              </a:avLst>
            </a:prstGeom>
            <a:solidFill>
              <a:srgbClr val="FFFFFF"/>
            </a:solidFill>
            <a:ln w="14288">
              <a:solidFill>
                <a:srgbClr val="E2E8F0"/>
              </a:solidFill>
            </a:ln>
          </p:spPr>
        </p:sp>
        <p:sp>
          <p:nvSpPr>
            <p:cNvPr id="8" name="TextBox 8"/>
            <p:cNvSpPr txBox="1"/>
            <p:nvPr/>
          </p:nvSpPr>
          <p:spPr>
            <a:xfrm>
              <a:off x="3324111" y="1725930"/>
              <a:ext cx="645909" cy="731520"/>
            </a:xfrm>
            <a:prstGeom prst="rect">
              <a:avLst/>
            </a:prstGeom>
            <a:noFill/>
            <a:ln>
              <a:noFill/>
            </a:ln>
          </p:spPr>
          <p:txBody>
            <a:bodyPr wrap="none" lIns="0" tIns="0" rIns="0" bIns="0" anchor="t" anchorCtr="0">
              <a:spAutoFit/>
            </a:bodyPr>
            <a:lstStyle/>
            <a:p>
              <a:pPr algn="r"/>
              <a:r>
                <a:rPr lang="zh-CN" sz="3600" b="1" dirty="0">
                  <a:solidFill>
                    <a:srgbClr val="D97757">
                      <a:alphaMod val="10000"/>
                    </a:srgbClr>
                  </a:solidFill>
                  <a:latin typeface="Styrene A"/>
                  <a:ea typeface="Microsoft YaHei"/>
                  <a:cs typeface="Styrene A"/>
                </a:rPr>
                <a:t>01</a:t>
              </a:r>
            </a:p>
          </p:txBody>
        </p:sp>
        <p:sp>
          <p:nvSpPr>
            <p:cNvPr id="9" name="Rectangle 9"/>
            <p:cNvSpPr/>
            <p:nvPr/>
          </p:nvSpPr>
          <p:spPr>
            <a:xfrm>
              <a:off x="1009650" y="1790700"/>
              <a:ext cx="495300" cy="495300"/>
            </a:xfrm>
            <a:prstGeom prst="roundRect">
              <a:avLst>
                <a:gd name="adj" fmla="val 23077"/>
              </a:avLst>
            </a:prstGeom>
            <a:solidFill>
              <a:srgbClr val="F8FAFC"/>
            </a:solidFill>
            <a:ln>
              <a:noFill/>
            </a:ln>
          </p:spPr>
        </p:sp>
        <p:grpSp>
          <p:nvGrpSpPr>
            <p:cNvPr id="13" name="Group 13"/>
            <p:cNvGrpSpPr/>
            <p:nvPr/>
          </p:nvGrpSpPr>
          <p:grpSpPr>
            <a:xfrm>
              <a:off x="1132848" y="1914425"/>
              <a:ext cx="251452" cy="250925"/>
              <a:chOff x="1132848" y="1914425"/>
              <a:chExt cx="251452" cy="250925"/>
            </a:xfrm>
          </p:grpSpPr>
          <p:sp>
            <p:nvSpPr>
              <p:cNvPr id="10" name="Freeform 10"/>
              <p:cNvSpPr/>
              <p:nvPr/>
            </p:nvSpPr>
            <p:spPr>
              <a:xfrm>
                <a:off x="1257300" y="1974850"/>
                <a:ext cx="25400" cy="88900"/>
              </a:xfrm>
              <a:custGeom>
                <a:avLst/>
                <a:gdLst/>
                <a:ahLst/>
                <a:cxnLst/>
                <a:rect l="l" t="t" r="r" b="b"/>
                <a:pathLst>
                  <a:path w="25400" h="88900">
                    <a:moveTo>
                      <a:pt x="0" y="0"/>
                    </a:moveTo>
                    <a:lnTo>
                      <a:pt x="0" y="63500"/>
                    </a:lnTo>
                    <a:lnTo>
                      <a:pt x="25400" y="88900"/>
                    </a:lnTo>
                  </a:path>
                </a:pathLst>
              </a:custGeom>
              <a:noFill/>
              <a:ln w="19050">
                <a:solidFill>
                  <a:srgbClr val="D97757"/>
                </a:solidFill>
              </a:ln>
            </p:spPr>
          </p:sp>
          <p:sp>
            <p:nvSpPr>
              <p:cNvPr id="11" name="Freeform 11"/>
              <p:cNvSpPr/>
              <p:nvPr/>
            </p:nvSpPr>
            <p:spPr>
              <a:xfrm>
                <a:off x="1320800" y="2089150"/>
                <a:ext cx="63500" cy="76200"/>
              </a:xfrm>
              <a:custGeom>
                <a:avLst/>
                <a:gdLst/>
                <a:ahLst/>
                <a:cxnLst/>
                <a:rect l="l" t="t" r="r" b="b"/>
                <a:pathLst>
                  <a:path w="63500" h="76200">
                    <a:moveTo>
                      <a:pt x="0" y="76200"/>
                    </a:moveTo>
                    <a:lnTo>
                      <a:pt x="63500" y="38100"/>
                    </a:lnTo>
                    <a:lnTo>
                      <a:pt x="0" y="0"/>
                    </a:lnTo>
                    <a:lnTo>
                      <a:pt x="0" y="76200"/>
                    </a:lnTo>
                  </a:path>
                </a:pathLst>
              </a:custGeom>
              <a:noFill/>
              <a:ln w="19050">
                <a:solidFill>
                  <a:srgbClr val="D97757"/>
                </a:solidFill>
              </a:ln>
            </p:spPr>
          </p:sp>
          <p:sp>
            <p:nvSpPr>
              <p:cNvPr id="12" name="Freeform 12"/>
              <p:cNvSpPr/>
              <p:nvPr/>
            </p:nvSpPr>
            <p:spPr>
              <a:xfrm>
                <a:off x="1132848" y="1914425"/>
                <a:ext cx="245871" cy="243074"/>
              </a:xfrm>
              <a:custGeom>
                <a:avLst/>
                <a:gdLst/>
                <a:ahLst/>
                <a:cxnLst/>
                <a:rect l="l" t="t" r="r" b="b"/>
                <a:pathLst>
                  <a:path w="245871" h="243074">
                    <a:moveTo>
                      <a:pt x="137368" y="237501"/>
                    </a:moveTo>
                    <a:cubicBezTo>
                      <a:pt x="88341" y="243074"/>
                      <a:pt x="41272" y="216555"/>
                      <a:pt x="20636" y="171734"/>
                    </a:cubicBezTo>
                    <a:cubicBezTo>
                      <a:pt x="0" y="126913"/>
                      <a:pt x="10456" y="73909"/>
                      <a:pt x="46568" y="40283"/>
                    </a:cubicBezTo>
                    <a:cubicBezTo>
                      <a:pt x="82680" y="6656"/>
                      <a:pt x="136293" y="0"/>
                      <a:pt x="179532" y="23774"/>
                    </a:cubicBezTo>
                    <a:cubicBezTo>
                      <a:pt x="222770" y="47549"/>
                      <a:pt x="245871" y="96386"/>
                      <a:pt x="236822" y="144893"/>
                    </a:cubicBezTo>
                  </a:path>
                </a:pathLst>
              </a:custGeom>
              <a:noFill/>
              <a:ln w="19050">
                <a:solidFill>
                  <a:srgbClr val="D97757"/>
                </a:solidFill>
              </a:ln>
            </p:spPr>
          </p:sp>
        </p:grpSp>
        <p:sp>
          <p:nvSpPr>
            <p:cNvPr id="14" name="TextBox 14"/>
            <p:cNvSpPr txBox="1"/>
            <p:nvPr/>
          </p:nvSpPr>
          <p:spPr>
            <a:xfrm>
              <a:off x="991552" y="2513171"/>
              <a:ext cx="2280851" cy="289560"/>
            </a:xfrm>
            <a:prstGeom prst="rect">
              <a:avLst/>
            </a:prstGeom>
            <a:noFill/>
            <a:ln>
              <a:noFill/>
            </a:ln>
          </p:spPr>
          <p:txBody>
            <a:bodyPr wrap="none" lIns="0" tIns="0" rIns="0" bIns="0" anchor="t" anchorCtr="0">
              <a:spAutoFit/>
            </a:bodyPr>
            <a:lstStyle/>
            <a:p>
              <a:pPr algn="l"/>
              <a:r>
                <a:rPr lang="zh-CN" sz="1425" b="1" dirty="0">
                  <a:solidFill>
                    <a:srgbClr val="191919"/>
                  </a:solidFill>
                  <a:latin typeface="Styrene A"/>
                  <a:ea typeface="Microsoft YaHei"/>
                  <a:cs typeface="Styrene A"/>
                </a:rPr>
                <a:t>Long-horizon autonomy</a:t>
              </a:r>
            </a:p>
          </p:txBody>
        </p:sp>
        <p:sp>
          <p:nvSpPr>
            <p:cNvPr id="15" name="TextBox 15"/>
            <p:cNvSpPr txBox="1"/>
            <p:nvPr/>
          </p:nvSpPr>
          <p:spPr>
            <a:xfrm>
              <a:off x="999172" y="2768441"/>
              <a:ext cx="962398" cy="167640"/>
            </a:xfrm>
            <a:prstGeom prst="rect">
              <a:avLst/>
            </a:prstGeom>
            <a:noFill/>
            <a:ln>
              <a:noFill/>
            </a:ln>
          </p:spPr>
          <p:txBody>
            <a:bodyPr wrap="none" lIns="0" tIns="0" rIns="0" bIns="0" anchor="t" anchorCtr="0">
              <a:spAutoFit/>
            </a:bodyPr>
            <a:lstStyle/>
            <a:p>
              <a:pPr algn="l"/>
              <a:r>
                <a:rPr lang="zh-CN" sz="825" b="1" dirty="0">
                  <a:solidFill>
                    <a:srgbClr val="D97757"/>
                  </a:solidFill>
                  <a:latin typeface="Anthropic Sans"/>
                  <a:ea typeface="Microsoft YaHei"/>
                  <a:cs typeface="Anthropic Sans"/>
                </a:rPr>
                <a:t>MULTI-HOUR RUNS</a:t>
              </a:r>
            </a:p>
          </p:txBody>
        </p:sp>
        <p:sp>
          <p:nvSpPr>
            <p:cNvPr id="16" name="TextBox 16"/>
            <p:cNvSpPr txBox="1"/>
            <p:nvPr/>
          </p:nvSpPr>
          <p:spPr>
            <a:xfrm>
              <a:off x="997268" y="3057049"/>
              <a:ext cx="2532221" cy="579120"/>
            </a:xfrm>
            <a:prstGeom prst="rect">
              <a:avLst/>
            </a:prstGeom>
            <a:noFill/>
            <a:ln>
              <a:noFill/>
            </a:ln>
          </p:spPr>
          <p:txBody>
            <a:bodyPr wrap="square" lIns="0" tIns="0" rIns="0" bIns="0" anchor="t" anchorCtr="0"/>
            <a:lstStyle/>
            <a:p>
              <a:pPr algn="l">
                <a:lnSpc>
                  <a:spcPts val="1500"/>
                </a:lnSpc>
              </a:pPr>
              <a:r>
                <a:rPr lang="zh-CN" sz="975" dirty="0">
                  <a:solidFill>
                    <a:srgbClr val="64748B"/>
                  </a:solidFill>
                  <a:latin typeface="Anthropic Sans"/>
                  <a:ea typeface="Microsoft YaHei"/>
                  <a:cs typeface="Anthropic Sans"/>
                </a:rPr>
                <a:t xml:space="preserve">Overnight work completes without human </a:t>
              </a:r>
              <a:r>
                <a:rPr lang="zh-CN" sz="975" dirty="0">
                  <a:solidFill>
                    <a:srgbClr val="64748B"/>
                  </a:solidFill>
                  <a:latin typeface="Anthropic Sans"/>
                  <a:ea typeface="Microsoft YaHei"/>
                  <a:cs typeface="Anthropic Sans"/>
                </a:rPr>
                <a:t xml:space="preserve">correction; a 15-minute single request is </a:t>
              </a:r>
              <a:r>
                <a:rPr lang="zh-CN" sz="975" dirty="0">
                  <a:solidFill>
                    <a:srgbClr val="64748B"/>
                  </a:solidFill>
                  <a:latin typeface="Anthropic Sans"/>
                  <a:ea typeface="Microsoft YaHei"/>
                  <a:cs typeface="Anthropic Sans"/>
                </a:rPr>
                <a:t>normal when the task self-verifies.</a:t>
              </a:r>
            </a:p>
          </p:txBody>
        </p:sp>
      </p:grpSp>
      <p:grpSp>
        <p:nvGrpSpPr>
          <p:cNvPr id="28" name="Group 28"/>
          <p:cNvGrpSpPr/>
          <p:nvPr/>
        </p:nvGrpSpPr>
        <p:grpSpPr>
          <a:xfrm>
            <a:off x="4476750" y="1543050"/>
            <a:ext cx="3429000" cy="2333625"/>
            <a:chOff x="4476750" y="1543050"/>
            <a:chExt cx="3429000" cy="2333625"/>
          </a:xfrm>
        </p:grpSpPr>
        <p:sp>
          <p:nvSpPr>
            <p:cNvPr id="18" name="Rectangle 18"/>
            <p:cNvSpPr/>
            <p:nvPr/>
          </p:nvSpPr>
          <p:spPr>
            <a:xfrm>
              <a:off x="4476750" y="1543050"/>
              <a:ext cx="3429000" cy="2333625"/>
            </a:xfrm>
            <a:prstGeom prst="roundRect">
              <a:avLst>
                <a:gd name="adj" fmla="val 4898"/>
              </a:avLst>
            </a:prstGeom>
            <a:solidFill>
              <a:srgbClr val="FFFFFF"/>
            </a:solidFill>
            <a:ln w="14288">
              <a:solidFill>
                <a:srgbClr val="E2E8F0"/>
              </a:solidFill>
            </a:ln>
          </p:spPr>
        </p:sp>
        <p:sp>
          <p:nvSpPr>
            <p:cNvPr id="19" name="TextBox 19"/>
            <p:cNvSpPr txBox="1"/>
            <p:nvPr/>
          </p:nvSpPr>
          <p:spPr>
            <a:xfrm>
              <a:off x="7038861" y="1725930"/>
              <a:ext cx="645909" cy="731520"/>
            </a:xfrm>
            <a:prstGeom prst="rect">
              <a:avLst/>
            </a:prstGeom>
            <a:noFill/>
            <a:ln>
              <a:noFill/>
            </a:ln>
          </p:spPr>
          <p:txBody>
            <a:bodyPr wrap="none" lIns="0" tIns="0" rIns="0" bIns="0" anchor="t" anchorCtr="0">
              <a:spAutoFit/>
            </a:bodyPr>
            <a:lstStyle/>
            <a:p>
              <a:pPr algn="r"/>
              <a:r>
                <a:rPr lang="zh-CN" sz="3600" b="1" dirty="0">
                  <a:solidFill>
                    <a:srgbClr val="D97757">
                      <a:alphaMod val="10000"/>
                    </a:srgbClr>
                  </a:solidFill>
                  <a:latin typeface="Styrene A"/>
                  <a:ea typeface="Microsoft YaHei"/>
                  <a:cs typeface="Styrene A"/>
                </a:rPr>
                <a:t>02</a:t>
              </a:r>
            </a:p>
          </p:txBody>
        </p:sp>
        <p:sp>
          <p:nvSpPr>
            <p:cNvPr id="20" name="Rectangle 20"/>
            <p:cNvSpPr/>
            <p:nvPr/>
          </p:nvSpPr>
          <p:spPr>
            <a:xfrm>
              <a:off x="4724400" y="1790700"/>
              <a:ext cx="495300" cy="495300"/>
            </a:xfrm>
            <a:prstGeom prst="roundRect">
              <a:avLst>
                <a:gd name="adj" fmla="val 23077"/>
              </a:avLst>
            </a:prstGeom>
            <a:solidFill>
              <a:srgbClr val="F8FAFC"/>
            </a:solidFill>
            <a:ln>
              <a:noFill/>
            </a:ln>
          </p:spPr>
        </p:sp>
        <p:grpSp>
          <p:nvGrpSpPr>
            <p:cNvPr id="24" name="Group 24"/>
            <p:cNvGrpSpPr/>
            <p:nvPr/>
          </p:nvGrpSpPr>
          <p:grpSpPr>
            <a:xfrm>
              <a:off x="4857750" y="1936750"/>
              <a:ext cx="228600" cy="203200"/>
              <a:chOff x="4857750" y="1936750"/>
              <a:chExt cx="228600" cy="203200"/>
            </a:xfrm>
          </p:grpSpPr>
          <p:sp>
            <p:nvSpPr>
              <p:cNvPr id="21" name="Freeform 21"/>
              <p:cNvSpPr/>
              <p:nvPr/>
            </p:nvSpPr>
            <p:spPr>
              <a:xfrm>
                <a:off x="4857750" y="1987550"/>
                <a:ext cx="50800" cy="101600"/>
              </a:xfrm>
              <a:custGeom>
                <a:avLst/>
                <a:gdLst/>
                <a:ahLst/>
                <a:cxnLst/>
                <a:rect l="l" t="t" r="r" b="b"/>
                <a:pathLst>
                  <a:path w="50800" h="101600">
                    <a:moveTo>
                      <a:pt x="50800" y="0"/>
                    </a:moveTo>
                    <a:lnTo>
                      <a:pt x="0" y="50800"/>
                    </a:lnTo>
                    <a:lnTo>
                      <a:pt x="50800" y="101600"/>
                    </a:lnTo>
                  </a:path>
                </a:pathLst>
              </a:custGeom>
              <a:noFill/>
              <a:ln w="19050">
                <a:solidFill>
                  <a:srgbClr val="D97757"/>
                </a:solidFill>
              </a:ln>
            </p:spPr>
          </p:sp>
          <p:sp>
            <p:nvSpPr>
              <p:cNvPr id="22" name="Freeform 22"/>
              <p:cNvSpPr/>
              <p:nvPr/>
            </p:nvSpPr>
            <p:spPr>
              <a:xfrm>
                <a:off x="5035550" y="1987550"/>
                <a:ext cx="50800" cy="101600"/>
              </a:xfrm>
              <a:custGeom>
                <a:avLst/>
                <a:gdLst/>
                <a:ahLst/>
                <a:cxnLst/>
                <a:rect l="l" t="t" r="r" b="b"/>
                <a:pathLst>
                  <a:path w="50800" h="101600">
                    <a:moveTo>
                      <a:pt x="0" y="0"/>
                    </a:moveTo>
                    <a:lnTo>
                      <a:pt x="50800" y="50800"/>
                    </a:lnTo>
                    <a:lnTo>
                      <a:pt x="0" y="101600"/>
                    </a:lnTo>
                  </a:path>
                </a:pathLst>
              </a:custGeom>
              <a:noFill/>
              <a:ln w="19050">
                <a:solidFill>
                  <a:srgbClr val="D97757"/>
                </a:solidFill>
              </a:ln>
            </p:spPr>
          </p:sp>
          <p:sp>
            <p:nvSpPr>
              <p:cNvPr id="23" name="Freeform 23"/>
              <p:cNvSpPr/>
              <p:nvPr/>
            </p:nvSpPr>
            <p:spPr>
              <a:xfrm>
                <a:off x="4946650" y="1936750"/>
                <a:ext cx="50800" cy="203200"/>
              </a:xfrm>
              <a:custGeom>
                <a:avLst/>
                <a:gdLst/>
                <a:ahLst/>
                <a:cxnLst/>
                <a:rect l="l" t="t" r="r" b="b"/>
                <a:pathLst>
                  <a:path w="50800" h="203200">
                    <a:moveTo>
                      <a:pt x="50800" y="0"/>
                    </a:moveTo>
                    <a:lnTo>
                      <a:pt x="0" y="203200"/>
                    </a:lnTo>
                  </a:path>
                </a:pathLst>
              </a:custGeom>
              <a:noFill/>
              <a:ln w="19050">
                <a:solidFill>
                  <a:srgbClr val="D97757"/>
                </a:solidFill>
              </a:ln>
            </p:spPr>
          </p:sp>
        </p:grpSp>
        <p:sp>
          <p:nvSpPr>
            <p:cNvPr id="25" name="TextBox 25"/>
            <p:cNvSpPr txBox="1"/>
            <p:nvPr/>
          </p:nvSpPr>
          <p:spPr>
            <a:xfrm>
              <a:off x="4706302" y="2513171"/>
              <a:ext cx="2121231" cy="289560"/>
            </a:xfrm>
            <a:prstGeom prst="rect">
              <a:avLst/>
            </a:prstGeom>
            <a:noFill/>
            <a:ln>
              <a:noFill/>
            </a:ln>
          </p:spPr>
          <p:txBody>
            <a:bodyPr wrap="none" lIns="0" tIns="0" rIns="0" bIns="0" anchor="t" anchorCtr="0">
              <a:spAutoFit/>
            </a:bodyPr>
            <a:lstStyle/>
            <a:p>
              <a:pPr algn="l"/>
              <a:r>
                <a:rPr lang="zh-CN" sz="1425" b="1" dirty="0">
                  <a:solidFill>
                    <a:srgbClr val="191919"/>
                  </a:solidFill>
                  <a:latin typeface="Styrene A"/>
                  <a:ea typeface="Microsoft YaHei"/>
                  <a:cs typeface="Styrene A"/>
                </a:rPr>
                <a:t>Software engineering</a:t>
              </a:r>
            </a:p>
          </p:txBody>
        </p:sp>
        <p:sp>
          <p:nvSpPr>
            <p:cNvPr id="26" name="TextBox 26"/>
            <p:cNvSpPr txBox="1"/>
            <p:nvPr/>
          </p:nvSpPr>
          <p:spPr>
            <a:xfrm>
              <a:off x="4713922" y="2768441"/>
              <a:ext cx="1020155" cy="167640"/>
            </a:xfrm>
            <a:prstGeom prst="rect">
              <a:avLst/>
            </a:prstGeom>
            <a:noFill/>
            <a:ln>
              <a:noFill/>
            </a:ln>
          </p:spPr>
          <p:txBody>
            <a:bodyPr wrap="none" lIns="0" tIns="0" rIns="0" bIns="0" anchor="t" anchorCtr="0">
              <a:spAutoFit/>
            </a:bodyPr>
            <a:lstStyle/>
            <a:p>
              <a:pPr algn="l"/>
              <a:r>
                <a:rPr lang="zh-CN" sz="825" b="1" dirty="0">
                  <a:solidFill>
                    <a:srgbClr val="D97757"/>
                  </a:solidFill>
                  <a:latin typeface="Anthropic Sans"/>
                  <a:ea typeface="Microsoft YaHei"/>
                  <a:cs typeface="Anthropic Sans"/>
                </a:rPr>
                <a:t>MONTHS INTO DAYS</a:t>
              </a:r>
            </a:p>
          </p:txBody>
        </p:sp>
        <p:sp>
          <p:nvSpPr>
            <p:cNvPr id="27" name="TextBox 27"/>
            <p:cNvSpPr txBox="1"/>
            <p:nvPr/>
          </p:nvSpPr>
          <p:spPr>
            <a:xfrm>
              <a:off x="4712018" y="3057049"/>
              <a:ext cx="2730341" cy="579120"/>
            </a:xfrm>
            <a:prstGeom prst="rect">
              <a:avLst/>
            </a:prstGeom>
            <a:noFill/>
            <a:ln>
              <a:noFill/>
            </a:ln>
          </p:spPr>
          <p:txBody>
            <a:bodyPr wrap="square" lIns="0" tIns="0" rIns="0" bIns="0" anchor="t" anchorCtr="0"/>
            <a:lstStyle/>
            <a:p>
              <a:pPr algn="l">
                <a:lnSpc>
                  <a:spcPts val="1500"/>
                </a:lnSpc>
              </a:pPr>
              <a:r>
                <a:rPr lang="zh-CN" sz="975" dirty="0">
                  <a:solidFill>
                    <a:srgbClr val="64748B"/>
                  </a:solidFill>
                  <a:latin typeface="Anthropic Sans"/>
                  <a:ea typeface="Microsoft YaHei"/>
                  <a:cs typeface="Anthropic Sans"/>
                </a:rPr>
                <a:t xml:space="preserve">First-shot builds of well-specified systems, </a:t>
              </a:r>
              <a:r>
                <a:rPr lang="zh-CN" sz="975" dirty="0">
                  <a:solidFill>
                    <a:srgbClr val="64748B"/>
                  </a:solidFill>
                  <a:latin typeface="Anthropic Sans"/>
                  <a:ea typeface="Microsoft YaHei"/>
                  <a:cs typeface="Anthropic Sans"/>
                </a:rPr>
                <a:t xml:space="preserve">large migrations, and complex refactors </a:t>
              </a:r>
              <a:r>
                <a:rPr lang="zh-CN" sz="975" dirty="0">
                  <a:solidFill>
                    <a:srgbClr val="64748B"/>
                  </a:solidFill>
                  <a:latin typeface="Anthropic Sans"/>
                  <a:ea typeface="Microsoft YaHei"/>
                  <a:cs typeface="Anthropic Sans"/>
                </a:rPr>
                <a:t>that previously took teams months.</a:t>
              </a:r>
            </a:p>
          </p:txBody>
        </p:sp>
      </p:grpSp>
      <p:grpSp>
        <p:nvGrpSpPr>
          <p:cNvPr id="40" name="Group 40"/>
          <p:cNvGrpSpPr/>
          <p:nvPr/>
        </p:nvGrpSpPr>
        <p:grpSpPr>
          <a:xfrm>
            <a:off x="8191500" y="1543050"/>
            <a:ext cx="3429000" cy="2333625"/>
            <a:chOff x="8191500" y="1543050"/>
            <a:chExt cx="3429000" cy="2333625"/>
          </a:xfrm>
        </p:grpSpPr>
        <p:sp>
          <p:nvSpPr>
            <p:cNvPr id="29" name="Rectangle 29"/>
            <p:cNvSpPr/>
            <p:nvPr/>
          </p:nvSpPr>
          <p:spPr>
            <a:xfrm>
              <a:off x="8191500" y="1543050"/>
              <a:ext cx="3429000" cy="2333625"/>
            </a:xfrm>
            <a:prstGeom prst="roundRect">
              <a:avLst>
                <a:gd name="adj" fmla="val 4898"/>
              </a:avLst>
            </a:prstGeom>
            <a:solidFill>
              <a:srgbClr val="FFFFFF"/>
            </a:solidFill>
            <a:ln w="14288">
              <a:solidFill>
                <a:srgbClr val="E2E8F0"/>
              </a:solidFill>
            </a:ln>
          </p:spPr>
        </p:sp>
        <p:sp>
          <p:nvSpPr>
            <p:cNvPr id="30" name="TextBox 30"/>
            <p:cNvSpPr txBox="1"/>
            <p:nvPr/>
          </p:nvSpPr>
          <p:spPr>
            <a:xfrm>
              <a:off x="10753611" y="1725930"/>
              <a:ext cx="645909" cy="731520"/>
            </a:xfrm>
            <a:prstGeom prst="rect">
              <a:avLst/>
            </a:prstGeom>
            <a:noFill/>
            <a:ln>
              <a:noFill/>
            </a:ln>
          </p:spPr>
          <p:txBody>
            <a:bodyPr wrap="none" lIns="0" tIns="0" rIns="0" bIns="0" anchor="t" anchorCtr="0">
              <a:spAutoFit/>
            </a:bodyPr>
            <a:lstStyle/>
            <a:p>
              <a:pPr algn="r"/>
              <a:r>
                <a:rPr lang="zh-CN" sz="3600" b="1" dirty="0">
                  <a:solidFill>
                    <a:srgbClr val="D97757">
                      <a:alphaMod val="10000"/>
                    </a:srgbClr>
                  </a:solidFill>
                  <a:latin typeface="Styrene A"/>
                  <a:ea typeface="Microsoft YaHei"/>
                  <a:cs typeface="Styrene A"/>
                </a:rPr>
                <a:t>03</a:t>
              </a:r>
            </a:p>
          </p:txBody>
        </p:sp>
        <p:sp>
          <p:nvSpPr>
            <p:cNvPr id="31" name="Rectangle 31"/>
            <p:cNvSpPr/>
            <p:nvPr/>
          </p:nvSpPr>
          <p:spPr>
            <a:xfrm>
              <a:off x="8439150" y="1790700"/>
              <a:ext cx="495300" cy="495300"/>
            </a:xfrm>
            <a:prstGeom prst="roundRect">
              <a:avLst>
                <a:gd name="adj" fmla="val 23077"/>
              </a:avLst>
            </a:prstGeom>
            <a:solidFill>
              <a:srgbClr val="F8FAFC"/>
            </a:solidFill>
            <a:ln>
              <a:noFill/>
            </a:ln>
          </p:spPr>
        </p:sp>
        <p:grpSp>
          <p:nvGrpSpPr>
            <p:cNvPr id="36" name="Group 36"/>
            <p:cNvGrpSpPr/>
            <p:nvPr/>
          </p:nvGrpSpPr>
          <p:grpSpPr>
            <a:xfrm>
              <a:off x="8572500" y="1936750"/>
              <a:ext cx="228600" cy="212725"/>
              <a:chOff x="8572500" y="1936750"/>
              <a:chExt cx="228600" cy="212725"/>
            </a:xfrm>
          </p:grpSpPr>
          <p:sp>
            <p:nvSpPr>
              <p:cNvPr id="32" name="Freeform 32"/>
              <p:cNvSpPr/>
              <p:nvPr/>
            </p:nvSpPr>
            <p:spPr>
              <a:xfrm>
                <a:off x="8572500" y="2038350"/>
                <a:ext cx="76200" cy="101600"/>
              </a:xfrm>
              <a:custGeom>
                <a:avLst/>
                <a:gdLst/>
                <a:ahLst/>
                <a:cxnLst/>
                <a:rect l="l" t="t" r="r" b="b"/>
                <a:pathLst>
                  <a:path w="76200" h="101600">
                    <a:moveTo>
                      <a:pt x="0" y="12700"/>
                    </a:moveTo>
                    <a:cubicBezTo>
                      <a:pt x="0" y="5686"/>
                      <a:pt x="5686" y="0"/>
                      <a:pt x="12700" y="0"/>
                    </a:cubicBezTo>
                    <a:lnTo>
                      <a:pt x="63500" y="0"/>
                    </a:lnTo>
                    <a:cubicBezTo>
                      <a:pt x="70514" y="0"/>
                      <a:pt x="76200" y="5686"/>
                      <a:pt x="76200" y="12700"/>
                    </a:cubicBezTo>
                    <a:lnTo>
                      <a:pt x="76200" y="88900"/>
                    </a:lnTo>
                    <a:cubicBezTo>
                      <a:pt x="76200" y="95914"/>
                      <a:pt x="70514" y="101600"/>
                      <a:pt x="63500" y="101600"/>
                    </a:cubicBezTo>
                    <a:lnTo>
                      <a:pt x="12700" y="101600"/>
                    </a:lnTo>
                    <a:cubicBezTo>
                      <a:pt x="5686" y="101600"/>
                      <a:pt x="0" y="95914"/>
                      <a:pt x="0" y="88900"/>
                    </a:cubicBezTo>
                    <a:lnTo>
                      <a:pt x="0" y="12700"/>
                    </a:lnTo>
                  </a:path>
                </a:pathLst>
              </a:custGeom>
              <a:noFill/>
              <a:ln w="19050">
                <a:solidFill>
                  <a:srgbClr val="D97757"/>
                </a:solidFill>
              </a:ln>
            </p:spPr>
          </p:sp>
          <p:sp>
            <p:nvSpPr>
              <p:cNvPr id="33" name="Freeform 33"/>
              <p:cNvSpPr/>
              <p:nvPr/>
            </p:nvSpPr>
            <p:spPr>
              <a:xfrm>
                <a:off x="8724900" y="1987550"/>
                <a:ext cx="76200" cy="152400"/>
              </a:xfrm>
              <a:custGeom>
                <a:avLst/>
                <a:gdLst/>
                <a:ahLst/>
                <a:cxnLst/>
                <a:rect l="l" t="t" r="r" b="b"/>
                <a:pathLst>
                  <a:path w="76200" h="152400">
                    <a:moveTo>
                      <a:pt x="0" y="12700"/>
                    </a:moveTo>
                    <a:cubicBezTo>
                      <a:pt x="0" y="5686"/>
                      <a:pt x="5686" y="0"/>
                      <a:pt x="12700" y="0"/>
                    </a:cubicBezTo>
                    <a:lnTo>
                      <a:pt x="63500" y="0"/>
                    </a:lnTo>
                    <a:cubicBezTo>
                      <a:pt x="70514" y="0"/>
                      <a:pt x="76200" y="5686"/>
                      <a:pt x="76200" y="12700"/>
                    </a:cubicBezTo>
                    <a:lnTo>
                      <a:pt x="76200" y="139700"/>
                    </a:lnTo>
                    <a:cubicBezTo>
                      <a:pt x="76200" y="146714"/>
                      <a:pt x="70514" y="152400"/>
                      <a:pt x="63500" y="152400"/>
                    </a:cubicBezTo>
                    <a:lnTo>
                      <a:pt x="12700" y="152400"/>
                    </a:lnTo>
                    <a:cubicBezTo>
                      <a:pt x="5686" y="152400"/>
                      <a:pt x="0" y="146714"/>
                      <a:pt x="0" y="139700"/>
                    </a:cubicBezTo>
                    <a:lnTo>
                      <a:pt x="0" y="12700"/>
                    </a:lnTo>
                  </a:path>
                </a:pathLst>
              </a:custGeom>
              <a:noFill/>
              <a:ln w="19050">
                <a:solidFill>
                  <a:srgbClr val="D97757"/>
                </a:solidFill>
              </a:ln>
            </p:spPr>
          </p:sp>
          <p:sp>
            <p:nvSpPr>
              <p:cNvPr id="34" name="Freeform 34"/>
              <p:cNvSpPr/>
              <p:nvPr/>
            </p:nvSpPr>
            <p:spPr>
              <a:xfrm>
                <a:off x="8648700" y="1936750"/>
                <a:ext cx="76200" cy="203200"/>
              </a:xfrm>
              <a:custGeom>
                <a:avLst/>
                <a:gdLst/>
                <a:ahLst/>
                <a:cxnLst/>
                <a:rect l="l" t="t" r="r" b="b"/>
                <a:pathLst>
                  <a:path w="76200" h="203200">
                    <a:moveTo>
                      <a:pt x="0" y="12700"/>
                    </a:moveTo>
                    <a:cubicBezTo>
                      <a:pt x="0" y="5686"/>
                      <a:pt x="5686" y="0"/>
                      <a:pt x="12700" y="0"/>
                    </a:cubicBezTo>
                    <a:lnTo>
                      <a:pt x="63500" y="0"/>
                    </a:lnTo>
                    <a:cubicBezTo>
                      <a:pt x="70514" y="0"/>
                      <a:pt x="76200" y="5686"/>
                      <a:pt x="76200" y="12700"/>
                    </a:cubicBezTo>
                    <a:lnTo>
                      <a:pt x="76200" y="190500"/>
                    </a:lnTo>
                    <a:cubicBezTo>
                      <a:pt x="76200" y="197514"/>
                      <a:pt x="70514" y="203200"/>
                      <a:pt x="63500" y="203200"/>
                    </a:cubicBezTo>
                    <a:lnTo>
                      <a:pt x="12700" y="203200"/>
                    </a:lnTo>
                    <a:cubicBezTo>
                      <a:pt x="5686" y="203200"/>
                      <a:pt x="0" y="197514"/>
                      <a:pt x="0" y="190500"/>
                    </a:cubicBezTo>
                    <a:lnTo>
                      <a:pt x="0" y="12700"/>
                    </a:lnTo>
                  </a:path>
                </a:pathLst>
              </a:custGeom>
              <a:noFill/>
              <a:ln w="19050">
                <a:solidFill>
                  <a:srgbClr val="D97757"/>
                </a:solidFill>
              </a:ln>
            </p:spPr>
          </p:sp>
          <p:sp>
            <p:nvSpPr>
              <p:cNvPr id="35" name="Freeform 35"/>
              <p:cNvSpPr/>
              <p:nvPr/>
            </p:nvSpPr>
            <p:spPr>
              <a:xfrm>
                <a:off x="8585200" y="2139950"/>
                <a:ext cx="177800" cy="9525"/>
              </a:xfrm>
              <a:custGeom>
                <a:avLst/>
                <a:gdLst/>
                <a:ahLst/>
                <a:cxnLst/>
                <a:rect l="l" t="t" r="r" b="b"/>
                <a:pathLst>
                  <a:path w="177800" h="9525">
                    <a:moveTo>
                      <a:pt x="0" y="0"/>
                    </a:moveTo>
                    <a:lnTo>
                      <a:pt x="177800" y="0"/>
                    </a:lnTo>
                  </a:path>
                </a:pathLst>
              </a:custGeom>
              <a:noFill/>
              <a:ln w="19050">
                <a:solidFill>
                  <a:srgbClr val="D97757"/>
                </a:solidFill>
              </a:ln>
            </p:spPr>
          </p:sp>
        </p:grpSp>
        <p:sp>
          <p:nvSpPr>
            <p:cNvPr id="37" name="TextBox 37"/>
            <p:cNvSpPr txBox="1"/>
            <p:nvPr/>
          </p:nvSpPr>
          <p:spPr>
            <a:xfrm>
              <a:off x="8421052" y="2513171"/>
              <a:ext cx="1552585" cy="289560"/>
            </a:xfrm>
            <a:prstGeom prst="rect">
              <a:avLst/>
            </a:prstGeom>
            <a:noFill/>
            <a:ln>
              <a:noFill/>
            </a:ln>
          </p:spPr>
          <p:txBody>
            <a:bodyPr wrap="none" lIns="0" tIns="0" rIns="0" bIns="0" anchor="t" anchorCtr="0">
              <a:spAutoFit/>
            </a:bodyPr>
            <a:lstStyle/>
            <a:p>
              <a:pPr algn="l"/>
              <a:r>
                <a:rPr lang="zh-CN" sz="1425" b="1" dirty="0">
                  <a:solidFill>
                    <a:srgbClr val="191919"/>
                  </a:solidFill>
                  <a:latin typeface="Styrene A"/>
                  <a:ea typeface="Microsoft YaHei"/>
                  <a:cs typeface="Styrene A"/>
                </a:rPr>
                <a:t>Knowledge work</a:t>
              </a:r>
            </a:p>
          </p:txBody>
        </p:sp>
        <p:sp>
          <p:nvSpPr>
            <p:cNvPr id="38" name="TextBox 38"/>
            <p:cNvSpPr txBox="1"/>
            <p:nvPr/>
          </p:nvSpPr>
          <p:spPr>
            <a:xfrm>
              <a:off x="8428672" y="2768441"/>
              <a:ext cx="1545746" cy="167640"/>
            </a:xfrm>
            <a:prstGeom prst="rect">
              <a:avLst/>
            </a:prstGeom>
            <a:noFill/>
            <a:ln>
              <a:noFill/>
            </a:ln>
          </p:spPr>
          <p:txBody>
            <a:bodyPr wrap="none" lIns="0" tIns="0" rIns="0" bIns="0" anchor="t" anchorCtr="0">
              <a:spAutoFit/>
            </a:bodyPr>
            <a:lstStyle/>
            <a:p>
              <a:pPr algn="l"/>
              <a:r>
                <a:rPr lang="zh-CN" sz="825" b="1" dirty="0">
                  <a:solidFill>
                    <a:srgbClr val="D97757"/>
                  </a:solidFill>
                  <a:latin typeface="Anthropic Sans"/>
                  <a:ea typeface="Microsoft YaHei"/>
                  <a:cs typeface="Anthropic Sans"/>
                </a:rPr>
                <a:t>BENCHMARK-LEADING FINANCE</a:t>
              </a:r>
            </a:p>
          </p:txBody>
        </p:sp>
        <p:sp>
          <p:nvSpPr>
            <p:cNvPr id="39" name="TextBox 39"/>
            <p:cNvSpPr txBox="1"/>
            <p:nvPr/>
          </p:nvSpPr>
          <p:spPr>
            <a:xfrm>
              <a:off x="8426768" y="3057049"/>
              <a:ext cx="2693194" cy="579120"/>
            </a:xfrm>
            <a:prstGeom prst="rect">
              <a:avLst/>
            </a:prstGeom>
            <a:noFill/>
            <a:ln>
              <a:noFill/>
            </a:ln>
          </p:spPr>
          <p:txBody>
            <a:bodyPr wrap="square" lIns="0" tIns="0" rIns="0" bIns="0" anchor="t" anchorCtr="0"/>
            <a:lstStyle/>
            <a:p>
              <a:pPr algn="l">
                <a:lnSpc>
                  <a:spcPts val="1500"/>
                </a:lnSpc>
              </a:pPr>
              <a:r>
                <a:rPr lang="zh-CN" sz="975" dirty="0">
                  <a:solidFill>
                    <a:srgbClr val="64748B"/>
                  </a:solidFill>
                  <a:latin typeface="Anthropic Sans"/>
                  <a:ea typeface="Microsoft YaHei"/>
                  <a:cs typeface="Anthropic Sans"/>
                </a:rPr>
                <a:t xml:space="preserve">Top performance on finance benchmarks; </a:t>
              </a:r>
              <a:r>
                <a:rPr lang="zh-CN" sz="975" dirty="0">
                  <a:solidFill>
                    <a:srgbClr val="64748B"/>
                  </a:solidFill>
                  <a:latin typeface="Anthropic Sans"/>
                  <a:ea typeface="Microsoft YaHei"/>
                  <a:cs typeface="Anthropic Sans"/>
                </a:rPr>
                <a:t xml:space="preserve">end-to-end enterprise deliverables — </a:t>
              </a:r>
              <a:r>
                <a:rPr lang="zh-CN" sz="975" dirty="0">
                  <a:solidFill>
                    <a:srgbClr val="64748B"/>
                  </a:solidFill>
                  <a:latin typeface="Anthropic Sans"/>
                  <a:ea typeface="Microsoft YaHei"/>
                  <a:cs typeface="Anthropic Sans"/>
                </a:rPr>
                <a:t>analysis, spreadsheets, slides, documents.</a:t>
              </a:r>
            </a:p>
          </p:txBody>
        </p:sp>
      </p:grpSp>
      <p:grpSp>
        <p:nvGrpSpPr>
          <p:cNvPr id="50" name="Group 50"/>
          <p:cNvGrpSpPr/>
          <p:nvPr/>
        </p:nvGrpSpPr>
        <p:grpSpPr>
          <a:xfrm>
            <a:off x="762000" y="4048125"/>
            <a:ext cx="3429000" cy="2333625"/>
            <a:chOff x="762000" y="4048125"/>
            <a:chExt cx="3429000" cy="2333625"/>
          </a:xfrm>
        </p:grpSpPr>
        <p:sp>
          <p:nvSpPr>
            <p:cNvPr id="41" name="Rectangle 41"/>
            <p:cNvSpPr/>
            <p:nvPr/>
          </p:nvSpPr>
          <p:spPr>
            <a:xfrm>
              <a:off x="762000" y="4048125"/>
              <a:ext cx="3429000" cy="2333625"/>
            </a:xfrm>
            <a:prstGeom prst="roundRect">
              <a:avLst>
                <a:gd name="adj" fmla="val 4898"/>
              </a:avLst>
            </a:prstGeom>
            <a:solidFill>
              <a:srgbClr val="FFFFFF"/>
            </a:solidFill>
            <a:ln w="14288">
              <a:solidFill>
                <a:srgbClr val="E2E8F0"/>
              </a:solidFill>
            </a:ln>
          </p:spPr>
        </p:sp>
        <p:sp>
          <p:nvSpPr>
            <p:cNvPr id="42" name="TextBox 42"/>
            <p:cNvSpPr txBox="1"/>
            <p:nvPr/>
          </p:nvSpPr>
          <p:spPr>
            <a:xfrm>
              <a:off x="3324111" y="4231005"/>
              <a:ext cx="645909" cy="731520"/>
            </a:xfrm>
            <a:prstGeom prst="rect">
              <a:avLst/>
            </a:prstGeom>
            <a:noFill/>
            <a:ln>
              <a:noFill/>
            </a:ln>
          </p:spPr>
          <p:txBody>
            <a:bodyPr wrap="none" lIns="0" tIns="0" rIns="0" bIns="0" anchor="t" anchorCtr="0">
              <a:spAutoFit/>
            </a:bodyPr>
            <a:lstStyle/>
            <a:p>
              <a:pPr algn="r"/>
              <a:r>
                <a:rPr lang="zh-CN" sz="3600" b="1" dirty="0">
                  <a:solidFill>
                    <a:srgbClr val="D97757">
                      <a:alphaMod val="10000"/>
                    </a:srgbClr>
                  </a:solidFill>
                  <a:latin typeface="Styrene A"/>
                  <a:ea typeface="Microsoft YaHei"/>
                  <a:cs typeface="Styrene A"/>
                </a:rPr>
                <a:t>04</a:t>
              </a:r>
            </a:p>
          </p:txBody>
        </p:sp>
        <p:sp>
          <p:nvSpPr>
            <p:cNvPr id="43" name="Rectangle 43"/>
            <p:cNvSpPr/>
            <p:nvPr/>
          </p:nvSpPr>
          <p:spPr>
            <a:xfrm>
              <a:off x="1009650" y="4295775"/>
              <a:ext cx="495300" cy="495300"/>
            </a:xfrm>
            <a:prstGeom prst="roundRect">
              <a:avLst>
                <a:gd name="adj" fmla="val 23077"/>
              </a:avLst>
            </a:prstGeom>
            <a:solidFill>
              <a:srgbClr val="F8FAFC"/>
            </a:solidFill>
            <a:ln>
              <a:noFill/>
            </a:ln>
          </p:spPr>
        </p:sp>
        <p:grpSp>
          <p:nvGrpSpPr>
            <p:cNvPr id="46" name="Group 46"/>
            <p:cNvGrpSpPr/>
            <p:nvPr/>
          </p:nvGrpSpPr>
          <p:grpSpPr>
            <a:xfrm>
              <a:off x="1143000" y="4467225"/>
              <a:ext cx="228600" cy="152400"/>
              <a:chOff x="1143000" y="4467225"/>
              <a:chExt cx="228600" cy="152400"/>
            </a:xfrm>
          </p:grpSpPr>
          <p:sp>
            <p:nvSpPr>
              <p:cNvPr id="44" name="Freeform 44"/>
              <p:cNvSpPr/>
              <p:nvPr/>
            </p:nvSpPr>
            <p:spPr>
              <a:xfrm>
                <a:off x="1231900" y="4518025"/>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19050">
                <a:solidFill>
                  <a:srgbClr val="D97757"/>
                </a:solidFill>
              </a:ln>
            </p:spPr>
          </p:sp>
          <p:sp>
            <p:nvSpPr>
              <p:cNvPr id="45" name="Freeform 45"/>
              <p:cNvSpPr/>
              <p:nvPr/>
            </p:nvSpPr>
            <p:spPr>
              <a:xfrm>
                <a:off x="1143000" y="4467225"/>
                <a:ext cx="228600" cy="152400"/>
              </a:xfrm>
              <a:custGeom>
                <a:avLst/>
                <a:gdLst/>
                <a:ahLst/>
                <a:cxnLst/>
                <a:rect l="l" t="t" r="r" b="b"/>
                <a:pathLst>
                  <a:path w="228600" h="152400">
                    <a:moveTo>
                      <a:pt x="228600" y="76200"/>
                    </a:moveTo>
                    <a:cubicBezTo>
                      <a:pt x="198120" y="127000"/>
                      <a:pt x="160020" y="152400"/>
                      <a:pt x="114300" y="152400"/>
                    </a:cubicBezTo>
                    <a:cubicBezTo>
                      <a:pt x="68580" y="152400"/>
                      <a:pt x="30480" y="127000"/>
                      <a:pt x="0" y="76200"/>
                    </a:cubicBezTo>
                    <a:cubicBezTo>
                      <a:pt x="30480" y="25400"/>
                      <a:pt x="68580" y="0"/>
                      <a:pt x="114300" y="0"/>
                    </a:cubicBezTo>
                    <a:cubicBezTo>
                      <a:pt x="160020" y="0"/>
                      <a:pt x="198120" y="25400"/>
                      <a:pt x="228600" y="76200"/>
                    </a:cubicBezTo>
                  </a:path>
                </a:pathLst>
              </a:custGeom>
              <a:noFill/>
              <a:ln w="19050">
                <a:solidFill>
                  <a:srgbClr val="D97757"/>
                </a:solidFill>
              </a:ln>
            </p:spPr>
          </p:sp>
        </p:grpSp>
        <p:sp>
          <p:nvSpPr>
            <p:cNvPr id="47" name="TextBox 47"/>
            <p:cNvSpPr txBox="1"/>
            <p:nvPr/>
          </p:nvSpPr>
          <p:spPr>
            <a:xfrm>
              <a:off x="991552" y="5018246"/>
              <a:ext cx="594865" cy="289560"/>
            </a:xfrm>
            <a:prstGeom prst="rect">
              <a:avLst/>
            </a:prstGeom>
            <a:noFill/>
            <a:ln>
              <a:noFill/>
            </a:ln>
          </p:spPr>
          <p:txBody>
            <a:bodyPr wrap="none" lIns="0" tIns="0" rIns="0" bIns="0" anchor="t" anchorCtr="0">
              <a:spAutoFit/>
            </a:bodyPr>
            <a:lstStyle/>
            <a:p>
              <a:pPr algn="l"/>
              <a:r>
                <a:rPr lang="zh-CN" sz="1425" b="1" dirty="0">
                  <a:solidFill>
                    <a:srgbClr val="191919"/>
                  </a:solidFill>
                  <a:latin typeface="Styrene A"/>
                  <a:ea typeface="Microsoft YaHei"/>
                  <a:cs typeface="Styrene A"/>
                </a:rPr>
                <a:t>Vision</a:t>
              </a:r>
            </a:p>
          </p:txBody>
        </p:sp>
        <p:sp>
          <p:nvSpPr>
            <p:cNvPr id="48" name="TextBox 48"/>
            <p:cNvSpPr txBox="1"/>
            <p:nvPr/>
          </p:nvSpPr>
          <p:spPr>
            <a:xfrm>
              <a:off x="999172" y="5273516"/>
              <a:ext cx="973949" cy="167640"/>
            </a:xfrm>
            <a:prstGeom prst="rect">
              <a:avLst/>
            </a:prstGeom>
            <a:noFill/>
            <a:ln>
              <a:noFill/>
            </a:ln>
          </p:spPr>
          <p:txBody>
            <a:bodyPr wrap="none" lIns="0" tIns="0" rIns="0" bIns="0" anchor="t" anchorCtr="0">
              <a:spAutoFit/>
            </a:bodyPr>
            <a:lstStyle/>
            <a:p>
              <a:pPr algn="l"/>
              <a:r>
                <a:rPr lang="zh-CN" sz="825" b="1" dirty="0">
                  <a:solidFill>
                    <a:srgbClr val="D97757"/>
                  </a:solidFill>
                  <a:latin typeface="Anthropic Sans"/>
                  <a:ea typeface="Microsoft YaHei"/>
                  <a:cs typeface="Anthropic Sans"/>
                </a:rPr>
                <a:t>STATE OF THE ART</a:t>
              </a:r>
            </a:p>
          </p:txBody>
        </p:sp>
        <p:sp>
          <p:nvSpPr>
            <p:cNvPr id="49" name="TextBox 49"/>
            <p:cNvSpPr txBox="1"/>
            <p:nvPr/>
          </p:nvSpPr>
          <p:spPr>
            <a:xfrm>
              <a:off x="997268" y="5562124"/>
              <a:ext cx="2798445" cy="579120"/>
            </a:xfrm>
            <a:prstGeom prst="rect">
              <a:avLst/>
            </a:prstGeom>
            <a:noFill/>
            <a:ln>
              <a:noFill/>
            </a:ln>
          </p:spPr>
          <p:txBody>
            <a:bodyPr wrap="square" lIns="0" tIns="0" rIns="0" bIns="0" anchor="t" anchorCtr="0"/>
            <a:lstStyle/>
            <a:p>
              <a:pPr algn="l">
                <a:lnSpc>
                  <a:spcPts val="1500"/>
                </a:lnSpc>
              </a:pPr>
              <a:r>
                <a:rPr lang="zh-CN" sz="975" dirty="0">
                  <a:solidFill>
                    <a:srgbClr val="64748B"/>
                  </a:solidFill>
                  <a:latin typeface="Anthropic Sans"/>
                  <a:ea typeface="Microsoft YaHei"/>
                  <a:cs typeface="Anthropic Sans"/>
                </a:rPr>
                <a:t xml:space="preserve">Reads dense or degraded images — trained </a:t>
              </a:r>
              <a:r>
                <a:rPr lang="zh-CN" sz="975" dirty="0">
                  <a:solidFill>
                    <a:srgbClr val="64748B"/>
                  </a:solidFill>
                  <a:latin typeface="Anthropic Sans"/>
                  <a:ea typeface="Microsoft YaHei"/>
                  <a:cs typeface="Anthropic Sans"/>
                </a:rPr>
                <a:t xml:space="preserve">to crop, rotate, and inspect; played Pokémon </a:t>
              </a:r>
              <a:r>
                <a:rPr lang="zh-CN" sz="975" dirty="0">
                  <a:solidFill>
                    <a:srgbClr val="64748B"/>
                  </a:solidFill>
                  <a:latin typeface="Anthropic Sans"/>
                  <a:ea typeface="Microsoft YaHei"/>
                  <a:cs typeface="Anthropic Sans"/>
                </a:rPr>
                <a:t>FireRed from screenshots alone.</a:t>
              </a:r>
            </a:p>
          </p:txBody>
        </p:sp>
      </p:grpSp>
      <p:grpSp>
        <p:nvGrpSpPr>
          <p:cNvPr id="61" name="Group 61"/>
          <p:cNvGrpSpPr/>
          <p:nvPr/>
        </p:nvGrpSpPr>
        <p:grpSpPr>
          <a:xfrm>
            <a:off x="4476750" y="4048125"/>
            <a:ext cx="3429000" cy="2333625"/>
            <a:chOff x="4476750" y="4048125"/>
            <a:chExt cx="3429000" cy="2333625"/>
          </a:xfrm>
        </p:grpSpPr>
        <p:sp>
          <p:nvSpPr>
            <p:cNvPr id="51" name="Rectangle 51"/>
            <p:cNvSpPr/>
            <p:nvPr/>
          </p:nvSpPr>
          <p:spPr>
            <a:xfrm>
              <a:off x="4476750" y="4048125"/>
              <a:ext cx="3429000" cy="2333625"/>
            </a:xfrm>
            <a:prstGeom prst="roundRect">
              <a:avLst>
                <a:gd name="adj" fmla="val 4898"/>
              </a:avLst>
            </a:prstGeom>
            <a:solidFill>
              <a:srgbClr val="FFFFFF"/>
            </a:solidFill>
            <a:ln w="14288">
              <a:solidFill>
                <a:srgbClr val="E2E8F0"/>
              </a:solidFill>
            </a:ln>
          </p:spPr>
        </p:sp>
        <p:sp>
          <p:nvSpPr>
            <p:cNvPr id="52" name="TextBox 52"/>
            <p:cNvSpPr txBox="1"/>
            <p:nvPr/>
          </p:nvSpPr>
          <p:spPr>
            <a:xfrm>
              <a:off x="7038861" y="4231005"/>
              <a:ext cx="645909" cy="731520"/>
            </a:xfrm>
            <a:prstGeom prst="rect">
              <a:avLst/>
            </a:prstGeom>
            <a:noFill/>
            <a:ln>
              <a:noFill/>
            </a:ln>
          </p:spPr>
          <p:txBody>
            <a:bodyPr wrap="none" lIns="0" tIns="0" rIns="0" bIns="0" anchor="t" anchorCtr="0">
              <a:spAutoFit/>
            </a:bodyPr>
            <a:lstStyle/>
            <a:p>
              <a:pPr algn="r"/>
              <a:r>
                <a:rPr lang="zh-CN" sz="3600" b="1" dirty="0">
                  <a:solidFill>
                    <a:srgbClr val="D97757">
                      <a:alphaMod val="10000"/>
                    </a:srgbClr>
                  </a:solidFill>
                  <a:latin typeface="Styrene A"/>
                  <a:ea typeface="Microsoft YaHei"/>
                  <a:cs typeface="Styrene A"/>
                </a:rPr>
                <a:t>05</a:t>
              </a:r>
            </a:p>
          </p:txBody>
        </p:sp>
        <p:sp>
          <p:nvSpPr>
            <p:cNvPr id="53" name="Rectangle 53"/>
            <p:cNvSpPr/>
            <p:nvPr/>
          </p:nvSpPr>
          <p:spPr>
            <a:xfrm>
              <a:off x="4724400" y="4295775"/>
              <a:ext cx="495300" cy="495300"/>
            </a:xfrm>
            <a:prstGeom prst="roundRect">
              <a:avLst>
                <a:gd name="adj" fmla="val 23077"/>
              </a:avLst>
            </a:prstGeom>
            <a:solidFill>
              <a:srgbClr val="F8FAFC"/>
            </a:solidFill>
            <a:ln>
              <a:noFill/>
            </a:ln>
          </p:spPr>
        </p:sp>
        <p:grpSp>
          <p:nvGrpSpPr>
            <p:cNvPr id="57" name="Group 57"/>
            <p:cNvGrpSpPr/>
            <p:nvPr/>
          </p:nvGrpSpPr>
          <p:grpSpPr>
            <a:xfrm>
              <a:off x="4870450" y="4429125"/>
              <a:ext cx="203200" cy="228600"/>
              <a:chOff x="4870450" y="4429125"/>
              <a:chExt cx="203200" cy="228600"/>
            </a:xfrm>
          </p:grpSpPr>
          <p:sp>
            <p:nvSpPr>
              <p:cNvPr id="54" name="Freeform 54"/>
              <p:cNvSpPr/>
              <p:nvPr/>
            </p:nvSpPr>
            <p:spPr>
              <a:xfrm>
                <a:off x="4870450" y="4429125"/>
                <a:ext cx="203200" cy="76200"/>
              </a:xfrm>
              <a:custGeom>
                <a:avLst/>
                <a:gdLst/>
                <a:ahLst/>
                <a:cxnLst/>
                <a:rect l="l" t="t" r="r" b="b"/>
                <a:pathLst>
                  <a:path w="203200" h="76200">
                    <a:moveTo>
                      <a:pt x="0" y="38100"/>
                    </a:moveTo>
                    <a:cubicBezTo>
                      <a:pt x="0" y="59142"/>
                      <a:pt x="45488" y="76200"/>
                      <a:pt x="101600" y="76200"/>
                    </a:cubicBezTo>
                    <a:cubicBezTo>
                      <a:pt x="157712" y="76200"/>
                      <a:pt x="203200" y="59142"/>
                      <a:pt x="203200" y="38100"/>
                    </a:cubicBezTo>
                    <a:cubicBezTo>
                      <a:pt x="203200" y="17058"/>
                      <a:pt x="157712" y="0"/>
                      <a:pt x="101600" y="0"/>
                    </a:cubicBezTo>
                    <a:cubicBezTo>
                      <a:pt x="45488" y="0"/>
                      <a:pt x="0" y="17058"/>
                      <a:pt x="0" y="38100"/>
                    </a:cubicBezTo>
                  </a:path>
                </a:pathLst>
              </a:custGeom>
              <a:noFill/>
              <a:ln w="19050">
                <a:solidFill>
                  <a:srgbClr val="D97757"/>
                </a:solidFill>
              </a:ln>
            </p:spPr>
          </p:sp>
          <p:sp>
            <p:nvSpPr>
              <p:cNvPr id="55" name="Freeform 55"/>
              <p:cNvSpPr/>
              <p:nvPr/>
            </p:nvSpPr>
            <p:spPr>
              <a:xfrm>
                <a:off x="4870450" y="4467225"/>
                <a:ext cx="203200" cy="114300"/>
              </a:xfrm>
              <a:custGeom>
                <a:avLst/>
                <a:gdLst/>
                <a:ahLst/>
                <a:cxnLst/>
                <a:rect l="l" t="t" r="r" b="b"/>
                <a:pathLst>
                  <a:path w="203200" h="114300">
                    <a:moveTo>
                      <a:pt x="0" y="0"/>
                    </a:moveTo>
                    <a:lnTo>
                      <a:pt x="0" y="76200"/>
                    </a:lnTo>
                    <a:cubicBezTo>
                      <a:pt x="0" y="97242"/>
                      <a:pt x="45488" y="114300"/>
                      <a:pt x="101600" y="114300"/>
                    </a:cubicBezTo>
                    <a:cubicBezTo>
                      <a:pt x="157712" y="114300"/>
                      <a:pt x="203200" y="97242"/>
                      <a:pt x="203200" y="76200"/>
                    </a:cubicBezTo>
                    <a:lnTo>
                      <a:pt x="203200" y="0"/>
                    </a:lnTo>
                  </a:path>
                </a:pathLst>
              </a:custGeom>
              <a:noFill/>
              <a:ln w="19050">
                <a:solidFill>
                  <a:srgbClr val="D97757"/>
                </a:solidFill>
              </a:ln>
            </p:spPr>
          </p:sp>
          <p:sp>
            <p:nvSpPr>
              <p:cNvPr id="56" name="Freeform 56"/>
              <p:cNvSpPr/>
              <p:nvPr/>
            </p:nvSpPr>
            <p:spPr>
              <a:xfrm>
                <a:off x="4870450" y="4543425"/>
                <a:ext cx="203200" cy="114300"/>
              </a:xfrm>
              <a:custGeom>
                <a:avLst/>
                <a:gdLst/>
                <a:ahLst/>
                <a:cxnLst/>
                <a:rect l="l" t="t" r="r" b="b"/>
                <a:pathLst>
                  <a:path w="203200" h="114300">
                    <a:moveTo>
                      <a:pt x="0" y="0"/>
                    </a:moveTo>
                    <a:lnTo>
                      <a:pt x="0" y="76200"/>
                    </a:lnTo>
                    <a:cubicBezTo>
                      <a:pt x="0" y="97242"/>
                      <a:pt x="45488" y="114300"/>
                      <a:pt x="101600" y="114300"/>
                    </a:cubicBezTo>
                    <a:cubicBezTo>
                      <a:pt x="157712" y="114300"/>
                      <a:pt x="203200" y="97242"/>
                      <a:pt x="203200" y="76200"/>
                    </a:cubicBezTo>
                    <a:lnTo>
                      <a:pt x="203200" y="0"/>
                    </a:lnTo>
                  </a:path>
                </a:pathLst>
              </a:custGeom>
              <a:noFill/>
              <a:ln w="19050">
                <a:solidFill>
                  <a:srgbClr val="D97757"/>
                </a:solidFill>
              </a:ln>
            </p:spPr>
          </p:sp>
        </p:grpSp>
        <p:sp>
          <p:nvSpPr>
            <p:cNvPr id="58" name="TextBox 58"/>
            <p:cNvSpPr txBox="1"/>
            <p:nvPr/>
          </p:nvSpPr>
          <p:spPr>
            <a:xfrm>
              <a:off x="4706302" y="5018246"/>
              <a:ext cx="2270874" cy="289560"/>
            </a:xfrm>
            <a:prstGeom prst="rect">
              <a:avLst/>
            </a:prstGeom>
            <a:noFill/>
            <a:ln>
              <a:noFill/>
            </a:ln>
          </p:spPr>
          <p:txBody>
            <a:bodyPr wrap="none" lIns="0" tIns="0" rIns="0" bIns="0" anchor="t" anchorCtr="0">
              <a:spAutoFit/>
            </a:bodyPr>
            <a:lstStyle/>
            <a:p>
              <a:pPr algn="l"/>
              <a:r>
                <a:rPr lang="zh-CN" sz="1425" b="1" dirty="0">
                  <a:solidFill>
                    <a:srgbClr val="191919"/>
                  </a:solidFill>
                  <a:latin typeface="Styrene A"/>
                  <a:ea typeface="Microsoft YaHei"/>
                  <a:cs typeface="Styrene A"/>
                </a:rPr>
                <a:t>Long context + memory</a:t>
              </a:r>
            </a:p>
          </p:txBody>
        </p:sp>
        <p:sp>
          <p:nvSpPr>
            <p:cNvPr id="59" name="TextBox 59"/>
            <p:cNvSpPr txBox="1"/>
            <p:nvPr/>
          </p:nvSpPr>
          <p:spPr>
            <a:xfrm>
              <a:off x="4713922" y="5273516"/>
              <a:ext cx="1141445" cy="167640"/>
            </a:xfrm>
            <a:prstGeom prst="rect">
              <a:avLst/>
            </a:prstGeom>
            <a:noFill/>
            <a:ln>
              <a:noFill/>
            </a:ln>
          </p:spPr>
          <p:txBody>
            <a:bodyPr wrap="none" lIns="0" tIns="0" rIns="0" bIns="0" anchor="t" anchorCtr="0">
              <a:spAutoFit/>
            </a:bodyPr>
            <a:lstStyle/>
            <a:p>
              <a:pPr algn="l"/>
              <a:r>
                <a:rPr lang="zh-CN" sz="825" b="1" dirty="0">
                  <a:solidFill>
                    <a:srgbClr val="D97757"/>
                  </a:solidFill>
                  <a:latin typeface="Anthropic Sans"/>
                  <a:ea typeface="Microsoft YaHei"/>
                  <a:cs typeface="Anthropic Sans"/>
                </a:rPr>
                <a:t>MILLIONS OF TOKENS</a:t>
              </a:r>
            </a:p>
          </p:txBody>
        </p:sp>
        <p:sp>
          <p:nvSpPr>
            <p:cNvPr id="60" name="TextBox 60"/>
            <p:cNvSpPr txBox="1"/>
            <p:nvPr/>
          </p:nvSpPr>
          <p:spPr>
            <a:xfrm>
              <a:off x="4712018" y="5562124"/>
              <a:ext cx="2575560" cy="579120"/>
            </a:xfrm>
            <a:prstGeom prst="rect">
              <a:avLst/>
            </a:prstGeom>
            <a:noFill/>
            <a:ln>
              <a:noFill/>
            </a:ln>
          </p:spPr>
          <p:txBody>
            <a:bodyPr wrap="square" lIns="0" tIns="0" rIns="0" bIns="0" anchor="t" anchorCtr="0"/>
            <a:lstStyle/>
            <a:p>
              <a:pPr algn="l">
                <a:lnSpc>
                  <a:spcPts val="1500"/>
                </a:lnSpc>
              </a:pPr>
              <a:r>
                <a:rPr lang="zh-CN" sz="975" dirty="0">
                  <a:solidFill>
                    <a:srgbClr val="64748B"/>
                  </a:solidFill>
                  <a:latin typeface="Anthropic Sans"/>
                  <a:ea typeface="Microsoft YaHei"/>
                  <a:cs typeface="Anthropic Sans"/>
                </a:rPr>
                <a:t xml:space="preserve">Stays effective across the 1M window and </a:t>
              </a:r>
              <a:r>
                <a:rPr lang="zh-CN" sz="975" dirty="0">
                  <a:solidFill>
                    <a:srgbClr val="64748B"/>
                  </a:solidFill>
                  <a:latin typeface="Anthropic Sans"/>
                  <a:ea typeface="Microsoft YaHei"/>
                  <a:cs typeface="Anthropic Sans"/>
                </a:rPr>
                <a:t xml:space="preserve">performs notably better when given a </a:t>
              </a:r>
              <a:r>
                <a:rPr lang="zh-CN" sz="975" dirty="0">
                  <a:solidFill>
                    <a:srgbClr val="64748B"/>
                  </a:solidFill>
                  <a:latin typeface="Anthropic Sans"/>
                  <a:ea typeface="Microsoft YaHei"/>
                  <a:cs typeface="Anthropic Sans"/>
                </a:rPr>
                <a:t>memory surface to write learnings to.</a:t>
              </a:r>
            </a:p>
          </p:txBody>
        </p:sp>
      </p:grpSp>
      <p:grpSp>
        <p:nvGrpSpPr>
          <p:cNvPr id="75" name="Group 75"/>
          <p:cNvGrpSpPr/>
          <p:nvPr/>
        </p:nvGrpSpPr>
        <p:grpSpPr>
          <a:xfrm>
            <a:off x="8191500" y="4048125"/>
            <a:ext cx="3429000" cy="2333625"/>
            <a:chOff x="8191500" y="4048125"/>
            <a:chExt cx="3429000" cy="2333625"/>
          </a:xfrm>
        </p:grpSpPr>
        <p:sp>
          <p:nvSpPr>
            <p:cNvPr id="62" name="Rectangle 62"/>
            <p:cNvSpPr/>
            <p:nvPr/>
          </p:nvSpPr>
          <p:spPr>
            <a:xfrm>
              <a:off x="8191500" y="4048125"/>
              <a:ext cx="3429000" cy="2333625"/>
            </a:xfrm>
            <a:prstGeom prst="roundRect">
              <a:avLst>
                <a:gd name="adj" fmla="val 4898"/>
              </a:avLst>
            </a:prstGeom>
            <a:solidFill>
              <a:srgbClr val="FFFFFF"/>
            </a:solidFill>
            <a:ln w="14288">
              <a:solidFill>
                <a:srgbClr val="E2E8F0"/>
              </a:solidFill>
            </a:ln>
          </p:spPr>
        </p:sp>
        <p:sp>
          <p:nvSpPr>
            <p:cNvPr id="63" name="TextBox 63"/>
            <p:cNvSpPr txBox="1"/>
            <p:nvPr/>
          </p:nvSpPr>
          <p:spPr>
            <a:xfrm>
              <a:off x="10753611" y="4231005"/>
              <a:ext cx="645909" cy="731520"/>
            </a:xfrm>
            <a:prstGeom prst="rect">
              <a:avLst/>
            </a:prstGeom>
            <a:noFill/>
            <a:ln>
              <a:noFill/>
            </a:ln>
          </p:spPr>
          <p:txBody>
            <a:bodyPr wrap="none" lIns="0" tIns="0" rIns="0" bIns="0" anchor="t" anchorCtr="0">
              <a:spAutoFit/>
            </a:bodyPr>
            <a:lstStyle/>
            <a:p>
              <a:pPr algn="r"/>
              <a:r>
                <a:rPr lang="zh-CN" sz="3600" b="1" dirty="0">
                  <a:solidFill>
                    <a:srgbClr val="D97757">
                      <a:alphaMod val="10000"/>
                    </a:srgbClr>
                  </a:solidFill>
                  <a:latin typeface="Styrene A"/>
                  <a:ea typeface="Microsoft YaHei"/>
                  <a:cs typeface="Styrene A"/>
                </a:rPr>
                <a:t>06</a:t>
              </a:r>
            </a:p>
          </p:txBody>
        </p:sp>
        <p:sp>
          <p:nvSpPr>
            <p:cNvPr id="64" name="Rectangle 64"/>
            <p:cNvSpPr/>
            <p:nvPr/>
          </p:nvSpPr>
          <p:spPr>
            <a:xfrm>
              <a:off x="8439150" y="4295775"/>
              <a:ext cx="495300" cy="495300"/>
            </a:xfrm>
            <a:prstGeom prst="roundRect">
              <a:avLst>
                <a:gd name="adj" fmla="val 23077"/>
              </a:avLst>
            </a:prstGeom>
            <a:solidFill>
              <a:srgbClr val="F8FAFC"/>
            </a:solidFill>
            <a:ln>
              <a:noFill/>
            </a:ln>
          </p:spPr>
        </p:sp>
        <p:grpSp>
          <p:nvGrpSpPr>
            <p:cNvPr id="71" name="Group 71"/>
            <p:cNvGrpSpPr/>
            <p:nvPr/>
          </p:nvGrpSpPr>
          <p:grpSpPr>
            <a:xfrm>
              <a:off x="8572500" y="4429125"/>
              <a:ext cx="228600" cy="228600"/>
              <a:chOff x="8572500" y="4429125"/>
              <a:chExt cx="228600" cy="228600"/>
            </a:xfrm>
          </p:grpSpPr>
          <p:sp>
            <p:nvSpPr>
              <p:cNvPr id="65" name="Freeform 65"/>
              <p:cNvSpPr/>
              <p:nvPr/>
            </p:nvSpPr>
            <p:spPr>
              <a:xfrm>
                <a:off x="8661400" y="4530725"/>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19050">
                <a:solidFill>
                  <a:srgbClr val="D97757"/>
                </a:solidFill>
              </a:ln>
            </p:spPr>
          </p:sp>
          <p:sp>
            <p:nvSpPr>
              <p:cNvPr id="66" name="Freeform 66"/>
              <p:cNvSpPr/>
              <p:nvPr/>
            </p:nvSpPr>
            <p:spPr>
              <a:xfrm>
                <a:off x="8636000" y="4619625"/>
                <a:ext cx="101600" cy="38100"/>
              </a:xfrm>
              <a:custGeom>
                <a:avLst/>
                <a:gdLst/>
                <a:ahLst/>
                <a:cxnLst/>
                <a:rect l="l" t="t" r="r" b="b"/>
                <a:pathLst>
                  <a:path w="101600" h="38100">
                    <a:moveTo>
                      <a:pt x="0" y="38100"/>
                    </a:moveTo>
                    <a:lnTo>
                      <a:pt x="0" y="25400"/>
                    </a:lnTo>
                    <a:cubicBezTo>
                      <a:pt x="0" y="11372"/>
                      <a:pt x="11372" y="0"/>
                      <a:pt x="25400" y="0"/>
                    </a:cubicBezTo>
                    <a:lnTo>
                      <a:pt x="76200" y="0"/>
                    </a:lnTo>
                    <a:cubicBezTo>
                      <a:pt x="90228" y="0"/>
                      <a:pt x="101600" y="11372"/>
                      <a:pt x="101600" y="25400"/>
                    </a:cubicBezTo>
                    <a:lnTo>
                      <a:pt x="101600" y="38100"/>
                    </a:lnTo>
                  </a:path>
                </a:pathLst>
              </a:custGeom>
              <a:noFill/>
              <a:ln w="19050">
                <a:solidFill>
                  <a:srgbClr val="D97757"/>
                </a:solidFill>
              </a:ln>
            </p:spPr>
          </p:sp>
          <p:sp>
            <p:nvSpPr>
              <p:cNvPr id="67" name="Freeform 67"/>
              <p:cNvSpPr/>
              <p:nvPr/>
            </p:nvSpPr>
            <p:spPr>
              <a:xfrm>
                <a:off x="8724900" y="4429125"/>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19050">
                <a:solidFill>
                  <a:srgbClr val="D97757"/>
                </a:solidFill>
              </a:ln>
            </p:spPr>
          </p:sp>
          <p:sp>
            <p:nvSpPr>
              <p:cNvPr id="68" name="Freeform 68"/>
              <p:cNvSpPr/>
              <p:nvPr/>
            </p:nvSpPr>
            <p:spPr>
              <a:xfrm>
                <a:off x="8750300" y="4518025"/>
                <a:ext cx="50800" cy="38100"/>
              </a:xfrm>
              <a:custGeom>
                <a:avLst/>
                <a:gdLst/>
                <a:ahLst/>
                <a:cxnLst/>
                <a:rect l="l" t="t" r="r" b="b"/>
                <a:pathLst>
                  <a:path w="50800" h="38100">
                    <a:moveTo>
                      <a:pt x="0" y="0"/>
                    </a:moveTo>
                    <a:lnTo>
                      <a:pt x="25400" y="0"/>
                    </a:lnTo>
                    <a:cubicBezTo>
                      <a:pt x="39428" y="0"/>
                      <a:pt x="50800" y="11372"/>
                      <a:pt x="50800" y="25400"/>
                    </a:cubicBezTo>
                    <a:lnTo>
                      <a:pt x="50800" y="38100"/>
                    </a:lnTo>
                  </a:path>
                </a:pathLst>
              </a:custGeom>
              <a:noFill/>
              <a:ln w="19050">
                <a:solidFill>
                  <a:srgbClr val="D97757"/>
                </a:solidFill>
              </a:ln>
            </p:spPr>
          </p:sp>
          <p:sp>
            <p:nvSpPr>
              <p:cNvPr id="69" name="Freeform 69"/>
              <p:cNvSpPr/>
              <p:nvPr/>
            </p:nvSpPr>
            <p:spPr>
              <a:xfrm>
                <a:off x="8597900" y="4429125"/>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19050">
                <a:solidFill>
                  <a:srgbClr val="D97757"/>
                </a:solidFill>
              </a:ln>
            </p:spPr>
          </p:sp>
          <p:sp>
            <p:nvSpPr>
              <p:cNvPr id="70" name="Freeform 70"/>
              <p:cNvSpPr/>
              <p:nvPr/>
            </p:nvSpPr>
            <p:spPr>
              <a:xfrm>
                <a:off x="8572500" y="4518025"/>
                <a:ext cx="50800" cy="38100"/>
              </a:xfrm>
              <a:custGeom>
                <a:avLst/>
                <a:gdLst/>
                <a:ahLst/>
                <a:cxnLst/>
                <a:rect l="l" t="t" r="r" b="b"/>
                <a:pathLst>
                  <a:path w="50800" h="38100">
                    <a:moveTo>
                      <a:pt x="0" y="38100"/>
                    </a:moveTo>
                    <a:lnTo>
                      <a:pt x="0" y="25400"/>
                    </a:lnTo>
                    <a:cubicBezTo>
                      <a:pt x="0" y="11372"/>
                      <a:pt x="11372" y="0"/>
                      <a:pt x="25400" y="0"/>
                    </a:cubicBezTo>
                    <a:lnTo>
                      <a:pt x="50800" y="0"/>
                    </a:lnTo>
                  </a:path>
                </a:pathLst>
              </a:custGeom>
              <a:noFill/>
              <a:ln w="19050">
                <a:solidFill>
                  <a:srgbClr val="D97757"/>
                </a:solidFill>
              </a:ln>
            </p:spPr>
          </p:sp>
        </p:grpSp>
        <p:sp>
          <p:nvSpPr>
            <p:cNvPr id="72" name="TextBox 72"/>
            <p:cNvSpPr txBox="1"/>
            <p:nvPr/>
          </p:nvSpPr>
          <p:spPr>
            <a:xfrm>
              <a:off x="8421052" y="5018246"/>
              <a:ext cx="2620043" cy="289560"/>
            </a:xfrm>
            <a:prstGeom prst="rect">
              <a:avLst/>
            </a:prstGeom>
            <a:noFill/>
            <a:ln>
              <a:noFill/>
            </a:ln>
          </p:spPr>
          <p:txBody>
            <a:bodyPr wrap="none" lIns="0" tIns="0" rIns="0" bIns="0" anchor="t" anchorCtr="0">
              <a:spAutoFit/>
            </a:bodyPr>
            <a:lstStyle/>
            <a:p>
              <a:pPr algn="l"/>
              <a:r>
                <a:rPr lang="zh-CN" sz="1425" b="1" dirty="0">
                  <a:solidFill>
                    <a:srgbClr val="191919"/>
                  </a:solidFill>
                  <a:latin typeface="Styrene A"/>
                  <a:ea typeface="Microsoft YaHei"/>
                  <a:cs typeface="Styrene A"/>
                </a:rPr>
                <a:t>Multi-agent orchestration</a:t>
              </a:r>
            </a:p>
          </p:txBody>
        </p:sp>
        <p:sp>
          <p:nvSpPr>
            <p:cNvPr id="73" name="TextBox 73"/>
            <p:cNvSpPr txBox="1"/>
            <p:nvPr/>
          </p:nvSpPr>
          <p:spPr>
            <a:xfrm>
              <a:off x="8428672" y="5273516"/>
              <a:ext cx="1193427" cy="167640"/>
            </a:xfrm>
            <a:prstGeom prst="rect">
              <a:avLst/>
            </a:prstGeom>
            <a:noFill/>
            <a:ln>
              <a:noFill/>
            </a:ln>
          </p:spPr>
          <p:txBody>
            <a:bodyPr wrap="none" lIns="0" tIns="0" rIns="0" bIns="0" anchor="t" anchorCtr="0">
              <a:spAutoFit/>
            </a:bodyPr>
            <a:lstStyle/>
            <a:p>
              <a:pPr algn="l"/>
              <a:r>
                <a:rPr lang="zh-CN" sz="825" b="1" dirty="0">
                  <a:solidFill>
                    <a:srgbClr val="D97757"/>
                  </a:solidFill>
                  <a:latin typeface="Anthropic Sans"/>
                  <a:ea typeface="Microsoft YaHei"/>
                  <a:cs typeface="Anthropic Sans"/>
                </a:rPr>
                <a:t>PARALLEL DELEGATION</a:t>
              </a:r>
            </a:p>
          </p:txBody>
        </p:sp>
        <p:sp>
          <p:nvSpPr>
            <p:cNvPr id="74" name="TextBox 74"/>
            <p:cNvSpPr txBox="1"/>
            <p:nvPr/>
          </p:nvSpPr>
          <p:spPr>
            <a:xfrm>
              <a:off x="8426768" y="5562124"/>
              <a:ext cx="2482691" cy="579120"/>
            </a:xfrm>
            <a:prstGeom prst="rect">
              <a:avLst/>
            </a:prstGeom>
            <a:noFill/>
            <a:ln>
              <a:noFill/>
            </a:ln>
          </p:spPr>
          <p:txBody>
            <a:bodyPr wrap="square" lIns="0" tIns="0" rIns="0" bIns="0" anchor="t" anchorCtr="0"/>
            <a:lstStyle/>
            <a:p>
              <a:pPr algn="l">
                <a:lnSpc>
                  <a:spcPts val="1500"/>
                </a:lnSpc>
              </a:pPr>
              <a:r>
                <a:rPr lang="zh-CN" sz="975" dirty="0">
                  <a:solidFill>
                    <a:srgbClr val="64748B"/>
                  </a:solidFill>
                  <a:latin typeface="Anthropic Sans"/>
                  <a:ea typeface="Microsoft YaHei"/>
                  <a:cs typeface="Anthropic Sans"/>
                </a:rPr>
                <a:t xml:space="preserve">Dependable parallel sub-agents, with </a:t>
              </a:r>
              <a:r>
                <a:rPr lang="zh-CN" sz="975" dirty="0">
                  <a:solidFill>
                    <a:srgbClr val="64748B"/>
                  </a:solidFill>
                  <a:latin typeface="Anthropic Sans"/>
                  <a:ea typeface="Microsoft YaHei"/>
                  <a:cs typeface="Anthropic Sans"/>
                </a:rPr>
                <a:t xml:space="preserve">sustained communication to long-running </a:t>
              </a:r>
              <a:r>
                <a:rPr lang="zh-CN" sz="975" dirty="0">
                  <a:solidFill>
                    <a:srgbClr val="64748B"/>
                  </a:solidFill>
                  <a:latin typeface="Anthropic Sans"/>
                  <a:ea typeface="Microsoft YaHei"/>
                  <a:cs typeface="Anthropic Sans"/>
                </a:rPr>
                <a:t>workers and peer agents.</a:t>
              </a:r>
            </a:p>
          </p:txBody>
        </p:sp>
      </p:grpSp>
      <p:grpSp>
        <p:nvGrpSpPr>
          <p:cNvPr id="78" name="Group 78"/>
          <p:cNvGrpSpPr/>
          <p:nvPr/>
        </p:nvGrpSpPr>
        <p:grpSpPr>
          <a:xfrm>
            <a:off x="751522" y="6502241"/>
            <a:ext cx="10688955" cy="167640"/>
            <a:chOff x="751522" y="6502241"/>
            <a:chExt cx="10688955" cy="167640"/>
          </a:xfrm>
        </p:grpSpPr>
        <p:sp>
          <p:nvSpPr>
            <p:cNvPr id="76" name="TextBox 76"/>
            <p:cNvSpPr txBox="1"/>
            <p:nvPr/>
          </p:nvSpPr>
          <p:spPr>
            <a:xfrm>
              <a:off x="751522" y="6502241"/>
              <a:ext cx="2754797" cy="167640"/>
            </a:xfrm>
            <a:prstGeom prst="rect">
              <a:avLst/>
            </a:prstGeom>
            <a:noFill/>
            <a:ln>
              <a:noFill/>
            </a:ln>
          </p:spPr>
          <p:txBody>
            <a:bodyPr wrap="none" lIns="0" tIns="0" rIns="0" bIns="0" anchor="t" anchorCtr="0">
              <a:spAutoFit/>
            </a:bodyPr>
            <a:lstStyle/>
            <a:p>
              <a:pPr algn="l"/>
              <a:r>
                <a:rPr lang="zh-CN" sz="825" dirty="0">
                  <a:solidFill>
                    <a:srgbClr val="94A3B8"/>
                  </a:solidFill>
                  <a:latin typeface="Anthropic Sans"/>
                  <a:ea typeface="Microsoft YaHei"/>
                  <a:cs typeface="Anthropic Sans"/>
                </a:rPr>
                <a:t>Source: Anthropic launch announcement, June 2026</a:t>
              </a:r>
            </a:p>
          </p:txBody>
        </p:sp>
        <p:sp>
          <p:nvSpPr>
            <p:cNvPr id="77" name="TextBox 77"/>
            <p:cNvSpPr txBox="1"/>
            <p:nvPr/>
          </p:nvSpPr>
          <p:spPr>
            <a:xfrm>
              <a:off x="11298507" y="6502241"/>
              <a:ext cx="141970" cy="167640"/>
            </a:xfrm>
            <a:prstGeom prst="rect">
              <a:avLst/>
            </a:prstGeom>
            <a:noFill/>
            <a:ln>
              <a:noFill/>
            </a:ln>
          </p:spPr>
          <p:txBody>
            <a:bodyPr wrap="none" lIns="0" tIns="0" rIns="0" bIns="0" anchor="t" anchorCtr="0">
              <a:spAutoFit/>
            </a:bodyPr>
            <a:lstStyle/>
            <a:p>
              <a:pPr algn="r"/>
              <a:r>
                <a:rPr lang="zh-CN" sz="825" dirty="0">
                  <a:solidFill>
                    <a:srgbClr val="94A3B8"/>
                  </a:solidFill>
                  <a:latin typeface="Anthropic Sans"/>
                  <a:ea typeface="Microsoft YaHei"/>
                  <a:cs typeface="Anthropic Sans"/>
                </a:rPr>
                <a:t>06</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slide(fromBottom)">
                                      <p:cBhvr>
                                        <p:cTn id="7" dur="400"/>
                                        <p:tgtEl>
                                          <p:spTgt spid="17"/>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slide(fromBottom)">
                                      <p:cBhvr>
                                        <p:cTn id="11" dur="400"/>
                                        <p:tgtEl>
                                          <p:spTgt spid="28"/>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40"/>
                                        </p:tgtEl>
                                        <p:attrNameLst>
                                          <p:attrName>style.visibility</p:attrName>
                                        </p:attrNameLst>
                                      </p:cBhvr>
                                      <p:to>
                                        <p:strVal val="visible"/>
                                      </p:to>
                                    </p:set>
                                    <p:animEffect transition="in" filter="slide(fromBottom)">
                                      <p:cBhvr>
                                        <p:cTn id="15" dur="400"/>
                                        <p:tgtEl>
                                          <p:spTgt spid="40"/>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50"/>
                                        </p:tgtEl>
                                        <p:attrNameLst>
                                          <p:attrName>style.visibility</p:attrName>
                                        </p:attrNameLst>
                                      </p:cBhvr>
                                      <p:to>
                                        <p:strVal val="visible"/>
                                      </p:to>
                                    </p:set>
                                    <p:animEffect transition="in" filter="slide(fromBottom)">
                                      <p:cBhvr>
                                        <p:cTn id="19" dur="400"/>
                                        <p:tgtEl>
                                          <p:spTgt spid="50"/>
                                        </p:tgtEl>
                                      </p:cBhvr>
                                    </p:animEffect>
                                  </p:childTnLst>
                                </p:cTn>
                              </p:par>
                            </p:childTnLst>
                          </p:cTn>
                        </p:par>
                        <p:par>
                          <p:cTn id="20" fill="hold">
                            <p:stCondLst>
                              <p:cond delay="3600"/>
                            </p:stCondLst>
                            <p:childTnLst>
                              <p:par>
                                <p:cTn id="21" presetID="2" presetClass="entr" presetSubtype="4" fill="hold" nodeType="afterEffect">
                                  <p:stCondLst>
                                    <p:cond delay="0"/>
                                  </p:stCondLst>
                                  <p:childTnLst>
                                    <p:set>
                                      <p:cBhvr>
                                        <p:cTn id="22" dur="1" fill="hold">
                                          <p:stCondLst>
                                            <p:cond delay="0"/>
                                          </p:stCondLst>
                                        </p:cTn>
                                        <p:tgtEl>
                                          <p:spTgt spid="61"/>
                                        </p:tgtEl>
                                        <p:attrNameLst>
                                          <p:attrName>style.visibility</p:attrName>
                                        </p:attrNameLst>
                                      </p:cBhvr>
                                      <p:to>
                                        <p:strVal val="visible"/>
                                      </p:to>
                                    </p:set>
                                    <p:animEffect transition="in" filter="slide(fromBottom)">
                                      <p:cBhvr>
                                        <p:cTn id="23" dur="400"/>
                                        <p:tgtEl>
                                          <p:spTgt spid="61"/>
                                        </p:tgtEl>
                                      </p:cBhvr>
                                    </p:animEffect>
                                  </p:childTnLst>
                                </p:cTn>
                              </p:par>
                            </p:childTnLst>
                          </p:cTn>
                        </p:par>
                        <p:par>
                          <p:cTn id="24" fill="hold">
                            <p:stCondLst>
                              <p:cond delay="4500"/>
                            </p:stCondLst>
                            <p:childTnLst>
                              <p:par>
                                <p:cTn id="25" presetID="2" presetClass="entr" presetSubtype="4" fill="hold" nodeType="afterEffect">
                                  <p:stCondLst>
                                    <p:cond delay="0"/>
                                  </p:stCondLst>
                                  <p:childTnLst>
                                    <p:set>
                                      <p:cBhvr>
                                        <p:cTn id="26" dur="1" fill="hold">
                                          <p:stCondLst>
                                            <p:cond delay="0"/>
                                          </p:stCondLst>
                                        </p:cTn>
                                        <p:tgtEl>
                                          <p:spTgt spid="75"/>
                                        </p:tgtEl>
                                        <p:attrNameLst>
                                          <p:attrName>style.visibility</p:attrName>
                                        </p:attrNameLst>
                                      </p:cBhvr>
                                      <p:to>
                                        <p:strVal val="visible"/>
                                      </p:to>
                                    </p:set>
                                    <p:animEffect transition="in" filter="slide(fromBottom)">
                                      <p:cBhvr>
                                        <p:cTn id="27" dur="4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8" grpId="0"/>
      <p:bldP spid="40" grpId="0"/>
      <p:bldP spid="50" grpId="0"/>
      <p:bldP spid="61" grpId="0"/>
      <p:bldP spid="7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731520" y="495300"/>
            <a:ext cx="5236007" cy="842962"/>
            <a:chOff x="731520" y="495300"/>
            <a:chExt cx="5236007" cy="842962"/>
          </a:xfrm>
        </p:grpSpPr>
        <p:sp>
          <p:nvSpPr>
            <p:cNvPr id="3" name="Rectangle 3"/>
            <p:cNvSpPr/>
            <p:nvPr/>
          </p:nvSpPr>
          <p:spPr>
            <a:xfrm>
              <a:off x="762000" y="495300"/>
              <a:ext cx="419100" cy="38100"/>
            </a:xfrm>
            <a:prstGeom prst="roundRect">
              <a:avLst>
                <a:gd name="adj" fmla="val 50000"/>
              </a:avLst>
            </a:prstGeom>
            <a:solidFill>
              <a:srgbClr val="D97757"/>
            </a:solidFill>
            <a:ln>
              <a:noFill/>
            </a:ln>
          </p:spPr>
        </p:sp>
        <p:sp>
          <p:nvSpPr>
            <p:cNvPr id="4" name="TextBox 4"/>
            <p:cNvSpPr txBox="1"/>
            <p:nvPr/>
          </p:nvSpPr>
          <p:spPr>
            <a:xfrm>
              <a:off x="731520" y="693420"/>
              <a:ext cx="5236007" cy="487680"/>
            </a:xfrm>
            <a:prstGeom prst="rect">
              <a:avLst/>
            </a:prstGeom>
            <a:noFill/>
            <a:ln>
              <a:noFill/>
            </a:ln>
          </p:spPr>
          <p:txBody>
            <a:bodyPr wrap="none" lIns="0" tIns="0" rIns="0" bIns="0" anchor="t" anchorCtr="0">
              <a:spAutoFit/>
            </a:bodyPr>
            <a:lstStyle/>
            <a:p>
              <a:pPr algn="l"/>
              <a:r>
                <a:rPr lang="zh-CN" sz="2400" b="1" dirty="0">
                  <a:solidFill>
                    <a:srgbClr val="191919"/>
                  </a:solidFill>
                  <a:latin typeface="Styrene A"/>
                  <a:ea typeface="Microsoft YaHei"/>
                  <a:cs typeface="Styrene A"/>
                </a:rPr>
                <a:t>Breakthroughs, not increments</a:t>
              </a:r>
            </a:p>
          </p:txBody>
        </p:sp>
        <p:sp>
          <p:nvSpPr>
            <p:cNvPr id="5" name="TextBox 5"/>
            <p:cNvSpPr txBox="1"/>
            <p:nvPr/>
          </p:nvSpPr>
          <p:spPr>
            <a:xfrm>
              <a:off x="748665" y="1124902"/>
              <a:ext cx="3996166" cy="213360"/>
            </a:xfrm>
            <a:prstGeom prst="rect">
              <a:avLst/>
            </a:prstGeom>
            <a:noFill/>
            <a:ln>
              <a:noFill/>
            </a:ln>
          </p:spPr>
          <p:txBody>
            <a:bodyPr wrap="none" lIns="0" tIns="0" rIns="0" bIns="0" anchor="t" anchorCtr="0">
              <a:spAutoFit/>
            </a:bodyPr>
            <a:lstStyle/>
            <a:p>
              <a:pPr algn="l"/>
              <a:r>
                <a:rPr lang="zh-CN" sz="1050" b="1" dirty="0">
                  <a:solidFill>
                    <a:srgbClr val="64748B"/>
                  </a:solidFill>
                  <a:latin typeface="Anthropic Sans"/>
                  <a:ea typeface="Microsoft YaHei"/>
                  <a:cs typeface="Anthropic Sans"/>
                </a:rPr>
                <a:t>05 · EARLY CUSTOMER SIGNALS FROM THE ACCESS PROGRAM</a:t>
              </a:r>
            </a:p>
          </p:txBody>
        </p:sp>
      </p:grpSp>
      <p:grpSp>
        <p:nvGrpSpPr>
          <p:cNvPr id="13" name="Group 13"/>
          <p:cNvGrpSpPr/>
          <p:nvPr/>
        </p:nvGrpSpPr>
        <p:grpSpPr>
          <a:xfrm>
            <a:off x="762000" y="1543050"/>
            <a:ext cx="5334000" cy="2286000"/>
            <a:chOff x="762000" y="1543050"/>
            <a:chExt cx="5334000" cy="2286000"/>
          </a:xfrm>
        </p:grpSpPr>
        <p:sp>
          <p:nvSpPr>
            <p:cNvPr id="7" name="Rectangle 7"/>
            <p:cNvSpPr/>
            <p:nvPr/>
          </p:nvSpPr>
          <p:spPr>
            <a:xfrm>
              <a:off x="762000" y="1543050"/>
              <a:ext cx="5334000" cy="2286000"/>
            </a:xfrm>
            <a:prstGeom prst="roundRect">
              <a:avLst>
                <a:gd name="adj" fmla="val 6667"/>
              </a:avLst>
            </a:prstGeom>
            <a:solidFill>
              <a:srgbClr val="F8FAFC"/>
            </a:solidFill>
            <a:ln>
              <a:noFill/>
            </a:ln>
          </p:spPr>
        </p:sp>
        <p:sp>
          <p:nvSpPr>
            <p:cNvPr id="8" name="Rectangle 8"/>
            <p:cNvSpPr/>
            <p:nvPr/>
          </p:nvSpPr>
          <p:spPr>
            <a:xfrm>
              <a:off x="933450" y="1714500"/>
              <a:ext cx="4991100" cy="1943100"/>
            </a:xfrm>
            <a:prstGeom prst="roundRect">
              <a:avLst>
                <a:gd name="adj" fmla="val 4902"/>
              </a:avLst>
            </a:prstGeom>
            <a:solidFill>
              <a:srgbClr val="FFFFFF"/>
            </a:solidFill>
            <a:ln>
              <a:noFill/>
            </a:ln>
          </p:spPr>
        </p:sp>
        <p:sp>
          <p:nvSpPr>
            <p:cNvPr id="9" name="Freeform 9"/>
            <p:cNvSpPr/>
            <p:nvPr/>
          </p:nvSpPr>
          <p:spPr>
            <a:xfrm>
              <a:off x="1241036" y="1943100"/>
              <a:ext cx="203990" cy="285750"/>
            </a:xfrm>
            <a:custGeom>
              <a:avLst/>
              <a:gdLst/>
              <a:ahLst/>
              <a:cxnLst/>
              <a:rect l="l" t="t" r="r" b="b"/>
              <a:pathLst>
                <a:path w="203990" h="285750">
                  <a:moveTo>
                    <a:pt x="125516" y="108942"/>
                  </a:moveTo>
                  <a:cubicBezTo>
                    <a:pt x="99655" y="99346"/>
                    <a:pt x="85558" y="91964"/>
                    <a:pt x="85558" y="80260"/>
                  </a:cubicBezTo>
                  <a:cubicBezTo>
                    <a:pt x="85558" y="70366"/>
                    <a:pt x="93690" y="64722"/>
                    <a:pt x="108192" y="64722"/>
                  </a:cubicBezTo>
                  <a:cubicBezTo>
                    <a:pt x="134707" y="64722"/>
                    <a:pt x="161949" y="74938"/>
                    <a:pt x="180701" y="84141"/>
                  </a:cubicBezTo>
                  <a:lnTo>
                    <a:pt x="191298" y="18729"/>
                  </a:lnTo>
                  <a:cubicBezTo>
                    <a:pt x="176427" y="11609"/>
                    <a:pt x="146006" y="0"/>
                    <a:pt x="103953" y="0"/>
                  </a:cubicBezTo>
                  <a:cubicBezTo>
                    <a:pt x="74212" y="0"/>
                    <a:pt x="49470" y="7787"/>
                    <a:pt x="31790" y="22289"/>
                  </a:cubicBezTo>
                  <a:cubicBezTo>
                    <a:pt x="13406" y="37469"/>
                    <a:pt x="3846" y="59436"/>
                    <a:pt x="3846" y="85939"/>
                  </a:cubicBezTo>
                  <a:cubicBezTo>
                    <a:pt x="3846" y="134029"/>
                    <a:pt x="33218" y="154519"/>
                    <a:pt x="80951" y="171891"/>
                  </a:cubicBezTo>
                  <a:cubicBezTo>
                    <a:pt x="111728" y="182844"/>
                    <a:pt x="121968" y="190631"/>
                    <a:pt x="121968" y="202644"/>
                  </a:cubicBezTo>
                  <a:cubicBezTo>
                    <a:pt x="121968" y="214312"/>
                    <a:pt x="111966" y="221040"/>
                    <a:pt x="93940" y="221040"/>
                  </a:cubicBezTo>
                  <a:cubicBezTo>
                    <a:pt x="71616" y="221040"/>
                    <a:pt x="34826" y="210074"/>
                    <a:pt x="10716" y="195929"/>
                  </a:cubicBezTo>
                  <a:lnTo>
                    <a:pt x="0" y="262068"/>
                  </a:lnTo>
                  <a:cubicBezTo>
                    <a:pt x="20729" y="273725"/>
                    <a:pt x="58948" y="285750"/>
                    <a:pt x="98584" y="285750"/>
                  </a:cubicBezTo>
                  <a:cubicBezTo>
                    <a:pt x="130028" y="285750"/>
                    <a:pt x="156246" y="278320"/>
                    <a:pt x="173927" y="264164"/>
                  </a:cubicBezTo>
                  <a:cubicBezTo>
                    <a:pt x="193739" y="248626"/>
                    <a:pt x="203990" y="225635"/>
                    <a:pt x="203990" y="195917"/>
                  </a:cubicBezTo>
                  <a:cubicBezTo>
                    <a:pt x="203990" y="146768"/>
                    <a:pt x="173938" y="126254"/>
                    <a:pt x="125480" y="108942"/>
                  </a:cubicBezTo>
                  <a:lnTo>
                    <a:pt x="125516" y="108942"/>
                  </a:lnTo>
                  <a:close/>
                </a:path>
              </a:pathLst>
            </a:custGeom>
            <a:solidFill>
              <a:srgbClr val="191919"/>
            </a:solidFill>
            <a:ln>
              <a:noFill/>
            </a:ln>
          </p:spPr>
        </p:sp>
        <p:sp>
          <p:nvSpPr>
            <p:cNvPr id="10" name="TextBox 10"/>
            <p:cNvSpPr txBox="1"/>
            <p:nvPr/>
          </p:nvSpPr>
          <p:spPr>
            <a:xfrm>
              <a:off x="1601152" y="1998821"/>
              <a:ext cx="644746" cy="289560"/>
            </a:xfrm>
            <a:prstGeom prst="rect">
              <a:avLst/>
            </a:prstGeom>
            <a:noFill/>
            <a:ln>
              <a:noFill/>
            </a:ln>
          </p:spPr>
          <p:txBody>
            <a:bodyPr wrap="none" lIns="0" tIns="0" rIns="0" bIns="0" anchor="t" anchorCtr="0">
              <a:spAutoFit/>
            </a:bodyPr>
            <a:lstStyle/>
            <a:p>
              <a:pPr algn="l"/>
              <a:r>
                <a:rPr lang="zh-CN" sz="1425" b="1" dirty="0">
                  <a:solidFill>
                    <a:srgbClr val="191919"/>
                  </a:solidFill>
                  <a:latin typeface="Styrene A"/>
                  <a:ea typeface="Microsoft YaHei"/>
                  <a:cs typeface="Styrene A"/>
                </a:rPr>
                <a:t>Stripe</a:t>
              </a:r>
            </a:p>
          </p:txBody>
        </p:sp>
        <p:sp>
          <p:nvSpPr>
            <p:cNvPr id="11" name="TextBox 11"/>
            <p:cNvSpPr txBox="1"/>
            <p:nvPr/>
          </p:nvSpPr>
          <p:spPr>
            <a:xfrm>
              <a:off x="1185862" y="2507456"/>
              <a:ext cx="2950369" cy="476250"/>
            </a:xfrm>
            <a:prstGeom prst="rect">
              <a:avLst/>
            </a:prstGeom>
            <a:noFill/>
            <a:ln>
              <a:noFill/>
            </a:ln>
          </p:spPr>
          <p:txBody>
            <a:bodyPr wrap="square" lIns="0" tIns="0" rIns="0" bIns="0" anchor="t" anchorCtr="0"/>
            <a:lstStyle/>
            <a:p>
              <a:pPr algn="l">
                <a:lnSpc>
                  <a:spcPts val="1950"/>
                </a:lnSpc>
              </a:pPr>
              <a:r>
                <a:rPr lang="zh-CN" sz="1125" dirty="0">
                  <a:solidFill>
                    <a:srgbClr val="191919"/>
                  </a:solidFill>
                  <a:latin typeface="Anthropic Sans"/>
                  <a:ea typeface="Microsoft YaHei"/>
                  <a:cs typeface="Anthropic Sans"/>
                </a:rPr>
                <a:t xml:space="preserve">A </a:t>
              </a:r>
              <a:r>
                <a:rPr lang="zh-CN" sz="1125" b="1" dirty="0">
                  <a:solidFill>
                    <a:srgbClr val="D97757"/>
                  </a:solidFill>
                  <a:latin typeface="Anthropic Sans"/>
                  <a:ea typeface="Microsoft YaHei"/>
                  <a:cs typeface="Anthropic Sans"/>
                </a:rPr>
                <a:t>50-million-line</a:t>
              </a:r>
              <a:r>
                <a:rPr lang="zh-CN" sz="1125" dirty="0">
                  <a:solidFill>
                    <a:srgbClr val="191919"/>
                  </a:solidFill>
                  <a:latin typeface="Anthropic Sans"/>
                  <a:ea typeface="Microsoft YaHei"/>
                  <a:cs typeface="Anthropic Sans"/>
                </a:rPr>
                <a:t xml:space="preserve"> Ruby migration completed </a:t>
              </a:r>
              <a:r>
                <a:rPr lang="zh-CN" sz="1125" dirty="0">
                  <a:solidFill>
                    <a:srgbClr val="191919"/>
                  </a:solidFill>
                  <a:latin typeface="Anthropic Sans"/>
                  <a:ea typeface="Microsoft YaHei"/>
                  <a:cs typeface="Anthropic Sans"/>
                </a:rPr>
                <a:t xml:space="preserve">in </a:t>
              </a:r>
              <a:r>
                <a:rPr lang="zh-CN" sz="1125" b="1" dirty="0">
                  <a:solidFill>
                    <a:srgbClr val="D97757"/>
                  </a:solidFill>
                  <a:latin typeface="Anthropic Sans"/>
                  <a:ea typeface="Microsoft YaHei"/>
                  <a:cs typeface="Anthropic Sans"/>
                </a:rPr>
                <a:t>one day</a:t>
              </a:r>
              <a:r>
                <a:rPr lang="zh-CN" sz="1125" dirty="0">
                  <a:solidFill>
                    <a:srgbClr val="191919"/>
                  </a:solidFill>
                  <a:latin typeface="Anthropic Sans"/>
                  <a:ea typeface="Microsoft YaHei"/>
                  <a:cs typeface="Anthropic Sans"/>
                </a:rPr>
                <a:t xml:space="preserve"> — "months of work into days."</a:t>
              </a:r>
            </a:p>
          </p:txBody>
        </p:sp>
        <p:sp>
          <p:nvSpPr>
            <p:cNvPr id="12" name="TextBox 12"/>
            <p:cNvSpPr txBox="1"/>
            <p:nvPr/>
          </p:nvSpPr>
          <p:spPr>
            <a:xfrm>
              <a:off x="1188720" y="3312795"/>
              <a:ext cx="2776304"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nthropic Sans"/>
                  <a:ea typeface="Microsoft YaHei"/>
                  <a:cs typeface="Anthropic Sans"/>
                </a:rPr>
                <a:t>AUTONOMOUS MIGRATION AT PRODUCTION SCALE</a:t>
              </a:r>
            </a:p>
          </p:txBody>
        </p:sp>
      </p:grpSp>
      <p:grpSp>
        <p:nvGrpSpPr>
          <p:cNvPr id="20" name="Group 20"/>
          <p:cNvGrpSpPr/>
          <p:nvPr/>
        </p:nvGrpSpPr>
        <p:grpSpPr>
          <a:xfrm>
            <a:off x="6286500" y="1543050"/>
            <a:ext cx="5334000" cy="2286000"/>
            <a:chOff x="6286500" y="1543050"/>
            <a:chExt cx="5334000" cy="2286000"/>
          </a:xfrm>
        </p:grpSpPr>
        <p:sp>
          <p:nvSpPr>
            <p:cNvPr id="14" name="Rectangle 14"/>
            <p:cNvSpPr/>
            <p:nvPr/>
          </p:nvSpPr>
          <p:spPr>
            <a:xfrm>
              <a:off x="6286500" y="1543050"/>
              <a:ext cx="5334000" cy="2286000"/>
            </a:xfrm>
            <a:prstGeom prst="roundRect">
              <a:avLst>
                <a:gd name="adj" fmla="val 6667"/>
              </a:avLst>
            </a:prstGeom>
            <a:solidFill>
              <a:srgbClr val="F8FAFC"/>
            </a:solidFill>
            <a:ln>
              <a:noFill/>
            </a:ln>
          </p:spPr>
        </p:sp>
        <p:sp>
          <p:nvSpPr>
            <p:cNvPr id="15" name="Rectangle 15"/>
            <p:cNvSpPr/>
            <p:nvPr/>
          </p:nvSpPr>
          <p:spPr>
            <a:xfrm>
              <a:off x="6457950" y="1714500"/>
              <a:ext cx="4991100" cy="1943100"/>
            </a:xfrm>
            <a:prstGeom prst="roundRect">
              <a:avLst>
                <a:gd name="adj" fmla="val 4902"/>
              </a:avLst>
            </a:prstGeom>
            <a:solidFill>
              <a:srgbClr val="FFFFFF"/>
            </a:solidFill>
            <a:ln>
              <a:noFill/>
            </a:ln>
          </p:spPr>
        </p:sp>
        <p:sp>
          <p:nvSpPr>
            <p:cNvPr id="16" name="Freeform 16"/>
            <p:cNvSpPr/>
            <p:nvPr/>
          </p:nvSpPr>
          <p:spPr>
            <a:xfrm>
              <a:off x="6742164" y="1942575"/>
              <a:ext cx="250710" cy="286797"/>
            </a:xfrm>
            <a:custGeom>
              <a:avLst/>
              <a:gdLst/>
              <a:ahLst/>
              <a:cxnLst/>
              <a:rect l="l" t="t" r="r" b="b"/>
              <a:pathLst>
                <a:path w="250710" h="286797">
                  <a:moveTo>
                    <a:pt x="119443" y="2085"/>
                  </a:moveTo>
                  <a:lnTo>
                    <a:pt x="5001" y="68129"/>
                  </a:lnTo>
                  <a:cubicBezTo>
                    <a:pt x="1912" y="69912"/>
                    <a:pt x="6" y="73206"/>
                    <a:pt x="0" y="76772"/>
                  </a:cubicBezTo>
                  <a:lnTo>
                    <a:pt x="0" y="209980"/>
                  </a:lnTo>
                  <a:cubicBezTo>
                    <a:pt x="0" y="213551"/>
                    <a:pt x="1929" y="216826"/>
                    <a:pt x="5001" y="218600"/>
                  </a:cubicBezTo>
                  <a:lnTo>
                    <a:pt x="119408" y="284679"/>
                  </a:lnTo>
                  <a:cubicBezTo>
                    <a:pt x="123086" y="286797"/>
                    <a:pt x="127612" y="286797"/>
                    <a:pt x="131290" y="284679"/>
                  </a:cubicBezTo>
                  <a:lnTo>
                    <a:pt x="245709" y="218600"/>
                  </a:lnTo>
                  <a:cubicBezTo>
                    <a:pt x="248791" y="216821"/>
                    <a:pt x="250695" y="213538"/>
                    <a:pt x="250710" y="209980"/>
                  </a:cubicBezTo>
                  <a:lnTo>
                    <a:pt x="250710" y="76772"/>
                  </a:lnTo>
                  <a:cubicBezTo>
                    <a:pt x="250704" y="73206"/>
                    <a:pt x="248798" y="69912"/>
                    <a:pt x="245709" y="68129"/>
                  </a:cubicBezTo>
                  <a:lnTo>
                    <a:pt x="131278" y="2085"/>
                  </a:lnTo>
                  <a:cubicBezTo>
                    <a:pt x="127600" y="0"/>
                    <a:pt x="123098" y="0"/>
                    <a:pt x="119420" y="2085"/>
                  </a:cubicBezTo>
                  <a:moveTo>
                    <a:pt x="14121" y="75987"/>
                  </a:moveTo>
                  <a:lnTo>
                    <a:pt x="234982" y="75987"/>
                  </a:lnTo>
                  <a:cubicBezTo>
                    <a:pt x="238113" y="75987"/>
                    <a:pt x="240101" y="79404"/>
                    <a:pt x="238518" y="82118"/>
                  </a:cubicBezTo>
                  <a:lnTo>
                    <a:pt x="128099" y="273392"/>
                  </a:lnTo>
                  <a:cubicBezTo>
                    <a:pt x="127361" y="274666"/>
                    <a:pt x="125373" y="274154"/>
                    <a:pt x="125373" y="272678"/>
                  </a:cubicBezTo>
                  <a:lnTo>
                    <a:pt x="125373" y="147388"/>
                  </a:lnTo>
                  <a:cubicBezTo>
                    <a:pt x="125369" y="144883"/>
                    <a:pt x="124030" y="142569"/>
                    <a:pt x="121860" y="141316"/>
                  </a:cubicBezTo>
                  <a:lnTo>
                    <a:pt x="13395" y="78725"/>
                  </a:lnTo>
                  <a:cubicBezTo>
                    <a:pt x="12097" y="77975"/>
                    <a:pt x="12633" y="75987"/>
                    <a:pt x="14121" y="75987"/>
                  </a:cubicBezTo>
                </a:path>
              </a:pathLst>
            </a:custGeom>
            <a:solidFill>
              <a:srgbClr val="191919"/>
            </a:solidFill>
            <a:ln>
              <a:noFill/>
            </a:ln>
          </p:spPr>
        </p:sp>
        <p:sp>
          <p:nvSpPr>
            <p:cNvPr id="17" name="TextBox 17"/>
            <p:cNvSpPr txBox="1"/>
            <p:nvPr/>
          </p:nvSpPr>
          <p:spPr>
            <a:xfrm>
              <a:off x="7125652" y="1998821"/>
              <a:ext cx="694627" cy="289560"/>
            </a:xfrm>
            <a:prstGeom prst="rect">
              <a:avLst/>
            </a:prstGeom>
            <a:noFill/>
            <a:ln>
              <a:noFill/>
            </a:ln>
          </p:spPr>
          <p:txBody>
            <a:bodyPr wrap="none" lIns="0" tIns="0" rIns="0" bIns="0" anchor="t" anchorCtr="0">
              <a:spAutoFit/>
            </a:bodyPr>
            <a:lstStyle/>
            <a:p>
              <a:pPr algn="l"/>
              <a:r>
                <a:rPr lang="zh-CN" sz="1425" b="1" dirty="0">
                  <a:solidFill>
                    <a:srgbClr val="191919"/>
                  </a:solidFill>
                  <a:latin typeface="Styrene A"/>
                  <a:ea typeface="Microsoft YaHei"/>
                  <a:cs typeface="Styrene A"/>
                </a:rPr>
                <a:t>Cursor</a:t>
              </a:r>
            </a:p>
          </p:txBody>
        </p:sp>
        <p:sp>
          <p:nvSpPr>
            <p:cNvPr id="18" name="TextBox 18"/>
            <p:cNvSpPr txBox="1"/>
            <p:nvPr/>
          </p:nvSpPr>
          <p:spPr>
            <a:xfrm>
              <a:off x="6710362" y="2507456"/>
              <a:ext cx="3107531" cy="476250"/>
            </a:xfrm>
            <a:prstGeom prst="rect">
              <a:avLst/>
            </a:prstGeom>
            <a:noFill/>
            <a:ln>
              <a:noFill/>
            </a:ln>
          </p:spPr>
          <p:txBody>
            <a:bodyPr wrap="square" lIns="0" tIns="0" rIns="0" bIns="0" anchor="t" anchorCtr="0"/>
            <a:lstStyle/>
            <a:p>
              <a:pPr algn="l">
                <a:lnSpc>
                  <a:spcPts val="1950"/>
                </a:lnSpc>
              </a:pPr>
              <a:r>
                <a:rPr lang="zh-CN" sz="1125" dirty="0">
                  <a:solidFill>
                    <a:srgbClr val="191919"/>
                  </a:solidFill>
                  <a:latin typeface="Anthropic Sans"/>
                  <a:ea typeface="Microsoft YaHei"/>
                  <a:cs typeface="Anthropic Sans"/>
                </a:rPr>
                <a:t xml:space="preserve">"Opened up a class of </a:t>
              </a:r>
              <a:r>
                <a:rPr lang="zh-CN" sz="1125" b="1" dirty="0">
                  <a:solidFill>
                    <a:srgbClr val="D97757"/>
                  </a:solidFill>
                  <a:latin typeface="Anthropic Sans"/>
                  <a:ea typeface="Microsoft YaHei"/>
                  <a:cs typeface="Anthropic Sans"/>
                </a:rPr>
                <a:t xml:space="preserve">long-horizon problems </a:t>
              </a:r>
              <a:r>
                <a:rPr lang="zh-CN" sz="1125" dirty="0">
                  <a:solidFill>
                    <a:srgbClr val="191919"/>
                  </a:solidFill>
                  <a:latin typeface="Anthropic Sans"/>
                  <a:ea typeface="Microsoft YaHei"/>
                  <a:cs typeface="Anthropic Sans"/>
                </a:rPr>
                <a:t>that were out of reach."</a:t>
              </a:r>
            </a:p>
          </p:txBody>
        </p:sp>
        <p:sp>
          <p:nvSpPr>
            <p:cNvPr id="19" name="TextBox 19"/>
            <p:cNvSpPr txBox="1"/>
            <p:nvPr/>
          </p:nvSpPr>
          <p:spPr>
            <a:xfrm>
              <a:off x="6713220" y="3312795"/>
              <a:ext cx="1528748"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nthropic Sans"/>
                  <a:ea typeface="Microsoft YaHei"/>
                  <a:cs typeface="Anthropic Sans"/>
                </a:rPr>
                <a:t>AGENTIC CODING IN THE IDE</a:t>
              </a:r>
            </a:p>
          </p:txBody>
        </p:sp>
      </p:grpSp>
      <p:grpSp>
        <p:nvGrpSpPr>
          <p:cNvPr id="27" name="Group 27"/>
          <p:cNvGrpSpPr/>
          <p:nvPr/>
        </p:nvGrpSpPr>
        <p:grpSpPr>
          <a:xfrm>
            <a:off x="762000" y="4019550"/>
            <a:ext cx="5334000" cy="2286000"/>
            <a:chOff x="762000" y="4019550"/>
            <a:chExt cx="5334000" cy="2286000"/>
          </a:xfrm>
        </p:grpSpPr>
        <p:sp>
          <p:nvSpPr>
            <p:cNvPr id="21" name="Rectangle 21"/>
            <p:cNvSpPr/>
            <p:nvPr/>
          </p:nvSpPr>
          <p:spPr>
            <a:xfrm>
              <a:off x="762000" y="4019550"/>
              <a:ext cx="5334000" cy="2286000"/>
            </a:xfrm>
            <a:prstGeom prst="roundRect">
              <a:avLst>
                <a:gd name="adj" fmla="val 6667"/>
              </a:avLst>
            </a:prstGeom>
            <a:solidFill>
              <a:srgbClr val="F8FAFC"/>
            </a:solidFill>
            <a:ln>
              <a:noFill/>
            </a:ln>
          </p:spPr>
        </p:sp>
        <p:sp>
          <p:nvSpPr>
            <p:cNvPr id="22" name="Rectangle 22"/>
            <p:cNvSpPr/>
            <p:nvPr/>
          </p:nvSpPr>
          <p:spPr>
            <a:xfrm>
              <a:off x="933450" y="4191000"/>
              <a:ext cx="4991100" cy="1943100"/>
            </a:xfrm>
            <a:prstGeom prst="roundRect">
              <a:avLst>
                <a:gd name="adj" fmla="val 4902"/>
              </a:avLst>
            </a:prstGeom>
            <a:solidFill>
              <a:srgbClr val="FFFFFF"/>
            </a:solidFill>
            <a:ln>
              <a:noFill/>
            </a:ln>
          </p:spPr>
        </p:sp>
        <p:sp>
          <p:nvSpPr>
            <p:cNvPr id="23" name="Freeform 23"/>
            <p:cNvSpPr/>
            <p:nvPr/>
          </p:nvSpPr>
          <p:spPr>
            <a:xfrm>
              <a:off x="1200150" y="4423136"/>
              <a:ext cx="285750" cy="279773"/>
            </a:xfrm>
            <a:custGeom>
              <a:avLst/>
              <a:gdLst/>
              <a:ahLst/>
              <a:cxnLst/>
              <a:rect l="l" t="t" r="r" b="b"/>
              <a:pathLst>
                <a:path w="285750" h="279773">
                  <a:moveTo>
                    <a:pt x="142875" y="0"/>
                  </a:moveTo>
                  <a:cubicBezTo>
                    <a:pt x="63937" y="0"/>
                    <a:pt x="0" y="63972"/>
                    <a:pt x="0" y="142875"/>
                  </a:cubicBezTo>
                  <a:cubicBezTo>
                    <a:pt x="0" y="206014"/>
                    <a:pt x="40934" y="259556"/>
                    <a:pt x="97691" y="278428"/>
                  </a:cubicBezTo>
                  <a:cubicBezTo>
                    <a:pt x="104835" y="279773"/>
                    <a:pt x="107454" y="275356"/>
                    <a:pt x="107454" y="271558"/>
                  </a:cubicBezTo>
                  <a:cubicBezTo>
                    <a:pt x="107454" y="268164"/>
                    <a:pt x="107335" y="259175"/>
                    <a:pt x="107275" y="247269"/>
                  </a:cubicBezTo>
                  <a:cubicBezTo>
                    <a:pt x="67532" y="255889"/>
                    <a:pt x="59150" y="228100"/>
                    <a:pt x="59150" y="228100"/>
                  </a:cubicBezTo>
                  <a:cubicBezTo>
                    <a:pt x="52649" y="211610"/>
                    <a:pt x="43255" y="207204"/>
                    <a:pt x="43255" y="207204"/>
                  </a:cubicBezTo>
                  <a:cubicBezTo>
                    <a:pt x="30313" y="198346"/>
                    <a:pt x="44256" y="198525"/>
                    <a:pt x="44256" y="198525"/>
                  </a:cubicBezTo>
                  <a:cubicBezTo>
                    <a:pt x="58603" y="199525"/>
                    <a:pt x="66139" y="213241"/>
                    <a:pt x="66139" y="213241"/>
                  </a:cubicBezTo>
                  <a:cubicBezTo>
                    <a:pt x="78879" y="235089"/>
                    <a:pt x="99584" y="228779"/>
                    <a:pt x="107752" y="225123"/>
                  </a:cubicBezTo>
                  <a:cubicBezTo>
                    <a:pt x="109037" y="215884"/>
                    <a:pt x="112716" y="209586"/>
                    <a:pt x="116800" y="206014"/>
                  </a:cubicBezTo>
                  <a:cubicBezTo>
                    <a:pt x="85070" y="202442"/>
                    <a:pt x="51721" y="190155"/>
                    <a:pt x="51721" y="135410"/>
                  </a:cubicBezTo>
                  <a:cubicBezTo>
                    <a:pt x="51721" y="119813"/>
                    <a:pt x="57257" y="107073"/>
                    <a:pt x="66425" y="97072"/>
                  </a:cubicBezTo>
                  <a:cubicBezTo>
                    <a:pt x="64818" y="93464"/>
                    <a:pt x="59996" y="78938"/>
                    <a:pt x="67675" y="59257"/>
                  </a:cubicBezTo>
                  <a:cubicBezTo>
                    <a:pt x="67675" y="59257"/>
                    <a:pt x="79641" y="55424"/>
                    <a:pt x="106966" y="73902"/>
                  </a:cubicBezTo>
                  <a:cubicBezTo>
                    <a:pt x="118396" y="70723"/>
                    <a:pt x="130540" y="69152"/>
                    <a:pt x="142684" y="69080"/>
                  </a:cubicBezTo>
                  <a:cubicBezTo>
                    <a:pt x="154829" y="69152"/>
                    <a:pt x="166973" y="70723"/>
                    <a:pt x="178403" y="73902"/>
                  </a:cubicBezTo>
                  <a:cubicBezTo>
                    <a:pt x="205550" y="55424"/>
                    <a:pt x="217515" y="59257"/>
                    <a:pt x="217515" y="59257"/>
                  </a:cubicBezTo>
                  <a:cubicBezTo>
                    <a:pt x="225195" y="78938"/>
                    <a:pt x="220373" y="93464"/>
                    <a:pt x="218944" y="97072"/>
                  </a:cubicBezTo>
                  <a:cubicBezTo>
                    <a:pt x="228052" y="107073"/>
                    <a:pt x="233589" y="119813"/>
                    <a:pt x="233589" y="135410"/>
                  </a:cubicBezTo>
                  <a:cubicBezTo>
                    <a:pt x="233589" y="190298"/>
                    <a:pt x="200192" y="202382"/>
                    <a:pt x="168402" y="205895"/>
                  </a:cubicBezTo>
                  <a:cubicBezTo>
                    <a:pt x="173403" y="210181"/>
                    <a:pt x="178046" y="218944"/>
                    <a:pt x="178046" y="232327"/>
                  </a:cubicBezTo>
                  <a:cubicBezTo>
                    <a:pt x="178046" y="251448"/>
                    <a:pt x="177867" y="266807"/>
                    <a:pt x="177867" y="271451"/>
                  </a:cubicBezTo>
                  <a:cubicBezTo>
                    <a:pt x="177867" y="275201"/>
                    <a:pt x="180368" y="279666"/>
                    <a:pt x="187690" y="278237"/>
                  </a:cubicBezTo>
                  <a:cubicBezTo>
                    <a:pt x="244852" y="259497"/>
                    <a:pt x="285750" y="205919"/>
                    <a:pt x="285750" y="142875"/>
                  </a:cubicBezTo>
                  <a:cubicBezTo>
                    <a:pt x="285750" y="63972"/>
                    <a:pt x="221778" y="0"/>
                    <a:pt x="142875" y="0"/>
                  </a:cubicBezTo>
                </a:path>
              </a:pathLst>
            </a:custGeom>
            <a:solidFill>
              <a:srgbClr val="191919"/>
            </a:solidFill>
            <a:ln>
              <a:noFill/>
            </a:ln>
          </p:spPr>
        </p:sp>
        <p:sp>
          <p:nvSpPr>
            <p:cNvPr id="24" name="TextBox 24"/>
            <p:cNvSpPr txBox="1"/>
            <p:nvPr/>
          </p:nvSpPr>
          <p:spPr>
            <a:xfrm>
              <a:off x="1601152" y="4475321"/>
              <a:ext cx="644746" cy="289560"/>
            </a:xfrm>
            <a:prstGeom prst="rect">
              <a:avLst/>
            </a:prstGeom>
            <a:noFill/>
            <a:ln>
              <a:noFill/>
            </a:ln>
          </p:spPr>
          <p:txBody>
            <a:bodyPr wrap="none" lIns="0" tIns="0" rIns="0" bIns="0" anchor="t" anchorCtr="0">
              <a:spAutoFit/>
            </a:bodyPr>
            <a:lstStyle/>
            <a:p>
              <a:pPr algn="l"/>
              <a:r>
                <a:rPr lang="zh-CN" sz="1425" b="1" dirty="0">
                  <a:solidFill>
                    <a:srgbClr val="191919"/>
                  </a:solidFill>
                  <a:latin typeface="Styrene A"/>
                  <a:ea typeface="Microsoft YaHei"/>
                  <a:cs typeface="Styrene A"/>
                </a:rPr>
                <a:t>GitHub</a:t>
              </a:r>
            </a:p>
          </p:txBody>
        </p:sp>
        <p:sp>
          <p:nvSpPr>
            <p:cNvPr id="25" name="TextBox 25"/>
            <p:cNvSpPr txBox="1"/>
            <p:nvPr/>
          </p:nvSpPr>
          <p:spPr>
            <a:xfrm>
              <a:off x="1185862" y="4983956"/>
              <a:ext cx="2507456" cy="476250"/>
            </a:xfrm>
            <a:prstGeom prst="rect">
              <a:avLst/>
            </a:prstGeom>
            <a:noFill/>
            <a:ln>
              <a:noFill/>
            </a:ln>
          </p:spPr>
          <p:txBody>
            <a:bodyPr wrap="square" lIns="0" tIns="0" rIns="0" bIns="0" anchor="t" anchorCtr="0"/>
            <a:lstStyle/>
            <a:p>
              <a:pPr algn="l">
                <a:lnSpc>
                  <a:spcPts val="1950"/>
                </a:lnSpc>
              </a:pPr>
              <a:r>
                <a:rPr lang="zh-CN" sz="1125" dirty="0">
                  <a:solidFill>
                    <a:srgbClr val="191919"/>
                  </a:solidFill>
                  <a:latin typeface="Anthropic Sans"/>
                  <a:ea typeface="Microsoft YaHei"/>
                  <a:cs typeface="Anthropic Sans"/>
                </a:rPr>
                <a:t>"</a:t>
              </a:r>
              <a:r>
                <a:rPr lang="zh-CN" sz="1125" b="1" dirty="0">
                  <a:solidFill>
                    <a:srgbClr val="D97757"/>
                  </a:solidFill>
                  <a:latin typeface="Anthropic Sans"/>
                  <a:ea typeface="Microsoft YaHei"/>
                  <a:cs typeface="Anthropic Sans"/>
                </a:rPr>
                <a:t>Exceeded previous benchmarks</a:t>
              </a:r>
              <a:r>
                <a:rPr lang="zh-CN" sz="1125" dirty="0">
                  <a:solidFill>
                    <a:srgbClr val="191919"/>
                  </a:solidFill>
                  <a:latin typeface="Anthropic Sans"/>
                  <a:ea typeface="Microsoft YaHei"/>
                  <a:cs typeface="Anthropic Sans"/>
                </a:rPr>
                <a:t xml:space="preserve">" on </a:t>
              </a:r>
              <a:r>
                <a:rPr lang="zh-CN" sz="1125" dirty="0">
                  <a:solidFill>
                    <a:srgbClr val="191919"/>
                  </a:solidFill>
                  <a:latin typeface="Anthropic Sans"/>
                  <a:ea typeface="Microsoft YaHei"/>
                  <a:cs typeface="Anthropic Sans"/>
                </a:rPr>
                <a:t>complex coding tasks.</a:t>
              </a:r>
            </a:p>
          </p:txBody>
        </p:sp>
        <p:sp>
          <p:nvSpPr>
            <p:cNvPr id="26" name="TextBox 26"/>
            <p:cNvSpPr txBox="1"/>
            <p:nvPr/>
          </p:nvSpPr>
          <p:spPr>
            <a:xfrm>
              <a:off x="1188720" y="5789295"/>
              <a:ext cx="1604358"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nthropic Sans"/>
                  <a:ea typeface="Microsoft YaHei"/>
                  <a:cs typeface="Anthropic Sans"/>
                </a:rPr>
                <a:t>COPILOT EVALUATION SUITE</a:t>
              </a:r>
            </a:p>
          </p:txBody>
        </p:sp>
      </p:grpSp>
      <p:grpSp>
        <p:nvGrpSpPr>
          <p:cNvPr id="33" name="Group 33"/>
          <p:cNvGrpSpPr/>
          <p:nvPr/>
        </p:nvGrpSpPr>
        <p:grpSpPr>
          <a:xfrm>
            <a:off x="6286500" y="4019550"/>
            <a:ext cx="5334000" cy="2286000"/>
            <a:chOff x="6286500" y="4019550"/>
            <a:chExt cx="5334000" cy="2286000"/>
          </a:xfrm>
        </p:grpSpPr>
        <p:sp>
          <p:nvSpPr>
            <p:cNvPr id="28" name="Rectangle 28"/>
            <p:cNvSpPr/>
            <p:nvPr/>
          </p:nvSpPr>
          <p:spPr>
            <a:xfrm>
              <a:off x="6286500" y="4019550"/>
              <a:ext cx="5334000" cy="2286000"/>
            </a:xfrm>
            <a:prstGeom prst="roundRect">
              <a:avLst>
                <a:gd name="adj" fmla="val 6667"/>
              </a:avLst>
            </a:prstGeom>
            <a:solidFill>
              <a:srgbClr val="F8FAFC"/>
            </a:solidFill>
            <a:ln>
              <a:noFill/>
            </a:ln>
          </p:spPr>
        </p:sp>
        <p:sp>
          <p:nvSpPr>
            <p:cNvPr id="29" name="Rectangle 29"/>
            <p:cNvSpPr/>
            <p:nvPr/>
          </p:nvSpPr>
          <p:spPr>
            <a:xfrm>
              <a:off x="6457950" y="4191000"/>
              <a:ext cx="4991100" cy="1943100"/>
            </a:xfrm>
            <a:prstGeom prst="roundRect">
              <a:avLst>
                <a:gd name="adj" fmla="val 4902"/>
              </a:avLst>
            </a:prstGeom>
            <a:solidFill>
              <a:srgbClr val="FFFFFF"/>
            </a:solidFill>
            <a:ln>
              <a:noFill/>
            </a:ln>
          </p:spPr>
        </p:sp>
        <p:sp>
          <p:nvSpPr>
            <p:cNvPr id="30" name="TextBox 30"/>
            <p:cNvSpPr txBox="1"/>
            <p:nvPr/>
          </p:nvSpPr>
          <p:spPr>
            <a:xfrm>
              <a:off x="6706552" y="4475321"/>
              <a:ext cx="924081" cy="289560"/>
            </a:xfrm>
            <a:prstGeom prst="rect">
              <a:avLst/>
            </a:prstGeom>
            <a:noFill/>
            <a:ln>
              <a:noFill/>
            </a:ln>
          </p:spPr>
          <p:txBody>
            <a:bodyPr wrap="none" lIns="0" tIns="0" rIns="0" bIns="0" anchor="t" anchorCtr="0">
              <a:spAutoFit/>
            </a:bodyPr>
            <a:lstStyle/>
            <a:p>
              <a:pPr algn="l"/>
              <a:r>
                <a:rPr lang="zh-CN" sz="1425" b="1" dirty="0">
                  <a:solidFill>
                    <a:srgbClr val="191919"/>
                  </a:solidFill>
                  <a:latin typeface="Styrene A"/>
                  <a:ea typeface="Microsoft YaHei"/>
                  <a:cs typeface="Styrene A"/>
                </a:rPr>
                <a:t>Cognition</a:t>
              </a:r>
            </a:p>
          </p:txBody>
        </p:sp>
        <p:sp>
          <p:nvSpPr>
            <p:cNvPr id="31" name="TextBox 31"/>
            <p:cNvSpPr txBox="1"/>
            <p:nvPr/>
          </p:nvSpPr>
          <p:spPr>
            <a:xfrm>
              <a:off x="6710362" y="4983956"/>
              <a:ext cx="3150394" cy="476250"/>
            </a:xfrm>
            <a:prstGeom prst="rect">
              <a:avLst/>
            </a:prstGeom>
            <a:noFill/>
            <a:ln>
              <a:noFill/>
            </a:ln>
          </p:spPr>
          <p:txBody>
            <a:bodyPr wrap="square" lIns="0" tIns="0" rIns="0" bIns="0" anchor="t" anchorCtr="0"/>
            <a:lstStyle/>
            <a:p>
              <a:pPr algn="l">
                <a:lnSpc>
                  <a:spcPts val="1950"/>
                </a:lnSpc>
              </a:pPr>
              <a:r>
                <a:rPr lang="zh-CN" sz="1125" dirty="0">
                  <a:solidFill>
                    <a:srgbClr val="191919"/>
                  </a:solidFill>
                  <a:latin typeface="Anthropic Sans"/>
                  <a:ea typeface="Microsoft YaHei"/>
                  <a:cs typeface="Anthropic Sans"/>
                </a:rPr>
                <a:t xml:space="preserve">The </a:t>
              </a:r>
              <a:r>
                <a:rPr lang="zh-CN" sz="1125" b="1" dirty="0">
                  <a:solidFill>
                    <a:srgbClr val="D97757"/>
                  </a:solidFill>
                  <a:latin typeface="Anthropic Sans"/>
                  <a:ea typeface="Microsoft YaHei"/>
                  <a:cs typeface="Anthropic Sans"/>
                </a:rPr>
                <a:t>highest-scoring model</a:t>
              </a:r>
              <a:r>
                <a:rPr lang="zh-CN" sz="1125" dirty="0">
                  <a:solidFill>
                    <a:srgbClr val="191919"/>
                  </a:solidFill>
                  <a:latin typeface="Anthropic Sans"/>
                  <a:ea typeface="Microsoft YaHei"/>
                  <a:cs typeface="Anthropic Sans"/>
                </a:rPr>
                <a:t xml:space="preserve"> on FrontierBench, </a:t>
              </a:r>
              <a:r>
                <a:rPr lang="zh-CN" sz="1125" dirty="0">
                  <a:solidFill>
                    <a:srgbClr val="191919"/>
                  </a:solidFill>
                  <a:latin typeface="Anthropic Sans"/>
                  <a:ea typeface="Microsoft YaHei"/>
                  <a:cs typeface="Anthropic Sans"/>
                </a:rPr>
                <a:t>their hardest internal evaluation.</a:t>
              </a:r>
            </a:p>
          </p:txBody>
        </p:sp>
        <p:sp>
          <p:nvSpPr>
            <p:cNvPr id="32" name="TextBox 32"/>
            <p:cNvSpPr txBox="1"/>
            <p:nvPr/>
          </p:nvSpPr>
          <p:spPr>
            <a:xfrm>
              <a:off x="6713220" y="5789295"/>
              <a:ext cx="2335249" cy="182880"/>
            </a:xfrm>
            <a:prstGeom prst="rect">
              <a:avLst/>
            </a:prstGeom>
            <a:noFill/>
            <a:ln>
              <a:noFill/>
            </a:ln>
          </p:spPr>
          <p:txBody>
            <a:bodyPr wrap="none" lIns="0" tIns="0" rIns="0" bIns="0" anchor="t" anchorCtr="0">
              <a:spAutoFit/>
            </a:bodyPr>
            <a:lstStyle/>
            <a:p>
              <a:pPr algn="l"/>
              <a:r>
                <a:rPr lang="zh-CN" sz="900" b="1" dirty="0">
                  <a:solidFill>
                    <a:srgbClr val="94A3B8"/>
                  </a:solidFill>
                  <a:latin typeface="Anthropic Sans"/>
                  <a:ea typeface="Microsoft YaHei"/>
                  <a:cs typeface="Anthropic Sans"/>
                </a:rPr>
                <a:t>AUTONOMOUS SOFTWARE AGENT (DEVIN)</a:t>
              </a:r>
            </a:p>
          </p:txBody>
        </p:sp>
      </p:grpSp>
      <p:grpSp>
        <p:nvGrpSpPr>
          <p:cNvPr id="36" name="Group 36"/>
          <p:cNvGrpSpPr/>
          <p:nvPr/>
        </p:nvGrpSpPr>
        <p:grpSpPr>
          <a:xfrm>
            <a:off x="751522" y="6502241"/>
            <a:ext cx="10688955" cy="167640"/>
            <a:chOff x="751522" y="6502241"/>
            <a:chExt cx="10688955" cy="167640"/>
          </a:xfrm>
        </p:grpSpPr>
        <p:sp>
          <p:nvSpPr>
            <p:cNvPr id="34" name="TextBox 34"/>
            <p:cNvSpPr txBox="1"/>
            <p:nvPr/>
          </p:nvSpPr>
          <p:spPr>
            <a:xfrm>
              <a:off x="751522" y="6502241"/>
              <a:ext cx="4460010" cy="167640"/>
            </a:xfrm>
            <a:prstGeom prst="rect">
              <a:avLst/>
            </a:prstGeom>
            <a:noFill/>
            <a:ln>
              <a:noFill/>
            </a:ln>
          </p:spPr>
          <p:txBody>
            <a:bodyPr wrap="none" lIns="0" tIns="0" rIns="0" bIns="0" anchor="t" anchorCtr="0">
              <a:spAutoFit/>
            </a:bodyPr>
            <a:lstStyle/>
            <a:p>
              <a:pPr algn="l"/>
              <a:r>
                <a:rPr lang="zh-CN" sz="825" dirty="0">
                  <a:solidFill>
                    <a:srgbClr val="94A3B8"/>
                  </a:solidFill>
                  <a:latin typeface="Anthropic Sans"/>
                  <a:ea typeface="Microsoft YaHei"/>
                  <a:cs typeface="Anthropic Sans"/>
                </a:rPr>
                <a:t>Source: Anthropic launch announcement; early-access partner reports, June 2026</a:t>
              </a:r>
            </a:p>
          </p:txBody>
        </p:sp>
        <p:sp>
          <p:nvSpPr>
            <p:cNvPr id="35" name="TextBox 35"/>
            <p:cNvSpPr txBox="1"/>
            <p:nvPr/>
          </p:nvSpPr>
          <p:spPr>
            <a:xfrm>
              <a:off x="11298507" y="6502241"/>
              <a:ext cx="141970" cy="167640"/>
            </a:xfrm>
            <a:prstGeom prst="rect">
              <a:avLst/>
            </a:prstGeom>
            <a:noFill/>
            <a:ln>
              <a:noFill/>
            </a:ln>
          </p:spPr>
          <p:txBody>
            <a:bodyPr wrap="none" lIns="0" tIns="0" rIns="0" bIns="0" anchor="t" anchorCtr="0">
              <a:spAutoFit/>
            </a:bodyPr>
            <a:lstStyle/>
            <a:p>
              <a:pPr algn="r"/>
              <a:r>
                <a:rPr lang="zh-CN" sz="825" dirty="0">
                  <a:solidFill>
                    <a:srgbClr val="94A3B8"/>
                  </a:solidFill>
                  <a:latin typeface="Anthropic Sans"/>
                  <a:ea typeface="Microsoft YaHei"/>
                  <a:cs typeface="Anthropic Sans"/>
                </a:rPr>
                <a:t>07</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slide(fromBottom)">
                                      <p:cBhvr>
                                        <p:cTn id="7" dur="400"/>
                                        <p:tgtEl>
                                          <p:spTgt spid="13"/>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20"/>
                                        </p:tgtEl>
                                        <p:attrNameLst>
                                          <p:attrName>style.visibility</p:attrName>
                                        </p:attrNameLst>
                                      </p:cBhvr>
                                      <p:to>
                                        <p:strVal val="visible"/>
                                      </p:to>
                                    </p:set>
                                    <p:animEffect transition="in" filter="slide(fromBottom)">
                                      <p:cBhvr>
                                        <p:cTn id="11" dur="400"/>
                                        <p:tgtEl>
                                          <p:spTgt spid="20"/>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slide(fromBottom)">
                                      <p:cBhvr>
                                        <p:cTn id="15" dur="400"/>
                                        <p:tgtEl>
                                          <p:spTgt spid="27"/>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slide(fromBottom)">
                                      <p:cBhvr>
                                        <p:cTn id="19" dur="4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0" grpId="0"/>
      <p:bldP spid="27" grpId="0"/>
      <p:bldP spid="3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731520" y="457200"/>
            <a:ext cx="8327593" cy="842962"/>
            <a:chOff x="731520" y="457200"/>
            <a:chExt cx="8327593" cy="842962"/>
          </a:xfrm>
        </p:grpSpPr>
        <p:sp>
          <p:nvSpPr>
            <p:cNvPr id="3" name="Rectangle 3"/>
            <p:cNvSpPr/>
            <p:nvPr/>
          </p:nvSpPr>
          <p:spPr>
            <a:xfrm>
              <a:off x="762000" y="457200"/>
              <a:ext cx="419100" cy="38100"/>
            </a:xfrm>
            <a:prstGeom prst="roundRect">
              <a:avLst>
                <a:gd name="adj" fmla="val 50000"/>
              </a:avLst>
            </a:prstGeom>
            <a:solidFill>
              <a:srgbClr val="D97757"/>
            </a:solidFill>
            <a:ln>
              <a:noFill/>
            </a:ln>
          </p:spPr>
        </p:sp>
        <p:sp>
          <p:nvSpPr>
            <p:cNvPr id="4" name="TextBox 4"/>
            <p:cNvSpPr txBox="1"/>
            <p:nvPr/>
          </p:nvSpPr>
          <p:spPr>
            <a:xfrm>
              <a:off x="731520" y="655320"/>
              <a:ext cx="8327593" cy="487680"/>
            </a:xfrm>
            <a:prstGeom prst="rect">
              <a:avLst/>
            </a:prstGeom>
            <a:noFill/>
            <a:ln>
              <a:noFill/>
            </a:ln>
          </p:spPr>
          <p:txBody>
            <a:bodyPr wrap="none" lIns="0" tIns="0" rIns="0" bIns="0" anchor="t" anchorCtr="0">
              <a:spAutoFit/>
            </a:bodyPr>
            <a:lstStyle/>
            <a:p>
              <a:pPr algn="l"/>
              <a:r>
                <a:rPr lang="zh-CN" sz="2400" b="1" dirty="0">
                  <a:solidFill>
                    <a:srgbClr val="191919"/>
                  </a:solidFill>
                  <a:latin typeface="Styrene A"/>
                  <a:ea typeface="Microsoft YaHei"/>
                  <a:cs typeface="Styrene A"/>
                </a:rPr>
                <a:t>Point it at the work you couldn't automate before</a:t>
              </a:r>
            </a:p>
          </p:txBody>
        </p:sp>
        <p:sp>
          <p:nvSpPr>
            <p:cNvPr id="5" name="TextBox 5"/>
            <p:cNvSpPr txBox="1"/>
            <p:nvPr/>
          </p:nvSpPr>
          <p:spPr>
            <a:xfrm>
              <a:off x="748665" y="1086802"/>
              <a:ext cx="5392841" cy="213360"/>
            </a:xfrm>
            <a:prstGeom prst="rect">
              <a:avLst/>
            </a:prstGeom>
            <a:noFill/>
            <a:ln>
              <a:noFill/>
            </a:ln>
          </p:spPr>
          <p:txBody>
            <a:bodyPr wrap="none" lIns="0" tIns="0" rIns="0" bIns="0" anchor="t" anchorCtr="0">
              <a:spAutoFit/>
            </a:bodyPr>
            <a:lstStyle/>
            <a:p>
              <a:pPr algn="l"/>
              <a:r>
                <a:rPr lang="zh-CN" sz="1050" b="1" dirty="0">
                  <a:solidFill>
                    <a:srgbClr val="64748B"/>
                  </a:solidFill>
                  <a:latin typeface="Anthropic Sans"/>
                  <a:ea typeface="Microsoft YaHei"/>
                  <a:cs typeface="Anthropic Sans"/>
                </a:rPr>
                <a:t>06 · USE CASES — LONG, AMBIGUOUS, HIGH-STAKES WORK THAT RUNS END TO END</a:t>
              </a:r>
            </a:p>
          </p:txBody>
        </p:sp>
      </p:grpSp>
      <p:grpSp>
        <p:nvGrpSpPr>
          <p:cNvPr id="8" name="Group 8"/>
          <p:cNvGrpSpPr/>
          <p:nvPr/>
        </p:nvGrpSpPr>
        <p:grpSpPr>
          <a:xfrm>
            <a:off x="1143000" y="1714500"/>
            <a:ext cx="9525" cy="4229100"/>
            <a:chOff x="1143000" y="1714500"/>
            <a:chExt cx="9525" cy="4229100"/>
          </a:xfrm>
        </p:grpSpPr>
        <p:sp>
          <p:nvSpPr>
            <p:cNvPr id="7" name="Line 7"/>
            <p:cNvSpPr/>
            <p:nvPr/>
          </p:nvSpPr>
          <p:spPr>
            <a:xfrm>
              <a:off x="1143000" y="1714500"/>
              <a:ext cx="9525" cy="4229100"/>
            </a:xfrm>
            <a:custGeom>
              <a:avLst/>
              <a:gdLst/>
              <a:ahLst/>
              <a:cxnLst/>
              <a:rect l="l" t="t" r="r" b="b"/>
              <a:pathLst>
                <a:path w="9525" h="4229100">
                  <a:moveTo>
                    <a:pt x="0" y="0"/>
                  </a:moveTo>
                  <a:lnTo>
                    <a:pt x="0" y="4229100"/>
                  </a:lnTo>
                </a:path>
              </a:pathLst>
            </a:custGeom>
            <a:noFill/>
            <a:ln w="28575" cap="rnd">
              <a:solidFill>
                <a:srgbClr val="D97757">
                  <a:alpha val="35000"/>
                </a:srgbClr>
              </a:solidFill>
            </a:ln>
          </p:spPr>
        </p:sp>
      </p:grpSp>
      <p:grpSp>
        <p:nvGrpSpPr>
          <p:cNvPr id="22" name="Group 22"/>
          <p:cNvGrpSpPr/>
          <p:nvPr/>
        </p:nvGrpSpPr>
        <p:grpSpPr>
          <a:xfrm>
            <a:off x="952500" y="1600200"/>
            <a:ext cx="10668000" cy="685800"/>
            <a:chOff x="952500" y="1600200"/>
            <a:chExt cx="10668000" cy="685800"/>
          </a:xfrm>
        </p:grpSpPr>
        <p:sp>
          <p:nvSpPr>
            <p:cNvPr id="9" name="Ellipse 9"/>
            <p:cNvSpPr/>
            <p:nvPr/>
          </p:nvSpPr>
          <p:spPr>
            <a:xfrm>
              <a:off x="952500" y="1752600"/>
              <a:ext cx="381000" cy="381000"/>
            </a:xfrm>
            <a:prstGeom prst="ellipse">
              <a:avLst/>
            </a:prstGeom>
            <a:solidFill>
              <a:srgbClr val="D97757"/>
            </a:solidFill>
            <a:ln>
              <a:noFill/>
            </a:ln>
          </p:spPr>
        </p:sp>
        <p:sp>
          <p:nvSpPr>
            <p:cNvPr id="10" name="TextBox 10"/>
            <p:cNvSpPr txBox="1"/>
            <p:nvPr/>
          </p:nvSpPr>
          <p:spPr>
            <a:xfrm>
              <a:off x="1089235" y="1886902"/>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tyrene A"/>
                  <a:ea typeface="Microsoft YaHei"/>
                  <a:cs typeface="Styrene A"/>
                </a:rPr>
                <a:t>1</a:t>
              </a:r>
            </a:p>
          </p:txBody>
        </p:sp>
        <p:sp>
          <p:nvSpPr>
            <p:cNvPr id="11" name="Rectangle 11"/>
            <p:cNvSpPr/>
            <p:nvPr/>
          </p:nvSpPr>
          <p:spPr>
            <a:xfrm>
              <a:off x="1619250" y="1600200"/>
              <a:ext cx="10001250" cy="685800"/>
            </a:xfrm>
            <a:prstGeom prst="roundRect">
              <a:avLst>
                <a:gd name="adj" fmla="val 13889"/>
              </a:avLst>
            </a:prstGeom>
            <a:solidFill>
              <a:srgbClr val="F8FAFC"/>
            </a:solidFill>
            <a:ln>
              <a:noFill/>
            </a:ln>
          </p:spPr>
        </p:sp>
        <p:sp>
          <p:nvSpPr>
            <p:cNvPr id="12" name="Rectangle 12"/>
            <p:cNvSpPr/>
            <p:nvPr/>
          </p:nvSpPr>
          <p:spPr>
            <a:xfrm>
              <a:off x="1619250" y="1600200"/>
              <a:ext cx="47625" cy="685800"/>
            </a:xfrm>
            <a:prstGeom prst="roundRect">
              <a:avLst>
                <a:gd name="adj" fmla="val 50000"/>
              </a:avLst>
            </a:prstGeom>
            <a:solidFill>
              <a:srgbClr val="D97757"/>
            </a:solidFill>
            <a:ln>
              <a:noFill/>
            </a:ln>
          </p:spPr>
        </p:sp>
        <p:sp>
          <p:nvSpPr>
            <p:cNvPr id="13" name="TextBox 13"/>
            <p:cNvSpPr txBox="1"/>
            <p:nvPr/>
          </p:nvSpPr>
          <p:spPr>
            <a:xfrm>
              <a:off x="1887855" y="1740218"/>
              <a:ext cx="2425439" cy="274320"/>
            </a:xfrm>
            <a:prstGeom prst="rect">
              <a:avLst/>
            </a:prstGeom>
            <a:noFill/>
            <a:ln>
              <a:noFill/>
            </a:ln>
          </p:spPr>
          <p:txBody>
            <a:bodyPr wrap="none" lIns="0" tIns="0" rIns="0" bIns="0" anchor="t" anchorCtr="0">
              <a:spAutoFit/>
            </a:bodyPr>
            <a:lstStyle/>
            <a:p>
              <a:pPr algn="l"/>
              <a:r>
                <a:rPr lang="zh-CN" sz="1350" b="1" dirty="0">
                  <a:solidFill>
                    <a:srgbClr val="191919"/>
                  </a:solidFill>
                  <a:latin typeface="Styrene A"/>
                  <a:ea typeface="Microsoft YaHei"/>
                  <a:cs typeface="Styrene A"/>
                </a:rPr>
                <a:t>Autonomous coding agents</a:t>
              </a:r>
            </a:p>
          </p:txBody>
        </p:sp>
        <p:sp>
          <p:nvSpPr>
            <p:cNvPr id="14" name="TextBox 14"/>
            <p:cNvSpPr txBox="1"/>
            <p:nvPr/>
          </p:nvSpPr>
          <p:spPr>
            <a:xfrm>
              <a:off x="1891665" y="2020252"/>
              <a:ext cx="6600492"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Anthropic Sans"/>
                  <a:ea typeface="Microsoft YaHei"/>
                  <a:cs typeface="Anthropic Sans"/>
                </a:rPr>
                <a:t>Overnight refactors, large migrations, and multi-repo changes that finish without correction.</a:t>
              </a:r>
            </a:p>
          </p:txBody>
        </p:sp>
        <p:grpSp>
          <p:nvGrpSpPr>
            <p:cNvPr id="21" name="Group 21"/>
            <p:cNvGrpSpPr/>
            <p:nvPr/>
          </p:nvGrpSpPr>
          <p:grpSpPr>
            <a:xfrm>
              <a:off x="11080750" y="1828800"/>
              <a:ext cx="203200" cy="215900"/>
              <a:chOff x="11080750" y="1828800"/>
              <a:chExt cx="203200" cy="215900"/>
            </a:xfrm>
          </p:grpSpPr>
          <p:sp>
            <p:nvSpPr>
              <p:cNvPr id="15" name="Freeform 15"/>
              <p:cNvSpPr/>
              <p:nvPr/>
            </p:nvSpPr>
            <p:spPr>
              <a:xfrm>
                <a:off x="11080750" y="19939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19050">
                <a:solidFill>
                  <a:srgbClr val="D97757"/>
                </a:solidFill>
              </a:ln>
            </p:spPr>
          </p:sp>
          <p:sp>
            <p:nvSpPr>
              <p:cNvPr id="16" name="Freeform 16"/>
              <p:cNvSpPr/>
              <p:nvPr/>
            </p:nvSpPr>
            <p:spPr>
              <a:xfrm>
                <a:off x="11080750" y="18415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19050">
                <a:solidFill>
                  <a:srgbClr val="D97757"/>
                </a:solidFill>
              </a:ln>
            </p:spPr>
          </p:sp>
          <p:sp>
            <p:nvSpPr>
              <p:cNvPr id="17" name="Freeform 17"/>
              <p:cNvSpPr/>
              <p:nvPr/>
            </p:nvSpPr>
            <p:spPr>
              <a:xfrm>
                <a:off x="11233150" y="19939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19050">
                <a:solidFill>
                  <a:srgbClr val="D97757"/>
                </a:solidFill>
              </a:ln>
            </p:spPr>
          </p:sp>
          <p:sp>
            <p:nvSpPr>
              <p:cNvPr id="18" name="Freeform 18"/>
              <p:cNvSpPr/>
              <p:nvPr/>
            </p:nvSpPr>
            <p:spPr>
              <a:xfrm>
                <a:off x="11106150" y="1892300"/>
                <a:ext cx="9525" cy="101600"/>
              </a:xfrm>
              <a:custGeom>
                <a:avLst/>
                <a:gdLst/>
                <a:ahLst/>
                <a:cxnLst/>
                <a:rect l="l" t="t" r="r" b="b"/>
                <a:pathLst>
                  <a:path w="9525" h="101600">
                    <a:moveTo>
                      <a:pt x="0" y="0"/>
                    </a:moveTo>
                    <a:lnTo>
                      <a:pt x="0" y="101600"/>
                    </a:lnTo>
                  </a:path>
                </a:pathLst>
              </a:custGeom>
              <a:noFill/>
              <a:ln w="19050">
                <a:solidFill>
                  <a:srgbClr val="D97757"/>
                </a:solidFill>
              </a:ln>
            </p:spPr>
          </p:sp>
          <p:sp>
            <p:nvSpPr>
              <p:cNvPr id="19" name="Freeform 19"/>
              <p:cNvSpPr/>
              <p:nvPr/>
            </p:nvSpPr>
            <p:spPr>
              <a:xfrm>
                <a:off x="11169650" y="1866900"/>
                <a:ext cx="88900" cy="127000"/>
              </a:xfrm>
              <a:custGeom>
                <a:avLst/>
                <a:gdLst/>
                <a:ahLst/>
                <a:cxnLst/>
                <a:rect l="l" t="t" r="r" b="b"/>
                <a:pathLst>
                  <a:path w="88900" h="127000">
                    <a:moveTo>
                      <a:pt x="0" y="0"/>
                    </a:moveTo>
                    <a:lnTo>
                      <a:pt x="63500" y="0"/>
                    </a:lnTo>
                    <a:cubicBezTo>
                      <a:pt x="77528" y="0"/>
                      <a:pt x="88900" y="11372"/>
                      <a:pt x="88900" y="25400"/>
                    </a:cubicBezTo>
                    <a:lnTo>
                      <a:pt x="88900" y="127000"/>
                    </a:lnTo>
                  </a:path>
                </a:pathLst>
              </a:custGeom>
              <a:noFill/>
              <a:ln w="19050">
                <a:solidFill>
                  <a:srgbClr val="D97757"/>
                </a:solidFill>
              </a:ln>
            </p:spPr>
          </p:sp>
          <p:sp>
            <p:nvSpPr>
              <p:cNvPr id="20" name="Freeform 20"/>
              <p:cNvSpPr/>
              <p:nvPr/>
            </p:nvSpPr>
            <p:spPr>
              <a:xfrm>
                <a:off x="11169650" y="1828800"/>
                <a:ext cx="38100" cy="76200"/>
              </a:xfrm>
              <a:custGeom>
                <a:avLst/>
                <a:gdLst/>
                <a:ahLst/>
                <a:cxnLst/>
                <a:rect l="l" t="t" r="r" b="b"/>
                <a:pathLst>
                  <a:path w="38100" h="76200">
                    <a:moveTo>
                      <a:pt x="38100" y="76200"/>
                    </a:moveTo>
                    <a:lnTo>
                      <a:pt x="0" y="38100"/>
                    </a:lnTo>
                    <a:lnTo>
                      <a:pt x="38100" y="0"/>
                    </a:lnTo>
                  </a:path>
                </a:pathLst>
              </a:custGeom>
              <a:noFill/>
              <a:ln w="19050">
                <a:solidFill>
                  <a:srgbClr val="D97757"/>
                </a:solidFill>
              </a:ln>
            </p:spPr>
          </p:sp>
        </p:grpSp>
      </p:grpSp>
      <p:grpSp>
        <p:nvGrpSpPr>
          <p:cNvPr id="32" name="Group 32"/>
          <p:cNvGrpSpPr/>
          <p:nvPr/>
        </p:nvGrpSpPr>
        <p:grpSpPr>
          <a:xfrm>
            <a:off x="952500" y="2400300"/>
            <a:ext cx="10668000" cy="685800"/>
            <a:chOff x="952500" y="2400300"/>
            <a:chExt cx="10668000" cy="685800"/>
          </a:xfrm>
        </p:grpSpPr>
        <p:sp>
          <p:nvSpPr>
            <p:cNvPr id="23" name="Ellipse 23"/>
            <p:cNvSpPr/>
            <p:nvPr/>
          </p:nvSpPr>
          <p:spPr>
            <a:xfrm>
              <a:off x="952500" y="2552700"/>
              <a:ext cx="381000" cy="381000"/>
            </a:xfrm>
            <a:prstGeom prst="ellipse">
              <a:avLst/>
            </a:prstGeom>
            <a:solidFill>
              <a:srgbClr val="D97757"/>
            </a:solidFill>
            <a:ln>
              <a:noFill/>
            </a:ln>
          </p:spPr>
        </p:sp>
        <p:sp>
          <p:nvSpPr>
            <p:cNvPr id="24" name="TextBox 24"/>
            <p:cNvSpPr txBox="1"/>
            <p:nvPr/>
          </p:nvSpPr>
          <p:spPr>
            <a:xfrm>
              <a:off x="1089235" y="2687002"/>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tyrene A"/>
                  <a:ea typeface="Microsoft YaHei"/>
                  <a:cs typeface="Styrene A"/>
                </a:rPr>
                <a:t>2</a:t>
              </a:r>
            </a:p>
          </p:txBody>
        </p:sp>
        <p:sp>
          <p:nvSpPr>
            <p:cNvPr id="25" name="Rectangle 25"/>
            <p:cNvSpPr/>
            <p:nvPr/>
          </p:nvSpPr>
          <p:spPr>
            <a:xfrm>
              <a:off x="1619250" y="2400300"/>
              <a:ext cx="10001250" cy="685800"/>
            </a:xfrm>
            <a:prstGeom prst="roundRect">
              <a:avLst>
                <a:gd name="adj" fmla="val 13889"/>
              </a:avLst>
            </a:prstGeom>
            <a:solidFill>
              <a:srgbClr val="F8FAFC"/>
            </a:solidFill>
            <a:ln>
              <a:noFill/>
            </a:ln>
          </p:spPr>
        </p:sp>
        <p:sp>
          <p:nvSpPr>
            <p:cNvPr id="26" name="Rectangle 26"/>
            <p:cNvSpPr/>
            <p:nvPr/>
          </p:nvSpPr>
          <p:spPr>
            <a:xfrm>
              <a:off x="1619250" y="2400300"/>
              <a:ext cx="47625" cy="685800"/>
            </a:xfrm>
            <a:prstGeom prst="roundRect">
              <a:avLst>
                <a:gd name="adj" fmla="val 50000"/>
              </a:avLst>
            </a:prstGeom>
            <a:solidFill>
              <a:srgbClr val="D97757"/>
            </a:solidFill>
            <a:ln>
              <a:noFill/>
            </a:ln>
          </p:spPr>
        </p:sp>
        <p:sp>
          <p:nvSpPr>
            <p:cNvPr id="27" name="TextBox 27"/>
            <p:cNvSpPr txBox="1"/>
            <p:nvPr/>
          </p:nvSpPr>
          <p:spPr>
            <a:xfrm>
              <a:off x="1887855" y="2540318"/>
              <a:ext cx="2293122" cy="274320"/>
            </a:xfrm>
            <a:prstGeom prst="rect">
              <a:avLst/>
            </a:prstGeom>
            <a:noFill/>
            <a:ln>
              <a:noFill/>
            </a:ln>
          </p:spPr>
          <p:txBody>
            <a:bodyPr wrap="none" lIns="0" tIns="0" rIns="0" bIns="0" anchor="t" anchorCtr="0">
              <a:spAutoFit/>
            </a:bodyPr>
            <a:lstStyle/>
            <a:p>
              <a:pPr algn="l"/>
              <a:r>
                <a:rPr lang="zh-CN" sz="1350" b="1" dirty="0">
                  <a:solidFill>
                    <a:srgbClr val="191919"/>
                  </a:solidFill>
                  <a:latin typeface="Styrene A"/>
                  <a:ea typeface="Microsoft YaHei"/>
                  <a:cs typeface="Styrene A"/>
                </a:rPr>
                <a:t>Deep research &amp; analysis</a:t>
              </a:r>
            </a:p>
          </p:txBody>
        </p:sp>
        <p:sp>
          <p:nvSpPr>
            <p:cNvPr id="28" name="TextBox 28"/>
            <p:cNvSpPr txBox="1"/>
            <p:nvPr/>
          </p:nvSpPr>
          <p:spPr>
            <a:xfrm>
              <a:off x="1891665" y="2820352"/>
              <a:ext cx="6201442"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Anthropic Sans"/>
                  <a:ea typeface="Microsoft YaHei"/>
                  <a:cs typeface="Anthropic Sans"/>
                </a:rPr>
                <a:t xml:space="preserve">Multi-source synthesis, financial modeling, and legal review across the </a:t>
              </a:r>
              <a:r>
                <a:rPr lang="zh-CN" sz="1050" b="1" dirty="0">
                  <a:solidFill>
                    <a:srgbClr val="D97757"/>
                  </a:solidFill>
                  <a:latin typeface="Anthropic Sans"/>
                  <a:ea typeface="Microsoft YaHei"/>
                  <a:cs typeface="Anthropic Sans"/>
                </a:rPr>
                <a:t>1M-token</a:t>
              </a:r>
              <a:r>
                <a:rPr lang="zh-CN" sz="1050" dirty="0">
                  <a:solidFill>
                    <a:srgbClr val="64748B"/>
                  </a:solidFill>
                  <a:latin typeface="Anthropic Sans"/>
                  <a:ea typeface="Microsoft YaHei"/>
                  <a:cs typeface="Anthropic Sans"/>
                </a:rPr>
                <a:t xml:space="preserve"> window.</a:t>
              </a:r>
            </a:p>
          </p:txBody>
        </p:sp>
        <p:grpSp>
          <p:nvGrpSpPr>
            <p:cNvPr id="31" name="Group 31"/>
            <p:cNvGrpSpPr/>
            <p:nvPr/>
          </p:nvGrpSpPr>
          <p:grpSpPr>
            <a:xfrm>
              <a:off x="11068050" y="2628900"/>
              <a:ext cx="228600" cy="228600"/>
              <a:chOff x="11068050" y="2628900"/>
              <a:chExt cx="228600" cy="228600"/>
            </a:xfrm>
          </p:grpSpPr>
          <p:sp>
            <p:nvSpPr>
              <p:cNvPr id="29" name="Freeform 29"/>
              <p:cNvSpPr/>
              <p:nvPr/>
            </p:nvSpPr>
            <p:spPr>
              <a:xfrm>
                <a:off x="11068050" y="2628900"/>
                <a:ext cx="177800" cy="177800"/>
              </a:xfrm>
              <a:custGeom>
                <a:avLst/>
                <a:gdLst/>
                <a:ahLst/>
                <a:cxnLst/>
                <a:rect l="l" t="t" r="r" b="b"/>
                <a:pathLst>
                  <a:path w="177800" h="177800">
                    <a:moveTo>
                      <a:pt x="0" y="88900"/>
                    </a:moveTo>
                    <a:cubicBezTo>
                      <a:pt x="0" y="137998"/>
                      <a:pt x="39802" y="177800"/>
                      <a:pt x="88900" y="177800"/>
                    </a:cubicBezTo>
                    <a:cubicBezTo>
                      <a:pt x="137998" y="177800"/>
                      <a:pt x="177800" y="137998"/>
                      <a:pt x="177800" y="88900"/>
                    </a:cubicBezTo>
                    <a:cubicBezTo>
                      <a:pt x="177800" y="39802"/>
                      <a:pt x="137998" y="0"/>
                      <a:pt x="88900" y="0"/>
                    </a:cubicBezTo>
                    <a:cubicBezTo>
                      <a:pt x="39802" y="0"/>
                      <a:pt x="0" y="39802"/>
                      <a:pt x="0" y="88900"/>
                    </a:cubicBezTo>
                  </a:path>
                </a:pathLst>
              </a:custGeom>
              <a:noFill/>
              <a:ln w="19050">
                <a:solidFill>
                  <a:srgbClr val="D97757"/>
                </a:solidFill>
              </a:ln>
            </p:spPr>
          </p:sp>
          <p:sp>
            <p:nvSpPr>
              <p:cNvPr id="30" name="Freeform 30"/>
              <p:cNvSpPr/>
              <p:nvPr/>
            </p:nvSpPr>
            <p:spPr>
              <a:xfrm>
                <a:off x="11220450" y="2781300"/>
                <a:ext cx="76200" cy="76200"/>
              </a:xfrm>
              <a:custGeom>
                <a:avLst/>
                <a:gdLst/>
                <a:ahLst/>
                <a:cxnLst/>
                <a:rect l="l" t="t" r="r" b="b"/>
                <a:pathLst>
                  <a:path w="76200" h="76200">
                    <a:moveTo>
                      <a:pt x="76200" y="76200"/>
                    </a:moveTo>
                    <a:lnTo>
                      <a:pt x="0" y="0"/>
                    </a:lnTo>
                  </a:path>
                </a:pathLst>
              </a:custGeom>
              <a:noFill/>
              <a:ln w="19050">
                <a:solidFill>
                  <a:srgbClr val="D97757"/>
                </a:solidFill>
              </a:ln>
            </p:spPr>
          </p:sp>
        </p:grpSp>
      </p:grpSp>
      <p:grpSp>
        <p:nvGrpSpPr>
          <p:cNvPr id="45" name="Group 45"/>
          <p:cNvGrpSpPr/>
          <p:nvPr/>
        </p:nvGrpSpPr>
        <p:grpSpPr>
          <a:xfrm>
            <a:off x="952500" y="3200400"/>
            <a:ext cx="10668000" cy="685800"/>
            <a:chOff x="952500" y="3200400"/>
            <a:chExt cx="10668000" cy="685800"/>
          </a:xfrm>
        </p:grpSpPr>
        <p:sp>
          <p:nvSpPr>
            <p:cNvPr id="33" name="Ellipse 33"/>
            <p:cNvSpPr/>
            <p:nvPr/>
          </p:nvSpPr>
          <p:spPr>
            <a:xfrm>
              <a:off x="952500" y="3352800"/>
              <a:ext cx="381000" cy="381000"/>
            </a:xfrm>
            <a:prstGeom prst="ellipse">
              <a:avLst/>
            </a:prstGeom>
            <a:solidFill>
              <a:srgbClr val="D97757"/>
            </a:solidFill>
            <a:ln>
              <a:noFill/>
            </a:ln>
          </p:spPr>
        </p:sp>
        <p:sp>
          <p:nvSpPr>
            <p:cNvPr id="34" name="TextBox 34"/>
            <p:cNvSpPr txBox="1"/>
            <p:nvPr/>
          </p:nvSpPr>
          <p:spPr>
            <a:xfrm>
              <a:off x="1089235" y="3487102"/>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tyrene A"/>
                  <a:ea typeface="Microsoft YaHei"/>
                  <a:cs typeface="Styrene A"/>
                </a:rPr>
                <a:t>3</a:t>
              </a:r>
            </a:p>
          </p:txBody>
        </p:sp>
        <p:sp>
          <p:nvSpPr>
            <p:cNvPr id="35" name="Rectangle 35"/>
            <p:cNvSpPr/>
            <p:nvPr/>
          </p:nvSpPr>
          <p:spPr>
            <a:xfrm>
              <a:off x="1619250" y="3200400"/>
              <a:ext cx="10001250" cy="685800"/>
            </a:xfrm>
            <a:prstGeom prst="roundRect">
              <a:avLst>
                <a:gd name="adj" fmla="val 13889"/>
              </a:avLst>
            </a:prstGeom>
            <a:solidFill>
              <a:srgbClr val="F8FAFC"/>
            </a:solidFill>
            <a:ln>
              <a:noFill/>
            </a:ln>
          </p:spPr>
        </p:sp>
        <p:sp>
          <p:nvSpPr>
            <p:cNvPr id="36" name="Rectangle 36"/>
            <p:cNvSpPr/>
            <p:nvPr/>
          </p:nvSpPr>
          <p:spPr>
            <a:xfrm>
              <a:off x="1619250" y="3200400"/>
              <a:ext cx="47625" cy="685800"/>
            </a:xfrm>
            <a:prstGeom prst="roundRect">
              <a:avLst>
                <a:gd name="adj" fmla="val 50000"/>
              </a:avLst>
            </a:prstGeom>
            <a:solidFill>
              <a:srgbClr val="D97757"/>
            </a:solidFill>
            <a:ln>
              <a:noFill/>
            </a:ln>
          </p:spPr>
        </p:sp>
        <p:sp>
          <p:nvSpPr>
            <p:cNvPr id="37" name="TextBox 37"/>
            <p:cNvSpPr txBox="1"/>
            <p:nvPr/>
          </p:nvSpPr>
          <p:spPr>
            <a:xfrm>
              <a:off x="1887855" y="3340418"/>
              <a:ext cx="2189159" cy="274320"/>
            </a:xfrm>
            <a:prstGeom prst="rect">
              <a:avLst/>
            </a:prstGeom>
            <a:noFill/>
            <a:ln>
              <a:noFill/>
            </a:ln>
          </p:spPr>
          <p:txBody>
            <a:bodyPr wrap="none" lIns="0" tIns="0" rIns="0" bIns="0" anchor="t" anchorCtr="0">
              <a:spAutoFit/>
            </a:bodyPr>
            <a:lstStyle/>
            <a:p>
              <a:pPr algn="l"/>
              <a:r>
                <a:rPr lang="zh-CN" sz="1350" b="1" dirty="0">
                  <a:solidFill>
                    <a:srgbClr val="191919"/>
                  </a:solidFill>
                  <a:latin typeface="Styrene A"/>
                  <a:ea typeface="Microsoft YaHei"/>
                  <a:cs typeface="Styrene A"/>
                </a:rPr>
                <a:t>Enterprise deliverables</a:t>
              </a:r>
            </a:p>
          </p:txBody>
        </p:sp>
        <p:sp>
          <p:nvSpPr>
            <p:cNvPr id="38" name="TextBox 38"/>
            <p:cNvSpPr txBox="1"/>
            <p:nvPr/>
          </p:nvSpPr>
          <p:spPr>
            <a:xfrm>
              <a:off x="1891665" y="3620452"/>
              <a:ext cx="5641372"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Anthropic Sans"/>
                  <a:ea typeface="Microsoft YaHei"/>
                  <a:cs typeface="Anthropic Sans"/>
                </a:rPr>
                <a:t>Spreadsheets, decks, and documents produced as finished artifacts, not drafts.</a:t>
              </a:r>
            </a:p>
          </p:txBody>
        </p:sp>
        <p:grpSp>
          <p:nvGrpSpPr>
            <p:cNvPr id="44" name="Group 44"/>
            <p:cNvGrpSpPr/>
            <p:nvPr/>
          </p:nvGrpSpPr>
          <p:grpSpPr>
            <a:xfrm>
              <a:off x="11093450" y="3429000"/>
              <a:ext cx="177800" cy="228600"/>
              <a:chOff x="11093450" y="3429000"/>
              <a:chExt cx="177800" cy="228600"/>
            </a:xfrm>
          </p:grpSpPr>
          <p:sp>
            <p:nvSpPr>
              <p:cNvPr id="39" name="Freeform 39"/>
              <p:cNvSpPr/>
              <p:nvPr/>
            </p:nvSpPr>
            <p:spPr>
              <a:xfrm>
                <a:off x="11207750" y="3429000"/>
                <a:ext cx="63500" cy="63500"/>
              </a:xfrm>
              <a:custGeom>
                <a:avLst/>
                <a:gdLst/>
                <a:ahLst/>
                <a:cxnLst/>
                <a:rect l="l" t="t" r="r" b="b"/>
                <a:pathLst>
                  <a:path w="63500" h="63500">
                    <a:moveTo>
                      <a:pt x="0" y="0"/>
                    </a:moveTo>
                    <a:lnTo>
                      <a:pt x="0" y="50800"/>
                    </a:lnTo>
                    <a:cubicBezTo>
                      <a:pt x="0" y="57814"/>
                      <a:pt x="5686" y="63500"/>
                      <a:pt x="12700" y="63500"/>
                    </a:cubicBezTo>
                    <a:lnTo>
                      <a:pt x="63500" y="63500"/>
                    </a:lnTo>
                  </a:path>
                </a:pathLst>
              </a:custGeom>
              <a:noFill/>
              <a:ln w="19050">
                <a:solidFill>
                  <a:srgbClr val="D97757"/>
                </a:solidFill>
              </a:ln>
            </p:spPr>
          </p:sp>
          <p:sp>
            <p:nvSpPr>
              <p:cNvPr id="40" name="Freeform 40"/>
              <p:cNvSpPr/>
              <p:nvPr/>
            </p:nvSpPr>
            <p:spPr>
              <a:xfrm>
                <a:off x="11093450" y="3429000"/>
                <a:ext cx="177800" cy="228600"/>
              </a:xfrm>
              <a:custGeom>
                <a:avLst/>
                <a:gdLst/>
                <a:ahLst/>
                <a:cxnLst/>
                <a:rect l="l" t="t" r="r" b="b"/>
                <a:pathLst>
                  <a:path w="177800" h="228600">
                    <a:moveTo>
                      <a:pt x="152400" y="228600"/>
                    </a:moveTo>
                    <a:lnTo>
                      <a:pt x="25400" y="228600"/>
                    </a:lnTo>
                    <a:cubicBezTo>
                      <a:pt x="11372" y="228600"/>
                      <a:pt x="0" y="217228"/>
                      <a:pt x="0" y="203200"/>
                    </a:cubicBezTo>
                    <a:lnTo>
                      <a:pt x="0" y="25400"/>
                    </a:lnTo>
                    <a:cubicBezTo>
                      <a:pt x="0" y="11372"/>
                      <a:pt x="11372" y="0"/>
                      <a:pt x="25400" y="0"/>
                    </a:cubicBezTo>
                    <a:lnTo>
                      <a:pt x="114300" y="0"/>
                    </a:lnTo>
                    <a:lnTo>
                      <a:pt x="177800" y="63500"/>
                    </a:lnTo>
                    <a:lnTo>
                      <a:pt x="177800" y="203200"/>
                    </a:lnTo>
                    <a:cubicBezTo>
                      <a:pt x="177800" y="217228"/>
                      <a:pt x="166428" y="228600"/>
                      <a:pt x="152400" y="228600"/>
                    </a:cubicBezTo>
                  </a:path>
                </a:pathLst>
              </a:custGeom>
              <a:noFill/>
              <a:ln w="19050">
                <a:solidFill>
                  <a:srgbClr val="D97757"/>
                </a:solidFill>
              </a:ln>
            </p:spPr>
          </p:sp>
          <p:sp>
            <p:nvSpPr>
              <p:cNvPr id="41" name="Freeform 41"/>
              <p:cNvSpPr/>
              <p:nvPr/>
            </p:nvSpPr>
            <p:spPr>
              <a:xfrm>
                <a:off x="11144250" y="3505200"/>
                <a:ext cx="12700" cy="9525"/>
              </a:xfrm>
              <a:custGeom>
                <a:avLst/>
                <a:gdLst/>
                <a:ahLst/>
                <a:cxnLst/>
                <a:rect l="l" t="t" r="r" b="b"/>
                <a:pathLst>
                  <a:path w="12700" h="9525">
                    <a:moveTo>
                      <a:pt x="0" y="0"/>
                    </a:moveTo>
                    <a:lnTo>
                      <a:pt x="12700" y="0"/>
                    </a:lnTo>
                  </a:path>
                </a:pathLst>
              </a:custGeom>
              <a:noFill/>
              <a:ln w="19050">
                <a:solidFill>
                  <a:srgbClr val="D97757"/>
                </a:solidFill>
              </a:ln>
            </p:spPr>
          </p:sp>
          <p:sp>
            <p:nvSpPr>
              <p:cNvPr id="42" name="Freeform 42"/>
              <p:cNvSpPr/>
              <p:nvPr/>
            </p:nvSpPr>
            <p:spPr>
              <a:xfrm>
                <a:off x="11144250" y="3556000"/>
                <a:ext cx="76200" cy="9525"/>
              </a:xfrm>
              <a:custGeom>
                <a:avLst/>
                <a:gdLst/>
                <a:ahLst/>
                <a:cxnLst/>
                <a:rect l="l" t="t" r="r" b="b"/>
                <a:pathLst>
                  <a:path w="76200" h="9525">
                    <a:moveTo>
                      <a:pt x="0" y="0"/>
                    </a:moveTo>
                    <a:lnTo>
                      <a:pt x="76200" y="0"/>
                    </a:lnTo>
                  </a:path>
                </a:pathLst>
              </a:custGeom>
              <a:noFill/>
              <a:ln w="19050">
                <a:solidFill>
                  <a:srgbClr val="D97757"/>
                </a:solidFill>
              </a:ln>
            </p:spPr>
          </p:sp>
          <p:sp>
            <p:nvSpPr>
              <p:cNvPr id="43" name="Freeform 43"/>
              <p:cNvSpPr/>
              <p:nvPr/>
            </p:nvSpPr>
            <p:spPr>
              <a:xfrm>
                <a:off x="11144250" y="3606800"/>
                <a:ext cx="76200" cy="9525"/>
              </a:xfrm>
              <a:custGeom>
                <a:avLst/>
                <a:gdLst/>
                <a:ahLst/>
                <a:cxnLst/>
                <a:rect l="l" t="t" r="r" b="b"/>
                <a:pathLst>
                  <a:path w="76200" h="9525">
                    <a:moveTo>
                      <a:pt x="0" y="0"/>
                    </a:moveTo>
                    <a:lnTo>
                      <a:pt x="76200" y="0"/>
                    </a:lnTo>
                  </a:path>
                </a:pathLst>
              </a:custGeom>
              <a:noFill/>
              <a:ln w="19050">
                <a:solidFill>
                  <a:srgbClr val="D97757"/>
                </a:solidFill>
              </a:ln>
            </p:spPr>
          </p:sp>
        </p:grpSp>
      </p:grpSp>
      <p:grpSp>
        <p:nvGrpSpPr>
          <p:cNvPr id="59" name="Group 59"/>
          <p:cNvGrpSpPr/>
          <p:nvPr/>
        </p:nvGrpSpPr>
        <p:grpSpPr>
          <a:xfrm>
            <a:off x="952500" y="4000500"/>
            <a:ext cx="10668000" cy="685800"/>
            <a:chOff x="952500" y="4000500"/>
            <a:chExt cx="10668000" cy="685800"/>
          </a:xfrm>
        </p:grpSpPr>
        <p:sp>
          <p:nvSpPr>
            <p:cNvPr id="46" name="Ellipse 46"/>
            <p:cNvSpPr/>
            <p:nvPr/>
          </p:nvSpPr>
          <p:spPr>
            <a:xfrm>
              <a:off x="952500" y="4152900"/>
              <a:ext cx="381000" cy="381000"/>
            </a:xfrm>
            <a:prstGeom prst="ellipse">
              <a:avLst/>
            </a:prstGeom>
            <a:solidFill>
              <a:srgbClr val="D97757"/>
            </a:solidFill>
            <a:ln>
              <a:noFill/>
            </a:ln>
          </p:spPr>
        </p:sp>
        <p:sp>
          <p:nvSpPr>
            <p:cNvPr id="47" name="TextBox 47"/>
            <p:cNvSpPr txBox="1"/>
            <p:nvPr/>
          </p:nvSpPr>
          <p:spPr>
            <a:xfrm>
              <a:off x="1089235" y="4287202"/>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tyrene A"/>
                  <a:ea typeface="Microsoft YaHei"/>
                  <a:cs typeface="Styrene A"/>
                </a:rPr>
                <a:t>4</a:t>
              </a:r>
            </a:p>
          </p:txBody>
        </p:sp>
        <p:sp>
          <p:nvSpPr>
            <p:cNvPr id="48" name="Rectangle 48"/>
            <p:cNvSpPr/>
            <p:nvPr/>
          </p:nvSpPr>
          <p:spPr>
            <a:xfrm>
              <a:off x="1619250" y="4000500"/>
              <a:ext cx="10001250" cy="685800"/>
            </a:xfrm>
            <a:prstGeom prst="roundRect">
              <a:avLst>
                <a:gd name="adj" fmla="val 13889"/>
              </a:avLst>
            </a:prstGeom>
            <a:solidFill>
              <a:srgbClr val="F8FAFC"/>
            </a:solidFill>
            <a:ln>
              <a:noFill/>
            </a:ln>
          </p:spPr>
        </p:sp>
        <p:sp>
          <p:nvSpPr>
            <p:cNvPr id="49" name="Rectangle 49"/>
            <p:cNvSpPr/>
            <p:nvPr/>
          </p:nvSpPr>
          <p:spPr>
            <a:xfrm>
              <a:off x="1619250" y="4000500"/>
              <a:ext cx="47625" cy="685800"/>
            </a:xfrm>
            <a:prstGeom prst="roundRect">
              <a:avLst>
                <a:gd name="adj" fmla="val 50000"/>
              </a:avLst>
            </a:prstGeom>
            <a:solidFill>
              <a:srgbClr val="D97757"/>
            </a:solidFill>
            <a:ln>
              <a:noFill/>
            </a:ln>
          </p:spPr>
        </p:sp>
        <p:sp>
          <p:nvSpPr>
            <p:cNvPr id="50" name="TextBox 50"/>
            <p:cNvSpPr txBox="1"/>
            <p:nvPr/>
          </p:nvSpPr>
          <p:spPr>
            <a:xfrm>
              <a:off x="1887855" y="4140518"/>
              <a:ext cx="1915075" cy="274320"/>
            </a:xfrm>
            <a:prstGeom prst="rect">
              <a:avLst/>
            </a:prstGeom>
            <a:noFill/>
            <a:ln>
              <a:noFill/>
            </a:ln>
          </p:spPr>
          <p:txBody>
            <a:bodyPr wrap="none" lIns="0" tIns="0" rIns="0" bIns="0" anchor="t" anchorCtr="0">
              <a:spAutoFit/>
            </a:bodyPr>
            <a:lstStyle/>
            <a:p>
              <a:pPr algn="l"/>
              <a:r>
                <a:rPr lang="zh-CN" sz="1350" b="1" dirty="0">
                  <a:solidFill>
                    <a:srgbClr val="191919"/>
                  </a:solidFill>
                  <a:latin typeface="Styrene A"/>
                  <a:ea typeface="Microsoft YaHei"/>
                  <a:cs typeface="Styrene A"/>
                </a:rPr>
                <a:t>Agent orchestration</a:t>
              </a:r>
            </a:p>
          </p:txBody>
        </p:sp>
        <p:sp>
          <p:nvSpPr>
            <p:cNvPr id="51" name="TextBox 51"/>
            <p:cNvSpPr txBox="1"/>
            <p:nvPr/>
          </p:nvSpPr>
          <p:spPr>
            <a:xfrm>
              <a:off x="1891665" y="4420552"/>
              <a:ext cx="6096429"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Anthropic Sans"/>
                  <a:ea typeface="Microsoft YaHei"/>
                  <a:cs typeface="Anthropic Sans"/>
                </a:rPr>
                <a:t>Coordinator agents managing fleets of parallel sub-agents on independent workstreams.</a:t>
              </a:r>
            </a:p>
          </p:txBody>
        </p:sp>
        <p:grpSp>
          <p:nvGrpSpPr>
            <p:cNvPr id="58" name="Group 58"/>
            <p:cNvGrpSpPr/>
            <p:nvPr/>
          </p:nvGrpSpPr>
          <p:grpSpPr>
            <a:xfrm>
              <a:off x="11068050" y="4229100"/>
              <a:ext cx="228600" cy="228600"/>
              <a:chOff x="11068050" y="4229100"/>
              <a:chExt cx="228600" cy="228600"/>
            </a:xfrm>
          </p:grpSpPr>
          <p:sp>
            <p:nvSpPr>
              <p:cNvPr id="52" name="Freeform 52"/>
              <p:cNvSpPr/>
              <p:nvPr/>
            </p:nvSpPr>
            <p:spPr>
              <a:xfrm>
                <a:off x="11156950" y="43307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19050">
                <a:solidFill>
                  <a:srgbClr val="D97757"/>
                </a:solidFill>
              </a:ln>
            </p:spPr>
          </p:sp>
          <p:sp>
            <p:nvSpPr>
              <p:cNvPr id="53" name="Freeform 53"/>
              <p:cNvSpPr/>
              <p:nvPr/>
            </p:nvSpPr>
            <p:spPr>
              <a:xfrm>
                <a:off x="11131550" y="4419600"/>
                <a:ext cx="101600" cy="38100"/>
              </a:xfrm>
              <a:custGeom>
                <a:avLst/>
                <a:gdLst/>
                <a:ahLst/>
                <a:cxnLst/>
                <a:rect l="l" t="t" r="r" b="b"/>
                <a:pathLst>
                  <a:path w="101600" h="38100">
                    <a:moveTo>
                      <a:pt x="0" y="38100"/>
                    </a:moveTo>
                    <a:lnTo>
                      <a:pt x="0" y="25400"/>
                    </a:lnTo>
                    <a:cubicBezTo>
                      <a:pt x="0" y="11372"/>
                      <a:pt x="11372" y="0"/>
                      <a:pt x="25400" y="0"/>
                    </a:cubicBezTo>
                    <a:lnTo>
                      <a:pt x="76200" y="0"/>
                    </a:lnTo>
                    <a:cubicBezTo>
                      <a:pt x="90228" y="0"/>
                      <a:pt x="101600" y="11372"/>
                      <a:pt x="101600" y="25400"/>
                    </a:cubicBezTo>
                    <a:lnTo>
                      <a:pt x="101600" y="38100"/>
                    </a:lnTo>
                  </a:path>
                </a:pathLst>
              </a:custGeom>
              <a:noFill/>
              <a:ln w="19050">
                <a:solidFill>
                  <a:srgbClr val="D97757"/>
                </a:solidFill>
              </a:ln>
            </p:spPr>
          </p:sp>
          <p:sp>
            <p:nvSpPr>
              <p:cNvPr id="54" name="Freeform 54"/>
              <p:cNvSpPr/>
              <p:nvPr/>
            </p:nvSpPr>
            <p:spPr>
              <a:xfrm>
                <a:off x="11220450" y="42291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19050">
                <a:solidFill>
                  <a:srgbClr val="D97757"/>
                </a:solidFill>
              </a:ln>
            </p:spPr>
          </p:sp>
          <p:sp>
            <p:nvSpPr>
              <p:cNvPr id="55" name="Freeform 55"/>
              <p:cNvSpPr/>
              <p:nvPr/>
            </p:nvSpPr>
            <p:spPr>
              <a:xfrm>
                <a:off x="11245850" y="4318000"/>
                <a:ext cx="50800" cy="38100"/>
              </a:xfrm>
              <a:custGeom>
                <a:avLst/>
                <a:gdLst/>
                <a:ahLst/>
                <a:cxnLst/>
                <a:rect l="l" t="t" r="r" b="b"/>
                <a:pathLst>
                  <a:path w="50800" h="38100">
                    <a:moveTo>
                      <a:pt x="0" y="0"/>
                    </a:moveTo>
                    <a:lnTo>
                      <a:pt x="25400" y="0"/>
                    </a:lnTo>
                    <a:cubicBezTo>
                      <a:pt x="39428" y="0"/>
                      <a:pt x="50800" y="11372"/>
                      <a:pt x="50800" y="25400"/>
                    </a:cubicBezTo>
                    <a:lnTo>
                      <a:pt x="50800" y="38100"/>
                    </a:lnTo>
                  </a:path>
                </a:pathLst>
              </a:custGeom>
              <a:noFill/>
              <a:ln w="19050">
                <a:solidFill>
                  <a:srgbClr val="D97757"/>
                </a:solidFill>
              </a:ln>
            </p:spPr>
          </p:sp>
          <p:sp>
            <p:nvSpPr>
              <p:cNvPr id="56" name="Freeform 56"/>
              <p:cNvSpPr/>
              <p:nvPr/>
            </p:nvSpPr>
            <p:spPr>
              <a:xfrm>
                <a:off x="11093450" y="42291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19050">
                <a:solidFill>
                  <a:srgbClr val="D97757"/>
                </a:solidFill>
              </a:ln>
            </p:spPr>
          </p:sp>
          <p:sp>
            <p:nvSpPr>
              <p:cNvPr id="57" name="Freeform 57"/>
              <p:cNvSpPr/>
              <p:nvPr/>
            </p:nvSpPr>
            <p:spPr>
              <a:xfrm>
                <a:off x="11068050" y="4318000"/>
                <a:ext cx="50800" cy="38100"/>
              </a:xfrm>
              <a:custGeom>
                <a:avLst/>
                <a:gdLst/>
                <a:ahLst/>
                <a:cxnLst/>
                <a:rect l="l" t="t" r="r" b="b"/>
                <a:pathLst>
                  <a:path w="50800" h="38100">
                    <a:moveTo>
                      <a:pt x="0" y="38100"/>
                    </a:moveTo>
                    <a:lnTo>
                      <a:pt x="0" y="25400"/>
                    </a:lnTo>
                    <a:cubicBezTo>
                      <a:pt x="0" y="11372"/>
                      <a:pt x="11372" y="0"/>
                      <a:pt x="25400" y="0"/>
                    </a:cubicBezTo>
                    <a:lnTo>
                      <a:pt x="50800" y="0"/>
                    </a:lnTo>
                  </a:path>
                </a:pathLst>
              </a:custGeom>
              <a:noFill/>
              <a:ln w="19050">
                <a:solidFill>
                  <a:srgbClr val="D97757"/>
                </a:solidFill>
              </a:ln>
            </p:spPr>
          </p:sp>
        </p:grpSp>
      </p:grpSp>
      <p:grpSp>
        <p:nvGrpSpPr>
          <p:cNvPr id="69" name="Group 69"/>
          <p:cNvGrpSpPr/>
          <p:nvPr/>
        </p:nvGrpSpPr>
        <p:grpSpPr>
          <a:xfrm>
            <a:off x="952500" y="4800600"/>
            <a:ext cx="10668000" cy="685800"/>
            <a:chOff x="952500" y="4800600"/>
            <a:chExt cx="10668000" cy="685800"/>
          </a:xfrm>
        </p:grpSpPr>
        <p:sp>
          <p:nvSpPr>
            <p:cNvPr id="60" name="Ellipse 60"/>
            <p:cNvSpPr/>
            <p:nvPr/>
          </p:nvSpPr>
          <p:spPr>
            <a:xfrm>
              <a:off x="952500" y="4953000"/>
              <a:ext cx="381000" cy="381000"/>
            </a:xfrm>
            <a:prstGeom prst="ellipse">
              <a:avLst/>
            </a:prstGeom>
            <a:solidFill>
              <a:srgbClr val="D97757"/>
            </a:solidFill>
            <a:ln>
              <a:noFill/>
            </a:ln>
          </p:spPr>
        </p:sp>
        <p:sp>
          <p:nvSpPr>
            <p:cNvPr id="61" name="TextBox 61"/>
            <p:cNvSpPr txBox="1"/>
            <p:nvPr/>
          </p:nvSpPr>
          <p:spPr>
            <a:xfrm>
              <a:off x="1089235" y="5087302"/>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tyrene A"/>
                  <a:ea typeface="Microsoft YaHei"/>
                  <a:cs typeface="Styrene A"/>
                </a:rPr>
                <a:t>5</a:t>
              </a:r>
            </a:p>
          </p:txBody>
        </p:sp>
        <p:sp>
          <p:nvSpPr>
            <p:cNvPr id="62" name="Rectangle 62"/>
            <p:cNvSpPr/>
            <p:nvPr/>
          </p:nvSpPr>
          <p:spPr>
            <a:xfrm>
              <a:off x="1619250" y="4800600"/>
              <a:ext cx="10001250" cy="685800"/>
            </a:xfrm>
            <a:prstGeom prst="roundRect">
              <a:avLst>
                <a:gd name="adj" fmla="val 13889"/>
              </a:avLst>
            </a:prstGeom>
            <a:solidFill>
              <a:srgbClr val="F8FAFC"/>
            </a:solidFill>
            <a:ln>
              <a:noFill/>
            </a:ln>
          </p:spPr>
        </p:sp>
        <p:sp>
          <p:nvSpPr>
            <p:cNvPr id="63" name="Rectangle 63"/>
            <p:cNvSpPr/>
            <p:nvPr/>
          </p:nvSpPr>
          <p:spPr>
            <a:xfrm>
              <a:off x="1619250" y="4800600"/>
              <a:ext cx="47625" cy="685800"/>
            </a:xfrm>
            <a:prstGeom prst="roundRect">
              <a:avLst>
                <a:gd name="adj" fmla="val 50000"/>
              </a:avLst>
            </a:prstGeom>
            <a:solidFill>
              <a:srgbClr val="D97757"/>
            </a:solidFill>
            <a:ln>
              <a:noFill/>
            </a:ln>
          </p:spPr>
        </p:sp>
        <p:sp>
          <p:nvSpPr>
            <p:cNvPr id="64" name="TextBox 64"/>
            <p:cNvSpPr txBox="1"/>
            <p:nvPr/>
          </p:nvSpPr>
          <p:spPr>
            <a:xfrm>
              <a:off x="1887855" y="4940618"/>
              <a:ext cx="2208062" cy="274320"/>
            </a:xfrm>
            <a:prstGeom prst="rect">
              <a:avLst/>
            </a:prstGeom>
            <a:noFill/>
            <a:ln>
              <a:noFill/>
            </a:ln>
          </p:spPr>
          <p:txBody>
            <a:bodyPr wrap="none" lIns="0" tIns="0" rIns="0" bIns="0" anchor="t" anchorCtr="0">
              <a:spAutoFit/>
            </a:bodyPr>
            <a:lstStyle/>
            <a:p>
              <a:pPr algn="l"/>
              <a:r>
                <a:rPr lang="zh-CN" sz="1350" b="1" dirty="0">
                  <a:solidFill>
                    <a:srgbClr val="191919"/>
                  </a:solidFill>
                  <a:latin typeface="Styrene A"/>
                  <a:ea typeface="Microsoft YaHei"/>
                  <a:cs typeface="Styrene A"/>
                </a:rPr>
                <a:t>Vision-heavy workflows</a:t>
              </a:r>
            </a:p>
          </p:txBody>
        </p:sp>
        <p:sp>
          <p:nvSpPr>
            <p:cNvPr id="65" name="TextBox 65"/>
            <p:cNvSpPr txBox="1"/>
            <p:nvPr/>
          </p:nvSpPr>
          <p:spPr>
            <a:xfrm>
              <a:off x="1891665" y="5220652"/>
              <a:ext cx="6299454"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Anthropic Sans"/>
                  <a:ea typeface="Microsoft YaHei"/>
                  <a:cs typeface="Anthropic Sans"/>
                </a:rPr>
                <a:t>Degraded scans, screenshot-driven computer use, and pixel-accurate chart transcription.</a:t>
              </a:r>
            </a:p>
          </p:txBody>
        </p:sp>
        <p:grpSp>
          <p:nvGrpSpPr>
            <p:cNvPr id="68" name="Group 68"/>
            <p:cNvGrpSpPr/>
            <p:nvPr/>
          </p:nvGrpSpPr>
          <p:grpSpPr>
            <a:xfrm>
              <a:off x="11068050" y="5067300"/>
              <a:ext cx="228600" cy="152400"/>
              <a:chOff x="11068050" y="5067300"/>
              <a:chExt cx="228600" cy="152400"/>
            </a:xfrm>
          </p:grpSpPr>
          <p:sp>
            <p:nvSpPr>
              <p:cNvPr id="66" name="Freeform 66"/>
              <p:cNvSpPr/>
              <p:nvPr/>
            </p:nvSpPr>
            <p:spPr>
              <a:xfrm>
                <a:off x="11156950" y="5118100"/>
                <a:ext cx="50800" cy="50800"/>
              </a:xfrm>
              <a:custGeom>
                <a:avLst/>
                <a:gdLst/>
                <a:ahLst/>
                <a:cxnLst/>
                <a:rect l="l" t="t" r="r" b="b"/>
                <a:pathLst>
                  <a:path w="50800" h="50800">
                    <a:moveTo>
                      <a:pt x="0" y="25400"/>
                    </a:moveTo>
                    <a:cubicBezTo>
                      <a:pt x="0" y="39428"/>
                      <a:pt x="11372" y="50800"/>
                      <a:pt x="25400" y="50800"/>
                    </a:cubicBezTo>
                    <a:cubicBezTo>
                      <a:pt x="39428" y="50800"/>
                      <a:pt x="50800" y="39428"/>
                      <a:pt x="50800" y="25400"/>
                    </a:cubicBezTo>
                    <a:cubicBezTo>
                      <a:pt x="50800" y="11372"/>
                      <a:pt x="39428" y="0"/>
                      <a:pt x="25400" y="0"/>
                    </a:cubicBezTo>
                    <a:cubicBezTo>
                      <a:pt x="11372" y="0"/>
                      <a:pt x="0" y="11372"/>
                      <a:pt x="0" y="25400"/>
                    </a:cubicBezTo>
                  </a:path>
                </a:pathLst>
              </a:custGeom>
              <a:noFill/>
              <a:ln w="19050">
                <a:solidFill>
                  <a:srgbClr val="D97757"/>
                </a:solidFill>
              </a:ln>
            </p:spPr>
          </p:sp>
          <p:sp>
            <p:nvSpPr>
              <p:cNvPr id="67" name="Freeform 67"/>
              <p:cNvSpPr/>
              <p:nvPr/>
            </p:nvSpPr>
            <p:spPr>
              <a:xfrm>
                <a:off x="11068050" y="5067300"/>
                <a:ext cx="228600" cy="152400"/>
              </a:xfrm>
              <a:custGeom>
                <a:avLst/>
                <a:gdLst/>
                <a:ahLst/>
                <a:cxnLst/>
                <a:rect l="l" t="t" r="r" b="b"/>
                <a:pathLst>
                  <a:path w="228600" h="152400">
                    <a:moveTo>
                      <a:pt x="228600" y="76200"/>
                    </a:moveTo>
                    <a:cubicBezTo>
                      <a:pt x="198120" y="127000"/>
                      <a:pt x="160020" y="152400"/>
                      <a:pt x="114300" y="152400"/>
                    </a:cubicBezTo>
                    <a:cubicBezTo>
                      <a:pt x="68580" y="152400"/>
                      <a:pt x="30480" y="127000"/>
                      <a:pt x="0" y="76200"/>
                    </a:cubicBezTo>
                    <a:cubicBezTo>
                      <a:pt x="30480" y="25400"/>
                      <a:pt x="68580" y="0"/>
                      <a:pt x="114300" y="0"/>
                    </a:cubicBezTo>
                    <a:cubicBezTo>
                      <a:pt x="160020" y="0"/>
                      <a:pt x="198120" y="25400"/>
                      <a:pt x="228600" y="76200"/>
                    </a:cubicBezTo>
                  </a:path>
                </a:pathLst>
              </a:custGeom>
              <a:noFill/>
              <a:ln w="19050">
                <a:solidFill>
                  <a:srgbClr val="D97757"/>
                </a:solidFill>
              </a:ln>
            </p:spPr>
          </p:sp>
        </p:grpSp>
      </p:grpSp>
      <p:grpSp>
        <p:nvGrpSpPr>
          <p:cNvPr id="77" name="Group 77"/>
          <p:cNvGrpSpPr/>
          <p:nvPr/>
        </p:nvGrpSpPr>
        <p:grpSpPr>
          <a:xfrm>
            <a:off x="952500" y="5600700"/>
            <a:ext cx="10668000" cy="685800"/>
            <a:chOff x="952500" y="5600700"/>
            <a:chExt cx="10668000" cy="685800"/>
          </a:xfrm>
        </p:grpSpPr>
        <p:sp>
          <p:nvSpPr>
            <p:cNvPr id="70" name="Ellipse 70"/>
            <p:cNvSpPr/>
            <p:nvPr/>
          </p:nvSpPr>
          <p:spPr>
            <a:xfrm>
              <a:off x="952500" y="5753100"/>
              <a:ext cx="381000" cy="381000"/>
            </a:xfrm>
            <a:prstGeom prst="ellipse">
              <a:avLst/>
            </a:prstGeom>
            <a:solidFill>
              <a:srgbClr val="D97757"/>
            </a:solidFill>
            <a:ln>
              <a:noFill/>
            </a:ln>
          </p:spPr>
        </p:sp>
        <p:sp>
          <p:nvSpPr>
            <p:cNvPr id="71" name="TextBox 71"/>
            <p:cNvSpPr txBox="1"/>
            <p:nvPr/>
          </p:nvSpPr>
          <p:spPr>
            <a:xfrm>
              <a:off x="1089235" y="5887402"/>
              <a:ext cx="107530" cy="213360"/>
            </a:xfrm>
            <a:prstGeom prst="rect">
              <a:avLst/>
            </a:prstGeom>
            <a:noFill/>
            <a:ln>
              <a:noFill/>
            </a:ln>
          </p:spPr>
          <p:txBody>
            <a:bodyPr wrap="none" lIns="0" tIns="0" rIns="0" bIns="0" anchor="t" anchorCtr="0">
              <a:spAutoFit/>
            </a:bodyPr>
            <a:lstStyle/>
            <a:p>
              <a:pPr algn="ctr"/>
              <a:r>
                <a:rPr lang="zh-CN" sz="1050" b="1" dirty="0">
                  <a:solidFill>
                    <a:srgbClr val="FFFFFF"/>
                  </a:solidFill>
                  <a:latin typeface="Styrene A"/>
                  <a:ea typeface="Microsoft YaHei"/>
                  <a:cs typeface="Styrene A"/>
                </a:rPr>
                <a:t>6</a:t>
              </a:r>
            </a:p>
          </p:txBody>
        </p:sp>
        <p:sp>
          <p:nvSpPr>
            <p:cNvPr id="72" name="Rectangle 72"/>
            <p:cNvSpPr/>
            <p:nvPr/>
          </p:nvSpPr>
          <p:spPr>
            <a:xfrm>
              <a:off x="1619250" y="5600700"/>
              <a:ext cx="10001250" cy="685800"/>
            </a:xfrm>
            <a:prstGeom prst="roundRect">
              <a:avLst>
                <a:gd name="adj" fmla="val 13889"/>
              </a:avLst>
            </a:prstGeom>
            <a:solidFill>
              <a:srgbClr val="F8FAFC"/>
            </a:solidFill>
            <a:ln>
              <a:noFill/>
            </a:ln>
          </p:spPr>
        </p:sp>
        <p:sp>
          <p:nvSpPr>
            <p:cNvPr id="73" name="Rectangle 73"/>
            <p:cNvSpPr/>
            <p:nvPr/>
          </p:nvSpPr>
          <p:spPr>
            <a:xfrm>
              <a:off x="1619250" y="5600700"/>
              <a:ext cx="47625" cy="685800"/>
            </a:xfrm>
            <a:prstGeom prst="roundRect">
              <a:avLst>
                <a:gd name="adj" fmla="val 50000"/>
              </a:avLst>
            </a:prstGeom>
            <a:solidFill>
              <a:srgbClr val="D97757"/>
            </a:solidFill>
            <a:ln>
              <a:noFill/>
            </a:ln>
          </p:spPr>
        </p:sp>
        <p:sp>
          <p:nvSpPr>
            <p:cNvPr id="74" name="TextBox 74"/>
            <p:cNvSpPr txBox="1"/>
            <p:nvPr/>
          </p:nvSpPr>
          <p:spPr>
            <a:xfrm>
              <a:off x="1887855" y="5740718"/>
              <a:ext cx="2226964" cy="274320"/>
            </a:xfrm>
            <a:prstGeom prst="rect">
              <a:avLst/>
            </a:prstGeom>
            <a:noFill/>
            <a:ln>
              <a:noFill/>
            </a:ln>
          </p:spPr>
          <p:txBody>
            <a:bodyPr wrap="none" lIns="0" tIns="0" rIns="0" bIns="0" anchor="t" anchorCtr="0">
              <a:spAutoFit/>
            </a:bodyPr>
            <a:lstStyle/>
            <a:p>
              <a:pPr algn="l"/>
              <a:r>
                <a:rPr lang="zh-CN" sz="1350" b="1" dirty="0">
                  <a:solidFill>
                    <a:srgbClr val="191919"/>
                  </a:solidFill>
                  <a:latin typeface="Styrene A"/>
                  <a:ea typeface="Microsoft YaHei"/>
                  <a:cs typeface="Styrene A"/>
                </a:rPr>
                <a:t>Code review &amp; debugging</a:t>
              </a:r>
            </a:p>
          </p:txBody>
        </p:sp>
        <p:sp>
          <p:nvSpPr>
            <p:cNvPr id="75" name="TextBox 75"/>
            <p:cNvSpPr txBox="1"/>
            <p:nvPr/>
          </p:nvSpPr>
          <p:spPr>
            <a:xfrm>
              <a:off x="1891665" y="6020752"/>
              <a:ext cx="6348460" cy="213360"/>
            </a:xfrm>
            <a:prstGeom prst="rect">
              <a:avLst/>
            </a:prstGeom>
            <a:noFill/>
            <a:ln>
              <a:noFill/>
            </a:ln>
          </p:spPr>
          <p:txBody>
            <a:bodyPr wrap="none" lIns="0" tIns="0" rIns="0" bIns="0" anchor="t" anchorCtr="0">
              <a:spAutoFit/>
            </a:bodyPr>
            <a:lstStyle/>
            <a:p>
              <a:pPr algn="l"/>
              <a:r>
                <a:rPr lang="zh-CN" sz="1050" dirty="0">
                  <a:solidFill>
                    <a:srgbClr val="64748B"/>
                  </a:solidFill>
                  <a:latin typeface="Anthropic Sans"/>
                  <a:ea typeface="Microsoft YaHei"/>
                  <a:cs typeface="Anthropic Sans"/>
                </a:rPr>
                <a:t>Higher recall and precision on real bugs — including intermittent flakes others declare fixed.</a:t>
              </a:r>
            </a:p>
          </p:txBody>
        </p:sp>
        <p:sp>
          <p:nvSpPr>
            <p:cNvPr id="76" name="Freeform 76"/>
            <p:cNvSpPr/>
            <p:nvPr/>
          </p:nvSpPr>
          <p:spPr>
            <a:xfrm>
              <a:off x="11093450" y="5880100"/>
              <a:ext cx="190500" cy="127000"/>
            </a:xfrm>
            <a:custGeom>
              <a:avLst/>
              <a:gdLst/>
              <a:ahLst/>
              <a:cxnLst/>
              <a:rect l="l" t="t" r="r" b="b"/>
              <a:pathLst>
                <a:path w="190500" h="127000">
                  <a:moveTo>
                    <a:pt x="0" y="63500"/>
                  </a:moveTo>
                  <a:lnTo>
                    <a:pt x="63500" y="127000"/>
                  </a:lnTo>
                  <a:lnTo>
                    <a:pt x="190500" y="0"/>
                  </a:lnTo>
                </a:path>
              </a:pathLst>
            </a:custGeom>
            <a:noFill/>
            <a:ln w="19050">
              <a:solidFill>
                <a:srgbClr val="D97757"/>
              </a:solidFill>
            </a:ln>
          </p:spPr>
        </p:sp>
      </p:grpSp>
      <p:grpSp>
        <p:nvGrpSpPr>
          <p:cNvPr id="80" name="Group 80"/>
          <p:cNvGrpSpPr/>
          <p:nvPr/>
        </p:nvGrpSpPr>
        <p:grpSpPr>
          <a:xfrm>
            <a:off x="751522" y="6578441"/>
            <a:ext cx="10688955" cy="167640"/>
            <a:chOff x="751522" y="6578441"/>
            <a:chExt cx="10688955" cy="167640"/>
          </a:xfrm>
        </p:grpSpPr>
        <p:sp>
          <p:nvSpPr>
            <p:cNvPr id="78" name="TextBox 78"/>
            <p:cNvSpPr txBox="1"/>
            <p:nvPr/>
          </p:nvSpPr>
          <p:spPr>
            <a:xfrm>
              <a:off x="751522" y="6578441"/>
              <a:ext cx="5532644" cy="167640"/>
            </a:xfrm>
            <a:prstGeom prst="rect">
              <a:avLst/>
            </a:prstGeom>
            <a:noFill/>
            <a:ln>
              <a:noFill/>
            </a:ln>
          </p:spPr>
          <p:txBody>
            <a:bodyPr wrap="none" lIns="0" tIns="0" rIns="0" bIns="0" anchor="t" anchorCtr="0">
              <a:spAutoFit/>
            </a:bodyPr>
            <a:lstStyle/>
            <a:p>
              <a:pPr algn="l"/>
              <a:r>
                <a:rPr lang="zh-CN" sz="825" dirty="0">
                  <a:solidFill>
                    <a:srgbClr val="94A3B8"/>
                  </a:solidFill>
                  <a:latin typeface="Anthropic Sans"/>
                  <a:ea typeface="Microsoft YaHei"/>
                  <a:cs typeface="Anthropic Sans"/>
                </a:rPr>
                <a:t>Scientific research (drug design, genomics) runs via Mythos 5 under Project Glasswing trusted access</a:t>
              </a:r>
            </a:p>
          </p:txBody>
        </p:sp>
        <p:sp>
          <p:nvSpPr>
            <p:cNvPr id="79" name="TextBox 79"/>
            <p:cNvSpPr txBox="1"/>
            <p:nvPr/>
          </p:nvSpPr>
          <p:spPr>
            <a:xfrm>
              <a:off x="11298507" y="6578441"/>
              <a:ext cx="141970" cy="167640"/>
            </a:xfrm>
            <a:prstGeom prst="rect">
              <a:avLst/>
            </a:prstGeom>
            <a:noFill/>
            <a:ln>
              <a:noFill/>
            </a:ln>
          </p:spPr>
          <p:txBody>
            <a:bodyPr wrap="none" lIns="0" tIns="0" rIns="0" bIns="0" anchor="t" anchorCtr="0">
              <a:spAutoFit/>
            </a:bodyPr>
            <a:lstStyle/>
            <a:p>
              <a:pPr algn="r"/>
              <a:r>
                <a:rPr lang="zh-CN" sz="825" dirty="0">
                  <a:solidFill>
                    <a:srgbClr val="94A3B8"/>
                  </a:solidFill>
                  <a:latin typeface="Anthropic Sans"/>
                  <a:ea typeface="Microsoft YaHei"/>
                  <a:cs typeface="Anthropic Sans"/>
                </a:rPr>
                <a:t>08</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400"/>
                                        <p:tgtEl>
                                          <p:spTgt spid="8"/>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22"/>
                                        </p:tgtEl>
                                        <p:attrNameLst>
                                          <p:attrName>style.visibility</p:attrName>
                                        </p:attrNameLst>
                                      </p:cBhvr>
                                      <p:to>
                                        <p:strVal val="visible"/>
                                      </p:to>
                                    </p:set>
                                    <p:animEffect transition="in" filter="slide(fromBottom)">
                                      <p:cBhvr>
                                        <p:cTn id="11" dur="400"/>
                                        <p:tgtEl>
                                          <p:spTgt spid="22"/>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image">
                                      <p:cBhvr>
                                        <p:cTn id="15" dur="400"/>
                                        <p:tgtEl>
                                          <p:spTgt spid="32"/>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45"/>
                                        </p:tgtEl>
                                        <p:attrNameLst>
                                          <p:attrName>style.visibility</p:attrName>
                                        </p:attrNameLst>
                                      </p:cBhvr>
                                      <p:to>
                                        <p:strVal val="visible"/>
                                      </p:to>
                                    </p:set>
                                    <p:animEffect transition="in" filter="fade">
                                      <p:cBhvr>
                                        <p:cTn id="19" dur="400"/>
                                        <p:tgtEl>
                                          <p:spTgt spid="45"/>
                                        </p:tgtEl>
                                      </p:cBhvr>
                                    </p:animEffect>
                                  </p:childTnLst>
                                </p:cTn>
                              </p:par>
                            </p:childTnLst>
                          </p:cTn>
                        </p:par>
                        <p:par>
                          <p:cTn id="20" fill="hold">
                            <p:stCondLst>
                              <p:cond delay="3600"/>
                            </p:stCondLst>
                            <p:childTnLst>
                              <p:par>
                                <p:cTn id="21" presetID="22" presetClass="entr" presetSubtype="1" fill="hold" nodeType="afterEffect">
                                  <p:stCondLst>
                                    <p:cond delay="0"/>
                                  </p:stCondLst>
                                  <p:childTnLst>
                                    <p:set>
                                      <p:cBhvr>
                                        <p:cTn id="22" dur="1" fill="hold">
                                          <p:stCondLst>
                                            <p:cond delay="0"/>
                                          </p:stCondLst>
                                        </p:cTn>
                                        <p:tgtEl>
                                          <p:spTgt spid="59"/>
                                        </p:tgtEl>
                                        <p:attrNameLst>
                                          <p:attrName>style.visibility</p:attrName>
                                        </p:attrNameLst>
                                      </p:cBhvr>
                                      <p:to>
                                        <p:strVal val="visible"/>
                                      </p:to>
                                    </p:set>
                                    <p:animEffect transition="in" filter="wipe(left)">
                                      <p:cBhvr>
                                        <p:cTn id="23" dur="400"/>
                                        <p:tgtEl>
                                          <p:spTgt spid="59"/>
                                        </p:tgtEl>
                                      </p:cBhvr>
                                    </p:animEffect>
                                  </p:childTnLst>
                                </p:cTn>
                              </p:par>
                            </p:childTnLst>
                          </p:cTn>
                        </p:par>
                        <p:par>
                          <p:cTn id="24" fill="hold">
                            <p:stCondLst>
                              <p:cond delay="4500"/>
                            </p:stCondLst>
                            <p:childTnLst>
                              <p:par>
                                <p:cTn id="25" presetID="2" presetClass="entr" presetSubtype="4" fill="hold" nodeType="afterEffect">
                                  <p:stCondLst>
                                    <p:cond delay="0"/>
                                  </p:stCondLst>
                                  <p:childTnLst>
                                    <p:set>
                                      <p:cBhvr>
                                        <p:cTn id="26" dur="1" fill="hold">
                                          <p:stCondLst>
                                            <p:cond delay="0"/>
                                          </p:stCondLst>
                                        </p:cTn>
                                        <p:tgtEl>
                                          <p:spTgt spid="69"/>
                                        </p:tgtEl>
                                        <p:attrNameLst>
                                          <p:attrName>style.visibility</p:attrName>
                                        </p:attrNameLst>
                                      </p:cBhvr>
                                      <p:to>
                                        <p:strVal val="visible"/>
                                      </p:to>
                                    </p:set>
                                    <p:animEffect transition="in" filter="slide(fromBottom)">
                                      <p:cBhvr>
                                        <p:cTn id="27" dur="400"/>
                                        <p:tgtEl>
                                          <p:spTgt spid="69"/>
                                        </p:tgtEl>
                                      </p:cBhvr>
                                    </p:animEffect>
                                  </p:childTnLst>
                                </p:cTn>
                              </p:par>
                            </p:childTnLst>
                          </p:cTn>
                        </p:par>
                        <p:par>
                          <p:cTn id="28" fill="hold">
                            <p:stCondLst>
                              <p:cond delay="5400"/>
                            </p:stCondLst>
                            <p:childTnLst>
                              <p:par>
                                <p:cTn id="29" presetID="23" presetClass="entr" presetSubtype="0" fill="hold" nodeType="afterEffect">
                                  <p:stCondLst>
                                    <p:cond delay="0"/>
                                  </p:stCondLst>
                                  <p:childTnLst>
                                    <p:set>
                                      <p:cBhvr>
                                        <p:cTn id="30" dur="1" fill="hold">
                                          <p:stCondLst>
                                            <p:cond delay="0"/>
                                          </p:stCondLst>
                                        </p:cTn>
                                        <p:tgtEl>
                                          <p:spTgt spid="77"/>
                                        </p:tgtEl>
                                        <p:attrNameLst>
                                          <p:attrName>style.visibility</p:attrName>
                                        </p:attrNameLst>
                                      </p:cBhvr>
                                      <p:to>
                                        <p:strVal val="visible"/>
                                      </p:to>
                                    </p:set>
                                    <p:animEffect transition="in" filter="image">
                                      <p:cBhvr>
                                        <p:cTn id="31" dur="4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22" grpId="0"/>
      <p:bldP spid="32" grpId="0"/>
      <p:bldP spid="45" grpId="0"/>
      <p:bldP spid="59" grpId="0"/>
      <p:bldP spid="69" grpId="0"/>
      <p:bldP spid="7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5" name="Group 5"/>
          <p:cNvGrpSpPr/>
          <p:nvPr/>
        </p:nvGrpSpPr>
        <p:grpSpPr>
          <a:xfrm>
            <a:off x="733425" y="1010602"/>
            <a:ext cx="6972264" cy="822960"/>
            <a:chOff x="733425" y="1010602"/>
            <a:chExt cx="6972264" cy="822960"/>
          </a:xfrm>
        </p:grpSpPr>
        <p:sp>
          <p:nvSpPr>
            <p:cNvPr id="3" name="TextBox 3"/>
            <p:cNvSpPr txBox="1"/>
            <p:nvPr/>
          </p:nvSpPr>
          <p:spPr>
            <a:xfrm>
              <a:off x="748665" y="1010602"/>
              <a:ext cx="3033196" cy="213360"/>
            </a:xfrm>
            <a:prstGeom prst="rect">
              <a:avLst/>
            </a:prstGeom>
            <a:noFill/>
            <a:ln>
              <a:noFill/>
            </a:ln>
          </p:spPr>
          <p:txBody>
            <a:bodyPr wrap="none" lIns="0" tIns="0" rIns="0" bIns="0" anchor="t" anchorCtr="0">
              <a:spAutoFit/>
            </a:bodyPr>
            <a:lstStyle/>
            <a:p>
              <a:pPr algn="l"/>
              <a:r>
                <a:rPr lang="zh-CN" sz="1050" b="1" dirty="0">
                  <a:solidFill>
                    <a:srgbClr val="64748B"/>
                  </a:solidFill>
                  <a:latin typeface="Styrene A"/>
                  <a:ea typeface="Microsoft YaHei"/>
                  <a:cs typeface="Styrene A"/>
                </a:rPr>
                <a:t>06 · SPOTLIGHT — AUTONOMOUS ENGINEERING</a:t>
              </a:r>
            </a:p>
          </p:txBody>
        </p:sp>
        <p:sp>
          <p:nvSpPr>
            <p:cNvPr id="4" name="TextBox 4"/>
            <p:cNvSpPr txBox="1"/>
            <p:nvPr/>
          </p:nvSpPr>
          <p:spPr>
            <a:xfrm>
              <a:off x="733425" y="1376362"/>
              <a:ext cx="6972264" cy="457200"/>
            </a:xfrm>
            <a:prstGeom prst="rect">
              <a:avLst/>
            </a:prstGeom>
            <a:noFill/>
            <a:ln>
              <a:noFill/>
            </a:ln>
          </p:spPr>
          <p:txBody>
            <a:bodyPr wrap="none" lIns="0" tIns="0" rIns="0" bIns="0" anchor="t" anchorCtr="0">
              <a:spAutoFit/>
            </a:bodyPr>
            <a:lstStyle/>
            <a:p>
              <a:pPr algn="l"/>
              <a:r>
                <a:rPr lang="zh-CN" sz="2250" b="1" dirty="0">
                  <a:solidFill>
                    <a:srgbClr val="191919"/>
                  </a:solidFill>
                  <a:latin typeface="Styrene A"/>
                  <a:ea typeface="Microsoft YaHei"/>
                  <a:cs typeface="Styrene A"/>
                </a:rPr>
                <a:t>Long-horizon coding is the breakout use case</a:t>
              </a:r>
            </a:p>
          </p:txBody>
        </p:sp>
      </p:grpSp>
      <p:grpSp>
        <p:nvGrpSpPr>
          <p:cNvPr id="8" name="Group 8"/>
          <p:cNvGrpSpPr/>
          <p:nvPr/>
        </p:nvGrpSpPr>
        <p:grpSpPr>
          <a:xfrm>
            <a:off x="640080" y="2430780"/>
            <a:ext cx="8623297" cy="1381601"/>
            <a:chOff x="640080" y="2430780"/>
            <a:chExt cx="8623297" cy="1381601"/>
          </a:xfrm>
        </p:grpSpPr>
        <p:sp>
          <p:nvSpPr>
            <p:cNvPr id="6" name="TextBox 6"/>
            <p:cNvSpPr txBox="1"/>
            <p:nvPr/>
          </p:nvSpPr>
          <p:spPr>
            <a:xfrm>
              <a:off x="640080" y="2430780"/>
              <a:ext cx="8623297" cy="1341120"/>
            </a:xfrm>
            <a:prstGeom prst="rect">
              <a:avLst/>
            </a:prstGeom>
            <a:noFill/>
            <a:ln>
              <a:noFill/>
            </a:ln>
          </p:spPr>
          <p:txBody>
            <a:bodyPr wrap="none" lIns="0" tIns="0" rIns="0" bIns="0" anchor="t" anchorCtr="0">
              <a:spAutoFit/>
            </a:bodyPr>
            <a:lstStyle/>
            <a:p>
              <a:pPr algn="l"/>
              <a:r>
                <a:rPr lang="zh-CN" sz="6600" b="1" dirty="0">
                  <a:solidFill>
                    <a:srgbClr val="191919"/>
                  </a:solidFill>
                  <a:latin typeface="Styrene A"/>
                  <a:ea typeface="Microsoft YaHei"/>
                  <a:cs typeface="Styrene A"/>
                </a:rPr>
                <a:t xml:space="preserve">50M lines </a:t>
              </a:r>
              <a:r>
                <a:rPr lang="zh-CN" sz="6600" b="1" dirty="0">
                  <a:solidFill>
                    <a:srgbClr val="D97757"/>
                  </a:solidFill>
                  <a:latin typeface="Styrene A"/>
                  <a:ea typeface="Microsoft YaHei"/>
                  <a:cs typeface="Styrene A"/>
                </a:rPr>
                <a:t>· one day</a:t>
              </a:r>
            </a:p>
          </p:txBody>
        </p:sp>
        <p:sp>
          <p:nvSpPr>
            <p:cNvPr id="7" name="TextBox 7"/>
            <p:cNvSpPr txBox="1"/>
            <p:nvPr/>
          </p:nvSpPr>
          <p:spPr>
            <a:xfrm>
              <a:off x="743902" y="3522821"/>
              <a:ext cx="6991064" cy="289560"/>
            </a:xfrm>
            <a:prstGeom prst="rect">
              <a:avLst/>
            </a:prstGeom>
            <a:noFill/>
            <a:ln>
              <a:noFill/>
            </a:ln>
          </p:spPr>
          <p:txBody>
            <a:bodyPr wrap="none" lIns="0" tIns="0" rIns="0" bIns="0" anchor="t" anchorCtr="0">
              <a:spAutoFit/>
            </a:bodyPr>
            <a:lstStyle/>
            <a:p>
              <a:pPr algn="l"/>
              <a:r>
                <a:rPr lang="zh-CN" sz="1425" dirty="0">
                  <a:solidFill>
                    <a:srgbClr val="64748B"/>
                  </a:solidFill>
                  <a:latin typeface="Anthropic Sans"/>
                  <a:ea typeface="Microsoft YaHei"/>
                  <a:cs typeface="Anthropic Sans"/>
                </a:rPr>
                <a:t>Stripe's Ruby migration, compressed from months of work to a single day.</a:t>
              </a:r>
            </a:p>
          </p:txBody>
        </p:sp>
      </p:grpSp>
      <p:sp>
        <p:nvSpPr>
          <p:cNvPr id="9" name="Line 9"/>
          <p:cNvSpPr/>
          <p:nvPr/>
        </p:nvSpPr>
        <p:spPr>
          <a:xfrm>
            <a:off x="762000" y="4267200"/>
            <a:ext cx="10668000" cy="9525"/>
          </a:xfrm>
          <a:custGeom>
            <a:avLst/>
            <a:gdLst/>
            <a:ahLst/>
            <a:cxnLst/>
            <a:rect l="l" t="t" r="r" b="b"/>
            <a:pathLst>
              <a:path w="10668000" h="9525">
                <a:moveTo>
                  <a:pt x="0" y="0"/>
                </a:moveTo>
                <a:lnTo>
                  <a:pt x="10668000" y="0"/>
                </a:lnTo>
              </a:path>
            </a:pathLst>
          </a:custGeom>
          <a:noFill/>
          <a:ln w="14288">
            <a:solidFill>
              <a:srgbClr val="E2E8F0"/>
            </a:solidFill>
          </a:ln>
        </p:spPr>
      </p:sp>
      <p:grpSp>
        <p:nvGrpSpPr>
          <p:cNvPr id="30" name="Group 30"/>
          <p:cNvGrpSpPr/>
          <p:nvPr/>
        </p:nvGrpSpPr>
        <p:grpSpPr>
          <a:xfrm>
            <a:off x="746760" y="4757738"/>
            <a:ext cx="10018395" cy="1114424"/>
            <a:chOff x="746760" y="4757738"/>
            <a:chExt cx="10018395" cy="1114424"/>
          </a:xfrm>
        </p:grpSpPr>
        <p:grpSp>
          <p:nvGrpSpPr>
            <p:cNvPr id="15" name="Group 15"/>
            <p:cNvGrpSpPr/>
            <p:nvPr/>
          </p:nvGrpSpPr>
          <p:grpSpPr>
            <a:xfrm>
              <a:off x="817562" y="4757738"/>
              <a:ext cx="155575" cy="200025"/>
              <a:chOff x="817562" y="4757738"/>
              <a:chExt cx="155575" cy="200025"/>
            </a:xfrm>
          </p:grpSpPr>
          <p:sp>
            <p:nvSpPr>
              <p:cNvPr id="10" name="Freeform 10"/>
              <p:cNvSpPr/>
              <p:nvPr/>
            </p:nvSpPr>
            <p:spPr>
              <a:xfrm>
                <a:off x="917575" y="4757738"/>
                <a:ext cx="55562" cy="55562"/>
              </a:xfrm>
              <a:custGeom>
                <a:avLst/>
                <a:gdLst/>
                <a:ahLst/>
                <a:cxnLst/>
                <a:rect l="l" t="t" r="r" b="b"/>
                <a:pathLst>
                  <a:path w="55562" h="55562">
                    <a:moveTo>
                      <a:pt x="0" y="0"/>
                    </a:moveTo>
                    <a:lnTo>
                      <a:pt x="0" y="44450"/>
                    </a:lnTo>
                    <a:cubicBezTo>
                      <a:pt x="0" y="50587"/>
                      <a:pt x="4975" y="55562"/>
                      <a:pt x="11112" y="55562"/>
                    </a:cubicBezTo>
                    <a:lnTo>
                      <a:pt x="55562" y="55562"/>
                    </a:lnTo>
                  </a:path>
                </a:pathLst>
              </a:custGeom>
              <a:noFill/>
              <a:ln w="19050">
                <a:solidFill>
                  <a:srgbClr val="D97757"/>
                </a:solidFill>
              </a:ln>
            </p:spPr>
          </p:sp>
          <p:sp>
            <p:nvSpPr>
              <p:cNvPr id="11" name="Freeform 11"/>
              <p:cNvSpPr/>
              <p:nvPr/>
            </p:nvSpPr>
            <p:spPr>
              <a:xfrm>
                <a:off x="817562" y="4757738"/>
                <a:ext cx="155575" cy="200025"/>
              </a:xfrm>
              <a:custGeom>
                <a:avLst/>
                <a:gdLst/>
                <a:ahLst/>
                <a:cxnLst/>
                <a:rect l="l" t="t" r="r" b="b"/>
                <a:pathLst>
                  <a:path w="155575" h="200025">
                    <a:moveTo>
                      <a:pt x="133350" y="200025"/>
                    </a:moveTo>
                    <a:lnTo>
                      <a:pt x="22225" y="200025"/>
                    </a:lnTo>
                    <a:cubicBezTo>
                      <a:pt x="9950" y="200025"/>
                      <a:pt x="0" y="190075"/>
                      <a:pt x="0" y="177800"/>
                    </a:cubicBezTo>
                    <a:lnTo>
                      <a:pt x="0" y="22225"/>
                    </a:lnTo>
                    <a:cubicBezTo>
                      <a:pt x="0" y="9950"/>
                      <a:pt x="9950" y="0"/>
                      <a:pt x="22225" y="0"/>
                    </a:cubicBezTo>
                    <a:lnTo>
                      <a:pt x="100013" y="0"/>
                    </a:lnTo>
                    <a:lnTo>
                      <a:pt x="155575" y="55562"/>
                    </a:lnTo>
                    <a:lnTo>
                      <a:pt x="155575" y="177800"/>
                    </a:lnTo>
                    <a:cubicBezTo>
                      <a:pt x="155575" y="190075"/>
                      <a:pt x="145625" y="200025"/>
                      <a:pt x="133350" y="200025"/>
                    </a:cubicBezTo>
                  </a:path>
                </a:pathLst>
              </a:custGeom>
              <a:noFill/>
              <a:ln w="19050">
                <a:solidFill>
                  <a:srgbClr val="D97757"/>
                </a:solidFill>
              </a:ln>
            </p:spPr>
          </p:sp>
          <p:sp>
            <p:nvSpPr>
              <p:cNvPr id="12" name="Freeform 12"/>
              <p:cNvSpPr/>
              <p:nvPr/>
            </p:nvSpPr>
            <p:spPr>
              <a:xfrm>
                <a:off x="862012" y="4824412"/>
                <a:ext cx="11113" cy="9525"/>
              </a:xfrm>
              <a:custGeom>
                <a:avLst/>
                <a:gdLst/>
                <a:ahLst/>
                <a:cxnLst/>
                <a:rect l="l" t="t" r="r" b="b"/>
                <a:pathLst>
                  <a:path w="11113" h="9525">
                    <a:moveTo>
                      <a:pt x="0" y="0"/>
                    </a:moveTo>
                    <a:lnTo>
                      <a:pt x="11113" y="0"/>
                    </a:lnTo>
                  </a:path>
                </a:pathLst>
              </a:custGeom>
              <a:noFill/>
              <a:ln w="19050">
                <a:solidFill>
                  <a:srgbClr val="D97757"/>
                </a:solidFill>
              </a:ln>
            </p:spPr>
          </p:sp>
          <p:sp>
            <p:nvSpPr>
              <p:cNvPr id="13" name="Freeform 13"/>
              <p:cNvSpPr/>
              <p:nvPr/>
            </p:nvSpPr>
            <p:spPr>
              <a:xfrm>
                <a:off x="862012" y="4868862"/>
                <a:ext cx="66675" cy="9525"/>
              </a:xfrm>
              <a:custGeom>
                <a:avLst/>
                <a:gdLst/>
                <a:ahLst/>
                <a:cxnLst/>
                <a:rect l="l" t="t" r="r" b="b"/>
                <a:pathLst>
                  <a:path w="66675" h="9525">
                    <a:moveTo>
                      <a:pt x="0" y="0"/>
                    </a:moveTo>
                    <a:lnTo>
                      <a:pt x="66675" y="0"/>
                    </a:lnTo>
                  </a:path>
                </a:pathLst>
              </a:custGeom>
              <a:noFill/>
              <a:ln w="19050">
                <a:solidFill>
                  <a:srgbClr val="D97757"/>
                </a:solidFill>
              </a:ln>
            </p:spPr>
          </p:sp>
          <p:sp>
            <p:nvSpPr>
              <p:cNvPr id="14" name="Freeform 14"/>
              <p:cNvSpPr/>
              <p:nvPr/>
            </p:nvSpPr>
            <p:spPr>
              <a:xfrm>
                <a:off x="862012" y="4913312"/>
                <a:ext cx="66675" cy="9525"/>
              </a:xfrm>
              <a:custGeom>
                <a:avLst/>
                <a:gdLst/>
                <a:ahLst/>
                <a:cxnLst/>
                <a:rect l="l" t="t" r="r" b="b"/>
                <a:pathLst>
                  <a:path w="66675" h="9525">
                    <a:moveTo>
                      <a:pt x="0" y="0"/>
                    </a:moveTo>
                    <a:lnTo>
                      <a:pt x="66675" y="0"/>
                    </a:lnTo>
                  </a:path>
                </a:pathLst>
              </a:custGeom>
              <a:noFill/>
              <a:ln w="19050">
                <a:solidFill>
                  <a:srgbClr val="D97757"/>
                </a:solidFill>
              </a:ln>
            </p:spPr>
          </p:sp>
        </p:grpSp>
        <p:sp>
          <p:nvSpPr>
            <p:cNvPr id="16" name="TextBox 16"/>
            <p:cNvSpPr txBox="1"/>
            <p:nvPr/>
          </p:nvSpPr>
          <p:spPr>
            <a:xfrm>
              <a:off x="746760" y="5166360"/>
              <a:ext cx="1903914" cy="243840"/>
            </a:xfrm>
            <a:prstGeom prst="rect">
              <a:avLst/>
            </a:prstGeom>
            <a:noFill/>
            <a:ln>
              <a:noFill/>
            </a:ln>
          </p:spPr>
          <p:txBody>
            <a:bodyPr wrap="none" lIns="0" tIns="0" rIns="0" bIns="0" anchor="t" anchorCtr="0">
              <a:spAutoFit/>
            </a:bodyPr>
            <a:lstStyle/>
            <a:p>
              <a:pPr algn="l"/>
              <a:r>
                <a:rPr lang="zh-CN" sz="1200" b="1" dirty="0">
                  <a:solidFill>
                    <a:srgbClr val="191919"/>
                  </a:solidFill>
                  <a:latin typeface="Styrene A"/>
                  <a:ea typeface="Microsoft YaHei"/>
                  <a:cs typeface="Styrene A"/>
                </a:rPr>
                <a:t>Specify fully, up front</a:t>
              </a:r>
            </a:p>
          </p:txBody>
        </p:sp>
        <p:sp>
          <p:nvSpPr>
            <p:cNvPr id="17" name="TextBox 17"/>
            <p:cNvSpPr txBox="1"/>
            <p:nvPr/>
          </p:nvSpPr>
          <p:spPr>
            <a:xfrm>
              <a:off x="748665" y="5449252"/>
              <a:ext cx="3067050" cy="422910"/>
            </a:xfrm>
            <a:prstGeom prst="rect">
              <a:avLst/>
            </a:prstGeom>
            <a:noFill/>
            <a:ln>
              <a:noFill/>
            </a:ln>
          </p:spPr>
          <p:txBody>
            <a:bodyPr wrap="square" lIns="0" tIns="0" rIns="0" bIns="0" anchor="t" anchorCtr="0"/>
            <a:lstStyle/>
            <a:p>
              <a:pPr algn="l">
                <a:lnSpc>
                  <a:spcPts val="1650"/>
                </a:lnSpc>
              </a:pPr>
              <a:r>
                <a:rPr lang="zh-CN" sz="1050" dirty="0">
                  <a:solidFill>
                    <a:srgbClr val="64748B"/>
                  </a:solidFill>
                  <a:latin typeface="Anthropic Sans"/>
                  <a:ea typeface="Microsoft YaHei"/>
                  <a:cs typeface="Anthropic Sans"/>
                </a:rPr>
                <a:t xml:space="preserve">Give the whole task in one well-specified </a:t>
              </a:r>
              <a:r>
                <a:rPr lang="zh-CN" sz="1050" dirty="0">
                  <a:solidFill>
                    <a:srgbClr val="64748B"/>
                  </a:solidFill>
                  <a:latin typeface="Anthropic Sans"/>
                  <a:ea typeface="Microsoft YaHei"/>
                  <a:cs typeface="Anthropic Sans"/>
                </a:rPr>
                <a:t>first turn — goal, constraints, done-criteria.</a:t>
              </a:r>
            </a:p>
          </p:txBody>
        </p:sp>
        <p:grpSp>
          <p:nvGrpSpPr>
            <p:cNvPr id="22" name="Group 22"/>
            <p:cNvGrpSpPr/>
            <p:nvPr/>
          </p:nvGrpSpPr>
          <p:grpSpPr>
            <a:xfrm>
              <a:off x="4510088" y="4757738"/>
              <a:ext cx="200025" cy="200025"/>
              <a:chOff x="4510088" y="4757738"/>
              <a:chExt cx="200025" cy="200025"/>
            </a:xfrm>
          </p:grpSpPr>
          <p:sp>
            <p:nvSpPr>
              <p:cNvPr id="18" name="Freeform 18"/>
              <p:cNvSpPr/>
              <p:nvPr/>
            </p:nvSpPr>
            <p:spPr>
              <a:xfrm>
                <a:off x="4510088" y="4757738"/>
                <a:ext cx="200025" cy="200025"/>
              </a:xfrm>
              <a:custGeom>
                <a:avLst/>
                <a:gdLst/>
                <a:ahLst/>
                <a:cxnLst/>
                <a:rect l="l" t="t" r="r" b="b"/>
                <a:pathLst>
                  <a:path w="200025" h="200025">
                    <a:moveTo>
                      <a:pt x="0" y="100012"/>
                    </a:moveTo>
                    <a:cubicBezTo>
                      <a:pt x="0" y="155248"/>
                      <a:pt x="44777" y="200025"/>
                      <a:pt x="100012" y="200025"/>
                    </a:cubicBezTo>
                    <a:cubicBezTo>
                      <a:pt x="155248" y="200025"/>
                      <a:pt x="200025" y="155248"/>
                      <a:pt x="200025" y="100012"/>
                    </a:cubicBezTo>
                    <a:cubicBezTo>
                      <a:pt x="200025" y="44777"/>
                      <a:pt x="155248" y="0"/>
                      <a:pt x="100012" y="0"/>
                    </a:cubicBezTo>
                    <a:cubicBezTo>
                      <a:pt x="44777" y="0"/>
                      <a:pt x="0" y="44777"/>
                      <a:pt x="0" y="100012"/>
                    </a:cubicBezTo>
                  </a:path>
                </a:pathLst>
              </a:custGeom>
              <a:noFill/>
              <a:ln w="19050">
                <a:solidFill>
                  <a:srgbClr val="D97757"/>
                </a:solidFill>
              </a:ln>
            </p:spPr>
          </p:sp>
          <p:sp>
            <p:nvSpPr>
              <p:cNvPr id="19" name="Freeform 19"/>
              <p:cNvSpPr/>
              <p:nvPr/>
            </p:nvSpPr>
            <p:spPr>
              <a:xfrm>
                <a:off x="4598988" y="4846638"/>
                <a:ext cx="22225" cy="22225"/>
              </a:xfrm>
              <a:custGeom>
                <a:avLst/>
                <a:gdLst/>
                <a:ahLst/>
                <a:cxnLst/>
                <a:rect l="l" t="t" r="r" b="b"/>
                <a:pathLst>
                  <a:path w="22225" h="22225">
                    <a:moveTo>
                      <a:pt x="0" y="11113"/>
                    </a:moveTo>
                    <a:cubicBezTo>
                      <a:pt x="0" y="17250"/>
                      <a:pt x="4975" y="22225"/>
                      <a:pt x="11113" y="22225"/>
                    </a:cubicBezTo>
                    <a:cubicBezTo>
                      <a:pt x="17250" y="22225"/>
                      <a:pt x="22225" y="17250"/>
                      <a:pt x="22225" y="11113"/>
                    </a:cubicBezTo>
                    <a:cubicBezTo>
                      <a:pt x="22225" y="4975"/>
                      <a:pt x="17250" y="0"/>
                      <a:pt x="11113" y="0"/>
                    </a:cubicBezTo>
                    <a:cubicBezTo>
                      <a:pt x="4975" y="0"/>
                      <a:pt x="0" y="4975"/>
                      <a:pt x="0" y="11113"/>
                    </a:cubicBezTo>
                  </a:path>
                </a:pathLst>
              </a:custGeom>
              <a:noFill/>
              <a:ln w="19050">
                <a:solidFill>
                  <a:srgbClr val="D97757"/>
                </a:solidFill>
              </a:ln>
            </p:spPr>
          </p:sp>
          <p:sp>
            <p:nvSpPr>
              <p:cNvPr id="20" name="Freeform 20"/>
              <p:cNvSpPr/>
              <p:nvPr/>
            </p:nvSpPr>
            <p:spPr>
              <a:xfrm>
                <a:off x="4625769" y="4813300"/>
                <a:ext cx="28781" cy="28781"/>
              </a:xfrm>
              <a:custGeom>
                <a:avLst/>
                <a:gdLst/>
                <a:ahLst/>
                <a:cxnLst/>
                <a:rect l="l" t="t" r="r" b="b"/>
                <a:pathLst>
                  <a:path w="28781" h="28781">
                    <a:moveTo>
                      <a:pt x="0" y="28781"/>
                    </a:moveTo>
                    <a:lnTo>
                      <a:pt x="28781" y="0"/>
                    </a:lnTo>
                  </a:path>
                </a:pathLst>
              </a:custGeom>
              <a:noFill/>
              <a:ln w="19050">
                <a:solidFill>
                  <a:srgbClr val="D97757"/>
                </a:solidFill>
              </a:ln>
            </p:spPr>
          </p:sp>
          <p:sp>
            <p:nvSpPr>
              <p:cNvPr id="21" name="Freeform 21"/>
              <p:cNvSpPr/>
              <p:nvPr/>
            </p:nvSpPr>
            <p:spPr>
              <a:xfrm>
                <a:off x="4554538" y="4802188"/>
                <a:ext cx="55562" cy="55562"/>
              </a:xfrm>
              <a:custGeom>
                <a:avLst/>
                <a:gdLst/>
                <a:ahLst/>
                <a:cxnLst/>
                <a:rect l="l" t="t" r="r" b="b"/>
                <a:pathLst>
                  <a:path w="55562" h="55562">
                    <a:moveTo>
                      <a:pt x="0" y="55562"/>
                    </a:moveTo>
                    <a:cubicBezTo>
                      <a:pt x="0" y="24876"/>
                      <a:pt x="24876" y="0"/>
                      <a:pt x="55562" y="0"/>
                    </a:cubicBezTo>
                  </a:path>
                </a:pathLst>
              </a:custGeom>
              <a:noFill/>
              <a:ln w="19050">
                <a:solidFill>
                  <a:srgbClr val="D97757"/>
                </a:solidFill>
              </a:ln>
            </p:spPr>
          </p:sp>
        </p:grpSp>
        <p:sp>
          <p:nvSpPr>
            <p:cNvPr id="23" name="TextBox 23"/>
            <p:cNvSpPr txBox="1"/>
            <p:nvPr/>
          </p:nvSpPr>
          <p:spPr>
            <a:xfrm>
              <a:off x="4461510" y="5166360"/>
              <a:ext cx="1525867" cy="243840"/>
            </a:xfrm>
            <a:prstGeom prst="rect">
              <a:avLst/>
            </a:prstGeom>
            <a:noFill/>
            <a:ln>
              <a:noFill/>
            </a:ln>
          </p:spPr>
          <p:txBody>
            <a:bodyPr wrap="none" lIns="0" tIns="0" rIns="0" bIns="0" anchor="t" anchorCtr="0">
              <a:spAutoFit/>
            </a:bodyPr>
            <a:lstStyle/>
            <a:p>
              <a:pPr algn="l"/>
              <a:r>
                <a:rPr lang="zh-CN" sz="1200" b="1" dirty="0">
                  <a:solidFill>
                    <a:srgbClr val="191919"/>
                  </a:solidFill>
                  <a:latin typeface="Styrene A"/>
                  <a:ea typeface="Microsoft YaHei"/>
                  <a:cs typeface="Styrene A"/>
                </a:rPr>
                <a:t>Run at high effort</a:t>
              </a:r>
            </a:p>
          </p:txBody>
        </p:sp>
        <p:sp>
          <p:nvSpPr>
            <p:cNvPr id="24" name="TextBox 24"/>
            <p:cNvSpPr txBox="1"/>
            <p:nvPr/>
          </p:nvSpPr>
          <p:spPr>
            <a:xfrm>
              <a:off x="4463415" y="5449252"/>
              <a:ext cx="2913697" cy="422910"/>
            </a:xfrm>
            <a:prstGeom prst="rect">
              <a:avLst/>
            </a:prstGeom>
            <a:noFill/>
            <a:ln>
              <a:noFill/>
            </a:ln>
          </p:spPr>
          <p:txBody>
            <a:bodyPr wrap="square" lIns="0" tIns="0" rIns="0" bIns="0" anchor="t" anchorCtr="0"/>
            <a:lstStyle/>
            <a:p>
              <a:pPr algn="l">
                <a:lnSpc>
                  <a:spcPts val="1650"/>
                </a:lnSpc>
              </a:pPr>
              <a:r>
                <a:rPr lang="zh-CN" sz="1050" dirty="0">
                  <a:solidFill>
                    <a:srgbClr val="64748B"/>
                  </a:solidFill>
                  <a:latin typeface="Anthropic Sans"/>
                  <a:ea typeface="Microsoft YaHei"/>
                  <a:cs typeface="Anthropic Sans"/>
                </a:rPr>
                <a:t xml:space="preserve">High or xhigh effort for long-horizon work — </a:t>
              </a:r>
              <a:r>
                <a:rPr lang="zh-CN" sz="1050" dirty="0">
                  <a:solidFill>
                    <a:srgbClr val="64748B"/>
                  </a:solidFill>
                  <a:latin typeface="Anthropic Sans"/>
                  <a:ea typeface="Microsoft YaHei"/>
                  <a:cs typeface="Anthropic Sans"/>
                </a:rPr>
                <a:t>deeper planning often lowers total cost.</a:t>
              </a:r>
            </a:p>
          </p:txBody>
        </p:sp>
        <p:grpSp>
          <p:nvGrpSpPr>
            <p:cNvPr id="27" name="Group 27"/>
            <p:cNvGrpSpPr/>
            <p:nvPr/>
          </p:nvGrpSpPr>
          <p:grpSpPr>
            <a:xfrm>
              <a:off x="8235950" y="4764562"/>
              <a:ext cx="177800" cy="186375"/>
              <a:chOff x="8235950" y="4764562"/>
              <a:chExt cx="177800" cy="186375"/>
            </a:xfrm>
          </p:grpSpPr>
          <p:sp>
            <p:nvSpPr>
              <p:cNvPr id="25" name="Freeform 25"/>
              <p:cNvSpPr/>
              <p:nvPr/>
            </p:nvSpPr>
            <p:spPr>
              <a:xfrm>
                <a:off x="8235950" y="4764562"/>
                <a:ext cx="177800" cy="82075"/>
              </a:xfrm>
              <a:custGeom>
                <a:avLst/>
                <a:gdLst/>
                <a:ahLst/>
                <a:cxnLst/>
                <a:rect l="l" t="t" r="r" b="b"/>
                <a:pathLst>
                  <a:path w="177800" h="82075">
                    <a:moveTo>
                      <a:pt x="177800" y="82075"/>
                    </a:moveTo>
                    <a:cubicBezTo>
                      <a:pt x="172213" y="41876"/>
                      <a:pt x="140416" y="10388"/>
                      <a:pt x="100164" y="5194"/>
                    </a:cubicBezTo>
                    <a:cubicBezTo>
                      <a:pt x="59913" y="0"/>
                      <a:pt x="21164" y="22386"/>
                      <a:pt x="5556" y="59850"/>
                    </a:cubicBezTo>
                    <a:moveTo>
                      <a:pt x="0" y="15400"/>
                    </a:moveTo>
                    <a:lnTo>
                      <a:pt x="0" y="59850"/>
                    </a:lnTo>
                    <a:lnTo>
                      <a:pt x="44450" y="59850"/>
                    </a:lnTo>
                  </a:path>
                </a:pathLst>
              </a:custGeom>
              <a:noFill/>
              <a:ln w="19050">
                <a:solidFill>
                  <a:srgbClr val="D97757"/>
                </a:solidFill>
              </a:ln>
            </p:spPr>
          </p:sp>
          <p:sp>
            <p:nvSpPr>
              <p:cNvPr id="26" name="Freeform 26"/>
              <p:cNvSpPr/>
              <p:nvPr/>
            </p:nvSpPr>
            <p:spPr>
              <a:xfrm>
                <a:off x="8235950" y="4868862"/>
                <a:ext cx="177800" cy="82075"/>
              </a:xfrm>
              <a:custGeom>
                <a:avLst/>
                <a:gdLst/>
                <a:ahLst/>
                <a:cxnLst/>
                <a:rect l="l" t="t" r="r" b="b"/>
                <a:pathLst>
                  <a:path w="177800" h="82075">
                    <a:moveTo>
                      <a:pt x="0" y="0"/>
                    </a:moveTo>
                    <a:cubicBezTo>
                      <a:pt x="5587" y="40199"/>
                      <a:pt x="37384" y="71687"/>
                      <a:pt x="77636" y="76881"/>
                    </a:cubicBezTo>
                    <a:cubicBezTo>
                      <a:pt x="117887" y="82075"/>
                      <a:pt x="156636" y="59689"/>
                      <a:pt x="172244" y="22225"/>
                    </a:cubicBezTo>
                    <a:moveTo>
                      <a:pt x="177800" y="66675"/>
                    </a:moveTo>
                    <a:lnTo>
                      <a:pt x="177800" y="22225"/>
                    </a:lnTo>
                    <a:lnTo>
                      <a:pt x="133350" y="22225"/>
                    </a:lnTo>
                  </a:path>
                </a:pathLst>
              </a:custGeom>
              <a:noFill/>
              <a:ln w="19050">
                <a:solidFill>
                  <a:srgbClr val="D97757"/>
                </a:solidFill>
              </a:ln>
            </p:spPr>
          </p:sp>
        </p:grpSp>
        <p:sp>
          <p:nvSpPr>
            <p:cNvPr id="28" name="TextBox 28"/>
            <p:cNvSpPr txBox="1"/>
            <p:nvPr/>
          </p:nvSpPr>
          <p:spPr>
            <a:xfrm>
              <a:off x="8176260" y="5166360"/>
              <a:ext cx="1584674" cy="243840"/>
            </a:xfrm>
            <a:prstGeom prst="rect">
              <a:avLst/>
            </a:prstGeom>
            <a:noFill/>
            <a:ln>
              <a:noFill/>
            </a:ln>
          </p:spPr>
          <p:txBody>
            <a:bodyPr wrap="none" lIns="0" tIns="0" rIns="0" bIns="0" anchor="t" anchorCtr="0">
              <a:spAutoFit/>
            </a:bodyPr>
            <a:lstStyle/>
            <a:p>
              <a:pPr algn="l"/>
              <a:r>
                <a:rPr lang="zh-CN" sz="1200" b="1" dirty="0">
                  <a:solidFill>
                    <a:srgbClr val="191919"/>
                  </a:solidFill>
                  <a:latin typeface="Styrene A"/>
                  <a:ea typeface="Microsoft YaHei"/>
                  <a:cs typeface="Styrene A"/>
                </a:rPr>
                <a:t>Let it verify itself</a:t>
              </a:r>
            </a:p>
          </p:txBody>
        </p:sp>
        <p:sp>
          <p:nvSpPr>
            <p:cNvPr id="29" name="TextBox 29"/>
            <p:cNvSpPr txBox="1"/>
            <p:nvPr/>
          </p:nvSpPr>
          <p:spPr>
            <a:xfrm>
              <a:off x="8178165" y="5449252"/>
              <a:ext cx="2586990" cy="422910"/>
            </a:xfrm>
            <a:prstGeom prst="rect">
              <a:avLst/>
            </a:prstGeom>
            <a:noFill/>
            <a:ln>
              <a:noFill/>
            </a:ln>
          </p:spPr>
          <p:txBody>
            <a:bodyPr wrap="square" lIns="0" tIns="0" rIns="0" bIns="0" anchor="t" anchorCtr="0"/>
            <a:lstStyle/>
            <a:p>
              <a:pPr algn="l">
                <a:lnSpc>
                  <a:spcPts val="1650"/>
                </a:lnSpc>
              </a:pPr>
              <a:r>
                <a:rPr lang="zh-CN" sz="1050" dirty="0">
                  <a:solidFill>
                    <a:srgbClr val="64748B"/>
                  </a:solidFill>
                  <a:latin typeface="Anthropic Sans"/>
                  <a:ea typeface="Microsoft YaHei"/>
                  <a:cs typeface="Anthropic Sans"/>
                </a:rPr>
                <a:t xml:space="preserve">Have it build and run its own checking </a:t>
              </a:r>
              <a:r>
                <a:rPr lang="zh-CN" sz="1050" dirty="0">
                  <a:solidFill>
                    <a:srgbClr val="64748B"/>
                  </a:solidFill>
                  <a:latin typeface="Anthropic Sans"/>
                  <a:ea typeface="Microsoft YaHei"/>
                  <a:cs typeface="Anthropic Sans"/>
                </a:rPr>
                <a:t>harness as it goes, on a fixed cadence.</a:t>
              </a:r>
            </a:p>
          </p:txBody>
        </p:sp>
      </p:grpSp>
      <p:grpSp>
        <p:nvGrpSpPr>
          <p:cNvPr id="33" name="Group 33"/>
          <p:cNvGrpSpPr/>
          <p:nvPr/>
        </p:nvGrpSpPr>
        <p:grpSpPr>
          <a:xfrm>
            <a:off x="751522" y="6502241"/>
            <a:ext cx="10688955" cy="167640"/>
            <a:chOff x="751522" y="6502241"/>
            <a:chExt cx="10688955" cy="167640"/>
          </a:xfrm>
        </p:grpSpPr>
        <p:sp>
          <p:nvSpPr>
            <p:cNvPr id="31" name="TextBox 31"/>
            <p:cNvSpPr txBox="1"/>
            <p:nvPr/>
          </p:nvSpPr>
          <p:spPr>
            <a:xfrm>
              <a:off x="751522" y="6502241"/>
              <a:ext cx="4311491" cy="167640"/>
            </a:xfrm>
            <a:prstGeom prst="rect">
              <a:avLst/>
            </a:prstGeom>
            <a:noFill/>
            <a:ln>
              <a:noFill/>
            </a:ln>
          </p:spPr>
          <p:txBody>
            <a:bodyPr wrap="none" lIns="0" tIns="0" rIns="0" bIns="0" anchor="t" anchorCtr="0">
              <a:spAutoFit/>
            </a:bodyPr>
            <a:lstStyle/>
            <a:p>
              <a:pPr algn="l"/>
              <a:r>
                <a:rPr lang="zh-CN" sz="825" dirty="0">
                  <a:solidFill>
                    <a:srgbClr val="94A3B8"/>
                  </a:solidFill>
                  <a:latin typeface="Anthropic Sans"/>
                  <a:ea typeface="Microsoft YaHei"/>
                  <a:cs typeface="Anthropic Sans"/>
                </a:rPr>
                <a:t>Source: Stripe early-access report, Anthropic launch announcement, June 2026</a:t>
              </a:r>
            </a:p>
          </p:txBody>
        </p:sp>
        <p:sp>
          <p:nvSpPr>
            <p:cNvPr id="32" name="TextBox 32"/>
            <p:cNvSpPr txBox="1"/>
            <p:nvPr/>
          </p:nvSpPr>
          <p:spPr>
            <a:xfrm>
              <a:off x="11298507" y="6502241"/>
              <a:ext cx="141970" cy="167640"/>
            </a:xfrm>
            <a:prstGeom prst="rect">
              <a:avLst/>
            </a:prstGeom>
            <a:noFill/>
            <a:ln>
              <a:noFill/>
            </a:ln>
          </p:spPr>
          <p:txBody>
            <a:bodyPr wrap="none" lIns="0" tIns="0" rIns="0" bIns="0" anchor="t" anchorCtr="0">
              <a:spAutoFit/>
            </a:bodyPr>
            <a:lstStyle/>
            <a:p>
              <a:pPr algn="r"/>
              <a:r>
                <a:rPr lang="zh-CN" sz="825" dirty="0">
                  <a:solidFill>
                    <a:srgbClr val="94A3B8"/>
                  </a:solidFill>
                  <a:latin typeface="Anthropic Sans"/>
                  <a:ea typeface="Microsoft YaHei"/>
                  <a:cs typeface="Anthropic Sans"/>
                </a:rPr>
                <a:t>09</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par>
                          <p:cTn id="8" fill="hold">
                            <p:stCondLst>
                              <p:cond delay="900"/>
                            </p:stCondLst>
                            <p:childTnLst>
                              <p:par>
                                <p:cTn id="9" presetID="9"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dissolve">
                                      <p:cBhvr>
                                        <p:cTn id="11" dur="400"/>
                                        <p:tgtEl>
                                          <p:spTgt spid="8"/>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fade">
                                      <p:cBhvr>
                                        <p:cTn id="15"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8" grpId="0"/>
      <p:bldP spid="30"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731520" y="495300"/>
            <a:ext cx="6176924" cy="842962"/>
            <a:chOff x="731520" y="495300"/>
            <a:chExt cx="6176924" cy="842962"/>
          </a:xfrm>
        </p:grpSpPr>
        <p:sp>
          <p:nvSpPr>
            <p:cNvPr id="3" name="Rectangle 3"/>
            <p:cNvSpPr/>
            <p:nvPr/>
          </p:nvSpPr>
          <p:spPr>
            <a:xfrm>
              <a:off x="762000" y="495300"/>
              <a:ext cx="419100" cy="38100"/>
            </a:xfrm>
            <a:prstGeom prst="roundRect">
              <a:avLst>
                <a:gd name="adj" fmla="val 50000"/>
              </a:avLst>
            </a:prstGeom>
            <a:solidFill>
              <a:srgbClr val="D97757"/>
            </a:solidFill>
            <a:ln>
              <a:noFill/>
            </a:ln>
          </p:spPr>
        </p:sp>
        <p:sp>
          <p:nvSpPr>
            <p:cNvPr id="4" name="TextBox 4"/>
            <p:cNvSpPr txBox="1"/>
            <p:nvPr/>
          </p:nvSpPr>
          <p:spPr>
            <a:xfrm>
              <a:off x="731520" y="693420"/>
              <a:ext cx="6176924" cy="487680"/>
            </a:xfrm>
            <a:prstGeom prst="rect">
              <a:avLst/>
            </a:prstGeom>
            <a:noFill/>
            <a:ln>
              <a:noFill/>
            </a:ln>
          </p:spPr>
          <p:txBody>
            <a:bodyPr wrap="none" lIns="0" tIns="0" rIns="0" bIns="0" anchor="t" anchorCtr="0">
              <a:spAutoFit/>
            </a:bodyPr>
            <a:lstStyle/>
            <a:p>
              <a:pPr algn="l"/>
              <a:r>
                <a:rPr lang="zh-CN" sz="2400" b="1" dirty="0">
                  <a:solidFill>
                    <a:srgbClr val="191919"/>
                  </a:solidFill>
                  <a:latin typeface="Styrene A"/>
                  <a:ea typeface="Microsoft YaHei"/>
                  <a:cs typeface="Styrene A"/>
                </a:rPr>
                <a:t>From raw source to finished artifact</a:t>
              </a:r>
            </a:p>
          </p:txBody>
        </p:sp>
        <p:sp>
          <p:nvSpPr>
            <p:cNvPr id="5" name="TextBox 5"/>
            <p:cNvSpPr txBox="1"/>
            <p:nvPr/>
          </p:nvSpPr>
          <p:spPr>
            <a:xfrm>
              <a:off x="748665" y="1124902"/>
              <a:ext cx="4290203" cy="213360"/>
            </a:xfrm>
            <a:prstGeom prst="rect">
              <a:avLst/>
            </a:prstGeom>
            <a:noFill/>
            <a:ln>
              <a:noFill/>
            </a:ln>
          </p:spPr>
          <p:txBody>
            <a:bodyPr wrap="none" lIns="0" tIns="0" rIns="0" bIns="0" anchor="t" anchorCtr="0">
              <a:spAutoFit/>
            </a:bodyPr>
            <a:lstStyle/>
            <a:p>
              <a:pPr algn="l"/>
              <a:r>
                <a:rPr lang="zh-CN" sz="1050" b="1" dirty="0">
                  <a:solidFill>
                    <a:srgbClr val="64748B"/>
                  </a:solidFill>
                  <a:latin typeface="Anthropic Sans"/>
                  <a:ea typeface="Microsoft YaHei"/>
                  <a:cs typeface="Anthropic Sans"/>
                </a:rPr>
                <a:t>06 · SPOTLIGHT — ONE AGENT CARRIES THE ANALYSIS END TO END</a:t>
              </a:r>
            </a:p>
          </p:txBody>
        </p:sp>
      </p:grpSp>
      <p:grpSp>
        <p:nvGrpSpPr>
          <p:cNvPr id="9" name="Group 9"/>
          <p:cNvGrpSpPr/>
          <p:nvPr/>
        </p:nvGrpSpPr>
        <p:grpSpPr>
          <a:xfrm>
            <a:off x="762000" y="1619250"/>
            <a:ext cx="10858500" cy="4095750"/>
            <a:chOff x="762000" y="1619250"/>
            <a:chExt cx="10858500" cy="4095750"/>
          </a:xfrm>
        </p:grpSpPr>
        <p:sp>
          <p:nvSpPr>
            <p:cNvPr id="7" name="Rectangle 7"/>
            <p:cNvSpPr/>
            <p:nvPr/>
          </p:nvSpPr>
          <p:spPr>
            <a:xfrm>
              <a:off x="762000" y="1619250"/>
              <a:ext cx="10858500" cy="4095750"/>
            </a:xfrm>
            <a:prstGeom prst="roundRect">
              <a:avLst>
                <a:gd name="adj" fmla="val 2791"/>
              </a:avLst>
            </a:prstGeom>
            <a:solidFill>
              <a:srgbClr val="F8FAFC">
                <a:alpha val="60000"/>
              </a:srgbClr>
            </a:solidFill>
            <a:ln w="14288">
              <a:solidFill>
                <a:srgbClr val="D97757">
                  <a:alpha val="50000"/>
                </a:srgbClr>
              </a:solidFill>
              <a:custDash>
                <a:ds d="400000" sp="266666"/>
              </a:custDash>
            </a:ln>
          </p:spPr>
        </p:sp>
        <p:sp>
          <p:nvSpPr>
            <p:cNvPr id="8" name="TextBox 8"/>
            <p:cNvSpPr txBox="1"/>
            <p:nvPr/>
          </p:nvSpPr>
          <p:spPr>
            <a:xfrm>
              <a:off x="3350766" y="1788795"/>
              <a:ext cx="5680967" cy="182880"/>
            </a:xfrm>
            <a:prstGeom prst="rect">
              <a:avLst/>
            </a:prstGeom>
            <a:noFill/>
            <a:ln>
              <a:noFill/>
            </a:ln>
          </p:spPr>
          <p:txBody>
            <a:bodyPr wrap="none" lIns="0" tIns="0" rIns="0" bIns="0" anchor="t" anchorCtr="0">
              <a:spAutoFit/>
            </a:bodyPr>
            <a:lstStyle/>
            <a:p>
              <a:pPr algn="ctr"/>
              <a:r>
                <a:rPr lang="zh-CN" sz="900" b="1" dirty="0">
                  <a:solidFill>
                    <a:srgbClr val="D97757"/>
                  </a:solidFill>
                  <a:latin typeface="Anthropic Sans"/>
                  <a:ea typeface="Microsoft YaHei"/>
                  <a:cs typeface="Anthropic Sans"/>
                </a:rPr>
                <a:t>ENTERPRISE KNOWLEDGE WORK · INPUT: RAW SOURCE MATERIAL → OUTPUT: SHIPPABLE DELIVERABLE</a:t>
              </a:r>
            </a:p>
          </p:txBody>
        </p:sp>
      </p:grpSp>
      <p:grpSp>
        <p:nvGrpSpPr>
          <p:cNvPr id="29" name="Group 29"/>
          <p:cNvGrpSpPr/>
          <p:nvPr/>
        </p:nvGrpSpPr>
        <p:grpSpPr>
          <a:xfrm>
            <a:off x="1047750" y="2114550"/>
            <a:ext cx="2381250" cy="3238500"/>
            <a:chOff x="1047750" y="2114550"/>
            <a:chExt cx="2381250" cy="3238500"/>
          </a:xfrm>
        </p:grpSpPr>
        <p:sp>
          <p:nvSpPr>
            <p:cNvPr id="10" name="Rectangle 10"/>
            <p:cNvSpPr/>
            <p:nvPr/>
          </p:nvSpPr>
          <p:spPr>
            <a:xfrm>
              <a:off x="1047750" y="2114550"/>
              <a:ext cx="2381250" cy="3238500"/>
            </a:xfrm>
            <a:prstGeom prst="roundRect">
              <a:avLst>
                <a:gd name="adj" fmla="val 4000"/>
              </a:avLst>
            </a:prstGeom>
            <a:solidFill>
              <a:srgbClr val="FFFFFF"/>
            </a:solidFill>
            <a:ln w="9525">
              <a:solidFill>
                <a:srgbClr val="E2E8F0"/>
              </a:solidFill>
            </a:ln>
          </p:spPr>
        </p:sp>
        <p:sp>
          <p:nvSpPr>
            <p:cNvPr id="11" name="Rectangle 11"/>
            <p:cNvSpPr/>
            <p:nvPr/>
          </p:nvSpPr>
          <p:spPr>
            <a:xfrm>
              <a:off x="1047750" y="2305050"/>
              <a:ext cx="47625" cy="381000"/>
            </a:xfrm>
            <a:prstGeom prst="roundRect">
              <a:avLst>
                <a:gd name="adj" fmla="val 50000"/>
              </a:avLst>
            </a:prstGeom>
            <a:solidFill>
              <a:srgbClr val="D97757"/>
            </a:solidFill>
            <a:ln>
              <a:noFill/>
            </a:ln>
          </p:spPr>
        </p:sp>
        <p:grpSp>
          <p:nvGrpSpPr>
            <p:cNvPr id="16" name="Group 16"/>
            <p:cNvGrpSpPr/>
            <p:nvPr/>
          </p:nvGrpSpPr>
          <p:grpSpPr>
            <a:xfrm>
              <a:off x="1312069" y="2390775"/>
              <a:ext cx="214313" cy="200025"/>
              <a:chOff x="1312069" y="2390775"/>
              <a:chExt cx="214313" cy="200025"/>
            </a:xfrm>
          </p:grpSpPr>
          <p:sp>
            <p:nvSpPr>
              <p:cNvPr id="12" name="Freeform 12"/>
              <p:cNvSpPr/>
              <p:nvPr/>
            </p:nvSpPr>
            <p:spPr>
              <a:xfrm>
                <a:off x="1312069" y="2486025"/>
                <a:ext cx="71438" cy="95250"/>
              </a:xfrm>
              <a:custGeom>
                <a:avLst/>
                <a:gdLst/>
                <a:ahLst/>
                <a:cxnLst/>
                <a:rect l="l" t="t" r="r" b="b"/>
                <a:pathLst>
                  <a:path w="71438" h="95250">
                    <a:moveTo>
                      <a:pt x="0" y="11906"/>
                    </a:moveTo>
                    <a:cubicBezTo>
                      <a:pt x="0" y="5331"/>
                      <a:pt x="5331" y="0"/>
                      <a:pt x="11906" y="0"/>
                    </a:cubicBezTo>
                    <a:lnTo>
                      <a:pt x="59531" y="0"/>
                    </a:lnTo>
                    <a:cubicBezTo>
                      <a:pt x="66107" y="0"/>
                      <a:pt x="71438" y="5331"/>
                      <a:pt x="71438" y="11906"/>
                    </a:cubicBezTo>
                    <a:lnTo>
                      <a:pt x="71438" y="83344"/>
                    </a:lnTo>
                    <a:cubicBezTo>
                      <a:pt x="71438" y="89919"/>
                      <a:pt x="66107" y="95250"/>
                      <a:pt x="59531" y="95250"/>
                    </a:cubicBezTo>
                    <a:lnTo>
                      <a:pt x="11906" y="95250"/>
                    </a:lnTo>
                    <a:cubicBezTo>
                      <a:pt x="5331" y="95250"/>
                      <a:pt x="0" y="89919"/>
                      <a:pt x="0" y="83344"/>
                    </a:cubicBezTo>
                    <a:lnTo>
                      <a:pt x="0" y="11906"/>
                    </a:lnTo>
                  </a:path>
                </a:pathLst>
              </a:custGeom>
              <a:noFill/>
              <a:ln w="19050">
                <a:solidFill>
                  <a:srgbClr val="D97757"/>
                </a:solidFill>
              </a:ln>
            </p:spPr>
          </p:sp>
          <p:sp>
            <p:nvSpPr>
              <p:cNvPr id="13" name="Freeform 13"/>
              <p:cNvSpPr/>
              <p:nvPr/>
            </p:nvSpPr>
            <p:spPr>
              <a:xfrm>
                <a:off x="1454944" y="2438400"/>
                <a:ext cx="71438" cy="142875"/>
              </a:xfrm>
              <a:custGeom>
                <a:avLst/>
                <a:gdLst/>
                <a:ahLst/>
                <a:cxnLst/>
                <a:rect l="l" t="t" r="r" b="b"/>
                <a:pathLst>
                  <a:path w="71438" h="142875">
                    <a:moveTo>
                      <a:pt x="0" y="11906"/>
                    </a:moveTo>
                    <a:cubicBezTo>
                      <a:pt x="0" y="5331"/>
                      <a:pt x="5331" y="0"/>
                      <a:pt x="11906" y="0"/>
                    </a:cubicBezTo>
                    <a:lnTo>
                      <a:pt x="59531" y="0"/>
                    </a:lnTo>
                    <a:cubicBezTo>
                      <a:pt x="66107" y="0"/>
                      <a:pt x="71438" y="5331"/>
                      <a:pt x="71438" y="11906"/>
                    </a:cubicBezTo>
                    <a:lnTo>
                      <a:pt x="71438" y="130969"/>
                    </a:lnTo>
                    <a:cubicBezTo>
                      <a:pt x="71438" y="137544"/>
                      <a:pt x="66107" y="142875"/>
                      <a:pt x="59531" y="142875"/>
                    </a:cubicBezTo>
                    <a:lnTo>
                      <a:pt x="11906" y="142875"/>
                    </a:lnTo>
                    <a:cubicBezTo>
                      <a:pt x="5331" y="142875"/>
                      <a:pt x="0" y="137544"/>
                      <a:pt x="0" y="130969"/>
                    </a:cubicBezTo>
                    <a:lnTo>
                      <a:pt x="0" y="11906"/>
                    </a:lnTo>
                  </a:path>
                </a:pathLst>
              </a:custGeom>
              <a:noFill/>
              <a:ln w="19050">
                <a:solidFill>
                  <a:srgbClr val="D97757"/>
                </a:solidFill>
              </a:ln>
            </p:spPr>
          </p:sp>
          <p:sp>
            <p:nvSpPr>
              <p:cNvPr id="14" name="Freeform 14"/>
              <p:cNvSpPr/>
              <p:nvPr/>
            </p:nvSpPr>
            <p:spPr>
              <a:xfrm>
                <a:off x="1383506" y="2390775"/>
                <a:ext cx="71438" cy="190500"/>
              </a:xfrm>
              <a:custGeom>
                <a:avLst/>
                <a:gdLst/>
                <a:ahLst/>
                <a:cxnLst/>
                <a:rect l="l" t="t" r="r" b="b"/>
                <a:pathLst>
                  <a:path w="71438" h="190500">
                    <a:moveTo>
                      <a:pt x="0" y="11906"/>
                    </a:moveTo>
                    <a:cubicBezTo>
                      <a:pt x="0" y="5331"/>
                      <a:pt x="5331" y="0"/>
                      <a:pt x="11906" y="0"/>
                    </a:cubicBezTo>
                    <a:lnTo>
                      <a:pt x="59531" y="0"/>
                    </a:lnTo>
                    <a:cubicBezTo>
                      <a:pt x="66107" y="0"/>
                      <a:pt x="71438" y="5331"/>
                      <a:pt x="71438" y="11906"/>
                    </a:cubicBezTo>
                    <a:lnTo>
                      <a:pt x="71438" y="178594"/>
                    </a:lnTo>
                    <a:cubicBezTo>
                      <a:pt x="71438" y="185169"/>
                      <a:pt x="66107" y="190500"/>
                      <a:pt x="59531" y="190500"/>
                    </a:cubicBezTo>
                    <a:lnTo>
                      <a:pt x="11906" y="190500"/>
                    </a:lnTo>
                    <a:cubicBezTo>
                      <a:pt x="5331" y="190500"/>
                      <a:pt x="0" y="185169"/>
                      <a:pt x="0" y="178594"/>
                    </a:cubicBezTo>
                    <a:lnTo>
                      <a:pt x="0" y="11906"/>
                    </a:lnTo>
                  </a:path>
                </a:pathLst>
              </a:custGeom>
              <a:noFill/>
              <a:ln w="19050">
                <a:solidFill>
                  <a:srgbClr val="D97757"/>
                </a:solidFill>
              </a:ln>
            </p:spPr>
          </p:sp>
          <p:sp>
            <p:nvSpPr>
              <p:cNvPr id="15" name="Freeform 15"/>
              <p:cNvSpPr/>
              <p:nvPr/>
            </p:nvSpPr>
            <p:spPr>
              <a:xfrm>
                <a:off x="1323975" y="2581275"/>
                <a:ext cx="166688" cy="9525"/>
              </a:xfrm>
              <a:custGeom>
                <a:avLst/>
                <a:gdLst/>
                <a:ahLst/>
                <a:cxnLst/>
                <a:rect l="l" t="t" r="r" b="b"/>
                <a:pathLst>
                  <a:path w="166688" h="9525">
                    <a:moveTo>
                      <a:pt x="0" y="0"/>
                    </a:moveTo>
                    <a:lnTo>
                      <a:pt x="166688" y="0"/>
                    </a:lnTo>
                  </a:path>
                </a:pathLst>
              </a:custGeom>
              <a:noFill/>
              <a:ln w="19050">
                <a:solidFill>
                  <a:srgbClr val="D97757"/>
                </a:solidFill>
              </a:ln>
            </p:spPr>
          </p:sp>
        </p:grpSp>
        <p:sp>
          <p:nvSpPr>
            <p:cNvPr id="17" name="TextBox 17"/>
            <p:cNvSpPr txBox="1"/>
            <p:nvPr/>
          </p:nvSpPr>
          <p:spPr>
            <a:xfrm>
              <a:off x="1259205" y="2864168"/>
              <a:ext cx="1622088" cy="274320"/>
            </a:xfrm>
            <a:prstGeom prst="rect">
              <a:avLst/>
            </a:prstGeom>
            <a:noFill/>
            <a:ln>
              <a:noFill/>
            </a:ln>
          </p:spPr>
          <p:txBody>
            <a:bodyPr wrap="none" lIns="0" tIns="0" rIns="0" bIns="0" anchor="t" anchorCtr="0">
              <a:spAutoFit/>
            </a:bodyPr>
            <a:lstStyle/>
            <a:p>
              <a:pPr algn="l"/>
              <a:r>
                <a:rPr lang="zh-CN" sz="1350" b="1" dirty="0">
                  <a:solidFill>
                    <a:srgbClr val="191919"/>
                  </a:solidFill>
                  <a:latin typeface="Styrene A"/>
                  <a:ea typeface="Microsoft YaHei"/>
                  <a:cs typeface="Styrene A"/>
                </a:rPr>
                <a:t>Financial analysis</a:t>
              </a:r>
            </a:p>
          </p:txBody>
        </p:sp>
        <p:sp>
          <p:nvSpPr>
            <p:cNvPr id="18" name="Rectangle 18"/>
            <p:cNvSpPr/>
            <p:nvPr/>
          </p:nvSpPr>
          <p:spPr>
            <a:xfrm>
              <a:off x="1276350" y="3162300"/>
              <a:ext cx="1924050" cy="266700"/>
            </a:xfrm>
            <a:prstGeom prst="roundRect">
              <a:avLst>
                <a:gd name="adj" fmla="val 21429"/>
              </a:avLst>
            </a:prstGeom>
            <a:solidFill>
              <a:srgbClr val="F8FAFC"/>
            </a:solidFill>
            <a:ln>
              <a:noFill/>
            </a:ln>
          </p:spPr>
        </p:sp>
        <p:sp>
          <p:nvSpPr>
            <p:cNvPr id="19" name="TextBox 19"/>
            <p:cNvSpPr txBox="1"/>
            <p:nvPr/>
          </p:nvSpPr>
          <p:spPr>
            <a:xfrm>
              <a:off x="1656724" y="3246120"/>
              <a:ext cx="1163303" cy="182880"/>
            </a:xfrm>
            <a:prstGeom prst="rect">
              <a:avLst/>
            </a:prstGeom>
            <a:noFill/>
            <a:ln>
              <a:noFill/>
            </a:ln>
          </p:spPr>
          <p:txBody>
            <a:bodyPr wrap="none" lIns="0" tIns="0" rIns="0" bIns="0" anchor="t" anchorCtr="0">
              <a:spAutoFit/>
            </a:bodyPr>
            <a:lstStyle/>
            <a:p>
              <a:pPr algn="ctr"/>
              <a:r>
                <a:rPr lang="zh-CN" sz="900" b="1" dirty="0">
                  <a:solidFill>
                    <a:srgbClr val="D97757"/>
                  </a:solidFill>
                  <a:latin typeface="Anthropic Sans"/>
                  <a:ea typeface="Microsoft YaHei"/>
                  <a:cs typeface="Anthropic Sans"/>
                </a:rPr>
                <a:t>Benchmark-leading</a:t>
              </a:r>
            </a:p>
          </p:txBody>
        </p:sp>
        <p:sp>
          <p:nvSpPr>
            <p:cNvPr id="20" name="Ellipse 20"/>
            <p:cNvSpPr/>
            <p:nvPr/>
          </p:nvSpPr>
          <p:spPr>
            <a:xfrm>
              <a:off x="1300162" y="3738562"/>
              <a:ext cx="66675" cy="66675"/>
            </a:xfrm>
            <a:prstGeom prst="ellipse">
              <a:avLst/>
            </a:prstGeom>
            <a:solidFill>
              <a:srgbClr val="D97757"/>
            </a:solidFill>
            <a:ln>
              <a:noFill/>
            </a:ln>
          </p:spPr>
        </p:sp>
        <p:sp>
          <p:nvSpPr>
            <p:cNvPr id="21" name="TextBox 21"/>
            <p:cNvSpPr txBox="1"/>
            <p:nvPr/>
          </p:nvSpPr>
          <p:spPr>
            <a:xfrm>
              <a:off x="1435418" y="3714274"/>
              <a:ext cx="1308025" cy="198120"/>
            </a:xfrm>
            <a:prstGeom prst="rect">
              <a:avLst/>
            </a:prstGeom>
            <a:noFill/>
            <a:ln>
              <a:noFill/>
            </a:ln>
          </p:spPr>
          <p:txBody>
            <a:bodyPr wrap="none" lIns="0" tIns="0" rIns="0" bIns="0" anchor="t" anchorCtr="0">
              <a:spAutoFit/>
            </a:bodyPr>
            <a:lstStyle/>
            <a:p>
              <a:pPr algn="l"/>
              <a:r>
                <a:rPr lang="zh-CN" sz="975" b="1" dirty="0">
                  <a:solidFill>
                    <a:srgbClr val="191919"/>
                  </a:solidFill>
                  <a:latin typeface="Anthropic Sans"/>
                  <a:ea typeface="Microsoft YaHei"/>
                  <a:cs typeface="Anthropic Sans"/>
                </a:rPr>
                <a:t>Models &amp; valuations</a:t>
              </a:r>
            </a:p>
          </p:txBody>
        </p:sp>
        <p:sp>
          <p:nvSpPr>
            <p:cNvPr id="22" name="TextBox 22"/>
            <p:cNvSpPr txBox="1"/>
            <p:nvPr/>
          </p:nvSpPr>
          <p:spPr>
            <a:xfrm>
              <a:off x="1436370" y="3903345"/>
              <a:ext cx="1991106"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nthropic Sans"/>
                  <a:ea typeface="Microsoft YaHei"/>
                  <a:cs typeface="Anthropic Sans"/>
                </a:rPr>
                <a:t>DCFs, scenarios, sensitivity runs</a:t>
              </a:r>
            </a:p>
          </p:txBody>
        </p:sp>
        <p:sp>
          <p:nvSpPr>
            <p:cNvPr id="23" name="Ellipse 23"/>
            <p:cNvSpPr/>
            <p:nvPr/>
          </p:nvSpPr>
          <p:spPr>
            <a:xfrm>
              <a:off x="1300162" y="4310062"/>
              <a:ext cx="66675" cy="66675"/>
            </a:xfrm>
            <a:prstGeom prst="ellipse">
              <a:avLst/>
            </a:prstGeom>
            <a:solidFill>
              <a:srgbClr val="D97757"/>
            </a:solidFill>
            <a:ln>
              <a:noFill/>
            </a:ln>
          </p:spPr>
        </p:sp>
        <p:sp>
          <p:nvSpPr>
            <p:cNvPr id="24" name="TextBox 24"/>
            <p:cNvSpPr txBox="1"/>
            <p:nvPr/>
          </p:nvSpPr>
          <p:spPr>
            <a:xfrm>
              <a:off x="1435418" y="4285774"/>
              <a:ext cx="932603" cy="198120"/>
            </a:xfrm>
            <a:prstGeom prst="rect">
              <a:avLst/>
            </a:prstGeom>
            <a:noFill/>
            <a:ln>
              <a:noFill/>
            </a:ln>
          </p:spPr>
          <p:txBody>
            <a:bodyPr wrap="none" lIns="0" tIns="0" rIns="0" bIns="0" anchor="t" anchorCtr="0">
              <a:spAutoFit/>
            </a:bodyPr>
            <a:lstStyle/>
            <a:p>
              <a:pPr algn="l"/>
              <a:r>
                <a:rPr lang="zh-CN" sz="975" b="1" dirty="0">
                  <a:solidFill>
                    <a:srgbClr val="191919"/>
                  </a:solidFill>
                  <a:latin typeface="Anthropic Sans"/>
                  <a:ea typeface="Microsoft YaHei"/>
                  <a:cs typeface="Anthropic Sans"/>
                </a:rPr>
                <a:t>Audit support</a:t>
              </a:r>
            </a:p>
          </p:txBody>
        </p:sp>
        <p:sp>
          <p:nvSpPr>
            <p:cNvPr id="25" name="TextBox 25"/>
            <p:cNvSpPr txBox="1"/>
            <p:nvPr/>
          </p:nvSpPr>
          <p:spPr>
            <a:xfrm>
              <a:off x="1436370" y="4474845"/>
              <a:ext cx="1823085"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nthropic Sans"/>
                  <a:ea typeface="Microsoft YaHei"/>
                  <a:cs typeface="Anthropic Sans"/>
                </a:rPr>
                <a:t>Tie-outs and exception hunting</a:t>
              </a:r>
            </a:p>
          </p:txBody>
        </p:sp>
        <p:sp>
          <p:nvSpPr>
            <p:cNvPr id="26" name="Ellipse 26"/>
            <p:cNvSpPr/>
            <p:nvPr/>
          </p:nvSpPr>
          <p:spPr>
            <a:xfrm>
              <a:off x="1300162" y="4881562"/>
              <a:ext cx="66675" cy="66675"/>
            </a:xfrm>
            <a:prstGeom prst="ellipse">
              <a:avLst/>
            </a:prstGeom>
            <a:solidFill>
              <a:srgbClr val="D97757"/>
            </a:solidFill>
            <a:ln>
              <a:noFill/>
            </a:ln>
          </p:spPr>
        </p:sp>
        <p:sp>
          <p:nvSpPr>
            <p:cNvPr id="27" name="TextBox 27"/>
            <p:cNvSpPr txBox="1"/>
            <p:nvPr/>
          </p:nvSpPr>
          <p:spPr>
            <a:xfrm>
              <a:off x="1435418" y="4857274"/>
              <a:ext cx="1273896" cy="198120"/>
            </a:xfrm>
            <a:prstGeom prst="rect">
              <a:avLst/>
            </a:prstGeom>
            <a:noFill/>
            <a:ln>
              <a:noFill/>
            </a:ln>
          </p:spPr>
          <p:txBody>
            <a:bodyPr wrap="none" lIns="0" tIns="0" rIns="0" bIns="0" anchor="t" anchorCtr="0">
              <a:spAutoFit/>
            </a:bodyPr>
            <a:lstStyle/>
            <a:p>
              <a:pPr algn="l"/>
              <a:r>
                <a:rPr lang="zh-CN" sz="975" b="1" dirty="0">
                  <a:solidFill>
                    <a:srgbClr val="191919"/>
                  </a:solidFill>
                  <a:latin typeface="Anthropic Sans"/>
                  <a:ea typeface="Microsoft YaHei"/>
                  <a:cs typeface="Anthropic Sans"/>
                </a:rPr>
                <a:t>Top finance scores</a:t>
              </a:r>
            </a:p>
          </p:txBody>
        </p:sp>
        <p:sp>
          <p:nvSpPr>
            <p:cNvPr id="28" name="TextBox 28"/>
            <p:cNvSpPr txBox="1"/>
            <p:nvPr/>
          </p:nvSpPr>
          <p:spPr>
            <a:xfrm>
              <a:off x="1436370" y="5046345"/>
              <a:ext cx="1913096"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nthropic Sans"/>
                  <a:ea typeface="Microsoft YaHei"/>
                  <a:cs typeface="Anthropic Sans"/>
                </a:rPr>
                <a:t>Leads public finance benchmarks</a:t>
              </a:r>
            </a:p>
          </p:txBody>
        </p:sp>
      </p:grpSp>
      <p:grpSp>
        <p:nvGrpSpPr>
          <p:cNvPr id="50" name="Group 50"/>
          <p:cNvGrpSpPr/>
          <p:nvPr/>
        </p:nvGrpSpPr>
        <p:grpSpPr>
          <a:xfrm>
            <a:off x="3781425" y="2114550"/>
            <a:ext cx="2381250" cy="3238500"/>
            <a:chOff x="3781425" y="2114550"/>
            <a:chExt cx="2381250" cy="3238500"/>
          </a:xfrm>
        </p:grpSpPr>
        <p:sp>
          <p:nvSpPr>
            <p:cNvPr id="30" name="Rectangle 30"/>
            <p:cNvSpPr/>
            <p:nvPr/>
          </p:nvSpPr>
          <p:spPr>
            <a:xfrm>
              <a:off x="3781425" y="2114550"/>
              <a:ext cx="2381250" cy="3238500"/>
            </a:xfrm>
            <a:prstGeom prst="roundRect">
              <a:avLst>
                <a:gd name="adj" fmla="val 4000"/>
              </a:avLst>
            </a:prstGeom>
            <a:solidFill>
              <a:srgbClr val="FFFFFF"/>
            </a:solidFill>
            <a:ln w="9525">
              <a:solidFill>
                <a:srgbClr val="E2E8F0"/>
              </a:solidFill>
            </a:ln>
          </p:spPr>
        </p:sp>
        <p:sp>
          <p:nvSpPr>
            <p:cNvPr id="31" name="Rectangle 31"/>
            <p:cNvSpPr/>
            <p:nvPr/>
          </p:nvSpPr>
          <p:spPr>
            <a:xfrm>
              <a:off x="3781425" y="2305050"/>
              <a:ext cx="47625" cy="381000"/>
            </a:xfrm>
            <a:prstGeom prst="roundRect">
              <a:avLst>
                <a:gd name="adj" fmla="val 50000"/>
              </a:avLst>
            </a:prstGeom>
            <a:solidFill>
              <a:srgbClr val="D97757"/>
            </a:solidFill>
            <a:ln>
              <a:noFill/>
            </a:ln>
          </p:spPr>
        </p:sp>
        <p:grpSp>
          <p:nvGrpSpPr>
            <p:cNvPr id="37" name="Group 37"/>
            <p:cNvGrpSpPr/>
            <p:nvPr/>
          </p:nvGrpSpPr>
          <p:grpSpPr>
            <a:xfrm>
              <a:off x="4069556" y="2378869"/>
              <a:ext cx="166688" cy="214312"/>
              <a:chOff x="4069556" y="2378869"/>
              <a:chExt cx="166688" cy="214312"/>
            </a:xfrm>
          </p:grpSpPr>
          <p:sp>
            <p:nvSpPr>
              <p:cNvPr id="32" name="Freeform 32"/>
              <p:cNvSpPr/>
              <p:nvPr/>
            </p:nvSpPr>
            <p:spPr>
              <a:xfrm>
                <a:off x="4176712" y="2378869"/>
                <a:ext cx="59531" cy="59531"/>
              </a:xfrm>
              <a:custGeom>
                <a:avLst/>
                <a:gdLst/>
                <a:ahLst/>
                <a:cxnLst/>
                <a:rect l="l" t="t" r="r" b="b"/>
                <a:pathLst>
                  <a:path w="59531" h="59531">
                    <a:moveTo>
                      <a:pt x="0" y="0"/>
                    </a:moveTo>
                    <a:lnTo>
                      <a:pt x="0" y="47625"/>
                    </a:lnTo>
                    <a:cubicBezTo>
                      <a:pt x="0" y="54201"/>
                      <a:pt x="5331" y="59531"/>
                      <a:pt x="11906" y="59531"/>
                    </a:cubicBezTo>
                    <a:lnTo>
                      <a:pt x="59531" y="59531"/>
                    </a:lnTo>
                  </a:path>
                </a:pathLst>
              </a:custGeom>
              <a:noFill/>
              <a:ln w="19050">
                <a:solidFill>
                  <a:srgbClr val="D97757"/>
                </a:solidFill>
              </a:ln>
            </p:spPr>
          </p:sp>
          <p:sp>
            <p:nvSpPr>
              <p:cNvPr id="33" name="Freeform 33"/>
              <p:cNvSpPr/>
              <p:nvPr/>
            </p:nvSpPr>
            <p:spPr>
              <a:xfrm>
                <a:off x="4069556" y="2378869"/>
                <a:ext cx="166688" cy="214312"/>
              </a:xfrm>
              <a:custGeom>
                <a:avLst/>
                <a:gdLst/>
                <a:ahLst/>
                <a:cxnLst/>
                <a:rect l="l" t="t" r="r" b="b"/>
                <a:pathLst>
                  <a:path w="166688" h="214312">
                    <a:moveTo>
                      <a:pt x="142875" y="214312"/>
                    </a:moveTo>
                    <a:lnTo>
                      <a:pt x="23812" y="214312"/>
                    </a:lnTo>
                    <a:cubicBezTo>
                      <a:pt x="10661" y="214312"/>
                      <a:pt x="0" y="203651"/>
                      <a:pt x="0" y="190500"/>
                    </a:cubicBezTo>
                    <a:lnTo>
                      <a:pt x="0" y="23812"/>
                    </a:lnTo>
                    <a:cubicBezTo>
                      <a:pt x="0" y="10661"/>
                      <a:pt x="10661" y="0"/>
                      <a:pt x="23812" y="0"/>
                    </a:cubicBezTo>
                    <a:lnTo>
                      <a:pt x="107156" y="0"/>
                    </a:lnTo>
                    <a:lnTo>
                      <a:pt x="166688" y="59531"/>
                    </a:lnTo>
                    <a:lnTo>
                      <a:pt x="166688" y="190500"/>
                    </a:lnTo>
                    <a:cubicBezTo>
                      <a:pt x="166688" y="203651"/>
                      <a:pt x="156026" y="214312"/>
                      <a:pt x="142875" y="214312"/>
                    </a:cubicBezTo>
                  </a:path>
                </a:pathLst>
              </a:custGeom>
              <a:noFill/>
              <a:ln w="19050">
                <a:solidFill>
                  <a:srgbClr val="D97757"/>
                </a:solidFill>
              </a:ln>
            </p:spPr>
          </p:sp>
          <p:sp>
            <p:nvSpPr>
              <p:cNvPr id="34" name="Freeform 34"/>
              <p:cNvSpPr/>
              <p:nvPr/>
            </p:nvSpPr>
            <p:spPr>
              <a:xfrm>
                <a:off x="4117181" y="2450306"/>
                <a:ext cx="11906" cy="9525"/>
              </a:xfrm>
              <a:custGeom>
                <a:avLst/>
                <a:gdLst/>
                <a:ahLst/>
                <a:cxnLst/>
                <a:rect l="l" t="t" r="r" b="b"/>
                <a:pathLst>
                  <a:path w="11906" h="9525">
                    <a:moveTo>
                      <a:pt x="0" y="0"/>
                    </a:moveTo>
                    <a:lnTo>
                      <a:pt x="11906" y="0"/>
                    </a:lnTo>
                  </a:path>
                </a:pathLst>
              </a:custGeom>
              <a:noFill/>
              <a:ln w="19050">
                <a:solidFill>
                  <a:srgbClr val="D97757"/>
                </a:solidFill>
              </a:ln>
            </p:spPr>
          </p:sp>
          <p:sp>
            <p:nvSpPr>
              <p:cNvPr id="35" name="Freeform 35"/>
              <p:cNvSpPr/>
              <p:nvPr/>
            </p:nvSpPr>
            <p:spPr>
              <a:xfrm>
                <a:off x="4117181" y="2497931"/>
                <a:ext cx="71438" cy="9525"/>
              </a:xfrm>
              <a:custGeom>
                <a:avLst/>
                <a:gdLst/>
                <a:ahLst/>
                <a:cxnLst/>
                <a:rect l="l" t="t" r="r" b="b"/>
                <a:pathLst>
                  <a:path w="71438" h="9525">
                    <a:moveTo>
                      <a:pt x="0" y="0"/>
                    </a:moveTo>
                    <a:lnTo>
                      <a:pt x="71438" y="0"/>
                    </a:lnTo>
                  </a:path>
                </a:pathLst>
              </a:custGeom>
              <a:noFill/>
              <a:ln w="19050">
                <a:solidFill>
                  <a:srgbClr val="D97757"/>
                </a:solidFill>
              </a:ln>
            </p:spPr>
          </p:sp>
          <p:sp>
            <p:nvSpPr>
              <p:cNvPr id="36" name="Freeform 36"/>
              <p:cNvSpPr/>
              <p:nvPr/>
            </p:nvSpPr>
            <p:spPr>
              <a:xfrm>
                <a:off x="4117181" y="2545556"/>
                <a:ext cx="71438" cy="9525"/>
              </a:xfrm>
              <a:custGeom>
                <a:avLst/>
                <a:gdLst/>
                <a:ahLst/>
                <a:cxnLst/>
                <a:rect l="l" t="t" r="r" b="b"/>
                <a:pathLst>
                  <a:path w="71438" h="9525">
                    <a:moveTo>
                      <a:pt x="0" y="0"/>
                    </a:moveTo>
                    <a:lnTo>
                      <a:pt x="71438" y="0"/>
                    </a:lnTo>
                  </a:path>
                </a:pathLst>
              </a:custGeom>
              <a:noFill/>
              <a:ln w="19050">
                <a:solidFill>
                  <a:srgbClr val="D97757"/>
                </a:solidFill>
              </a:ln>
            </p:spPr>
          </p:sp>
        </p:grpSp>
        <p:sp>
          <p:nvSpPr>
            <p:cNvPr id="38" name="TextBox 38"/>
            <p:cNvSpPr txBox="1"/>
            <p:nvPr/>
          </p:nvSpPr>
          <p:spPr>
            <a:xfrm>
              <a:off x="3992880" y="2864168"/>
              <a:ext cx="1744954" cy="274320"/>
            </a:xfrm>
            <a:prstGeom prst="rect">
              <a:avLst/>
            </a:prstGeom>
            <a:noFill/>
            <a:ln>
              <a:noFill/>
            </a:ln>
          </p:spPr>
          <p:txBody>
            <a:bodyPr wrap="none" lIns="0" tIns="0" rIns="0" bIns="0" anchor="t" anchorCtr="0">
              <a:spAutoFit/>
            </a:bodyPr>
            <a:lstStyle/>
            <a:p>
              <a:pPr algn="l"/>
              <a:r>
                <a:rPr lang="zh-CN" sz="1350" b="1" dirty="0">
                  <a:solidFill>
                    <a:srgbClr val="191919"/>
                  </a:solidFill>
                  <a:latin typeface="Styrene A"/>
                  <a:ea typeface="Microsoft YaHei"/>
                  <a:cs typeface="Styrene A"/>
                </a:rPr>
                <a:t>Documents &amp; decks</a:t>
              </a:r>
            </a:p>
          </p:txBody>
        </p:sp>
        <p:sp>
          <p:nvSpPr>
            <p:cNvPr id="39" name="Rectangle 39"/>
            <p:cNvSpPr/>
            <p:nvPr/>
          </p:nvSpPr>
          <p:spPr>
            <a:xfrm>
              <a:off x="4010025" y="3162300"/>
              <a:ext cx="1924050" cy="266700"/>
            </a:xfrm>
            <a:prstGeom prst="roundRect">
              <a:avLst>
                <a:gd name="adj" fmla="val 21429"/>
              </a:avLst>
            </a:prstGeom>
            <a:solidFill>
              <a:srgbClr val="F8FAFC"/>
            </a:solidFill>
            <a:ln>
              <a:noFill/>
            </a:ln>
          </p:spPr>
        </p:sp>
        <p:sp>
          <p:nvSpPr>
            <p:cNvPr id="40" name="TextBox 40"/>
            <p:cNvSpPr txBox="1"/>
            <p:nvPr/>
          </p:nvSpPr>
          <p:spPr>
            <a:xfrm>
              <a:off x="4280135" y="3246120"/>
              <a:ext cx="1383830" cy="182880"/>
            </a:xfrm>
            <a:prstGeom prst="rect">
              <a:avLst/>
            </a:prstGeom>
            <a:noFill/>
            <a:ln>
              <a:noFill/>
            </a:ln>
          </p:spPr>
          <p:txBody>
            <a:bodyPr wrap="none" lIns="0" tIns="0" rIns="0" bIns="0" anchor="t" anchorCtr="0">
              <a:spAutoFit/>
            </a:bodyPr>
            <a:lstStyle/>
            <a:p>
              <a:pPr algn="ctr"/>
              <a:r>
                <a:rPr lang="zh-CN" sz="900" b="1" dirty="0">
                  <a:solidFill>
                    <a:srgbClr val="D97757"/>
                  </a:solidFill>
                  <a:latin typeface="Anthropic Sans"/>
                  <a:ea typeface="Microsoft YaHei"/>
                  <a:cs typeface="Anthropic Sans"/>
                </a:rPr>
                <a:t>Artifacts, not drafts</a:t>
              </a:r>
            </a:p>
          </p:txBody>
        </p:sp>
        <p:sp>
          <p:nvSpPr>
            <p:cNvPr id="41" name="Ellipse 41"/>
            <p:cNvSpPr/>
            <p:nvPr/>
          </p:nvSpPr>
          <p:spPr>
            <a:xfrm>
              <a:off x="4033838" y="3738562"/>
              <a:ext cx="66675" cy="66675"/>
            </a:xfrm>
            <a:prstGeom prst="ellipse">
              <a:avLst/>
            </a:prstGeom>
            <a:solidFill>
              <a:srgbClr val="D97757"/>
            </a:solidFill>
            <a:ln>
              <a:noFill/>
            </a:ln>
          </p:spPr>
        </p:sp>
        <p:sp>
          <p:nvSpPr>
            <p:cNvPr id="42" name="TextBox 42"/>
            <p:cNvSpPr txBox="1"/>
            <p:nvPr/>
          </p:nvSpPr>
          <p:spPr>
            <a:xfrm>
              <a:off x="4169092" y="3714274"/>
              <a:ext cx="1465020" cy="198120"/>
            </a:xfrm>
            <a:prstGeom prst="rect">
              <a:avLst/>
            </a:prstGeom>
            <a:noFill/>
            <a:ln>
              <a:noFill/>
            </a:ln>
          </p:spPr>
          <p:txBody>
            <a:bodyPr wrap="none" lIns="0" tIns="0" rIns="0" bIns="0" anchor="t" anchorCtr="0">
              <a:spAutoFit/>
            </a:bodyPr>
            <a:lstStyle/>
            <a:p>
              <a:pPr algn="l"/>
              <a:r>
                <a:rPr lang="zh-CN" sz="975" b="1" dirty="0">
                  <a:solidFill>
                    <a:srgbClr val="191919"/>
                  </a:solidFill>
                  <a:latin typeface="Anthropic Sans"/>
                  <a:ea typeface="Microsoft YaHei"/>
                  <a:cs typeface="Anthropic Sans"/>
                </a:rPr>
                <a:t>Spreadsheets &amp; slides</a:t>
              </a:r>
            </a:p>
          </p:txBody>
        </p:sp>
        <p:sp>
          <p:nvSpPr>
            <p:cNvPr id="43" name="TextBox 43"/>
            <p:cNvSpPr txBox="1"/>
            <p:nvPr/>
          </p:nvSpPr>
          <p:spPr>
            <a:xfrm>
              <a:off x="4170045" y="3903345"/>
              <a:ext cx="1913096"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nthropic Sans"/>
                  <a:ea typeface="Microsoft YaHei"/>
                  <a:cs typeface="Anthropic Sans"/>
                </a:rPr>
                <a:t>Working xlsx, pptx, docx output</a:t>
              </a:r>
            </a:p>
          </p:txBody>
        </p:sp>
        <p:sp>
          <p:nvSpPr>
            <p:cNvPr id="44" name="Ellipse 44"/>
            <p:cNvSpPr/>
            <p:nvPr/>
          </p:nvSpPr>
          <p:spPr>
            <a:xfrm>
              <a:off x="4033838" y="4310062"/>
              <a:ext cx="66675" cy="66675"/>
            </a:xfrm>
            <a:prstGeom prst="ellipse">
              <a:avLst/>
            </a:prstGeom>
            <a:solidFill>
              <a:srgbClr val="D97757"/>
            </a:solidFill>
            <a:ln>
              <a:noFill/>
            </a:ln>
          </p:spPr>
        </p:sp>
        <p:sp>
          <p:nvSpPr>
            <p:cNvPr id="45" name="TextBox 45"/>
            <p:cNvSpPr txBox="1"/>
            <p:nvPr/>
          </p:nvSpPr>
          <p:spPr>
            <a:xfrm>
              <a:off x="4169092" y="4285774"/>
              <a:ext cx="1294374" cy="198120"/>
            </a:xfrm>
            <a:prstGeom prst="rect">
              <a:avLst/>
            </a:prstGeom>
            <a:noFill/>
            <a:ln>
              <a:noFill/>
            </a:ln>
          </p:spPr>
          <p:txBody>
            <a:bodyPr wrap="none" lIns="0" tIns="0" rIns="0" bIns="0" anchor="t" anchorCtr="0">
              <a:spAutoFit/>
            </a:bodyPr>
            <a:lstStyle/>
            <a:p>
              <a:pPr algn="l"/>
              <a:r>
                <a:rPr lang="zh-CN" sz="975" b="1" dirty="0">
                  <a:solidFill>
                    <a:srgbClr val="191919"/>
                  </a:solidFill>
                  <a:latin typeface="Anthropic Sans"/>
                  <a:ea typeface="Microsoft YaHei"/>
                  <a:cs typeface="Anthropic Sans"/>
                </a:rPr>
                <a:t>Formatted reports</a:t>
              </a:r>
            </a:p>
          </p:txBody>
        </p:sp>
        <p:sp>
          <p:nvSpPr>
            <p:cNvPr id="46" name="TextBox 46"/>
            <p:cNvSpPr txBox="1"/>
            <p:nvPr/>
          </p:nvSpPr>
          <p:spPr>
            <a:xfrm>
              <a:off x="4170045" y="4474845"/>
              <a:ext cx="1595056"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nthropic Sans"/>
                  <a:ea typeface="Microsoft YaHei"/>
                  <a:cs typeface="Anthropic Sans"/>
                </a:rPr>
                <a:t>Layout and styling included</a:t>
              </a:r>
            </a:p>
          </p:txBody>
        </p:sp>
        <p:sp>
          <p:nvSpPr>
            <p:cNvPr id="47" name="Ellipse 47"/>
            <p:cNvSpPr/>
            <p:nvPr/>
          </p:nvSpPr>
          <p:spPr>
            <a:xfrm>
              <a:off x="4033838" y="4881562"/>
              <a:ext cx="66675" cy="66675"/>
            </a:xfrm>
            <a:prstGeom prst="ellipse">
              <a:avLst/>
            </a:prstGeom>
            <a:solidFill>
              <a:srgbClr val="D97757"/>
            </a:solidFill>
            <a:ln>
              <a:noFill/>
            </a:ln>
          </p:spPr>
        </p:sp>
        <p:sp>
          <p:nvSpPr>
            <p:cNvPr id="48" name="TextBox 48"/>
            <p:cNvSpPr txBox="1"/>
            <p:nvPr/>
          </p:nvSpPr>
          <p:spPr>
            <a:xfrm>
              <a:off x="4169092" y="4857274"/>
              <a:ext cx="1239767" cy="198120"/>
            </a:xfrm>
            <a:prstGeom prst="rect">
              <a:avLst/>
            </a:prstGeom>
            <a:noFill/>
            <a:ln>
              <a:noFill/>
            </a:ln>
          </p:spPr>
          <p:txBody>
            <a:bodyPr wrap="none" lIns="0" tIns="0" rIns="0" bIns="0" anchor="t" anchorCtr="0">
              <a:spAutoFit/>
            </a:bodyPr>
            <a:lstStyle/>
            <a:p>
              <a:pPr algn="l"/>
              <a:r>
                <a:rPr lang="zh-CN" sz="975" b="1" dirty="0">
                  <a:solidFill>
                    <a:srgbClr val="191919"/>
                  </a:solidFill>
                  <a:latin typeface="Anthropic Sans"/>
                  <a:ea typeface="Microsoft YaHei"/>
                  <a:cs typeface="Anthropic Sans"/>
                </a:rPr>
                <a:t>Visual self-checks</a:t>
              </a:r>
            </a:p>
          </p:txBody>
        </p:sp>
        <p:sp>
          <p:nvSpPr>
            <p:cNvPr id="49" name="TextBox 49"/>
            <p:cNvSpPr txBox="1"/>
            <p:nvPr/>
          </p:nvSpPr>
          <p:spPr>
            <a:xfrm>
              <a:off x="4170045" y="5046345"/>
              <a:ext cx="1913096"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nthropic Sans"/>
                  <a:ea typeface="Microsoft YaHei"/>
                  <a:cs typeface="Anthropic Sans"/>
                </a:rPr>
                <a:t>Inspects its own rendered pages</a:t>
              </a:r>
            </a:p>
          </p:txBody>
        </p:sp>
      </p:grpSp>
      <p:grpSp>
        <p:nvGrpSpPr>
          <p:cNvPr id="68" name="Group 68"/>
          <p:cNvGrpSpPr/>
          <p:nvPr/>
        </p:nvGrpSpPr>
        <p:grpSpPr>
          <a:xfrm>
            <a:off x="6515100" y="2114550"/>
            <a:ext cx="2433733" cy="3238500"/>
            <a:chOff x="6515100" y="2114550"/>
            <a:chExt cx="2433733" cy="3238500"/>
          </a:xfrm>
        </p:grpSpPr>
        <p:sp>
          <p:nvSpPr>
            <p:cNvPr id="51" name="Rectangle 51"/>
            <p:cNvSpPr/>
            <p:nvPr/>
          </p:nvSpPr>
          <p:spPr>
            <a:xfrm>
              <a:off x="6515100" y="2114550"/>
              <a:ext cx="2381250" cy="3238500"/>
            </a:xfrm>
            <a:prstGeom prst="roundRect">
              <a:avLst>
                <a:gd name="adj" fmla="val 4000"/>
              </a:avLst>
            </a:prstGeom>
            <a:solidFill>
              <a:srgbClr val="FFFFFF"/>
            </a:solidFill>
            <a:ln w="9525">
              <a:solidFill>
                <a:srgbClr val="E2E8F0"/>
              </a:solidFill>
            </a:ln>
          </p:spPr>
        </p:sp>
        <p:sp>
          <p:nvSpPr>
            <p:cNvPr id="52" name="Rectangle 52"/>
            <p:cNvSpPr/>
            <p:nvPr/>
          </p:nvSpPr>
          <p:spPr>
            <a:xfrm>
              <a:off x="6515100" y="2305050"/>
              <a:ext cx="47625" cy="381000"/>
            </a:xfrm>
            <a:prstGeom prst="roundRect">
              <a:avLst>
                <a:gd name="adj" fmla="val 50000"/>
              </a:avLst>
            </a:prstGeom>
            <a:solidFill>
              <a:srgbClr val="D97757"/>
            </a:solidFill>
            <a:ln>
              <a:noFill/>
            </a:ln>
          </p:spPr>
        </p:sp>
        <p:grpSp>
          <p:nvGrpSpPr>
            <p:cNvPr id="55" name="Group 55"/>
            <p:cNvGrpSpPr/>
            <p:nvPr/>
          </p:nvGrpSpPr>
          <p:grpSpPr>
            <a:xfrm>
              <a:off x="6779419" y="2378869"/>
              <a:ext cx="214313" cy="214313"/>
              <a:chOff x="6779419" y="2378869"/>
              <a:chExt cx="214313" cy="214313"/>
            </a:xfrm>
          </p:grpSpPr>
          <p:sp>
            <p:nvSpPr>
              <p:cNvPr id="53" name="Freeform 53"/>
              <p:cNvSpPr/>
              <p:nvPr/>
            </p:nvSpPr>
            <p:spPr>
              <a:xfrm>
                <a:off x="6779419" y="2378869"/>
                <a:ext cx="166688" cy="166688"/>
              </a:xfrm>
              <a:custGeom>
                <a:avLst/>
                <a:gdLst/>
                <a:ahLst/>
                <a:cxnLst/>
                <a:rect l="l" t="t" r="r" b="b"/>
                <a:pathLst>
                  <a:path w="166688" h="166688">
                    <a:moveTo>
                      <a:pt x="0" y="83344"/>
                    </a:moveTo>
                    <a:cubicBezTo>
                      <a:pt x="0" y="129373"/>
                      <a:pt x="37314" y="166688"/>
                      <a:pt x="83344" y="166688"/>
                    </a:cubicBezTo>
                    <a:cubicBezTo>
                      <a:pt x="129373" y="166688"/>
                      <a:pt x="166688" y="129373"/>
                      <a:pt x="166688" y="83344"/>
                    </a:cubicBezTo>
                    <a:cubicBezTo>
                      <a:pt x="166688" y="37314"/>
                      <a:pt x="129373" y="0"/>
                      <a:pt x="83344" y="0"/>
                    </a:cubicBezTo>
                    <a:cubicBezTo>
                      <a:pt x="37314" y="0"/>
                      <a:pt x="0" y="37314"/>
                      <a:pt x="0" y="83344"/>
                    </a:cubicBezTo>
                  </a:path>
                </a:pathLst>
              </a:custGeom>
              <a:noFill/>
              <a:ln w="19050">
                <a:solidFill>
                  <a:srgbClr val="D97757"/>
                </a:solidFill>
              </a:ln>
            </p:spPr>
          </p:sp>
          <p:sp>
            <p:nvSpPr>
              <p:cNvPr id="54" name="Freeform 54"/>
              <p:cNvSpPr/>
              <p:nvPr/>
            </p:nvSpPr>
            <p:spPr>
              <a:xfrm>
                <a:off x="6922294" y="2521744"/>
                <a:ext cx="71438" cy="71438"/>
              </a:xfrm>
              <a:custGeom>
                <a:avLst/>
                <a:gdLst/>
                <a:ahLst/>
                <a:cxnLst/>
                <a:rect l="l" t="t" r="r" b="b"/>
                <a:pathLst>
                  <a:path w="71438" h="71438">
                    <a:moveTo>
                      <a:pt x="71438" y="71438"/>
                    </a:moveTo>
                    <a:lnTo>
                      <a:pt x="0" y="0"/>
                    </a:lnTo>
                  </a:path>
                </a:pathLst>
              </a:custGeom>
              <a:noFill/>
              <a:ln w="19050">
                <a:solidFill>
                  <a:srgbClr val="D97757"/>
                </a:solidFill>
              </a:ln>
            </p:spPr>
          </p:sp>
        </p:grpSp>
        <p:sp>
          <p:nvSpPr>
            <p:cNvPr id="56" name="TextBox 56"/>
            <p:cNvSpPr txBox="1"/>
            <p:nvPr/>
          </p:nvSpPr>
          <p:spPr>
            <a:xfrm>
              <a:off x="6726555" y="2864168"/>
              <a:ext cx="1811112" cy="274320"/>
            </a:xfrm>
            <a:prstGeom prst="rect">
              <a:avLst/>
            </a:prstGeom>
            <a:noFill/>
            <a:ln>
              <a:noFill/>
            </a:ln>
          </p:spPr>
          <p:txBody>
            <a:bodyPr wrap="none" lIns="0" tIns="0" rIns="0" bIns="0" anchor="t" anchorCtr="0">
              <a:spAutoFit/>
            </a:bodyPr>
            <a:lstStyle/>
            <a:p>
              <a:pPr algn="l"/>
              <a:r>
                <a:rPr lang="zh-CN" sz="1350" b="1" dirty="0">
                  <a:solidFill>
                    <a:srgbClr val="191919"/>
                  </a:solidFill>
                  <a:latin typeface="Styrene A"/>
                  <a:ea typeface="Microsoft YaHei"/>
                  <a:cs typeface="Styrene A"/>
                </a:rPr>
                <a:t>Research synthesis</a:t>
              </a:r>
            </a:p>
          </p:txBody>
        </p:sp>
        <p:sp>
          <p:nvSpPr>
            <p:cNvPr id="57" name="Rectangle 57"/>
            <p:cNvSpPr/>
            <p:nvPr/>
          </p:nvSpPr>
          <p:spPr>
            <a:xfrm>
              <a:off x="6743700" y="3162300"/>
              <a:ext cx="1924050" cy="266700"/>
            </a:xfrm>
            <a:prstGeom prst="roundRect">
              <a:avLst>
                <a:gd name="adj" fmla="val 21429"/>
              </a:avLst>
            </a:prstGeom>
            <a:solidFill>
              <a:srgbClr val="F8FAFC"/>
            </a:solidFill>
            <a:ln>
              <a:noFill/>
            </a:ln>
          </p:spPr>
        </p:sp>
        <p:sp>
          <p:nvSpPr>
            <p:cNvPr id="58" name="TextBox 58"/>
            <p:cNvSpPr txBox="1"/>
            <p:nvPr/>
          </p:nvSpPr>
          <p:spPr>
            <a:xfrm>
              <a:off x="7158728" y="3246120"/>
              <a:ext cx="1093994" cy="182880"/>
            </a:xfrm>
            <a:prstGeom prst="rect">
              <a:avLst/>
            </a:prstGeom>
            <a:noFill/>
            <a:ln>
              <a:noFill/>
            </a:ln>
          </p:spPr>
          <p:txBody>
            <a:bodyPr wrap="none" lIns="0" tIns="0" rIns="0" bIns="0" anchor="t" anchorCtr="0">
              <a:spAutoFit/>
            </a:bodyPr>
            <a:lstStyle/>
            <a:p>
              <a:pPr algn="ctr"/>
              <a:r>
                <a:rPr lang="zh-CN" sz="900" b="1" dirty="0">
                  <a:solidFill>
                    <a:srgbClr val="D97757"/>
                  </a:solidFill>
                  <a:latin typeface="Anthropic Sans"/>
                  <a:ea typeface="Microsoft YaHei"/>
                  <a:cs typeface="Anthropic Sans"/>
                </a:rPr>
                <a:t>1M-token reading</a:t>
              </a:r>
            </a:p>
          </p:txBody>
        </p:sp>
        <p:sp>
          <p:nvSpPr>
            <p:cNvPr id="59" name="Ellipse 59"/>
            <p:cNvSpPr/>
            <p:nvPr/>
          </p:nvSpPr>
          <p:spPr>
            <a:xfrm>
              <a:off x="6767512" y="3738562"/>
              <a:ext cx="66675" cy="66675"/>
            </a:xfrm>
            <a:prstGeom prst="ellipse">
              <a:avLst/>
            </a:prstGeom>
            <a:solidFill>
              <a:srgbClr val="D97757"/>
            </a:solidFill>
            <a:ln>
              <a:noFill/>
            </a:ln>
          </p:spPr>
        </p:sp>
        <p:sp>
          <p:nvSpPr>
            <p:cNvPr id="60" name="TextBox 60"/>
            <p:cNvSpPr txBox="1"/>
            <p:nvPr/>
          </p:nvSpPr>
          <p:spPr>
            <a:xfrm>
              <a:off x="6902768" y="3714274"/>
              <a:ext cx="1724402" cy="198120"/>
            </a:xfrm>
            <a:prstGeom prst="rect">
              <a:avLst/>
            </a:prstGeom>
            <a:noFill/>
            <a:ln>
              <a:noFill/>
            </a:ln>
          </p:spPr>
          <p:txBody>
            <a:bodyPr wrap="none" lIns="0" tIns="0" rIns="0" bIns="0" anchor="t" anchorCtr="0">
              <a:spAutoFit/>
            </a:bodyPr>
            <a:lstStyle/>
            <a:p>
              <a:pPr algn="l"/>
              <a:r>
                <a:rPr lang="zh-CN" sz="975" b="1" dirty="0">
                  <a:solidFill>
                    <a:srgbClr val="191919"/>
                  </a:solidFill>
                  <a:latin typeface="Anthropic Sans"/>
                  <a:ea typeface="Microsoft YaHei"/>
                  <a:cs typeface="Anthropic Sans"/>
                </a:rPr>
                <a:t>Multi-source verification</a:t>
              </a:r>
            </a:p>
          </p:txBody>
        </p:sp>
        <p:sp>
          <p:nvSpPr>
            <p:cNvPr id="61" name="TextBox 61"/>
            <p:cNvSpPr txBox="1"/>
            <p:nvPr/>
          </p:nvSpPr>
          <p:spPr>
            <a:xfrm>
              <a:off x="6903720" y="3903345"/>
              <a:ext cx="2045113"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nthropic Sans"/>
                  <a:ea typeface="Microsoft YaHei"/>
                  <a:cs typeface="Anthropic Sans"/>
                </a:rPr>
                <a:t>Cross-checks claims across inputs</a:t>
              </a:r>
            </a:p>
          </p:txBody>
        </p:sp>
        <p:sp>
          <p:nvSpPr>
            <p:cNvPr id="62" name="Ellipse 62"/>
            <p:cNvSpPr/>
            <p:nvPr/>
          </p:nvSpPr>
          <p:spPr>
            <a:xfrm>
              <a:off x="6767512" y="4310062"/>
              <a:ext cx="66675" cy="66675"/>
            </a:xfrm>
            <a:prstGeom prst="ellipse">
              <a:avLst/>
            </a:prstGeom>
            <a:solidFill>
              <a:srgbClr val="D97757"/>
            </a:solidFill>
            <a:ln>
              <a:noFill/>
            </a:ln>
          </p:spPr>
        </p:sp>
        <p:sp>
          <p:nvSpPr>
            <p:cNvPr id="63" name="TextBox 63"/>
            <p:cNvSpPr txBox="1"/>
            <p:nvPr/>
          </p:nvSpPr>
          <p:spPr>
            <a:xfrm>
              <a:off x="6902768" y="4285774"/>
              <a:ext cx="1676621" cy="198120"/>
            </a:xfrm>
            <a:prstGeom prst="rect">
              <a:avLst/>
            </a:prstGeom>
            <a:noFill/>
            <a:ln>
              <a:noFill/>
            </a:ln>
          </p:spPr>
          <p:txBody>
            <a:bodyPr wrap="none" lIns="0" tIns="0" rIns="0" bIns="0" anchor="t" anchorCtr="0">
              <a:spAutoFit/>
            </a:bodyPr>
            <a:lstStyle/>
            <a:p>
              <a:pPr algn="l"/>
              <a:r>
                <a:rPr lang="zh-CN" sz="975" b="1" dirty="0">
                  <a:solidFill>
                    <a:srgbClr val="191919"/>
                  </a:solidFill>
                  <a:latin typeface="Anthropic Sans"/>
                  <a:ea typeface="Microsoft YaHei"/>
                  <a:cs typeface="Anthropic Sans"/>
                </a:rPr>
                <a:t>Long-document digestion</a:t>
              </a:r>
            </a:p>
          </p:txBody>
        </p:sp>
        <p:sp>
          <p:nvSpPr>
            <p:cNvPr id="64" name="TextBox 64"/>
            <p:cNvSpPr txBox="1"/>
            <p:nvPr/>
          </p:nvSpPr>
          <p:spPr>
            <a:xfrm>
              <a:off x="6903720" y="4474845"/>
              <a:ext cx="1859089"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nthropic Sans"/>
                  <a:ea typeface="Microsoft YaHei"/>
                  <a:cs typeface="Anthropic Sans"/>
                </a:rPr>
                <a:t>Whole data rooms in one window</a:t>
              </a:r>
            </a:p>
          </p:txBody>
        </p:sp>
        <p:sp>
          <p:nvSpPr>
            <p:cNvPr id="65" name="Ellipse 65"/>
            <p:cNvSpPr/>
            <p:nvPr/>
          </p:nvSpPr>
          <p:spPr>
            <a:xfrm>
              <a:off x="6767512" y="4881562"/>
              <a:ext cx="66675" cy="66675"/>
            </a:xfrm>
            <a:prstGeom prst="ellipse">
              <a:avLst/>
            </a:prstGeom>
            <a:solidFill>
              <a:srgbClr val="D97757"/>
            </a:solidFill>
            <a:ln>
              <a:noFill/>
            </a:ln>
          </p:spPr>
        </p:sp>
        <p:sp>
          <p:nvSpPr>
            <p:cNvPr id="66" name="TextBox 66"/>
            <p:cNvSpPr txBox="1"/>
            <p:nvPr/>
          </p:nvSpPr>
          <p:spPr>
            <a:xfrm>
              <a:off x="6902768" y="4857274"/>
              <a:ext cx="1164682" cy="198120"/>
            </a:xfrm>
            <a:prstGeom prst="rect">
              <a:avLst/>
            </a:prstGeom>
            <a:noFill/>
            <a:ln>
              <a:noFill/>
            </a:ln>
          </p:spPr>
          <p:txBody>
            <a:bodyPr wrap="none" lIns="0" tIns="0" rIns="0" bIns="0" anchor="t" anchorCtr="0">
              <a:spAutoFit/>
            </a:bodyPr>
            <a:lstStyle/>
            <a:p>
              <a:pPr algn="l"/>
              <a:r>
                <a:rPr lang="zh-CN" sz="975" b="1" dirty="0">
                  <a:solidFill>
                    <a:srgbClr val="191919"/>
                  </a:solidFill>
                  <a:latin typeface="Anthropic Sans"/>
                  <a:ea typeface="Microsoft YaHei"/>
                  <a:cs typeface="Anthropic Sans"/>
                </a:rPr>
                <a:t>Cited conclusions</a:t>
              </a:r>
            </a:p>
          </p:txBody>
        </p:sp>
        <p:sp>
          <p:nvSpPr>
            <p:cNvPr id="67" name="TextBox 67"/>
            <p:cNvSpPr txBox="1"/>
            <p:nvPr/>
          </p:nvSpPr>
          <p:spPr>
            <a:xfrm>
              <a:off x="6903720" y="5046345"/>
              <a:ext cx="1757077"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nthropic Sans"/>
                  <a:ea typeface="Microsoft YaHei"/>
                  <a:cs typeface="Anthropic Sans"/>
                </a:rPr>
                <a:t>Findings traceable to sources</a:t>
              </a:r>
            </a:p>
          </p:txBody>
        </p:sp>
      </p:grpSp>
      <p:grpSp>
        <p:nvGrpSpPr>
          <p:cNvPr id="89" name="Group 89"/>
          <p:cNvGrpSpPr/>
          <p:nvPr/>
        </p:nvGrpSpPr>
        <p:grpSpPr>
          <a:xfrm>
            <a:off x="9248775" y="2114550"/>
            <a:ext cx="2517743" cy="3238500"/>
            <a:chOff x="9248775" y="2114550"/>
            <a:chExt cx="2517743" cy="3238500"/>
          </a:xfrm>
        </p:grpSpPr>
        <p:sp>
          <p:nvSpPr>
            <p:cNvPr id="69" name="Rectangle 69"/>
            <p:cNvSpPr/>
            <p:nvPr/>
          </p:nvSpPr>
          <p:spPr>
            <a:xfrm>
              <a:off x="9248775" y="2114550"/>
              <a:ext cx="2381250" cy="3238500"/>
            </a:xfrm>
            <a:prstGeom prst="roundRect">
              <a:avLst>
                <a:gd name="adj" fmla="val 4000"/>
              </a:avLst>
            </a:prstGeom>
            <a:solidFill>
              <a:srgbClr val="FFFFFF"/>
            </a:solidFill>
            <a:ln w="9525">
              <a:solidFill>
                <a:srgbClr val="E2E8F0"/>
              </a:solidFill>
            </a:ln>
          </p:spPr>
        </p:sp>
        <p:sp>
          <p:nvSpPr>
            <p:cNvPr id="70" name="Rectangle 70"/>
            <p:cNvSpPr/>
            <p:nvPr/>
          </p:nvSpPr>
          <p:spPr>
            <a:xfrm>
              <a:off x="9248775" y="2305050"/>
              <a:ext cx="47625" cy="381000"/>
            </a:xfrm>
            <a:prstGeom prst="roundRect">
              <a:avLst>
                <a:gd name="adj" fmla="val 50000"/>
              </a:avLst>
            </a:prstGeom>
            <a:solidFill>
              <a:srgbClr val="D97757"/>
            </a:solidFill>
            <a:ln>
              <a:noFill/>
            </a:ln>
          </p:spPr>
        </p:sp>
        <p:grpSp>
          <p:nvGrpSpPr>
            <p:cNvPr id="76" name="Group 76"/>
            <p:cNvGrpSpPr/>
            <p:nvPr/>
          </p:nvGrpSpPr>
          <p:grpSpPr>
            <a:xfrm>
              <a:off x="9513094" y="2378869"/>
              <a:ext cx="214313" cy="211931"/>
              <a:chOff x="9513094" y="2378869"/>
              <a:chExt cx="214313" cy="211931"/>
            </a:xfrm>
          </p:grpSpPr>
          <p:sp>
            <p:nvSpPr>
              <p:cNvPr id="71" name="Freeform 71"/>
              <p:cNvSpPr/>
              <p:nvPr/>
            </p:nvSpPr>
            <p:spPr>
              <a:xfrm>
                <a:off x="9560719" y="2581275"/>
                <a:ext cx="119062" cy="9525"/>
              </a:xfrm>
              <a:custGeom>
                <a:avLst/>
                <a:gdLst/>
                <a:ahLst/>
                <a:cxnLst/>
                <a:rect l="l" t="t" r="r" b="b"/>
                <a:pathLst>
                  <a:path w="119062" h="9525">
                    <a:moveTo>
                      <a:pt x="0" y="0"/>
                    </a:moveTo>
                    <a:lnTo>
                      <a:pt x="119062" y="0"/>
                    </a:lnTo>
                  </a:path>
                </a:pathLst>
              </a:custGeom>
              <a:noFill/>
              <a:ln w="19050">
                <a:solidFill>
                  <a:srgbClr val="D97757"/>
                </a:solidFill>
              </a:ln>
            </p:spPr>
          </p:sp>
          <p:sp>
            <p:nvSpPr>
              <p:cNvPr id="72" name="Freeform 72"/>
              <p:cNvSpPr/>
              <p:nvPr/>
            </p:nvSpPr>
            <p:spPr>
              <a:xfrm>
                <a:off x="9548812" y="2402681"/>
                <a:ext cx="142875" cy="11906"/>
              </a:xfrm>
              <a:custGeom>
                <a:avLst/>
                <a:gdLst/>
                <a:ahLst/>
                <a:cxnLst/>
                <a:rect l="l" t="t" r="r" b="b"/>
                <a:pathLst>
                  <a:path w="142875" h="11906">
                    <a:moveTo>
                      <a:pt x="0" y="11906"/>
                    </a:moveTo>
                    <a:lnTo>
                      <a:pt x="71438" y="0"/>
                    </a:lnTo>
                    <a:lnTo>
                      <a:pt x="142875" y="11906"/>
                    </a:lnTo>
                  </a:path>
                </a:pathLst>
              </a:custGeom>
              <a:noFill/>
              <a:ln w="19050">
                <a:solidFill>
                  <a:srgbClr val="D97757"/>
                </a:solidFill>
              </a:ln>
            </p:spPr>
          </p:sp>
          <p:sp>
            <p:nvSpPr>
              <p:cNvPr id="73" name="Freeform 73"/>
              <p:cNvSpPr/>
              <p:nvPr/>
            </p:nvSpPr>
            <p:spPr>
              <a:xfrm>
                <a:off x="9620250" y="2378869"/>
                <a:ext cx="9525" cy="202406"/>
              </a:xfrm>
              <a:custGeom>
                <a:avLst/>
                <a:gdLst/>
                <a:ahLst/>
                <a:cxnLst/>
                <a:rect l="l" t="t" r="r" b="b"/>
                <a:pathLst>
                  <a:path w="9525" h="202406">
                    <a:moveTo>
                      <a:pt x="0" y="0"/>
                    </a:moveTo>
                    <a:lnTo>
                      <a:pt x="0" y="202406"/>
                    </a:lnTo>
                  </a:path>
                </a:pathLst>
              </a:custGeom>
              <a:noFill/>
              <a:ln w="19050">
                <a:solidFill>
                  <a:srgbClr val="D97757"/>
                </a:solidFill>
              </a:ln>
            </p:spPr>
          </p:sp>
          <p:sp>
            <p:nvSpPr>
              <p:cNvPr id="74" name="Freeform 74"/>
              <p:cNvSpPr/>
              <p:nvPr/>
            </p:nvSpPr>
            <p:spPr>
              <a:xfrm>
                <a:off x="9513094" y="2414588"/>
                <a:ext cx="71438" cy="107156"/>
              </a:xfrm>
              <a:custGeom>
                <a:avLst/>
                <a:gdLst/>
                <a:ahLst/>
                <a:cxnLst/>
                <a:rect l="l" t="t" r="r" b="b"/>
                <a:pathLst>
                  <a:path w="71438" h="107156">
                    <a:moveTo>
                      <a:pt x="71438" y="71438"/>
                    </a:moveTo>
                    <a:lnTo>
                      <a:pt x="35719" y="0"/>
                    </a:lnTo>
                    <a:lnTo>
                      <a:pt x="0" y="71438"/>
                    </a:lnTo>
                    <a:cubicBezTo>
                      <a:pt x="0" y="91164"/>
                      <a:pt x="15992" y="107156"/>
                      <a:pt x="35719" y="107156"/>
                    </a:cubicBezTo>
                    <a:cubicBezTo>
                      <a:pt x="55446" y="107156"/>
                      <a:pt x="71438" y="91164"/>
                      <a:pt x="71438" y="71438"/>
                    </a:cubicBezTo>
                  </a:path>
                </a:pathLst>
              </a:custGeom>
              <a:noFill/>
              <a:ln w="19050">
                <a:solidFill>
                  <a:srgbClr val="D97757"/>
                </a:solidFill>
              </a:ln>
            </p:spPr>
          </p:sp>
          <p:sp>
            <p:nvSpPr>
              <p:cNvPr id="75" name="Freeform 75"/>
              <p:cNvSpPr/>
              <p:nvPr/>
            </p:nvSpPr>
            <p:spPr>
              <a:xfrm>
                <a:off x="9655969" y="2414588"/>
                <a:ext cx="71438" cy="107156"/>
              </a:xfrm>
              <a:custGeom>
                <a:avLst/>
                <a:gdLst/>
                <a:ahLst/>
                <a:cxnLst/>
                <a:rect l="l" t="t" r="r" b="b"/>
                <a:pathLst>
                  <a:path w="71438" h="107156">
                    <a:moveTo>
                      <a:pt x="71438" y="71438"/>
                    </a:moveTo>
                    <a:lnTo>
                      <a:pt x="35719" y="0"/>
                    </a:lnTo>
                    <a:lnTo>
                      <a:pt x="0" y="71438"/>
                    </a:lnTo>
                    <a:cubicBezTo>
                      <a:pt x="0" y="91164"/>
                      <a:pt x="15992" y="107156"/>
                      <a:pt x="35719" y="107156"/>
                    </a:cubicBezTo>
                    <a:cubicBezTo>
                      <a:pt x="55446" y="107156"/>
                      <a:pt x="71438" y="91164"/>
                      <a:pt x="71438" y="71438"/>
                    </a:cubicBezTo>
                  </a:path>
                </a:pathLst>
              </a:custGeom>
              <a:noFill/>
              <a:ln w="19050">
                <a:solidFill>
                  <a:srgbClr val="D97757"/>
                </a:solidFill>
              </a:ln>
            </p:spPr>
          </p:sp>
        </p:grpSp>
        <p:sp>
          <p:nvSpPr>
            <p:cNvPr id="77" name="TextBox 77"/>
            <p:cNvSpPr txBox="1"/>
            <p:nvPr/>
          </p:nvSpPr>
          <p:spPr>
            <a:xfrm>
              <a:off x="9460230" y="2864168"/>
              <a:ext cx="1177883" cy="274320"/>
            </a:xfrm>
            <a:prstGeom prst="rect">
              <a:avLst/>
            </a:prstGeom>
            <a:noFill/>
            <a:ln>
              <a:noFill/>
            </a:ln>
          </p:spPr>
          <p:txBody>
            <a:bodyPr wrap="none" lIns="0" tIns="0" rIns="0" bIns="0" anchor="t" anchorCtr="0">
              <a:spAutoFit/>
            </a:bodyPr>
            <a:lstStyle/>
            <a:p>
              <a:pPr algn="l"/>
              <a:r>
                <a:rPr lang="zh-CN" sz="1350" b="1" dirty="0">
                  <a:solidFill>
                    <a:srgbClr val="191919"/>
                  </a:solidFill>
                  <a:latin typeface="Styrene A"/>
                  <a:ea typeface="Microsoft YaHei"/>
                  <a:cs typeface="Styrene A"/>
                </a:rPr>
                <a:t>Legal review</a:t>
              </a:r>
            </a:p>
          </p:txBody>
        </p:sp>
        <p:sp>
          <p:nvSpPr>
            <p:cNvPr id="78" name="Rectangle 78"/>
            <p:cNvSpPr/>
            <p:nvPr/>
          </p:nvSpPr>
          <p:spPr>
            <a:xfrm>
              <a:off x="9477375" y="3162300"/>
              <a:ext cx="1924050" cy="266700"/>
            </a:xfrm>
            <a:prstGeom prst="roundRect">
              <a:avLst>
                <a:gd name="adj" fmla="val 21429"/>
              </a:avLst>
            </a:prstGeom>
            <a:solidFill>
              <a:srgbClr val="F8FAFC"/>
            </a:solidFill>
            <a:ln>
              <a:noFill/>
            </a:ln>
          </p:spPr>
        </p:sp>
        <p:sp>
          <p:nvSpPr>
            <p:cNvPr id="79" name="TextBox 79"/>
            <p:cNvSpPr txBox="1"/>
            <p:nvPr/>
          </p:nvSpPr>
          <p:spPr>
            <a:xfrm>
              <a:off x="9920757" y="3246120"/>
              <a:ext cx="1037287" cy="182880"/>
            </a:xfrm>
            <a:prstGeom prst="rect">
              <a:avLst/>
            </a:prstGeom>
            <a:noFill/>
            <a:ln>
              <a:noFill/>
            </a:ln>
          </p:spPr>
          <p:txBody>
            <a:bodyPr wrap="none" lIns="0" tIns="0" rIns="0" bIns="0" anchor="t" anchorCtr="0">
              <a:spAutoFit/>
            </a:bodyPr>
            <a:lstStyle/>
            <a:p>
              <a:pPr algn="ctr"/>
              <a:r>
                <a:rPr lang="zh-CN" sz="900" b="1" dirty="0">
                  <a:solidFill>
                    <a:srgbClr val="D97757"/>
                  </a:solidFill>
                  <a:latin typeface="Anthropic Sans"/>
                  <a:ea typeface="Microsoft YaHei"/>
                  <a:cs typeface="Anthropic Sans"/>
                </a:rPr>
                <a:t>Production scale</a:t>
              </a:r>
            </a:p>
          </p:txBody>
        </p:sp>
        <p:sp>
          <p:nvSpPr>
            <p:cNvPr id="80" name="Ellipse 80"/>
            <p:cNvSpPr/>
            <p:nvPr/>
          </p:nvSpPr>
          <p:spPr>
            <a:xfrm>
              <a:off x="9501188" y="3738562"/>
              <a:ext cx="66675" cy="66675"/>
            </a:xfrm>
            <a:prstGeom prst="ellipse">
              <a:avLst/>
            </a:prstGeom>
            <a:solidFill>
              <a:srgbClr val="D97757"/>
            </a:solidFill>
            <a:ln>
              <a:noFill/>
            </a:ln>
          </p:spPr>
        </p:sp>
        <p:sp>
          <p:nvSpPr>
            <p:cNvPr id="81" name="TextBox 81"/>
            <p:cNvSpPr txBox="1"/>
            <p:nvPr/>
          </p:nvSpPr>
          <p:spPr>
            <a:xfrm>
              <a:off x="9636442" y="3714274"/>
              <a:ext cx="1110076" cy="198120"/>
            </a:xfrm>
            <a:prstGeom prst="rect">
              <a:avLst/>
            </a:prstGeom>
            <a:noFill/>
            <a:ln>
              <a:noFill/>
            </a:ln>
          </p:spPr>
          <p:txBody>
            <a:bodyPr wrap="none" lIns="0" tIns="0" rIns="0" bIns="0" anchor="t" anchorCtr="0">
              <a:spAutoFit/>
            </a:bodyPr>
            <a:lstStyle/>
            <a:p>
              <a:pPr algn="l"/>
              <a:r>
                <a:rPr lang="zh-CN" sz="975" b="1" dirty="0">
                  <a:solidFill>
                    <a:srgbClr val="191919"/>
                  </a:solidFill>
                  <a:latin typeface="Anthropic Sans"/>
                  <a:ea typeface="Microsoft YaHei"/>
                  <a:cs typeface="Anthropic Sans"/>
                </a:rPr>
                <a:t>Contract review</a:t>
              </a:r>
            </a:p>
          </p:txBody>
        </p:sp>
        <p:sp>
          <p:nvSpPr>
            <p:cNvPr id="82" name="TextBox 82"/>
            <p:cNvSpPr txBox="1"/>
            <p:nvPr/>
          </p:nvSpPr>
          <p:spPr>
            <a:xfrm>
              <a:off x="9637395" y="3903345"/>
              <a:ext cx="1595056"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nthropic Sans"/>
                  <a:ea typeface="Microsoft YaHei"/>
                  <a:cs typeface="Anthropic Sans"/>
                </a:rPr>
                <a:t>Clause-level risk surfacing</a:t>
              </a:r>
            </a:p>
          </p:txBody>
        </p:sp>
        <p:sp>
          <p:nvSpPr>
            <p:cNvPr id="83" name="Ellipse 83"/>
            <p:cNvSpPr/>
            <p:nvPr/>
          </p:nvSpPr>
          <p:spPr>
            <a:xfrm>
              <a:off x="9501188" y="4310062"/>
              <a:ext cx="66675" cy="66675"/>
            </a:xfrm>
            <a:prstGeom prst="ellipse">
              <a:avLst/>
            </a:prstGeom>
            <a:solidFill>
              <a:srgbClr val="D97757"/>
            </a:solidFill>
            <a:ln>
              <a:noFill/>
            </a:ln>
          </p:spPr>
        </p:sp>
        <p:sp>
          <p:nvSpPr>
            <p:cNvPr id="84" name="TextBox 84"/>
            <p:cNvSpPr txBox="1"/>
            <p:nvPr/>
          </p:nvSpPr>
          <p:spPr>
            <a:xfrm>
              <a:off x="9636442" y="4285774"/>
              <a:ext cx="1335329" cy="198120"/>
            </a:xfrm>
            <a:prstGeom prst="rect">
              <a:avLst/>
            </a:prstGeom>
            <a:noFill/>
            <a:ln>
              <a:noFill/>
            </a:ln>
          </p:spPr>
          <p:txBody>
            <a:bodyPr wrap="none" lIns="0" tIns="0" rIns="0" bIns="0" anchor="t" anchorCtr="0">
              <a:spAutoFit/>
            </a:bodyPr>
            <a:lstStyle/>
            <a:p>
              <a:pPr algn="l"/>
              <a:r>
                <a:rPr lang="zh-CN" sz="975" b="1" dirty="0">
                  <a:solidFill>
                    <a:srgbClr val="191919"/>
                  </a:solidFill>
                  <a:latin typeface="Anthropic Sans"/>
                  <a:ea typeface="Microsoft YaHei"/>
                  <a:cs typeface="Anthropic Sans"/>
                </a:rPr>
                <a:t>Document discovery</a:t>
              </a:r>
            </a:p>
          </p:txBody>
        </p:sp>
        <p:sp>
          <p:nvSpPr>
            <p:cNvPr id="85" name="TextBox 85"/>
            <p:cNvSpPr txBox="1"/>
            <p:nvPr/>
          </p:nvSpPr>
          <p:spPr>
            <a:xfrm>
              <a:off x="9637395" y="4474845"/>
              <a:ext cx="1865090"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nthropic Sans"/>
                  <a:ea typeface="Microsoft YaHei"/>
                  <a:cs typeface="Anthropic Sans"/>
                </a:rPr>
                <a:t>Sifting large corpora for signal</a:t>
              </a:r>
            </a:p>
          </p:txBody>
        </p:sp>
        <p:sp>
          <p:nvSpPr>
            <p:cNvPr id="86" name="Ellipse 86"/>
            <p:cNvSpPr/>
            <p:nvPr/>
          </p:nvSpPr>
          <p:spPr>
            <a:xfrm>
              <a:off x="9501188" y="4881562"/>
              <a:ext cx="66675" cy="66675"/>
            </a:xfrm>
            <a:prstGeom prst="ellipse">
              <a:avLst/>
            </a:prstGeom>
            <a:solidFill>
              <a:srgbClr val="D97757"/>
            </a:solidFill>
            <a:ln>
              <a:noFill/>
            </a:ln>
          </p:spPr>
        </p:sp>
        <p:sp>
          <p:nvSpPr>
            <p:cNvPr id="87" name="TextBox 87"/>
            <p:cNvSpPr txBox="1"/>
            <p:nvPr/>
          </p:nvSpPr>
          <p:spPr>
            <a:xfrm>
              <a:off x="9636442" y="4857274"/>
              <a:ext cx="1376284" cy="198120"/>
            </a:xfrm>
            <a:prstGeom prst="rect">
              <a:avLst/>
            </a:prstGeom>
            <a:noFill/>
            <a:ln>
              <a:noFill/>
            </a:ln>
          </p:spPr>
          <p:txBody>
            <a:bodyPr wrap="none" lIns="0" tIns="0" rIns="0" bIns="0" anchor="t" anchorCtr="0">
              <a:spAutoFit/>
            </a:bodyPr>
            <a:lstStyle/>
            <a:p>
              <a:pPr algn="l"/>
              <a:r>
                <a:rPr lang="zh-CN" sz="975" b="1" dirty="0">
                  <a:solidFill>
                    <a:srgbClr val="191919"/>
                  </a:solidFill>
                  <a:latin typeface="Anthropic Sans"/>
                  <a:ea typeface="Microsoft YaHei"/>
                  <a:cs typeface="Anthropic Sans"/>
                </a:rPr>
                <a:t>Consistent judgment</a:t>
              </a:r>
            </a:p>
          </p:txBody>
        </p:sp>
        <p:sp>
          <p:nvSpPr>
            <p:cNvPr id="88" name="TextBox 88"/>
            <p:cNvSpPr txBox="1"/>
            <p:nvPr/>
          </p:nvSpPr>
          <p:spPr>
            <a:xfrm>
              <a:off x="9637395" y="5046345"/>
              <a:ext cx="2129123" cy="182880"/>
            </a:xfrm>
            <a:prstGeom prst="rect">
              <a:avLst/>
            </a:prstGeom>
            <a:noFill/>
            <a:ln>
              <a:noFill/>
            </a:ln>
          </p:spPr>
          <p:txBody>
            <a:bodyPr wrap="none" lIns="0" tIns="0" rIns="0" bIns="0" anchor="t" anchorCtr="0">
              <a:spAutoFit/>
            </a:bodyPr>
            <a:lstStyle/>
            <a:p>
              <a:pPr algn="l"/>
              <a:r>
                <a:rPr lang="zh-CN" sz="900" dirty="0">
                  <a:solidFill>
                    <a:srgbClr val="64748B"/>
                  </a:solidFill>
                  <a:latin typeface="Anthropic Sans"/>
                  <a:ea typeface="Microsoft YaHei"/>
                  <a:cs typeface="Anthropic Sans"/>
                </a:rPr>
                <a:t>Same rubric on file 1 and file 10,000</a:t>
              </a:r>
            </a:p>
          </p:txBody>
        </p:sp>
      </p:grpSp>
      <p:grpSp>
        <p:nvGrpSpPr>
          <p:cNvPr id="91" name="Group 91"/>
          <p:cNvGrpSpPr/>
          <p:nvPr/>
        </p:nvGrpSpPr>
        <p:grpSpPr>
          <a:xfrm>
            <a:off x="3502878" y="5974556"/>
            <a:ext cx="5376743" cy="228600"/>
            <a:chOff x="3502878" y="5974556"/>
            <a:chExt cx="5376743" cy="228600"/>
          </a:xfrm>
        </p:grpSpPr>
        <p:sp>
          <p:nvSpPr>
            <p:cNvPr id="90" name="TextBox 90"/>
            <p:cNvSpPr txBox="1"/>
            <p:nvPr/>
          </p:nvSpPr>
          <p:spPr>
            <a:xfrm>
              <a:off x="3502878" y="5974556"/>
              <a:ext cx="5376743" cy="228600"/>
            </a:xfrm>
            <a:prstGeom prst="rect">
              <a:avLst/>
            </a:prstGeom>
            <a:noFill/>
            <a:ln>
              <a:noFill/>
            </a:ln>
          </p:spPr>
          <p:txBody>
            <a:bodyPr wrap="none" lIns="0" tIns="0" rIns="0" bIns="0" anchor="t" anchorCtr="0">
              <a:spAutoFit/>
            </a:bodyPr>
            <a:lstStyle/>
            <a:p>
              <a:pPr algn="ctr"/>
              <a:r>
                <a:rPr lang="zh-CN" sz="1125" dirty="0">
                  <a:solidFill>
                    <a:srgbClr val="191919"/>
                  </a:solidFill>
                  <a:latin typeface="Anthropic Sans"/>
                  <a:ea typeface="Microsoft YaHei"/>
                  <a:cs typeface="Anthropic Sans"/>
                </a:rPr>
                <a:t xml:space="preserve">One agent, one context — </a:t>
              </a:r>
              <a:r>
                <a:rPr lang="zh-CN" sz="1125" b="1" dirty="0">
                  <a:solidFill>
                    <a:srgbClr val="D97757"/>
                  </a:solidFill>
                  <a:latin typeface="Anthropic Sans"/>
                  <a:ea typeface="Microsoft YaHei"/>
                  <a:cs typeface="Anthropic Sans"/>
                </a:rPr>
                <a:t>no hand-offs between analysis and production</a:t>
              </a:r>
              <a:r>
                <a:rPr lang="zh-CN" sz="1125" dirty="0">
                  <a:solidFill>
                    <a:srgbClr val="191919"/>
                  </a:solidFill>
                  <a:latin typeface="Anthropic Sans"/>
                  <a:ea typeface="Microsoft YaHei"/>
                  <a:cs typeface="Anthropic Sans"/>
                </a:rPr>
                <a:t>.</a:t>
              </a:r>
            </a:p>
          </p:txBody>
        </p:sp>
      </p:grpSp>
      <p:grpSp>
        <p:nvGrpSpPr>
          <p:cNvPr id="94" name="Group 94"/>
          <p:cNvGrpSpPr/>
          <p:nvPr/>
        </p:nvGrpSpPr>
        <p:grpSpPr>
          <a:xfrm>
            <a:off x="751522" y="6502241"/>
            <a:ext cx="10688955" cy="167640"/>
            <a:chOff x="751522" y="6502241"/>
            <a:chExt cx="10688955" cy="167640"/>
          </a:xfrm>
        </p:grpSpPr>
        <p:sp>
          <p:nvSpPr>
            <p:cNvPr id="92" name="TextBox 92"/>
            <p:cNvSpPr txBox="1"/>
            <p:nvPr/>
          </p:nvSpPr>
          <p:spPr>
            <a:xfrm>
              <a:off x="751522" y="6502241"/>
              <a:ext cx="3964948" cy="167640"/>
            </a:xfrm>
            <a:prstGeom prst="rect">
              <a:avLst/>
            </a:prstGeom>
            <a:noFill/>
            <a:ln>
              <a:noFill/>
            </a:ln>
          </p:spPr>
          <p:txBody>
            <a:bodyPr wrap="none" lIns="0" tIns="0" rIns="0" bIns="0" anchor="t" anchorCtr="0">
              <a:spAutoFit/>
            </a:bodyPr>
            <a:lstStyle/>
            <a:p>
              <a:pPr algn="l"/>
              <a:r>
                <a:rPr lang="zh-CN" sz="825" dirty="0">
                  <a:solidFill>
                    <a:srgbClr val="94A3B8"/>
                  </a:solidFill>
                  <a:latin typeface="Anthropic Sans"/>
                  <a:ea typeface="Microsoft YaHei"/>
                  <a:cs typeface="Anthropic Sans"/>
                </a:rPr>
                <a:t>Source: Anthropic launch announcement; early-access partner workloads</a:t>
              </a:r>
            </a:p>
          </p:txBody>
        </p:sp>
        <p:sp>
          <p:nvSpPr>
            <p:cNvPr id="93" name="TextBox 93"/>
            <p:cNvSpPr txBox="1"/>
            <p:nvPr/>
          </p:nvSpPr>
          <p:spPr>
            <a:xfrm>
              <a:off x="11298507" y="6502241"/>
              <a:ext cx="141970" cy="167640"/>
            </a:xfrm>
            <a:prstGeom prst="rect">
              <a:avLst/>
            </a:prstGeom>
            <a:noFill/>
            <a:ln>
              <a:noFill/>
            </a:ln>
          </p:spPr>
          <p:txBody>
            <a:bodyPr wrap="none" lIns="0" tIns="0" rIns="0" bIns="0" anchor="t" anchorCtr="0">
              <a:spAutoFit/>
            </a:bodyPr>
            <a:lstStyle/>
            <a:p>
              <a:pPr algn="r"/>
              <a:r>
                <a:rPr lang="zh-CN" sz="825" dirty="0">
                  <a:solidFill>
                    <a:srgbClr val="94A3B8"/>
                  </a:solidFill>
                  <a:latin typeface="Anthropic Sans"/>
                  <a:ea typeface="Microsoft YaHei"/>
                  <a:cs typeface="Anthropic Sans"/>
                </a:rPr>
                <a:t>10</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0" fill="hold"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image">
                                      <p:cBhvr>
                                        <p:cTn id="7" dur="400"/>
                                        <p:tgtEl>
                                          <p:spTgt spid="9"/>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29"/>
                                        </p:tgtEl>
                                        <p:attrNameLst>
                                          <p:attrName>style.visibility</p:attrName>
                                        </p:attrNameLst>
                                      </p:cBhvr>
                                      <p:to>
                                        <p:strVal val="visible"/>
                                      </p:to>
                                    </p:set>
                                    <p:animEffect transition="in" filter="fade">
                                      <p:cBhvr>
                                        <p:cTn id="11" dur="400"/>
                                        <p:tgtEl>
                                          <p:spTgt spid="29"/>
                                        </p:tgtEl>
                                      </p:cBhvr>
                                    </p:animEffect>
                                  </p:childTnLst>
                                </p:cTn>
                              </p:par>
                            </p:childTnLst>
                          </p:cTn>
                        </p:par>
                        <p:par>
                          <p:cTn id="12" fill="hold">
                            <p:stCondLst>
                              <p:cond delay="1800"/>
                            </p:stCondLst>
                            <p:childTnLst>
                              <p:par>
                                <p:cTn id="13" presetID="22" presetClass="entr" presetSubtype="1" fill="hold" nodeType="afterEffect">
                                  <p:stCondLst>
                                    <p:cond delay="0"/>
                                  </p:stCondLst>
                                  <p:childTnLst>
                                    <p:set>
                                      <p:cBhvr>
                                        <p:cTn id="14" dur="1" fill="hold">
                                          <p:stCondLst>
                                            <p:cond delay="0"/>
                                          </p:stCondLst>
                                        </p:cTn>
                                        <p:tgtEl>
                                          <p:spTgt spid="50"/>
                                        </p:tgtEl>
                                        <p:attrNameLst>
                                          <p:attrName>style.visibility</p:attrName>
                                        </p:attrNameLst>
                                      </p:cBhvr>
                                      <p:to>
                                        <p:strVal val="visible"/>
                                      </p:to>
                                    </p:set>
                                    <p:animEffect transition="in" filter="wipe(left)">
                                      <p:cBhvr>
                                        <p:cTn id="15" dur="400"/>
                                        <p:tgtEl>
                                          <p:spTgt spid="50"/>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68"/>
                                        </p:tgtEl>
                                        <p:attrNameLst>
                                          <p:attrName>style.visibility</p:attrName>
                                        </p:attrNameLst>
                                      </p:cBhvr>
                                      <p:to>
                                        <p:strVal val="visible"/>
                                      </p:to>
                                    </p:set>
                                    <p:animEffect transition="in" filter="slide(fromBottom)">
                                      <p:cBhvr>
                                        <p:cTn id="19" dur="400"/>
                                        <p:tgtEl>
                                          <p:spTgt spid="68"/>
                                        </p:tgtEl>
                                      </p:cBhvr>
                                    </p:animEffect>
                                  </p:childTnLst>
                                </p:cTn>
                              </p:par>
                            </p:childTnLst>
                          </p:cTn>
                        </p:par>
                        <p:par>
                          <p:cTn id="20" fill="hold">
                            <p:stCondLst>
                              <p:cond delay="3600"/>
                            </p:stCondLst>
                            <p:childTnLst>
                              <p:par>
                                <p:cTn id="21" presetID="23" presetClass="entr" presetSubtype="0" fill="hold" nodeType="afterEffect">
                                  <p:stCondLst>
                                    <p:cond delay="0"/>
                                  </p:stCondLst>
                                  <p:childTnLst>
                                    <p:set>
                                      <p:cBhvr>
                                        <p:cTn id="22" dur="1" fill="hold">
                                          <p:stCondLst>
                                            <p:cond delay="0"/>
                                          </p:stCondLst>
                                        </p:cTn>
                                        <p:tgtEl>
                                          <p:spTgt spid="89"/>
                                        </p:tgtEl>
                                        <p:attrNameLst>
                                          <p:attrName>style.visibility</p:attrName>
                                        </p:attrNameLst>
                                      </p:cBhvr>
                                      <p:to>
                                        <p:strVal val="visible"/>
                                      </p:to>
                                    </p:set>
                                    <p:animEffect transition="in" filter="image">
                                      <p:cBhvr>
                                        <p:cTn id="23" dur="400"/>
                                        <p:tgtEl>
                                          <p:spTgt spid="89"/>
                                        </p:tgtEl>
                                      </p:cBhvr>
                                    </p:animEffect>
                                  </p:childTnLst>
                                </p:cTn>
                              </p:par>
                            </p:childTnLst>
                          </p:cTn>
                        </p:par>
                        <p:par>
                          <p:cTn id="24" fill="hold">
                            <p:stCondLst>
                              <p:cond delay="4500"/>
                            </p:stCondLst>
                            <p:childTnLst>
                              <p:par>
                                <p:cTn id="25" presetID="10" presetClass="entr" presetSubtype="0" fill="hold" nodeType="afterEffect">
                                  <p:stCondLst>
                                    <p:cond delay="0"/>
                                  </p:stCondLst>
                                  <p:childTnLst>
                                    <p:set>
                                      <p:cBhvr>
                                        <p:cTn id="26" dur="1" fill="hold">
                                          <p:stCondLst>
                                            <p:cond delay="0"/>
                                          </p:stCondLst>
                                        </p:cTn>
                                        <p:tgtEl>
                                          <p:spTgt spid="91"/>
                                        </p:tgtEl>
                                        <p:attrNameLst>
                                          <p:attrName>style.visibility</p:attrName>
                                        </p:attrNameLst>
                                      </p:cBhvr>
                                      <p:to>
                                        <p:strVal val="visible"/>
                                      </p:to>
                                    </p:set>
                                    <p:animEffect transition="in" filter="fade">
                                      <p:cBhvr>
                                        <p:cTn id="27" dur="400"/>
                                        <p:tgtEl>
                                          <p:spTgt spid="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29" grpId="0"/>
      <p:bldP spid="50" grpId="0"/>
      <p:bldP spid="68" grpId="0"/>
      <p:bldP spid="89" grpId="0"/>
      <p:bldP spid="9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731520" y="495300"/>
            <a:ext cx="8394802" cy="842962"/>
            <a:chOff x="731520" y="495300"/>
            <a:chExt cx="8394802" cy="842962"/>
          </a:xfrm>
        </p:grpSpPr>
        <p:sp>
          <p:nvSpPr>
            <p:cNvPr id="3" name="Rectangle 3"/>
            <p:cNvSpPr/>
            <p:nvPr/>
          </p:nvSpPr>
          <p:spPr>
            <a:xfrm>
              <a:off x="762000" y="495300"/>
              <a:ext cx="419100" cy="38100"/>
            </a:xfrm>
            <a:prstGeom prst="roundRect">
              <a:avLst>
                <a:gd name="adj" fmla="val 50000"/>
              </a:avLst>
            </a:prstGeom>
            <a:solidFill>
              <a:srgbClr val="D97757"/>
            </a:solidFill>
            <a:ln>
              <a:noFill/>
            </a:ln>
          </p:spPr>
        </p:sp>
        <p:sp>
          <p:nvSpPr>
            <p:cNvPr id="4" name="TextBox 4"/>
            <p:cNvSpPr txBox="1"/>
            <p:nvPr/>
          </p:nvSpPr>
          <p:spPr>
            <a:xfrm>
              <a:off x="731520" y="693420"/>
              <a:ext cx="8394802" cy="487680"/>
            </a:xfrm>
            <a:prstGeom prst="rect">
              <a:avLst/>
            </a:prstGeom>
            <a:noFill/>
            <a:ln>
              <a:noFill/>
            </a:ln>
          </p:spPr>
          <p:txBody>
            <a:bodyPr wrap="none" lIns="0" tIns="0" rIns="0" bIns="0" anchor="t" anchorCtr="0">
              <a:spAutoFit/>
            </a:bodyPr>
            <a:lstStyle/>
            <a:p>
              <a:pPr algn="l"/>
              <a:r>
                <a:rPr lang="zh-CN" sz="2400" b="1" dirty="0">
                  <a:solidFill>
                    <a:srgbClr val="191919"/>
                  </a:solidFill>
                  <a:latin typeface="Styrene A"/>
                  <a:ea typeface="Microsoft YaHei"/>
                  <a:cs typeface="Styrene A"/>
                </a:rPr>
                <a:t>Same Messages API, a few Fable-specific behaviors</a:t>
              </a:r>
            </a:p>
          </p:txBody>
        </p:sp>
        <p:sp>
          <p:nvSpPr>
            <p:cNvPr id="5" name="TextBox 5"/>
            <p:cNvSpPr txBox="1"/>
            <p:nvPr/>
          </p:nvSpPr>
          <p:spPr>
            <a:xfrm>
              <a:off x="748665" y="1124902"/>
              <a:ext cx="5517806" cy="213360"/>
            </a:xfrm>
            <a:prstGeom prst="rect">
              <a:avLst/>
            </a:prstGeom>
            <a:noFill/>
            <a:ln>
              <a:noFill/>
            </a:ln>
          </p:spPr>
          <p:txBody>
            <a:bodyPr wrap="none" lIns="0" tIns="0" rIns="0" bIns="0" anchor="t" anchorCtr="0">
              <a:spAutoFit/>
            </a:bodyPr>
            <a:lstStyle/>
            <a:p>
              <a:pPr algn="l"/>
              <a:r>
                <a:rPr lang="zh-CN" sz="1050" b="1" dirty="0">
                  <a:solidFill>
                    <a:srgbClr val="64748B"/>
                  </a:solidFill>
                  <a:latin typeface="Anthropic Sans"/>
                  <a:ea typeface="Microsoft YaHei"/>
                  <a:cs typeface="Anthropic Sans"/>
                </a:rPr>
                <a:t>07 · DEVELOPER EXPERIENCE — A MODEL-ID SWAP PLUS THREE THINGS TO PLAN FOR</a:t>
              </a:r>
            </a:p>
          </p:txBody>
        </p:sp>
      </p:grpSp>
      <p:grpSp>
        <p:nvGrpSpPr>
          <p:cNvPr id="27" name="Group 27"/>
          <p:cNvGrpSpPr/>
          <p:nvPr/>
        </p:nvGrpSpPr>
        <p:grpSpPr>
          <a:xfrm>
            <a:off x="762000" y="1619250"/>
            <a:ext cx="2476500" cy="4286250"/>
            <a:chOff x="762000" y="1619250"/>
            <a:chExt cx="2476500" cy="4286250"/>
          </a:xfrm>
        </p:grpSpPr>
        <p:sp>
          <p:nvSpPr>
            <p:cNvPr id="7" name="Rectangle 7"/>
            <p:cNvSpPr/>
            <p:nvPr/>
          </p:nvSpPr>
          <p:spPr>
            <a:xfrm>
              <a:off x="762000" y="1619250"/>
              <a:ext cx="2476500" cy="4286250"/>
            </a:xfrm>
            <a:prstGeom prst="roundRect">
              <a:avLst>
                <a:gd name="adj" fmla="val 4615"/>
              </a:avLst>
            </a:prstGeom>
            <a:solidFill>
              <a:srgbClr val="FFFFFF"/>
            </a:solidFill>
            <a:ln w="14288">
              <a:solidFill>
                <a:srgbClr val="E2E8F0"/>
              </a:solidFill>
            </a:ln>
          </p:spPr>
        </p:sp>
        <p:sp>
          <p:nvSpPr>
            <p:cNvPr id="8" name="Freeform 8"/>
            <p:cNvSpPr/>
            <p:nvPr/>
          </p:nvSpPr>
          <p:spPr>
            <a:xfrm>
              <a:off x="762000" y="1619250"/>
              <a:ext cx="2476500" cy="933450"/>
            </a:xfrm>
            <a:custGeom>
              <a:avLst/>
              <a:gdLst/>
              <a:ahLst/>
              <a:cxnLst/>
              <a:rect l="l" t="t" r="r" b="b"/>
              <a:pathLst>
                <a:path w="2476500" h="933450">
                  <a:moveTo>
                    <a:pt x="114300" y="0"/>
                  </a:moveTo>
                  <a:lnTo>
                    <a:pt x="2362200" y="0"/>
                  </a:lnTo>
                  <a:cubicBezTo>
                    <a:pt x="2425326" y="0"/>
                    <a:pt x="2476500" y="51174"/>
                    <a:pt x="2476500" y="114300"/>
                  </a:cubicBezTo>
                  <a:lnTo>
                    <a:pt x="2476500" y="933450"/>
                  </a:lnTo>
                  <a:lnTo>
                    <a:pt x="0" y="933450"/>
                  </a:lnTo>
                  <a:lnTo>
                    <a:pt x="0" y="114300"/>
                  </a:lnTo>
                  <a:cubicBezTo>
                    <a:pt x="0" y="51174"/>
                    <a:pt x="51174" y="0"/>
                    <a:pt x="114300" y="0"/>
                  </a:cubicBezTo>
                  <a:close/>
                </a:path>
              </a:pathLst>
            </a:custGeom>
            <a:solidFill>
              <a:srgbClr val="F8FAFC"/>
            </a:solidFill>
            <a:ln>
              <a:noFill/>
            </a:ln>
          </p:spPr>
        </p:sp>
        <p:grpSp>
          <p:nvGrpSpPr>
            <p:cNvPr id="15" name="Group 15"/>
            <p:cNvGrpSpPr/>
            <p:nvPr/>
          </p:nvGrpSpPr>
          <p:grpSpPr>
            <a:xfrm>
              <a:off x="1871662" y="1852612"/>
              <a:ext cx="257176" cy="257176"/>
              <a:chOff x="1871662" y="1852612"/>
              <a:chExt cx="257176" cy="257176"/>
            </a:xfrm>
          </p:grpSpPr>
          <p:sp>
            <p:nvSpPr>
              <p:cNvPr id="9" name="Freeform 9"/>
              <p:cNvSpPr/>
              <p:nvPr/>
            </p:nvSpPr>
            <p:spPr>
              <a:xfrm>
                <a:off x="2000250" y="1995488"/>
                <a:ext cx="100012" cy="114300"/>
              </a:xfrm>
              <a:custGeom>
                <a:avLst/>
                <a:gdLst/>
                <a:ahLst/>
                <a:cxnLst/>
                <a:rect l="l" t="t" r="r" b="b"/>
                <a:pathLst>
                  <a:path w="100012" h="114300">
                    <a:moveTo>
                      <a:pt x="50006" y="0"/>
                    </a:moveTo>
                    <a:cubicBezTo>
                      <a:pt x="22389" y="0"/>
                      <a:pt x="0" y="22389"/>
                      <a:pt x="0" y="50006"/>
                    </a:cubicBezTo>
                    <a:lnTo>
                      <a:pt x="0" y="64294"/>
                    </a:lnTo>
                    <a:cubicBezTo>
                      <a:pt x="0" y="91911"/>
                      <a:pt x="22389" y="114300"/>
                      <a:pt x="50006" y="114300"/>
                    </a:cubicBezTo>
                    <a:cubicBezTo>
                      <a:pt x="77624" y="114300"/>
                      <a:pt x="100012" y="91911"/>
                      <a:pt x="100012" y="64294"/>
                    </a:cubicBezTo>
                    <a:lnTo>
                      <a:pt x="100012" y="38576"/>
                    </a:lnTo>
                  </a:path>
                </a:pathLst>
              </a:custGeom>
              <a:noFill/>
              <a:ln w="19050">
                <a:solidFill>
                  <a:srgbClr val="D97757"/>
                </a:solidFill>
              </a:ln>
            </p:spPr>
          </p:sp>
          <p:sp>
            <p:nvSpPr>
              <p:cNvPr id="10" name="Freeform 10"/>
              <p:cNvSpPr/>
              <p:nvPr/>
            </p:nvSpPr>
            <p:spPr>
              <a:xfrm>
                <a:off x="1900238" y="1995488"/>
                <a:ext cx="100012" cy="114300"/>
              </a:xfrm>
              <a:custGeom>
                <a:avLst/>
                <a:gdLst/>
                <a:ahLst/>
                <a:cxnLst/>
                <a:rect l="l" t="t" r="r" b="b"/>
                <a:pathLst>
                  <a:path w="100012" h="114300">
                    <a:moveTo>
                      <a:pt x="50006" y="0"/>
                    </a:moveTo>
                    <a:cubicBezTo>
                      <a:pt x="77624" y="0"/>
                      <a:pt x="100012" y="22389"/>
                      <a:pt x="100012" y="50006"/>
                    </a:cubicBezTo>
                    <a:lnTo>
                      <a:pt x="100012" y="64294"/>
                    </a:lnTo>
                    <a:cubicBezTo>
                      <a:pt x="100012" y="91911"/>
                      <a:pt x="77624" y="114300"/>
                      <a:pt x="50006" y="114300"/>
                    </a:cubicBezTo>
                    <a:cubicBezTo>
                      <a:pt x="22389" y="114300"/>
                      <a:pt x="0" y="91911"/>
                      <a:pt x="0" y="64294"/>
                    </a:cubicBezTo>
                    <a:lnTo>
                      <a:pt x="0" y="38576"/>
                    </a:lnTo>
                  </a:path>
                </a:pathLst>
              </a:custGeom>
              <a:noFill/>
              <a:ln w="19050">
                <a:solidFill>
                  <a:srgbClr val="D97757"/>
                </a:solidFill>
              </a:ln>
            </p:spPr>
          </p:sp>
          <p:sp>
            <p:nvSpPr>
              <p:cNvPr id="11" name="Freeform 11"/>
              <p:cNvSpPr/>
              <p:nvPr/>
            </p:nvSpPr>
            <p:spPr>
              <a:xfrm>
                <a:off x="2071688" y="1938338"/>
                <a:ext cx="57150" cy="100012"/>
              </a:xfrm>
              <a:custGeom>
                <a:avLst/>
                <a:gdLst/>
                <a:ahLst/>
                <a:cxnLst/>
                <a:rect l="l" t="t" r="r" b="b"/>
                <a:pathLst>
                  <a:path w="57150" h="100012">
                    <a:moveTo>
                      <a:pt x="7144" y="100012"/>
                    </a:moveTo>
                    <a:cubicBezTo>
                      <a:pt x="34761" y="100012"/>
                      <a:pt x="57150" y="77624"/>
                      <a:pt x="57150" y="50006"/>
                    </a:cubicBezTo>
                    <a:cubicBezTo>
                      <a:pt x="57150" y="22389"/>
                      <a:pt x="34761" y="0"/>
                      <a:pt x="7144" y="0"/>
                    </a:cubicBezTo>
                    <a:lnTo>
                      <a:pt x="0" y="0"/>
                    </a:lnTo>
                  </a:path>
                </a:pathLst>
              </a:custGeom>
              <a:noFill/>
              <a:ln w="19050">
                <a:solidFill>
                  <a:srgbClr val="D97757"/>
                </a:solidFill>
              </a:ln>
            </p:spPr>
          </p:sp>
          <p:sp>
            <p:nvSpPr>
              <p:cNvPr id="12" name="Freeform 12"/>
              <p:cNvSpPr/>
              <p:nvPr/>
            </p:nvSpPr>
            <p:spPr>
              <a:xfrm>
                <a:off x="2000250" y="1852612"/>
                <a:ext cx="100012" cy="90011"/>
              </a:xfrm>
              <a:custGeom>
                <a:avLst/>
                <a:gdLst/>
                <a:ahLst/>
                <a:cxnLst/>
                <a:rect l="l" t="t" r="r" b="b"/>
                <a:pathLst>
                  <a:path w="100012" h="90011">
                    <a:moveTo>
                      <a:pt x="100012" y="90011"/>
                    </a:moveTo>
                    <a:lnTo>
                      <a:pt x="100012" y="50006"/>
                    </a:lnTo>
                    <a:cubicBezTo>
                      <a:pt x="100012" y="22389"/>
                      <a:pt x="77624" y="0"/>
                      <a:pt x="50006" y="0"/>
                    </a:cubicBezTo>
                    <a:cubicBezTo>
                      <a:pt x="22389" y="0"/>
                      <a:pt x="0" y="22389"/>
                      <a:pt x="0" y="50006"/>
                    </a:cubicBezTo>
                  </a:path>
                </a:pathLst>
              </a:custGeom>
              <a:noFill/>
              <a:ln w="19050">
                <a:solidFill>
                  <a:srgbClr val="D97757"/>
                </a:solidFill>
              </a:ln>
            </p:spPr>
          </p:sp>
          <p:sp>
            <p:nvSpPr>
              <p:cNvPr id="13" name="Freeform 13"/>
              <p:cNvSpPr/>
              <p:nvPr/>
            </p:nvSpPr>
            <p:spPr>
              <a:xfrm>
                <a:off x="1871662" y="1938338"/>
                <a:ext cx="57150" cy="100012"/>
              </a:xfrm>
              <a:custGeom>
                <a:avLst/>
                <a:gdLst/>
                <a:ahLst/>
                <a:cxnLst/>
                <a:rect l="l" t="t" r="r" b="b"/>
                <a:pathLst>
                  <a:path w="57150" h="100012">
                    <a:moveTo>
                      <a:pt x="50006" y="100012"/>
                    </a:moveTo>
                    <a:cubicBezTo>
                      <a:pt x="22389" y="100012"/>
                      <a:pt x="0" y="77624"/>
                      <a:pt x="0" y="50006"/>
                    </a:cubicBezTo>
                    <a:cubicBezTo>
                      <a:pt x="0" y="22389"/>
                      <a:pt x="22389" y="0"/>
                      <a:pt x="50006" y="0"/>
                    </a:cubicBezTo>
                    <a:lnTo>
                      <a:pt x="57150" y="0"/>
                    </a:lnTo>
                  </a:path>
                </a:pathLst>
              </a:custGeom>
              <a:noFill/>
              <a:ln w="19050">
                <a:solidFill>
                  <a:srgbClr val="D97757"/>
                </a:solidFill>
              </a:ln>
            </p:spPr>
          </p:sp>
          <p:sp>
            <p:nvSpPr>
              <p:cNvPr id="14" name="Freeform 14"/>
              <p:cNvSpPr/>
              <p:nvPr/>
            </p:nvSpPr>
            <p:spPr>
              <a:xfrm>
                <a:off x="1900238" y="1852612"/>
                <a:ext cx="100012" cy="192881"/>
              </a:xfrm>
              <a:custGeom>
                <a:avLst/>
                <a:gdLst/>
                <a:ahLst/>
                <a:cxnLst/>
                <a:rect l="l" t="t" r="r" b="b"/>
                <a:pathLst>
                  <a:path w="100012" h="192881">
                    <a:moveTo>
                      <a:pt x="0" y="90011"/>
                    </a:moveTo>
                    <a:lnTo>
                      <a:pt x="0" y="50006"/>
                    </a:lnTo>
                    <a:cubicBezTo>
                      <a:pt x="0" y="22389"/>
                      <a:pt x="22389" y="0"/>
                      <a:pt x="50006" y="0"/>
                    </a:cubicBezTo>
                    <a:cubicBezTo>
                      <a:pt x="77624" y="0"/>
                      <a:pt x="100012" y="22389"/>
                      <a:pt x="100012" y="50006"/>
                    </a:cubicBezTo>
                    <a:lnTo>
                      <a:pt x="100012" y="192881"/>
                    </a:lnTo>
                  </a:path>
                </a:pathLst>
              </a:custGeom>
              <a:noFill/>
              <a:ln w="19050">
                <a:solidFill>
                  <a:srgbClr val="D97757"/>
                </a:solidFill>
              </a:ln>
            </p:spPr>
          </p:sp>
        </p:grpSp>
        <p:sp>
          <p:nvSpPr>
            <p:cNvPr id="16" name="TextBox 16"/>
            <p:cNvSpPr txBox="1"/>
            <p:nvPr/>
          </p:nvSpPr>
          <p:spPr>
            <a:xfrm>
              <a:off x="1145003" y="2281714"/>
              <a:ext cx="1710495" cy="259080"/>
            </a:xfrm>
            <a:prstGeom prst="rect">
              <a:avLst/>
            </a:prstGeom>
            <a:noFill/>
            <a:ln>
              <a:noFill/>
            </a:ln>
          </p:spPr>
          <p:txBody>
            <a:bodyPr wrap="none" lIns="0" tIns="0" rIns="0" bIns="0" anchor="t" anchorCtr="0">
              <a:spAutoFit/>
            </a:bodyPr>
            <a:lstStyle/>
            <a:p>
              <a:pPr algn="ctr"/>
              <a:r>
                <a:rPr lang="zh-CN" sz="1275" b="1" dirty="0">
                  <a:solidFill>
                    <a:srgbClr val="191919"/>
                  </a:solidFill>
                  <a:latin typeface="Styrene A"/>
                  <a:ea typeface="Microsoft YaHei"/>
                  <a:cs typeface="Styrene A"/>
                </a:rPr>
                <a:t>Thinking, always on</a:t>
              </a:r>
            </a:p>
          </p:txBody>
        </p:sp>
        <p:sp>
          <p:nvSpPr>
            <p:cNvPr id="17" name="Line 17"/>
            <p:cNvSpPr/>
            <p:nvPr/>
          </p:nvSpPr>
          <p:spPr>
            <a:xfrm>
              <a:off x="952500" y="2705100"/>
              <a:ext cx="2095500" cy="9525"/>
            </a:xfrm>
            <a:custGeom>
              <a:avLst/>
              <a:gdLst/>
              <a:ahLst/>
              <a:cxnLst/>
              <a:rect l="l" t="t" r="r" b="b"/>
              <a:pathLst>
                <a:path w="2095500" h="9525">
                  <a:moveTo>
                    <a:pt x="0" y="0"/>
                  </a:moveTo>
                  <a:lnTo>
                    <a:pt x="2095500" y="0"/>
                  </a:lnTo>
                </a:path>
              </a:pathLst>
            </a:custGeom>
            <a:noFill/>
            <a:ln w="19050">
              <a:solidFill>
                <a:srgbClr val="E2E8F0"/>
              </a:solidFill>
            </a:ln>
          </p:spPr>
        </p:sp>
        <p:sp>
          <p:nvSpPr>
            <p:cNvPr id="18" name="Ellipse 18"/>
            <p:cNvSpPr/>
            <p:nvPr/>
          </p:nvSpPr>
          <p:spPr>
            <a:xfrm>
              <a:off x="1014412" y="3033712"/>
              <a:ext cx="66675" cy="66675"/>
            </a:xfrm>
            <a:prstGeom prst="ellipse">
              <a:avLst/>
            </a:prstGeom>
            <a:solidFill>
              <a:srgbClr val="D97757"/>
            </a:solidFill>
            <a:ln>
              <a:noFill/>
            </a:ln>
          </p:spPr>
        </p:sp>
        <p:sp>
          <p:nvSpPr>
            <p:cNvPr id="19" name="TextBox 19"/>
            <p:cNvSpPr txBox="1"/>
            <p:nvPr/>
          </p:nvSpPr>
          <p:spPr>
            <a:xfrm>
              <a:off x="1167765" y="3001328"/>
              <a:ext cx="967588" cy="213360"/>
            </a:xfrm>
            <a:prstGeom prst="rect">
              <a:avLst/>
            </a:prstGeom>
            <a:noFill/>
            <a:ln>
              <a:noFill/>
            </a:ln>
          </p:spPr>
          <p:txBody>
            <a:bodyPr wrap="none" lIns="0" tIns="0" rIns="0" bIns="0" anchor="t" anchorCtr="0">
              <a:spAutoFit/>
            </a:bodyPr>
            <a:lstStyle/>
            <a:p>
              <a:pPr algn="l"/>
              <a:r>
                <a:rPr lang="zh-CN" sz="1050" b="1" dirty="0">
                  <a:solidFill>
                    <a:srgbClr val="191919"/>
                  </a:solidFill>
                  <a:latin typeface="Anthropic Sans"/>
                  <a:ea typeface="Microsoft YaHei"/>
                  <a:cs typeface="Anthropic Sans"/>
                </a:rPr>
                <a:t>Adaptive only</a:t>
              </a:r>
            </a:p>
          </p:txBody>
        </p:sp>
        <p:sp>
          <p:nvSpPr>
            <p:cNvPr id="20" name="TextBox 20"/>
            <p:cNvSpPr txBox="1"/>
            <p:nvPr/>
          </p:nvSpPr>
          <p:spPr>
            <a:xfrm>
              <a:off x="1169670" y="3208020"/>
              <a:ext cx="1491615" cy="354330"/>
            </a:xfrm>
            <a:prstGeom prst="rect">
              <a:avLst/>
            </a:prstGeom>
            <a:noFill/>
            <a:ln>
              <a:noFill/>
            </a:ln>
          </p:spPr>
          <p:txBody>
            <a:bodyPr wrap="square" lIns="0" tIns="0" rIns="0" bIns="0" anchor="t" anchorCtr="0"/>
            <a:lstStyle/>
            <a:p>
              <a:pPr algn="l">
                <a:lnSpc>
                  <a:spcPts val="1350"/>
                </a:lnSpc>
              </a:pPr>
              <a:r>
                <a:rPr lang="zh-CN" sz="900" dirty="0">
                  <a:solidFill>
                    <a:srgbClr val="64748B"/>
                  </a:solidFill>
                  <a:latin typeface="Anthropic Sans"/>
                  <a:ea typeface="Microsoft YaHei"/>
                  <a:cs typeface="Anthropic Sans"/>
                </a:rPr>
                <a:t xml:space="preserve">Omit the thinking param; </a:t>
              </a:r>
              <a:r>
                <a:rPr lang="zh-CN" sz="900" dirty="0">
                  <a:solidFill>
                    <a:srgbClr val="64748B"/>
                  </a:solidFill>
                  <a:latin typeface="Anthropic Sans"/>
                  <a:ea typeface="Microsoft YaHei"/>
                  <a:cs typeface="Anthropic Sans"/>
                </a:rPr>
                <a:t>disabling it returns a 400.</a:t>
              </a:r>
            </a:p>
          </p:txBody>
        </p:sp>
        <p:sp>
          <p:nvSpPr>
            <p:cNvPr id="21" name="Ellipse 21"/>
            <p:cNvSpPr/>
            <p:nvPr/>
          </p:nvSpPr>
          <p:spPr>
            <a:xfrm>
              <a:off x="1014412" y="3833812"/>
              <a:ext cx="66675" cy="66675"/>
            </a:xfrm>
            <a:prstGeom prst="ellipse">
              <a:avLst/>
            </a:prstGeom>
            <a:solidFill>
              <a:srgbClr val="D97757"/>
            </a:solidFill>
            <a:ln>
              <a:noFill/>
            </a:ln>
          </p:spPr>
        </p:sp>
        <p:sp>
          <p:nvSpPr>
            <p:cNvPr id="22" name="TextBox 22"/>
            <p:cNvSpPr txBox="1"/>
            <p:nvPr/>
          </p:nvSpPr>
          <p:spPr>
            <a:xfrm>
              <a:off x="1167765" y="3801428"/>
              <a:ext cx="1210168" cy="213360"/>
            </a:xfrm>
            <a:prstGeom prst="rect">
              <a:avLst/>
            </a:prstGeom>
            <a:noFill/>
            <a:ln>
              <a:noFill/>
            </a:ln>
          </p:spPr>
          <p:txBody>
            <a:bodyPr wrap="none" lIns="0" tIns="0" rIns="0" bIns="0" anchor="t" anchorCtr="0">
              <a:spAutoFit/>
            </a:bodyPr>
            <a:lstStyle/>
            <a:p>
              <a:pPr algn="l"/>
              <a:r>
                <a:rPr lang="zh-CN" sz="1050" b="1" dirty="0">
                  <a:solidFill>
                    <a:srgbClr val="191919"/>
                  </a:solidFill>
                  <a:latin typeface="Anthropic Sans"/>
                  <a:ea typeface="Microsoft YaHei"/>
                  <a:cs typeface="Anthropic Sans"/>
                </a:rPr>
                <a:t>Depth via effort</a:t>
              </a:r>
            </a:p>
          </p:txBody>
        </p:sp>
        <p:sp>
          <p:nvSpPr>
            <p:cNvPr id="23" name="TextBox 23"/>
            <p:cNvSpPr txBox="1"/>
            <p:nvPr/>
          </p:nvSpPr>
          <p:spPr>
            <a:xfrm>
              <a:off x="1169670" y="4008120"/>
              <a:ext cx="1600200" cy="354330"/>
            </a:xfrm>
            <a:prstGeom prst="rect">
              <a:avLst/>
            </a:prstGeom>
            <a:noFill/>
            <a:ln>
              <a:noFill/>
            </a:ln>
          </p:spPr>
          <p:txBody>
            <a:bodyPr wrap="square" lIns="0" tIns="0" rIns="0" bIns="0" anchor="t" anchorCtr="0"/>
            <a:lstStyle/>
            <a:p>
              <a:pPr algn="l">
                <a:lnSpc>
                  <a:spcPts val="1350"/>
                </a:lnSpc>
              </a:pPr>
              <a:r>
                <a:rPr lang="zh-CN" sz="900" dirty="0">
                  <a:solidFill>
                    <a:srgbClr val="64748B"/>
                  </a:solidFill>
                  <a:latin typeface="Anthropic Sans"/>
                  <a:ea typeface="Microsoft YaHei"/>
                  <a:cs typeface="Anthropic Sans"/>
                </a:rPr>
                <a:t xml:space="preserve">Control with effort low → </a:t>
              </a:r>
              <a:r>
                <a:rPr lang="zh-CN" sz="900" dirty="0">
                  <a:solidFill>
                    <a:srgbClr val="64748B"/>
                  </a:solidFill>
                  <a:latin typeface="Anthropic Sans"/>
                  <a:ea typeface="Microsoft YaHei"/>
                  <a:cs typeface="Anthropic Sans"/>
                </a:rPr>
                <a:t>xhigh and max, not budgets.</a:t>
              </a:r>
            </a:p>
          </p:txBody>
        </p:sp>
        <p:sp>
          <p:nvSpPr>
            <p:cNvPr id="24" name="Ellipse 24"/>
            <p:cNvSpPr/>
            <p:nvPr/>
          </p:nvSpPr>
          <p:spPr>
            <a:xfrm>
              <a:off x="1014412" y="4633912"/>
              <a:ext cx="66675" cy="66675"/>
            </a:xfrm>
            <a:prstGeom prst="ellipse">
              <a:avLst/>
            </a:prstGeom>
            <a:solidFill>
              <a:srgbClr val="D97757"/>
            </a:solidFill>
            <a:ln>
              <a:noFill/>
            </a:ln>
          </p:spPr>
        </p:sp>
        <p:sp>
          <p:nvSpPr>
            <p:cNvPr id="25" name="TextBox 25"/>
            <p:cNvSpPr txBox="1"/>
            <p:nvPr/>
          </p:nvSpPr>
          <p:spPr>
            <a:xfrm>
              <a:off x="1167765" y="4601528"/>
              <a:ext cx="952886" cy="213360"/>
            </a:xfrm>
            <a:prstGeom prst="rect">
              <a:avLst/>
            </a:prstGeom>
            <a:noFill/>
            <a:ln>
              <a:noFill/>
            </a:ln>
          </p:spPr>
          <p:txBody>
            <a:bodyPr wrap="none" lIns="0" tIns="0" rIns="0" bIns="0" anchor="t" anchorCtr="0">
              <a:spAutoFit/>
            </a:bodyPr>
            <a:lstStyle/>
            <a:p>
              <a:pPr algn="l"/>
              <a:r>
                <a:rPr lang="zh-CN" sz="1050" b="1" dirty="0">
                  <a:solidFill>
                    <a:srgbClr val="191919"/>
                  </a:solidFill>
                  <a:latin typeface="Anthropic Sans"/>
                  <a:ea typeface="Microsoft YaHei"/>
                  <a:cs typeface="Anthropic Sans"/>
                </a:rPr>
                <a:t>Low goes far</a:t>
              </a:r>
            </a:p>
          </p:txBody>
        </p:sp>
        <p:sp>
          <p:nvSpPr>
            <p:cNvPr id="26" name="TextBox 26"/>
            <p:cNvSpPr txBox="1"/>
            <p:nvPr/>
          </p:nvSpPr>
          <p:spPr>
            <a:xfrm>
              <a:off x="1169670" y="4808220"/>
              <a:ext cx="1468755" cy="354330"/>
            </a:xfrm>
            <a:prstGeom prst="rect">
              <a:avLst/>
            </a:prstGeom>
            <a:noFill/>
            <a:ln>
              <a:noFill/>
            </a:ln>
          </p:spPr>
          <p:txBody>
            <a:bodyPr wrap="square" lIns="0" tIns="0" rIns="0" bIns="0" anchor="t" anchorCtr="0"/>
            <a:lstStyle/>
            <a:p>
              <a:pPr algn="l">
                <a:lnSpc>
                  <a:spcPts val="1350"/>
                </a:lnSpc>
              </a:pPr>
              <a:r>
                <a:rPr lang="zh-CN" sz="900" dirty="0">
                  <a:solidFill>
                    <a:srgbClr val="64748B"/>
                  </a:solidFill>
                  <a:latin typeface="Anthropic Sans"/>
                  <a:ea typeface="Microsoft YaHei"/>
                  <a:cs typeface="Anthropic Sans"/>
                </a:rPr>
                <a:t xml:space="preserve">Low effort often exceeds </a:t>
              </a:r>
              <a:r>
                <a:rPr lang="zh-CN" sz="900" dirty="0">
                  <a:solidFill>
                    <a:srgbClr val="64748B"/>
                  </a:solidFill>
                  <a:latin typeface="Anthropic Sans"/>
                  <a:ea typeface="Microsoft YaHei"/>
                  <a:cs typeface="Anthropic Sans"/>
                </a:rPr>
                <a:t>prior models at max.</a:t>
              </a:r>
            </a:p>
          </p:txBody>
        </p:sp>
      </p:grpSp>
      <p:grpSp>
        <p:nvGrpSpPr>
          <p:cNvPr id="44" name="Group 44"/>
          <p:cNvGrpSpPr/>
          <p:nvPr/>
        </p:nvGrpSpPr>
        <p:grpSpPr>
          <a:xfrm>
            <a:off x="3552825" y="1619250"/>
            <a:ext cx="2476500" cy="4286250"/>
            <a:chOff x="3552825" y="1619250"/>
            <a:chExt cx="2476500" cy="4286250"/>
          </a:xfrm>
        </p:grpSpPr>
        <p:sp>
          <p:nvSpPr>
            <p:cNvPr id="28" name="Rectangle 28"/>
            <p:cNvSpPr/>
            <p:nvPr/>
          </p:nvSpPr>
          <p:spPr>
            <a:xfrm>
              <a:off x="3552825" y="1619250"/>
              <a:ext cx="2476500" cy="4286250"/>
            </a:xfrm>
            <a:prstGeom prst="roundRect">
              <a:avLst>
                <a:gd name="adj" fmla="val 4615"/>
              </a:avLst>
            </a:prstGeom>
            <a:solidFill>
              <a:srgbClr val="FFFFFF"/>
            </a:solidFill>
            <a:ln w="14288">
              <a:solidFill>
                <a:srgbClr val="E2E8F0"/>
              </a:solidFill>
            </a:ln>
          </p:spPr>
        </p:sp>
        <p:sp>
          <p:nvSpPr>
            <p:cNvPr id="29" name="Freeform 29"/>
            <p:cNvSpPr/>
            <p:nvPr/>
          </p:nvSpPr>
          <p:spPr>
            <a:xfrm>
              <a:off x="3552825" y="1619250"/>
              <a:ext cx="2476500" cy="933450"/>
            </a:xfrm>
            <a:custGeom>
              <a:avLst/>
              <a:gdLst/>
              <a:ahLst/>
              <a:cxnLst/>
              <a:rect l="l" t="t" r="r" b="b"/>
              <a:pathLst>
                <a:path w="2476500" h="933450">
                  <a:moveTo>
                    <a:pt x="114300" y="0"/>
                  </a:moveTo>
                  <a:lnTo>
                    <a:pt x="2362200" y="0"/>
                  </a:lnTo>
                  <a:cubicBezTo>
                    <a:pt x="2425326" y="0"/>
                    <a:pt x="2476500" y="51174"/>
                    <a:pt x="2476500" y="114300"/>
                  </a:cubicBezTo>
                  <a:lnTo>
                    <a:pt x="2476500" y="933450"/>
                  </a:lnTo>
                  <a:lnTo>
                    <a:pt x="0" y="933450"/>
                  </a:lnTo>
                  <a:lnTo>
                    <a:pt x="0" y="114300"/>
                  </a:lnTo>
                  <a:cubicBezTo>
                    <a:pt x="0" y="51174"/>
                    <a:pt x="51174" y="0"/>
                    <a:pt x="114300" y="0"/>
                  </a:cubicBezTo>
                  <a:close/>
                </a:path>
              </a:pathLst>
            </a:custGeom>
            <a:solidFill>
              <a:srgbClr val="F8FAFC"/>
            </a:solidFill>
            <a:ln>
              <a:noFill/>
            </a:ln>
          </p:spPr>
        </p:sp>
        <p:grpSp>
          <p:nvGrpSpPr>
            <p:cNvPr id="32" name="Group 32"/>
            <p:cNvGrpSpPr/>
            <p:nvPr/>
          </p:nvGrpSpPr>
          <p:grpSpPr>
            <a:xfrm>
              <a:off x="4676775" y="1861387"/>
              <a:ext cx="228600" cy="239626"/>
              <a:chOff x="4676775" y="1861387"/>
              <a:chExt cx="228600" cy="239626"/>
            </a:xfrm>
          </p:grpSpPr>
          <p:sp>
            <p:nvSpPr>
              <p:cNvPr id="30" name="Freeform 30"/>
              <p:cNvSpPr/>
              <p:nvPr/>
            </p:nvSpPr>
            <p:spPr>
              <a:xfrm>
                <a:off x="4676775" y="1861387"/>
                <a:ext cx="228600" cy="105525"/>
              </a:xfrm>
              <a:custGeom>
                <a:avLst/>
                <a:gdLst/>
                <a:ahLst/>
                <a:cxnLst/>
                <a:rect l="l" t="t" r="r" b="b"/>
                <a:pathLst>
                  <a:path w="228600" h="105525">
                    <a:moveTo>
                      <a:pt x="228600" y="105525"/>
                    </a:moveTo>
                    <a:cubicBezTo>
                      <a:pt x="221417" y="53841"/>
                      <a:pt x="180535" y="13355"/>
                      <a:pt x="128783" y="6678"/>
                    </a:cubicBezTo>
                    <a:cubicBezTo>
                      <a:pt x="77031" y="0"/>
                      <a:pt x="27211" y="28782"/>
                      <a:pt x="7144" y="76950"/>
                    </a:cubicBezTo>
                    <a:moveTo>
                      <a:pt x="0" y="19800"/>
                    </a:moveTo>
                    <a:lnTo>
                      <a:pt x="0" y="76950"/>
                    </a:lnTo>
                    <a:lnTo>
                      <a:pt x="57150" y="76950"/>
                    </a:lnTo>
                  </a:path>
                </a:pathLst>
              </a:custGeom>
              <a:noFill/>
              <a:ln w="19050">
                <a:solidFill>
                  <a:srgbClr val="D97757"/>
                </a:solidFill>
              </a:ln>
            </p:spPr>
          </p:sp>
          <p:sp>
            <p:nvSpPr>
              <p:cNvPr id="31" name="Freeform 31"/>
              <p:cNvSpPr/>
              <p:nvPr/>
            </p:nvSpPr>
            <p:spPr>
              <a:xfrm>
                <a:off x="4676775" y="1995488"/>
                <a:ext cx="228600" cy="105525"/>
              </a:xfrm>
              <a:custGeom>
                <a:avLst/>
                <a:gdLst/>
                <a:ahLst/>
                <a:cxnLst/>
                <a:rect l="l" t="t" r="r" b="b"/>
                <a:pathLst>
                  <a:path w="228600" h="105525">
                    <a:moveTo>
                      <a:pt x="0" y="0"/>
                    </a:moveTo>
                    <a:cubicBezTo>
                      <a:pt x="7183" y="51684"/>
                      <a:pt x="48065" y="92170"/>
                      <a:pt x="99817" y="98847"/>
                    </a:cubicBezTo>
                    <a:cubicBezTo>
                      <a:pt x="151569" y="105525"/>
                      <a:pt x="201389" y="76743"/>
                      <a:pt x="221456" y="28575"/>
                    </a:cubicBezTo>
                    <a:moveTo>
                      <a:pt x="228600" y="85725"/>
                    </a:moveTo>
                    <a:lnTo>
                      <a:pt x="228600" y="28575"/>
                    </a:lnTo>
                    <a:lnTo>
                      <a:pt x="171450" y="28575"/>
                    </a:lnTo>
                  </a:path>
                </a:pathLst>
              </a:custGeom>
              <a:noFill/>
              <a:ln w="19050">
                <a:solidFill>
                  <a:srgbClr val="D97757"/>
                </a:solidFill>
              </a:ln>
            </p:spPr>
          </p:sp>
        </p:grpSp>
        <p:sp>
          <p:nvSpPr>
            <p:cNvPr id="33" name="TextBox 33"/>
            <p:cNvSpPr txBox="1"/>
            <p:nvPr/>
          </p:nvSpPr>
          <p:spPr>
            <a:xfrm>
              <a:off x="3953680" y="2281714"/>
              <a:ext cx="1674790" cy="259080"/>
            </a:xfrm>
            <a:prstGeom prst="rect">
              <a:avLst/>
            </a:prstGeom>
            <a:noFill/>
            <a:ln>
              <a:noFill/>
            </a:ln>
          </p:spPr>
          <p:txBody>
            <a:bodyPr wrap="none" lIns="0" tIns="0" rIns="0" bIns="0" anchor="t" anchorCtr="0">
              <a:spAutoFit/>
            </a:bodyPr>
            <a:lstStyle/>
            <a:p>
              <a:pPr algn="ctr"/>
              <a:r>
                <a:rPr lang="zh-CN" sz="1275" b="1" dirty="0">
                  <a:solidFill>
                    <a:srgbClr val="191919"/>
                  </a:solidFill>
                  <a:latin typeface="Styrene A"/>
                  <a:ea typeface="Microsoft YaHei"/>
                  <a:cs typeface="Styrene A"/>
                </a:rPr>
                <a:t>Refusals &amp; fallback</a:t>
              </a:r>
            </a:p>
          </p:txBody>
        </p:sp>
        <p:sp>
          <p:nvSpPr>
            <p:cNvPr id="34" name="Line 34"/>
            <p:cNvSpPr/>
            <p:nvPr/>
          </p:nvSpPr>
          <p:spPr>
            <a:xfrm>
              <a:off x="3743325" y="2705100"/>
              <a:ext cx="2095500" cy="9525"/>
            </a:xfrm>
            <a:custGeom>
              <a:avLst/>
              <a:gdLst/>
              <a:ahLst/>
              <a:cxnLst/>
              <a:rect l="l" t="t" r="r" b="b"/>
              <a:pathLst>
                <a:path w="2095500" h="9525">
                  <a:moveTo>
                    <a:pt x="0" y="0"/>
                  </a:moveTo>
                  <a:lnTo>
                    <a:pt x="2095500" y="0"/>
                  </a:lnTo>
                </a:path>
              </a:pathLst>
            </a:custGeom>
            <a:noFill/>
            <a:ln w="19050">
              <a:solidFill>
                <a:srgbClr val="E2E8F0"/>
              </a:solidFill>
            </a:ln>
          </p:spPr>
        </p:sp>
        <p:sp>
          <p:nvSpPr>
            <p:cNvPr id="35" name="Ellipse 35"/>
            <p:cNvSpPr/>
            <p:nvPr/>
          </p:nvSpPr>
          <p:spPr>
            <a:xfrm>
              <a:off x="3805238" y="3033712"/>
              <a:ext cx="66675" cy="66675"/>
            </a:xfrm>
            <a:prstGeom prst="ellipse">
              <a:avLst/>
            </a:prstGeom>
            <a:solidFill>
              <a:srgbClr val="D97757"/>
            </a:solidFill>
            <a:ln>
              <a:noFill/>
            </a:ln>
          </p:spPr>
        </p:sp>
        <p:sp>
          <p:nvSpPr>
            <p:cNvPr id="36" name="TextBox 36"/>
            <p:cNvSpPr txBox="1"/>
            <p:nvPr/>
          </p:nvSpPr>
          <p:spPr>
            <a:xfrm>
              <a:off x="3958590" y="3001328"/>
              <a:ext cx="1364537" cy="213360"/>
            </a:xfrm>
            <a:prstGeom prst="rect">
              <a:avLst/>
            </a:prstGeom>
            <a:noFill/>
            <a:ln>
              <a:noFill/>
            </a:ln>
          </p:spPr>
          <p:txBody>
            <a:bodyPr wrap="none" lIns="0" tIns="0" rIns="0" bIns="0" anchor="t" anchorCtr="0">
              <a:spAutoFit/>
            </a:bodyPr>
            <a:lstStyle/>
            <a:p>
              <a:pPr algn="l"/>
              <a:r>
                <a:rPr lang="zh-CN" sz="1050" b="1" dirty="0">
                  <a:solidFill>
                    <a:srgbClr val="191919"/>
                  </a:solidFill>
                  <a:latin typeface="Anthropic Sans"/>
                  <a:ea typeface="Microsoft YaHei"/>
                  <a:cs typeface="Anthropic Sans"/>
                </a:rPr>
                <a:t>Check stop_reason</a:t>
              </a:r>
            </a:p>
          </p:txBody>
        </p:sp>
        <p:sp>
          <p:nvSpPr>
            <p:cNvPr id="37" name="TextBox 37"/>
            <p:cNvSpPr txBox="1"/>
            <p:nvPr/>
          </p:nvSpPr>
          <p:spPr>
            <a:xfrm>
              <a:off x="3960495" y="3208020"/>
              <a:ext cx="1543050" cy="354330"/>
            </a:xfrm>
            <a:prstGeom prst="rect">
              <a:avLst/>
            </a:prstGeom>
            <a:noFill/>
            <a:ln>
              <a:noFill/>
            </a:ln>
          </p:spPr>
          <p:txBody>
            <a:bodyPr wrap="square" lIns="0" tIns="0" rIns="0" bIns="0" anchor="t" anchorCtr="0"/>
            <a:lstStyle/>
            <a:p>
              <a:pPr algn="l">
                <a:lnSpc>
                  <a:spcPts val="1350"/>
                </a:lnSpc>
              </a:pPr>
              <a:r>
                <a:rPr lang="zh-CN" sz="900" dirty="0">
                  <a:solidFill>
                    <a:srgbClr val="64748B"/>
                  </a:solidFill>
                  <a:latin typeface="Anthropic Sans"/>
                  <a:ea typeface="Microsoft YaHei"/>
                  <a:cs typeface="Anthropic Sans"/>
                </a:rPr>
                <a:t xml:space="preserve">Classifiers decline via HTTP </a:t>
              </a:r>
              <a:r>
                <a:rPr lang="zh-CN" sz="900" dirty="0">
                  <a:solidFill>
                    <a:srgbClr val="64748B"/>
                  </a:solidFill>
                  <a:latin typeface="Anthropic Sans"/>
                  <a:ea typeface="Microsoft YaHei"/>
                  <a:cs typeface="Anthropic Sans"/>
                </a:rPr>
                <a:t>200 + stop_reason refusal.</a:t>
              </a:r>
            </a:p>
          </p:txBody>
        </p:sp>
        <p:sp>
          <p:nvSpPr>
            <p:cNvPr id="38" name="Ellipse 38"/>
            <p:cNvSpPr/>
            <p:nvPr/>
          </p:nvSpPr>
          <p:spPr>
            <a:xfrm>
              <a:off x="3805238" y="3833812"/>
              <a:ext cx="66675" cy="66675"/>
            </a:xfrm>
            <a:prstGeom prst="ellipse">
              <a:avLst/>
            </a:prstGeom>
            <a:solidFill>
              <a:srgbClr val="D97757"/>
            </a:solidFill>
            <a:ln>
              <a:noFill/>
            </a:ln>
          </p:spPr>
        </p:sp>
        <p:sp>
          <p:nvSpPr>
            <p:cNvPr id="39" name="TextBox 39"/>
            <p:cNvSpPr txBox="1"/>
            <p:nvPr/>
          </p:nvSpPr>
          <p:spPr>
            <a:xfrm>
              <a:off x="3958590" y="3801428"/>
              <a:ext cx="1320432" cy="213360"/>
            </a:xfrm>
            <a:prstGeom prst="rect">
              <a:avLst/>
            </a:prstGeom>
            <a:noFill/>
            <a:ln>
              <a:noFill/>
            </a:ln>
          </p:spPr>
          <p:txBody>
            <a:bodyPr wrap="none" lIns="0" tIns="0" rIns="0" bIns="0" anchor="t" anchorCtr="0">
              <a:spAutoFit/>
            </a:bodyPr>
            <a:lstStyle/>
            <a:p>
              <a:pPr algn="l"/>
              <a:r>
                <a:rPr lang="zh-CN" sz="1050" b="1" dirty="0">
                  <a:solidFill>
                    <a:srgbClr val="191919"/>
                  </a:solidFill>
                  <a:latin typeface="Anthropic Sans"/>
                  <a:ea typeface="Microsoft YaHei"/>
                  <a:cs typeface="Anthropic Sans"/>
                </a:rPr>
                <a:t>Retry on Opus 4.8</a:t>
              </a:r>
            </a:p>
          </p:txBody>
        </p:sp>
        <p:sp>
          <p:nvSpPr>
            <p:cNvPr id="40" name="TextBox 40"/>
            <p:cNvSpPr txBox="1"/>
            <p:nvPr/>
          </p:nvSpPr>
          <p:spPr>
            <a:xfrm>
              <a:off x="3960495" y="4008120"/>
              <a:ext cx="1680210" cy="354330"/>
            </a:xfrm>
            <a:prstGeom prst="rect">
              <a:avLst/>
            </a:prstGeom>
            <a:noFill/>
            <a:ln>
              <a:noFill/>
            </a:ln>
          </p:spPr>
          <p:txBody>
            <a:bodyPr wrap="square" lIns="0" tIns="0" rIns="0" bIns="0" anchor="t" anchorCtr="0"/>
            <a:lstStyle/>
            <a:p>
              <a:pPr algn="l">
                <a:lnSpc>
                  <a:spcPts val="1350"/>
                </a:lnSpc>
              </a:pPr>
              <a:r>
                <a:rPr lang="zh-CN" sz="900" dirty="0">
                  <a:solidFill>
                    <a:srgbClr val="64748B"/>
                  </a:solidFill>
                  <a:latin typeface="Anthropic Sans"/>
                  <a:ea typeface="Microsoft YaHei"/>
                  <a:cs typeface="Anthropic Sans"/>
                </a:rPr>
                <a:t xml:space="preserve">Server-side fallbacks, SDK </a:t>
              </a:r>
              <a:r>
                <a:rPr lang="zh-CN" sz="900" dirty="0">
                  <a:solidFill>
                    <a:srgbClr val="64748B"/>
                  </a:solidFill>
                  <a:latin typeface="Anthropic Sans"/>
                  <a:ea typeface="Microsoft YaHei"/>
                  <a:cs typeface="Anthropic Sans"/>
                </a:rPr>
                <a:t>middleware, or manual retry.</a:t>
              </a:r>
            </a:p>
          </p:txBody>
        </p:sp>
        <p:sp>
          <p:nvSpPr>
            <p:cNvPr id="41" name="Ellipse 41"/>
            <p:cNvSpPr/>
            <p:nvPr/>
          </p:nvSpPr>
          <p:spPr>
            <a:xfrm>
              <a:off x="3805238" y="4633912"/>
              <a:ext cx="66675" cy="66675"/>
            </a:xfrm>
            <a:prstGeom prst="ellipse">
              <a:avLst/>
            </a:prstGeom>
            <a:solidFill>
              <a:srgbClr val="D97757"/>
            </a:solidFill>
            <a:ln>
              <a:noFill/>
            </a:ln>
          </p:spPr>
        </p:sp>
        <p:sp>
          <p:nvSpPr>
            <p:cNvPr id="42" name="TextBox 42"/>
            <p:cNvSpPr txBox="1"/>
            <p:nvPr/>
          </p:nvSpPr>
          <p:spPr>
            <a:xfrm>
              <a:off x="3958590" y="4601528"/>
              <a:ext cx="776464" cy="213360"/>
            </a:xfrm>
            <a:prstGeom prst="rect">
              <a:avLst/>
            </a:prstGeom>
            <a:noFill/>
            <a:ln>
              <a:noFill/>
            </a:ln>
          </p:spPr>
          <p:txBody>
            <a:bodyPr wrap="none" lIns="0" tIns="0" rIns="0" bIns="0" anchor="t" anchorCtr="0">
              <a:spAutoFit/>
            </a:bodyPr>
            <a:lstStyle/>
            <a:p>
              <a:pPr algn="l"/>
              <a:r>
                <a:rPr lang="zh-CN" sz="1050" b="1" dirty="0">
                  <a:solidFill>
                    <a:srgbClr val="191919"/>
                  </a:solidFill>
                  <a:latin typeface="Anthropic Sans"/>
                  <a:ea typeface="Microsoft YaHei"/>
                  <a:cs typeface="Anthropic Sans"/>
                </a:rPr>
                <a:t>Fair billing</a:t>
              </a:r>
            </a:p>
          </p:txBody>
        </p:sp>
        <p:sp>
          <p:nvSpPr>
            <p:cNvPr id="43" name="TextBox 43"/>
            <p:cNvSpPr txBox="1"/>
            <p:nvPr/>
          </p:nvSpPr>
          <p:spPr>
            <a:xfrm>
              <a:off x="3960495" y="4808220"/>
              <a:ext cx="1731645" cy="354330"/>
            </a:xfrm>
            <a:prstGeom prst="rect">
              <a:avLst/>
            </a:prstGeom>
            <a:noFill/>
            <a:ln>
              <a:noFill/>
            </a:ln>
          </p:spPr>
          <p:txBody>
            <a:bodyPr wrap="square" lIns="0" tIns="0" rIns="0" bIns="0" anchor="t" anchorCtr="0"/>
            <a:lstStyle/>
            <a:p>
              <a:pPr algn="l">
                <a:lnSpc>
                  <a:spcPts val="1350"/>
                </a:lnSpc>
              </a:pPr>
              <a:r>
                <a:rPr lang="zh-CN" sz="900" dirty="0">
                  <a:solidFill>
                    <a:srgbClr val="64748B"/>
                  </a:solidFill>
                  <a:latin typeface="Anthropic Sans"/>
                  <a:ea typeface="Microsoft YaHei"/>
                  <a:cs typeface="Anthropic Sans"/>
                </a:rPr>
                <a:t xml:space="preserve">Pre-output refusals are free; </a:t>
              </a:r>
              <a:r>
                <a:rPr lang="zh-CN" sz="900" dirty="0">
                  <a:solidFill>
                    <a:srgbClr val="64748B"/>
                  </a:solidFill>
                  <a:latin typeface="Anthropic Sans"/>
                  <a:ea typeface="Microsoft YaHei"/>
                  <a:cs typeface="Anthropic Sans"/>
                </a:rPr>
                <a:t>credit covers cache switch.</a:t>
              </a:r>
            </a:p>
          </p:txBody>
        </p:sp>
      </p:grpSp>
      <p:grpSp>
        <p:nvGrpSpPr>
          <p:cNvPr id="68" name="Group 68"/>
          <p:cNvGrpSpPr/>
          <p:nvPr/>
        </p:nvGrpSpPr>
        <p:grpSpPr>
          <a:xfrm>
            <a:off x="6343650" y="1619250"/>
            <a:ext cx="2476500" cy="4286250"/>
            <a:chOff x="6343650" y="1619250"/>
            <a:chExt cx="2476500" cy="4286250"/>
          </a:xfrm>
        </p:grpSpPr>
        <p:sp>
          <p:nvSpPr>
            <p:cNvPr id="45" name="Rectangle 45"/>
            <p:cNvSpPr/>
            <p:nvPr/>
          </p:nvSpPr>
          <p:spPr>
            <a:xfrm>
              <a:off x="6343650" y="1619250"/>
              <a:ext cx="2476500" cy="4286250"/>
            </a:xfrm>
            <a:prstGeom prst="roundRect">
              <a:avLst>
                <a:gd name="adj" fmla="val 4615"/>
              </a:avLst>
            </a:prstGeom>
            <a:solidFill>
              <a:srgbClr val="FFFFFF"/>
            </a:solidFill>
            <a:ln w="14288">
              <a:solidFill>
                <a:srgbClr val="E2E8F0"/>
              </a:solidFill>
            </a:ln>
          </p:spPr>
        </p:sp>
        <p:sp>
          <p:nvSpPr>
            <p:cNvPr id="46" name="Freeform 46"/>
            <p:cNvSpPr/>
            <p:nvPr/>
          </p:nvSpPr>
          <p:spPr>
            <a:xfrm>
              <a:off x="6343650" y="1619250"/>
              <a:ext cx="2476500" cy="933450"/>
            </a:xfrm>
            <a:custGeom>
              <a:avLst/>
              <a:gdLst/>
              <a:ahLst/>
              <a:cxnLst/>
              <a:rect l="l" t="t" r="r" b="b"/>
              <a:pathLst>
                <a:path w="2476500" h="933450">
                  <a:moveTo>
                    <a:pt x="114300" y="0"/>
                  </a:moveTo>
                  <a:lnTo>
                    <a:pt x="2362200" y="0"/>
                  </a:lnTo>
                  <a:cubicBezTo>
                    <a:pt x="2425326" y="0"/>
                    <a:pt x="2476500" y="51174"/>
                    <a:pt x="2476500" y="114300"/>
                  </a:cubicBezTo>
                  <a:lnTo>
                    <a:pt x="2476500" y="933450"/>
                  </a:lnTo>
                  <a:lnTo>
                    <a:pt x="0" y="933450"/>
                  </a:lnTo>
                  <a:lnTo>
                    <a:pt x="0" y="114300"/>
                  </a:lnTo>
                  <a:cubicBezTo>
                    <a:pt x="0" y="51174"/>
                    <a:pt x="51174" y="0"/>
                    <a:pt x="114300" y="0"/>
                  </a:cubicBezTo>
                  <a:close/>
                </a:path>
              </a:pathLst>
            </a:custGeom>
            <a:solidFill>
              <a:srgbClr val="F8FAFC"/>
            </a:solidFill>
            <a:ln>
              <a:noFill/>
            </a:ln>
          </p:spPr>
        </p:sp>
        <p:grpSp>
          <p:nvGrpSpPr>
            <p:cNvPr id="56" name="Group 56"/>
            <p:cNvGrpSpPr/>
            <p:nvPr/>
          </p:nvGrpSpPr>
          <p:grpSpPr>
            <a:xfrm>
              <a:off x="7467600" y="1866900"/>
              <a:ext cx="228600" cy="228600"/>
              <a:chOff x="7467600" y="1866900"/>
              <a:chExt cx="228600" cy="228600"/>
            </a:xfrm>
          </p:grpSpPr>
          <p:sp>
            <p:nvSpPr>
              <p:cNvPr id="47" name="Freeform 47"/>
              <p:cNvSpPr/>
              <p:nvPr/>
            </p:nvSpPr>
            <p:spPr>
              <a:xfrm>
                <a:off x="7581900" y="1866900"/>
                <a:ext cx="57150" cy="57150"/>
              </a:xfrm>
              <a:custGeom>
                <a:avLst/>
                <a:gdLst/>
                <a:ahLst/>
                <a:cxnLst/>
                <a:rect l="l" t="t" r="r" b="b"/>
                <a:pathLst>
                  <a:path w="57150" h="57150">
                    <a:moveTo>
                      <a:pt x="0" y="28575"/>
                    </a:moveTo>
                    <a:cubicBezTo>
                      <a:pt x="0" y="44357"/>
                      <a:pt x="12793" y="57150"/>
                      <a:pt x="28575" y="57150"/>
                    </a:cubicBezTo>
                    <a:cubicBezTo>
                      <a:pt x="44357" y="57150"/>
                      <a:pt x="57150" y="44357"/>
                      <a:pt x="57150" y="28575"/>
                    </a:cubicBezTo>
                    <a:cubicBezTo>
                      <a:pt x="57150" y="12793"/>
                      <a:pt x="44357" y="0"/>
                      <a:pt x="28575" y="0"/>
                    </a:cubicBezTo>
                    <a:cubicBezTo>
                      <a:pt x="12793" y="0"/>
                      <a:pt x="0" y="12793"/>
                      <a:pt x="0" y="28575"/>
                    </a:cubicBezTo>
                  </a:path>
                </a:pathLst>
              </a:custGeom>
              <a:noFill/>
              <a:ln w="19050">
                <a:solidFill>
                  <a:srgbClr val="D97757"/>
                </a:solidFill>
              </a:ln>
            </p:spPr>
          </p:sp>
          <p:sp>
            <p:nvSpPr>
              <p:cNvPr id="48" name="Freeform 48"/>
              <p:cNvSpPr/>
              <p:nvPr/>
            </p:nvSpPr>
            <p:spPr>
              <a:xfrm>
                <a:off x="7467600" y="1895475"/>
                <a:ext cx="114300" cy="9525"/>
              </a:xfrm>
              <a:custGeom>
                <a:avLst/>
                <a:gdLst/>
                <a:ahLst/>
                <a:cxnLst/>
                <a:rect l="l" t="t" r="r" b="b"/>
                <a:pathLst>
                  <a:path w="114300" h="9525">
                    <a:moveTo>
                      <a:pt x="0" y="0"/>
                    </a:moveTo>
                    <a:lnTo>
                      <a:pt x="114300" y="0"/>
                    </a:lnTo>
                  </a:path>
                </a:pathLst>
              </a:custGeom>
              <a:noFill/>
              <a:ln w="19050">
                <a:solidFill>
                  <a:srgbClr val="D97757"/>
                </a:solidFill>
              </a:ln>
            </p:spPr>
          </p:sp>
          <p:sp>
            <p:nvSpPr>
              <p:cNvPr id="49" name="Freeform 49"/>
              <p:cNvSpPr/>
              <p:nvPr/>
            </p:nvSpPr>
            <p:spPr>
              <a:xfrm>
                <a:off x="7639050" y="1895475"/>
                <a:ext cx="57150" cy="9525"/>
              </a:xfrm>
              <a:custGeom>
                <a:avLst/>
                <a:gdLst/>
                <a:ahLst/>
                <a:cxnLst/>
                <a:rect l="l" t="t" r="r" b="b"/>
                <a:pathLst>
                  <a:path w="57150" h="9525">
                    <a:moveTo>
                      <a:pt x="0" y="0"/>
                    </a:moveTo>
                    <a:lnTo>
                      <a:pt x="57150" y="0"/>
                    </a:lnTo>
                  </a:path>
                </a:pathLst>
              </a:custGeom>
              <a:noFill/>
              <a:ln w="19050">
                <a:solidFill>
                  <a:srgbClr val="D97757"/>
                </a:solidFill>
              </a:ln>
            </p:spPr>
          </p:sp>
          <p:sp>
            <p:nvSpPr>
              <p:cNvPr id="50" name="Freeform 50"/>
              <p:cNvSpPr/>
              <p:nvPr/>
            </p:nvSpPr>
            <p:spPr>
              <a:xfrm>
                <a:off x="7496175" y="1952625"/>
                <a:ext cx="57150" cy="57150"/>
              </a:xfrm>
              <a:custGeom>
                <a:avLst/>
                <a:gdLst/>
                <a:ahLst/>
                <a:cxnLst/>
                <a:rect l="l" t="t" r="r" b="b"/>
                <a:pathLst>
                  <a:path w="57150" h="57150">
                    <a:moveTo>
                      <a:pt x="0" y="28575"/>
                    </a:moveTo>
                    <a:cubicBezTo>
                      <a:pt x="0" y="44357"/>
                      <a:pt x="12793" y="57150"/>
                      <a:pt x="28575" y="57150"/>
                    </a:cubicBezTo>
                    <a:cubicBezTo>
                      <a:pt x="44357" y="57150"/>
                      <a:pt x="57150" y="44357"/>
                      <a:pt x="57150" y="28575"/>
                    </a:cubicBezTo>
                    <a:cubicBezTo>
                      <a:pt x="57150" y="12793"/>
                      <a:pt x="44357" y="0"/>
                      <a:pt x="28575" y="0"/>
                    </a:cubicBezTo>
                    <a:cubicBezTo>
                      <a:pt x="12793" y="0"/>
                      <a:pt x="0" y="12793"/>
                      <a:pt x="0" y="28575"/>
                    </a:cubicBezTo>
                  </a:path>
                </a:pathLst>
              </a:custGeom>
              <a:noFill/>
              <a:ln w="19050">
                <a:solidFill>
                  <a:srgbClr val="D97757"/>
                </a:solidFill>
              </a:ln>
            </p:spPr>
          </p:sp>
          <p:sp>
            <p:nvSpPr>
              <p:cNvPr id="51" name="Freeform 51"/>
              <p:cNvSpPr/>
              <p:nvPr/>
            </p:nvSpPr>
            <p:spPr>
              <a:xfrm>
                <a:off x="7467600" y="1981200"/>
                <a:ext cx="28575" cy="9525"/>
              </a:xfrm>
              <a:custGeom>
                <a:avLst/>
                <a:gdLst/>
                <a:ahLst/>
                <a:cxnLst/>
                <a:rect l="l" t="t" r="r" b="b"/>
                <a:pathLst>
                  <a:path w="28575" h="9525">
                    <a:moveTo>
                      <a:pt x="0" y="0"/>
                    </a:moveTo>
                    <a:lnTo>
                      <a:pt x="28575" y="0"/>
                    </a:lnTo>
                  </a:path>
                </a:pathLst>
              </a:custGeom>
              <a:noFill/>
              <a:ln w="19050">
                <a:solidFill>
                  <a:srgbClr val="D97757"/>
                </a:solidFill>
              </a:ln>
            </p:spPr>
          </p:sp>
          <p:sp>
            <p:nvSpPr>
              <p:cNvPr id="52" name="Freeform 52"/>
              <p:cNvSpPr/>
              <p:nvPr/>
            </p:nvSpPr>
            <p:spPr>
              <a:xfrm>
                <a:off x="7553325" y="1981200"/>
                <a:ext cx="142875" cy="9525"/>
              </a:xfrm>
              <a:custGeom>
                <a:avLst/>
                <a:gdLst/>
                <a:ahLst/>
                <a:cxnLst/>
                <a:rect l="l" t="t" r="r" b="b"/>
                <a:pathLst>
                  <a:path w="142875" h="9525">
                    <a:moveTo>
                      <a:pt x="0" y="0"/>
                    </a:moveTo>
                    <a:lnTo>
                      <a:pt x="142875" y="0"/>
                    </a:lnTo>
                  </a:path>
                </a:pathLst>
              </a:custGeom>
              <a:noFill/>
              <a:ln w="19050">
                <a:solidFill>
                  <a:srgbClr val="D97757"/>
                </a:solidFill>
              </a:ln>
            </p:spPr>
          </p:sp>
          <p:sp>
            <p:nvSpPr>
              <p:cNvPr id="53" name="Freeform 53"/>
              <p:cNvSpPr/>
              <p:nvPr/>
            </p:nvSpPr>
            <p:spPr>
              <a:xfrm>
                <a:off x="7624762" y="2038350"/>
                <a:ext cx="57150" cy="57150"/>
              </a:xfrm>
              <a:custGeom>
                <a:avLst/>
                <a:gdLst/>
                <a:ahLst/>
                <a:cxnLst/>
                <a:rect l="l" t="t" r="r" b="b"/>
                <a:pathLst>
                  <a:path w="57150" h="57150">
                    <a:moveTo>
                      <a:pt x="0" y="28575"/>
                    </a:moveTo>
                    <a:cubicBezTo>
                      <a:pt x="0" y="44357"/>
                      <a:pt x="12793" y="57150"/>
                      <a:pt x="28575" y="57150"/>
                    </a:cubicBezTo>
                    <a:cubicBezTo>
                      <a:pt x="44357" y="57150"/>
                      <a:pt x="57150" y="44357"/>
                      <a:pt x="57150" y="28575"/>
                    </a:cubicBezTo>
                    <a:cubicBezTo>
                      <a:pt x="57150" y="12793"/>
                      <a:pt x="44357" y="0"/>
                      <a:pt x="28575" y="0"/>
                    </a:cubicBezTo>
                    <a:cubicBezTo>
                      <a:pt x="12793" y="0"/>
                      <a:pt x="0" y="12793"/>
                      <a:pt x="0" y="28575"/>
                    </a:cubicBezTo>
                  </a:path>
                </a:pathLst>
              </a:custGeom>
              <a:noFill/>
              <a:ln w="19050">
                <a:solidFill>
                  <a:srgbClr val="D97757"/>
                </a:solidFill>
              </a:ln>
            </p:spPr>
          </p:sp>
          <p:sp>
            <p:nvSpPr>
              <p:cNvPr id="54" name="Freeform 54"/>
              <p:cNvSpPr/>
              <p:nvPr/>
            </p:nvSpPr>
            <p:spPr>
              <a:xfrm>
                <a:off x="7467600" y="2066925"/>
                <a:ext cx="157162" cy="9525"/>
              </a:xfrm>
              <a:custGeom>
                <a:avLst/>
                <a:gdLst/>
                <a:ahLst/>
                <a:cxnLst/>
                <a:rect l="l" t="t" r="r" b="b"/>
                <a:pathLst>
                  <a:path w="157162" h="9525">
                    <a:moveTo>
                      <a:pt x="0" y="0"/>
                    </a:moveTo>
                    <a:lnTo>
                      <a:pt x="157162" y="0"/>
                    </a:lnTo>
                  </a:path>
                </a:pathLst>
              </a:custGeom>
              <a:noFill/>
              <a:ln w="19050">
                <a:solidFill>
                  <a:srgbClr val="D97757"/>
                </a:solidFill>
              </a:ln>
            </p:spPr>
          </p:sp>
          <p:sp>
            <p:nvSpPr>
              <p:cNvPr id="55" name="Freeform 55"/>
              <p:cNvSpPr/>
              <p:nvPr/>
            </p:nvSpPr>
            <p:spPr>
              <a:xfrm>
                <a:off x="7681912" y="2066925"/>
                <a:ext cx="14288" cy="9525"/>
              </a:xfrm>
              <a:custGeom>
                <a:avLst/>
                <a:gdLst/>
                <a:ahLst/>
                <a:cxnLst/>
                <a:rect l="l" t="t" r="r" b="b"/>
                <a:pathLst>
                  <a:path w="14288" h="9525">
                    <a:moveTo>
                      <a:pt x="0" y="0"/>
                    </a:moveTo>
                    <a:lnTo>
                      <a:pt x="14288" y="0"/>
                    </a:lnTo>
                  </a:path>
                </a:pathLst>
              </a:custGeom>
              <a:noFill/>
              <a:ln w="19050">
                <a:solidFill>
                  <a:srgbClr val="D97757"/>
                </a:solidFill>
              </a:ln>
            </p:spPr>
          </p:sp>
        </p:grpSp>
        <p:sp>
          <p:nvSpPr>
            <p:cNvPr id="57" name="TextBox 57"/>
            <p:cNvSpPr txBox="1"/>
            <p:nvPr/>
          </p:nvSpPr>
          <p:spPr>
            <a:xfrm>
              <a:off x="6726653" y="2281714"/>
              <a:ext cx="1710495" cy="259080"/>
            </a:xfrm>
            <a:prstGeom prst="rect">
              <a:avLst/>
            </a:prstGeom>
            <a:noFill/>
            <a:ln>
              <a:noFill/>
            </a:ln>
          </p:spPr>
          <p:txBody>
            <a:bodyPr wrap="none" lIns="0" tIns="0" rIns="0" bIns="0" anchor="t" anchorCtr="0">
              <a:spAutoFit/>
            </a:bodyPr>
            <a:lstStyle/>
            <a:p>
              <a:pPr algn="ctr"/>
              <a:r>
                <a:rPr lang="zh-CN" sz="1275" b="1" dirty="0">
                  <a:solidFill>
                    <a:srgbClr val="191919"/>
                  </a:solidFill>
                  <a:latin typeface="Styrene A"/>
                  <a:ea typeface="Microsoft YaHei"/>
                  <a:cs typeface="Styrene A"/>
                </a:rPr>
                <a:t>Launch feature set</a:t>
              </a:r>
            </a:p>
          </p:txBody>
        </p:sp>
        <p:sp>
          <p:nvSpPr>
            <p:cNvPr id="58" name="Line 58"/>
            <p:cNvSpPr/>
            <p:nvPr/>
          </p:nvSpPr>
          <p:spPr>
            <a:xfrm>
              <a:off x="6534150" y="2705100"/>
              <a:ext cx="2095500" cy="9525"/>
            </a:xfrm>
            <a:custGeom>
              <a:avLst/>
              <a:gdLst/>
              <a:ahLst/>
              <a:cxnLst/>
              <a:rect l="l" t="t" r="r" b="b"/>
              <a:pathLst>
                <a:path w="2095500" h="9525">
                  <a:moveTo>
                    <a:pt x="0" y="0"/>
                  </a:moveTo>
                  <a:lnTo>
                    <a:pt x="2095500" y="0"/>
                  </a:lnTo>
                </a:path>
              </a:pathLst>
            </a:custGeom>
            <a:noFill/>
            <a:ln w="19050">
              <a:solidFill>
                <a:srgbClr val="E2E8F0"/>
              </a:solidFill>
            </a:ln>
          </p:spPr>
        </p:sp>
        <p:sp>
          <p:nvSpPr>
            <p:cNvPr id="59" name="Ellipse 59"/>
            <p:cNvSpPr/>
            <p:nvPr/>
          </p:nvSpPr>
          <p:spPr>
            <a:xfrm>
              <a:off x="6596062" y="3033712"/>
              <a:ext cx="66675" cy="66675"/>
            </a:xfrm>
            <a:prstGeom prst="ellipse">
              <a:avLst/>
            </a:prstGeom>
            <a:solidFill>
              <a:srgbClr val="D97757"/>
            </a:solidFill>
            <a:ln>
              <a:noFill/>
            </a:ln>
          </p:spPr>
        </p:sp>
        <p:sp>
          <p:nvSpPr>
            <p:cNvPr id="60" name="TextBox 60"/>
            <p:cNvSpPr txBox="1"/>
            <p:nvPr/>
          </p:nvSpPr>
          <p:spPr>
            <a:xfrm>
              <a:off x="6749415" y="3001328"/>
              <a:ext cx="1085202" cy="213360"/>
            </a:xfrm>
            <a:prstGeom prst="rect">
              <a:avLst/>
            </a:prstGeom>
            <a:noFill/>
            <a:ln>
              <a:noFill/>
            </a:ln>
          </p:spPr>
          <p:txBody>
            <a:bodyPr wrap="none" lIns="0" tIns="0" rIns="0" bIns="0" anchor="t" anchorCtr="0">
              <a:spAutoFit/>
            </a:bodyPr>
            <a:lstStyle/>
            <a:p>
              <a:pPr algn="l"/>
              <a:r>
                <a:rPr lang="zh-CN" sz="1050" b="1" dirty="0">
                  <a:solidFill>
                    <a:srgbClr val="191919"/>
                  </a:solidFill>
                  <a:latin typeface="Anthropic Sans"/>
                  <a:ea typeface="Microsoft YaHei"/>
                  <a:cs typeface="Anthropic Sans"/>
                </a:rPr>
                <a:t>Spend controls</a:t>
              </a:r>
            </a:p>
          </p:txBody>
        </p:sp>
        <p:sp>
          <p:nvSpPr>
            <p:cNvPr id="61" name="TextBox 61"/>
            <p:cNvSpPr txBox="1"/>
            <p:nvPr/>
          </p:nvSpPr>
          <p:spPr>
            <a:xfrm>
              <a:off x="6751320" y="3208020"/>
              <a:ext cx="1565910" cy="354330"/>
            </a:xfrm>
            <a:prstGeom prst="rect">
              <a:avLst/>
            </a:prstGeom>
            <a:noFill/>
            <a:ln>
              <a:noFill/>
            </a:ln>
          </p:spPr>
          <p:txBody>
            <a:bodyPr wrap="square" lIns="0" tIns="0" rIns="0" bIns="0" anchor="t" anchorCtr="0"/>
            <a:lstStyle/>
            <a:p>
              <a:pPr algn="l">
                <a:lnSpc>
                  <a:spcPts val="1350"/>
                </a:lnSpc>
              </a:pPr>
              <a:r>
                <a:rPr lang="zh-CN" sz="900" dirty="0">
                  <a:solidFill>
                    <a:srgbClr val="64748B"/>
                  </a:solidFill>
                  <a:latin typeface="Anthropic Sans"/>
                  <a:ea typeface="Microsoft YaHei"/>
                  <a:cs typeface="Anthropic Sans"/>
                </a:rPr>
                <a:t xml:space="preserve">Effort parameter plus task </a:t>
              </a:r>
              <a:r>
                <a:rPr lang="zh-CN" sz="900" dirty="0">
                  <a:solidFill>
                    <a:srgbClr val="64748B"/>
                  </a:solidFill>
                  <a:latin typeface="Anthropic Sans"/>
                  <a:ea typeface="Microsoft YaHei"/>
                  <a:cs typeface="Anthropic Sans"/>
                </a:rPr>
                <a:t>budgets (beta) for loops.</a:t>
              </a:r>
            </a:p>
          </p:txBody>
        </p:sp>
        <p:sp>
          <p:nvSpPr>
            <p:cNvPr id="62" name="Ellipse 62"/>
            <p:cNvSpPr/>
            <p:nvPr/>
          </p:nvSpPr>
          <p:spPr>
            <a:xfrm>
              <a:off x="6596062" y="3833812"/>
              <a:ext cx="66675" cy="66675"/>
            </a:xfrm>
            <a:prstGeom prst="ellipse">
              <a:avLst/>
            </a:prstGeom>
            <a:solidFill>
              <a:srgbClr val="D97757"/>
            </a:solidFill>
            <a:ln>
              <a:noFill/>
            </a:ln>
          </p:spPr>
        </p:sp>
        <p:sp>
          <p:nvSpPr>
            <p:cNvPr id="63" name="TextBox 63"/>
            <p:cNvSpPr txBox="1"/>
            <p:nvPr/>
          </p:nvSpPr>
          <p:spPr>
            <a:xfrm>
              <a:off x="6749415" y="3801428"/>
              <a:ext cx="967588" cy="213360"/>
            </a:xfrm>
            <a:prstGeom prst="rect">
              <a:avLst/>
            </a:prstGeom>
            <a:noFill/>
            <a:ln>
              <a:noFill/>
            </a:ln>
          </p:spPr>
          <p:txBody>
            <a:bodyPr wrap="none" lIns="0" tIns="0" rIns="0" bIns="0" anchor="t" anchorCtr="0">
              <a:spAutoFit/>
            </a:bodyPr>
            <a:lstStyle/>
            <a:p>
              <a:pPr algn="l"/>
              <a:r>
                <a:rPr lang="zh-CN" sz="1050" b="1" dirty="0">
                  <a:solidFill>
                    <a:srgbClr val="191919"/>
                  </a:solidFill>
                  <a:latin typeface="Anthropic Sans"/>
                  <a:ea typeface="Microsoft YaHei"/>
                  <a:cs typeface="Anthropic Sans"/>
                </a:rPr>
                <a:t>Agent tooling</a:t>
              </a:r>
            </a:p>
          </p:txBody>
        </p:sp>
        <p:sp>
          <p:nvSpPr>
            <p:cNvPr id="64" name="TextBox 64"/>
            <p:cNvSpPr txBox="1"/>
            <p:nvPr/>
          </p:nvSpPr>
          <p:spPr>
            <a:xfrm>
              <a:off x="6751320" y="4008120"/>
              <a:ext cx="1685925" cy="354330"/>
            </a:xfrm>
            <a:prstGeom prst="rect">
              <a:avLst/>
            </a:prstGeom>
            <a:noFill/>
            <a:ln>
              <a:noFill/>
            </a:ln>
          </p:spPr>
          <p:txBody>
            <a:bodyPr wrap="square" lIns="0" tIns="0" rIns="0" bIns="0" anchor="t" anchorCtr="0"/>
            <a:lstStyle/>
            <a:p>
              <a:pPr algn="l">
                <a:lnSpc>
                  <a:spcPts val="1350"/>
                </a:lnSpc>
              </a:pPr>
              <a:r>
                <a:rPr lang="zh-CN" sz="900" dirty="0">
                  <a:solidFill>
                    <a:srgbClr val="64748B"/>
                  </a:solidFill>
                  <a:latin typeface="Anthropic Sans"/>
                  <a:ea typeface="Microsoft YaHei"/>
                  <a:cs typeface="Anthropic Sans"/>
                </a:rPr>
                <a:t xml:space="preserve">Memory tool, code execution, </a:t>
              </a:r>
              <a:r>
                <a:rPr lang="zh-CN" sz="900" dirty="0">
                  <a:solidFill>
                    <a:srgbClr val="64748B"/>
                  </a:solidFill>
                  <a:latin typeface="Anthropic Sans"/>
                  <a:ea typeface="Microsoft YaHei"/>
                  <a:cs typeface="Anthropic Sans"/>
                </a:rPr>
                <a:t>programmatic tool calling.</a:t>
              </a:r>
            </a:p>
          </p:txBody>
        </p:sp>
        <p:sp>
          <p:nvSpPr>
            <p:cNvPr id="65" name="Ellipse 65"/>
            <p:cNvSpPr/>
            <p:nvPr/>
          </p:nvSpPr>
          <p:spPr>
            <a:xfrm>
              <a:off x="6596062" y="4633912"/>
              <a:ext cx="66675" cy="66675"/>
            </a:xfrm>
            <a:prstGeom prst="ellipse">
              <a:avLst/>
            </a:prstGeom>
            <a:solidFill>
              <a:srgbClr val="D97757"/>
            </a:solidFill>
            <a:ln>
              <a:noFill/>
            </a:ln>
          </p:spPr>
        </p:sp>
        <p:sp>
          <p:nvSpPr>
            <p:cNvPr id="66" name="TextBox 66"/>
            <p:cNvSpPr txBox="1"/>
            <p:nvPr/>
          </p:nvSpPr>
          <p:spPr>
            <a:xfrm>
              <a:off x="6749415" y="4601528"/>
              <a:ext cx="1283677" cy="213360"/>
            </a:xfrm>
            <a:prstGeom prst="rect">
              <a:avLst/>
            </a:prstGeom>
            <a:noFill/>
            <a:ln>
              <a:noFill/>
            </a:ln>
          </p:spPr>
          <p:txBody>
            <a:bodyPr wrap="none" lIns="0" tIns="0" rIns="0" bIns="0" anchor="t" anchorCtr="0">
              <a:spAutoFit/>
            </a:bodyPr>
            <a:lstStyle/>
            <a:p>
              <a:pPr algn="l"/>
              <a:r>
                <a:rPr lang="zh-CN" sz="1050" b="1" dirty="0">
                  <a:solidFill>
                    <a:srgbClr val="191919"/>
                  </a:solidFill>
                  <a:latin typeface="Anthropic Sans"/>
                  <a:ea typeface="Microsoft YaHei"/>
                  <a:cs typeface="Anthropic Sans"/>
                </a:rPr>
                <a:t>Context features</a:t>
              </a:r>
            </a:p>
          </p:txBody>
        </p:sp>
        <p:sp>
          <p:nvSpPr>
            <p:cNvPr id="67" name="TextBox 67"/>
            <p:cNvSpPr txBox="1"/>
            <p:nvPr/>
          </p:nvSpPr>
          <p:spPr>
            <a:xfrm>
              <a:off x="6751320" y="4808220"/>
              <a:ext cx="1663065" cy="354330"/>
            </a:xfrm>
            <a:prstGeom prst="rect">
              <a:avLst/>
            </a:prstGeom>
            <a:noFill/>
            <a:ln>
              <a:noFill/>
            </a:ln>
          </p:spPr>
          <p:txBody>
            <a:bodyPr wrap="square" lIns="0" tIns="0" rIns="0" bIns="0" anchor="t" anchorCtr="0"/>
            <a:lstStyle/>
            <a:p>
              <a:pPr algn="l">
                <a:lnSpc>
                  <a:spcPts val="1350"/>
                </a:lnSpc>
              </a:pPr>
              <a:r>
                <a:rPr lang="zh-CN" sz="900" dirty="0">
                  <a:solidFill>
                    <a:srgbClr val="64748B"/>
                  </a:solidFill>
                  <a:latin typeface="Anthropic Sans"/>
                  <a:ea typeface="Microsoft YaHei"/>
                  <a:cs typeface="Anthropic Sans"/>
                </a:rPr>
                <a:t xml:space="preserve">Compaction, context editing, </a:t>
              </a:r>
              <a:r>
                <a:rPr lang="zh-CN" sz="900" dirty="0">
                  <a:solidFill>
                    <a:srgbClr val="64748B"/>
                  </a:solidFill>
                  <a:latin typeface="Anthropic Sans"/>
                  <a:ea typeface="Microsoft YaHei"/>
                  <a:cs typeface="Anthropic Sans"/>
                </a:rPr>
                <a:t>high-resolution vision.</a:t>
              </a:r>
            </a:p>
          </p:txBody>
        </p:sp>
      </p:grpSp>
      <p:grpSp>
        <p:nvGrpSpPr>
          <p:cNvPr id="88" name="Group 88"/>
          <p:cNvGrpSpPr/>
          <p:nvPr/>
        </p:nvGrpSpPr>
        <p:grpSpPr>
          <a:xfrm>
            <a:off x="9134475" y="1619250"/>
            <a:ext cx="2476500" cy="4286250"/>
            <a:chOff x="9134475" y="1619250"/>
            <a:chExt cx="2476500" cy="4286250"/>
          </a:xfrm>
        </p:grpSpPr>
        <p:sp>
          <p:nvSpPr>
            <p:cNvPr id="69" name="Rectangle 69"/>
            <p:cNvSpPr/>
            <p:nvPr/>
          </p:nvSpPr>
          <p:spPr>
            <a:xfrm>
              <a:off x="9134475" y="1619250"/>
              <a:ext cx="2476500" cy="4286250"/>
            </a:xfrm>
            <a:prstGeom prst="roundRect">
              <a:avLst>
                <a:gd name="adj" fmla="val 4615"/>
              </a:avLst>
            </a:prstGeom>
            <a:solidFill>
              <a:srgbClr val="FFFFFF"/>
            </a:solidFill>
            <a:ln w="14288">
              <a:solidFill>
                <a:srgbClr val="E2E8F0"/>
              </a:solidFill>
            </a:ln>
          </p:spPr>
        </p:sp>
        <p:sp>
          <p:nvSpPr>
            <p:cNvPr id="70" name="Freeform 70"/>
            <p:cNvSpPr/>
            <p:nvPr/>
          </p:nvSpPr>
          <p:spPr>
            <a:xfrm>
              <a:off x="9134475" y="1619250"/>
              <a:ext cx="2476500" cy="933450"/>
            </a:xfrm>
            <a:custGeom>
              <a:avLst/>
              <a:gdLst/>
              <a:ahLst/>
              <a:cxnLst/>
              <a:rect l="l" t="t" r="r" b="b"/>
              <a:pathLst>
                <a:path w="2476500" h="933450">
                  <a:moveTo>
                    <a:pt x="114300" y="0"/>
                  </a:moveTo>
                  <a:lnTo>
                    <a:pt x="2362200" y="0"/>
                  </a:lnTo>
                  <a:cubicBezTo>
                    <a:pt x="2425326" y="0"/>
                    <a:pt x="2476500" y="51174"/>
                    <a:pt x="2476500" y="114300"/>
                  </a:cubicBezTo>
                  <a:lnTo>
                    <a:pt x="2476500" y="933450"/>
                  </a:lnTo>
                  <a:lnTo>
                    <a:pt x="0" y="933450"/>
                  </a:lnTo>
                  <a:lnTo>
                    <a:pt x="0" y="114300"/>
                  </a:lnTo>
                  <a:cubicBezTo>
                    <a:pt x="0" y="51174"/>
                    <a:pt x="51174" y="0"/>
                    <a:pt x="114300" y="0"/>
                  </a:cubicBezTo>
                  <a:close/>
                </a:path>
              </a:pathLst>
            </a:custGeom>
            <a:solidFill>
              <a:srgbClr val="F8FAFC"/>
            </a:solidFill>
            <a:ln>
              <a:noFill/>
            </a:ln>
          </p:spPr>
        </p:sp>
        <p:grpSp>
          <p:nvGrpSpPr>
            <p:cNvPr id="76" name="Group 76"/>
            <p:cNvGrpSpPr/>
            <p:nvPr/>
          </p:nvGrpSpPr>
          <p:grpSpPr>
            <a:xfrm>
              <a:off x="10244138" y="1852612"/>
              <a:ext cx="257175" cy="257175"/>
              <a:chOff x="10244138" y="1852612"/>
              <a:chExt cx="257175" cy="257175"/>
            </a:xfrm>
          </p:grpSpPr>
          <p:sp>
            <p:nvSpPr>
              <p:cNvPr id="71" name="Freeform 71"/>
              <p:cNvSpPr/>
              <p:nvPr/>
            </p:nvSpPr>
            <p:spPr>
              <a:xfrm>
                <a:off x="10244138" y="1852612"/>
                <a:ext cx="257175" cy="257175"/>
              </a:xfrm>
              <a:custGeom>
                <a:avLst/>
                <a:gdLst/>
                <a:ahLst/>
                <a:cxnLst/>
                <a:rect l="l" t="t" r="r" b="b"/>
                <a:pathLst>
                  <a:path w="257175" h="257175">
                    <a:moveTo>
                      <a:pt x="0" y="128588"/>
                    </a:moveTo>
                    <a:cubicBezTo>
                      <a:pt x="0" y="199604"/>
                      <a:pt x="57571" y="257175"/>
                      <a:pt x="128588" y="257175"/>
                    </a:cubicBezTo>
                    <a:cubicBezTo>
                      <a:pt x="199604" y="257175"/>
                      <a:pt x="257175" y="199604"/>
                      <a:pt x="257175" y="128588"/>
                    </a:cubicBezTo>
                    <a:cubicBezTo>
                      <a:pt x="257175" y="57571"/>
                      <a:pt x="199604" y="0"/>
                      <a:pt x="128588" y="0"/>
                    </a:cubicBezTo>
                    <a:cubicBezTo>
                      <a:pt x="57571" y="0"/>
                      <a:pt x="0" y="57571"/>
                      <a:pt x="0" y="128588"/>
                    </a:cubicBezTo>
                  </a:path>
                </a:pathLst>
              </a:custGeom>
              <a:noFill/>
              <a:ln w="19050">
                <a:solidFill>
                  <a:srgbClr val="D97757"/>
                </a:solidFill>
              </a:ln>
            </p:spPr>
          </p:sp>
          <p:sp>
            <p:nvSpPr>
              <p:cNvPr id="72" name="Freeform 72"/>
              <p:cNvSpPr/>
              <p:nvPr/>
            </p:nvSpPr>
            <p:spPr>
              <a:xfrm>
                <a:off x="10252710" y="1938338"/>
                <a:ext cx="240030" cy="9525"/>
              </a:xfrm>
              <a:custGeom>
                <a:avLst/>
                <a:gdLst/>
                <a:ahLst/>
                <a:cxnLst/>
                <a:rect l="l" t="t" r="r" b="b"/>
                <a:pathLst>
                  <a:path w="240030" h="9525">
                    <a:moveTo>
                      <a:pt x="0" y="0"/>
                    </a:moveTo>
                    <a:lnTo>
                      <a:pt x="240030" y="0"/>
                    </a:lnTo>
                  </a:path>
                </a:pathLst>
              </a:custGeom>
              <a:noFill/>
              <a:ln w="19050">
                <a:solidFill>
                  <a:srgbClr val="D97757"/>
                </a:solidFill>
              </a:ln>
            </p:spPr>
          </p:sp>
          <p:sp>
            <p:nvSpPr>
              <p:cNvPr id="73" name="Freeform 73"/>
              <p:cNvSpPr/>
              <p:nvPr/>
            </p:nvSpPr>
            <p:spPr>
              <a:xfrm>
                <a:off x="10252710" y="2024062"/>
                <a:ext cx="240030" cy="9525"/>
              </a:xfrm>
              <a:custGeom>
                <a:avLst/>
                <a:gdLst/>
                <a:ahLst/>
                <a:cxnLst/>
                <a:rect l="l" t="t" r="r" b="b"/>
                <a:pathLst>
                  <a:path w="240030" h="9525">
                    <a:moveTo>
                      <a:pt x="0" y="0"/>
                    </a:moveTo>
                    <a:lnTo>
                      <a:pt x="240030" y="0"/>
                    </a:lnTo>
                  </a:path>
                </a:pathLst>
              </a:custGeom>
              <a:noFill/>
              <a:ln w="19050">
                <a:solidFill>
                  <a:srgbClr val="D97757"/>
                </a:solidFill>
              </a:ln>
            </p:spPr>
          </p:sp>
          <p:sp>
            <p:nvSpPr>
              <p:cNvPr id="74" name="Freeform 74"/>
              <p:cNvSpPr/>
              <p:nvPr/>
            </p:nvSpPr>
            <p:spPr>
              <a:xfrm>
                <a:off x="10316474" y="1852612"/>
                <a:ext cx="49107" cy="257175"/>
              </a:xfrm>
              <a:custGeom>
                <a:avLst/>
                <a:gdLst/>
                <a:ahLst/>
                <a:cxnLst/>
                <a:rect l="l" t="t" r="r" b="b"/>
                <a:pathLst>
                  <a:path w="49107" h="257175">
                    <a:moveTo>
                      <a:pt x="49107" y="0"/>
                    </a:moveTo>
                    <a:cubicBezTo>
                      <a:pt x="0" y="78692"/>
                      <a:pt x="0" y="178483"/>
                      <a:pt x="49107" y="257175"/>
                    </a:cubicBezTo>
                  </a:path>
                </a:pathLst>
              </a:custGeom>
              <a:noFill/>
              <a:ln w="19050">
                <a:solidFill>
                  <a:srgbClr val="D97757"/>
                </a:solidFill>
              </a:ln>
            </p:spPr>
          </p:sp>
          <p:sp>
            <p:nvSpPr>
              <p:cNvPr id="75" name="Freeform 75"/>
              <p:cNvSpPr/>
              <p:nvPr/>
            </p:nvSpPr>
            <p:spPr>
              <a:xfrm>
                <a:off x="10379869" y="1852612"/>
                <a:ext cx="49107" cy="257175"/>
              </a:xfrm>
              <a:custGeom>
                <a:avLst/>
                <a:gdLst/>
                <a:ahLst/>
                <a:cxnLst/>
                <a:rect l="l" t="t" r="r" b="b"/>
                <a:pathLst>
                  <a:path w="49107" h="257175">
                    <a:moveTo>
                      <a:pt x="0" y="0"/>
                    </a:moveTo>
                    <a:cubicBezTo>
                      <a:pt x="49107" y="78692"/>
                      <a:pt x="49107" y="178483"/>
                      <a:pt x="0" y="257175"/>
                    </a:cubicBezTo>
                  </a:path>
                </a:pathLst>
              </a:custGeom>
              <a:noFill/>
              <a:ln w="19050">
                <a:solidFill>
                  <a:srgbClr val="D97757"/>
                </a:solidFill>
              </a:ln>
            </p:spPr>
          </p:sp>
        </p:grpSp>
        <p:sp>
          <p:nvSpPr>
            <p:cNvPr id="77" name="TextBox 77"/>
            <p:cNvSpPr txBox="1"/>
            <p:nvPr/>
          </p:nvSpPr>
          <p:spPr>
            <a:xfrm>
              <a:off x="9767409" y="2281714"/>
              <a:ext cx="1210632" cy="259080"/>
            </a:xfrm>
            <a:prstGeom prst="rect">
              <a:avLst/>
            </a:prstGeom>
            <a:noFill/>
            <a:ln>
              <a:noFill/>
            </a:ln>
          </p:spPr>
          <p:txBody>
            <a:bodyPr wrap="none" lIns="0" tIns="0" rIns="0" bIns="0" anchor="t" anchorCtr="0">
              <a:spAutoFit/>
            </a:bodyPr>
            <a:lstStyle/>
            <a:p>
              <a:pPr algn="ctr"/>
              <a:r>
                <a:rPr lang="zh-CN" sz="1275" b="1" dirty="0">
                  <a:solidFill>
                    <a:srgbClr val="191919"/>
                  </a:solidFill>
                  <a:latin typeface="Styrene A"/>
                  <a:ea typeface="Microsoft YaHei"/>
                  <a:cs typeface="Styrene A"/>
                </a:rPr>
                <a:t>Where it runs</a:t>
              </a:r>
            </a:p>
          </p:txBody>
        </p:sp>
        <p:sp>
          <p:nvSpPr>
            <p:cNvPr id="78" name="Line 78"/>
            <p:cNvSpPr/>
            <p:nvPr/>
          </p:nvSpPr>
          <p:spPr>
            <a:xfrm>
              <a:off x="9324975" y="2705100"/>
              <a:ext cx="2095500" cy="9525"/>
            </a:xfrm>
            <a:custGeom>
              <a:avLst/>
              <a:gdLst/>
              <a:ahLst/>
              <a:cxnLst/>
              <a:rect l="l" t="t" r="r" b="b"/>
              <a:pathLst>
                <a:path w="2095500" h="9525">
                  <a:moveTo>
                    <a:pt x="0" y="0"/>
                  </a:moveTo>
                  <a:lnTo>
                    <a:pt x="2095500" y="0"/>
                  </a:lnTo>
                </a:path>
              </a:pathLst>
            </a:custGeom>
            <a:noFill/>
            <a:ln w="19050">
              <a:solidFill>
                <a:srgbClr val="E2E8F0"/>
              </a:solidFill>
            </a:ln>
          </p:spPr>
        </p:sp>
        <p:sp>
          <p:nvSpPr>
            <p:cNvPr id="79" name="Ellipse 79"/>
            <p:cNvSpPr/>
            <p:nvPr/>
          </p:nvSpPr>
          <p:spPr>
            <a:xfrm>
              <a:off x="9386888" y="3033712"/>
              <a:ext cx="66675" cy="66675"/>
            </a:xfrm>
            <a:prstGeom prst="ellipse">
              <a:avLst/>
            </a:prstGeom>
            <a:solidFill>
              <a:srgbClr val="D97757"/>
            </a:solidFill>
            <a:ln>
              <a:noFill/>
            </a:ln>
          </p:spPr>
        </p:sp>
        <p:sp>
          <p:nvSpPr>
            <p:cNvPr id="80" name="TextBox 80"/>
            <p:cNvSpPr txBox="1"/>
            <p:nvPr/>
          </p:nvSpPr>
          <p:spPr>
            <a:xfrm>
              <a:off x="9540240" y="3001328"/>
              <a:ext cx="879377" cy="213360"/>
            </a:xfrm>
            <a:prstGeom prst="rect">
              <a:avLst/>
            </a:prstGeom>
            <a:noFill/>
            <a:ln>
              <a:noFill/>
            </a:ln>
          </p:spPr>
          <p:txBody>
            <a:bodyPr wrap="none" lIns="0" tIns="0" rIns="0" bIns="0" anchor="t" anchorCtr="0">
              <a:spAutoFit/>
            </a:bodyPr>
            <a:lstStyle/>
            <a:p>
              <a:pPr algn="l"/>
              <a:r>
                <a:rPr lang="zh-CN" sz="1050" b="1" dirty="0">
                  <a:solidFill>
                    <a:srgbClr val="191919"/>
                  </a:solidFill>
                  <a:latin typeface="Anthropic Sans"/>
                  <a:ea typeface="Microsoft YaHei"/>
                  <a:cs typeface="Anthropic Sans"/>
                </a:rPr>
                <a:t>First-party</a:t>
              </a:r>
            </a:p>
          </p:txBody>
        </p:sp>
        <p:sp>
          <p:nvSpPr>
            <p:cNvPr id="81" name="TextBox 81"/>
            <p:cNvSpPr txBox="1"/>
            <p:nvPr/>
          </p:nvSpPr>
          <p:spPr>
            <a:xfrm>
              <a:off x="9542145" y="3208020"/>
              <a:ext cx="1171575" cy="354330"/>
            </a:xfrm>
            <a:prstGeom prst="rect">
              <a:avLst/>
            </a:prstGeom>
            <a:noFill/>
            <a:ln>
              <a:noFill/>
            </a:ln>
          </p:spPr>
          <p:txBody>
            <a:bodyPr wrap="square" lIns="0" tIns="0" rIns="0" bIns="0" anchor="t" anchorCtr="0"/>
            <a:lstStyle/>
            <a:p>
              <a:pPr algn="l">
                <a:lnSpc>
                  <a:spcPts val="1350"/>
                </a:lnSpc>
              </a:pPr>
              <a:r>
                <a:rPr lang="zh-CN" sz="900" dirty="0">
                  <a:solidFill>
                    <a:srgbClr val="64748B"/>
                  </a:solidFill>
                  <a:latin typeface="Anthropic Sans"/>
                  <a:ea typeface="Microsoft YaHei"/>
                  <a:cs typeface="Anthropic Sans"/>
                </a:rPr>
                <a:t xml:space="preserve">Claude API and Claude </a:t>
              </a:r>
              <a:r>
                <a:rPr lang="zh-CN" sz="900" dirty="0">
                  <a:solidFill>
                    <a:srgbClr val="64748B"/>
                  </a:solidFill>
                  <a:latin typeface="Anthropic Sans"/>
                  <a:ea typeface="Microsoft YaHei"/>
                  <a:cs typeface="Anthropic Sans"/>
                </a:rPr>
                <a:t>Platform on AWS.</a:t>
              </a:r>
            </a:p>
          </p:txBody>
        </p:sp>
        <p:sp>
          <p:nvSpPr>
            <p:cNvPr id="82" name="Ellipse 82"/>
            <p:cNvSpPr/>
            <p:nvPr/>
          </p:nvSpPr>
          <p:spPr>
            <a:xfrm>
              <a:off x="9386888" y="3833812"/>
              <a:ext cx="66675" cy="66675"/>
            </a:xfrm>
            <a:prstGeom prst="ellipse">
              <a:avLst/>
            </a:prstGeom>
            <a:solidFill>
              <a:srgbClr val="D97757"/>
            </a:solidFill>
            <a:ln>
              <a:noFill/>
            </a:ln>
          </p:spPr>
        </p:sp>
        <p:sp>
          <p:nvSpPr>
            <p:cNvPr id="83" name="TextBox 83"/>
            <p:cNvSpPr txBox="1"/>
            <p:nvPr/>
          </p:nvSpPr>
          <p:spPr>
            <a:xfrm>
              <a:off x="9540240" y="3801428"/>
              <a:ext cx="1085202" cy="213360"/>
            </a:xfrm>
            <a:prstGeom prst="rect">
              <a:avLst/>
            </a:prstGeom>
            <a:noFill/>
            <a:ln>
              <a:noFill/>
            </a:ln>
          </p:spPr>
          <p:txBody>
            <a:bodyPr wrap="none" lIns="0" tIns="0" rIns="0" bIns="0" anchor="t" anchorCtr="0">
              <a:spAutoFit/>
            </a:bodyPr>
            <a:lstStyle/>
            <a:p>
              <a:pPr algn="l"/>
              <a:r>
                <a:rPr lang="zh-CN" sz="1050" b="1" dirty="0">
                  <a:solidFill>
                    <a:srgbClr val="191919"/>
                  </a:solidFill>
                  <a:latin typeface="Anthropic Sans"/>
                  <a:ea typeface="Microsoft YaHei"/>
                  <a:cs typeface="Anthropic Sans"/>
                </a:rPr>
                <a:t>Cloud partners</a:t>
              </a:r>
            </a:p>
          </p:txBody>
        </p:sp>
        <p:sp>
          <p:nvSpPr>
            <p:cNvPr id="84" name="TextBox 84"/>
            <p:cNvSpPr txBox="1"/>
            <p:nvPr/>
          </p:nvSpPr>
          <p:spPr>
            <a:xfrm>
              <a:off x="9542145" y="4008120"/>
              <a:ext cx="1565910" cy="354330"/>
            </a:xfrm>
            <a:prstGeom prst="rect">
              <a:avLst/>
            </a:prstGeom>
            <a:noFill/>
            <a:ln>
              <a:noFill/>
            </a:ln>
          </p:spPr>
          <p:txBody>
            <a:bodyPr wrap="square" lIns="0" tIns="0" rIns="0" bIns="0" anchor="t" anchorCtr="0"/>
            <a:lstStyle/>
            <a:p>
              <a:pPr algn="l">
                <a:lnSpc>
                  <a:spcPts val="1350"/>
                </a:lnSpc>
              </a:pPr>
              <a:r>
                <a:rPr lang="zh-CN" sz="900" dirty="0">
                  <a:solidFill>
                    <a:srgbClr val="64748B"/>
                  </a:solidFill>
                  <a:latin typeface="Anthropic Sans"/>
                  <a:ea typeface="Microsoft YaHei"/>
                  <a:cs typeface="Anthropic Sans"/>
                </a:rPr>
                <a:t xml:space="preserve">Amazon Bedrock, Vertex AI, </a:t>
              </a:r>
              <a:r>
                <a:rPr lang="zh-CN" sz="900" dirty="0">
                  <a:solidFill>
                    <a:srgbClr val="64748B"/>
                  </a:solidFill>
                  <a:latin typeface="Anthropic Sans"/>
                  <a:ea typeface="Microsoft YaHei"/>
                  <a:cs typeface="Anthropic Sans"/>
                </a:rPr>
                <a:t>Microsoft Foundry.</a:t>
              </a:r>
            </a:p>
          </p:txBody>
        </p:sp>
        <p:sp>
          <p:nvSpPr>
            <p:cNvPr id="85" name="Ellipse 85"/>
            <p:cNvSpPr/>
            <p:nvPr/>
          </p:nvSpPr>
          <p:spPr>
            <a:xfrm>
              <a:off x="9386888" y="4633912"/>
              <a:ext cx="66675" cy="66675"/>
            </a:xfrm>
            <a:prstGeom prst="ellipse">
              <a:avLst/>
            </a:prstGeom>
            <a:solidFill>
              <a:srgbClr val="D97757"/>
            </a:solidFill>
            <a:ln>
              <a:noFill/>
            </a:ln>
          </p:spPr>
        </p:sp>
        <p:sp>
          <p:nvSpPr>
            <p:cNvPr id="86" name="TextBox 86"/>
            <p:cNvSpPr txBox="1"/>
            <p:nvPr/>
          </p:nvSpPr>
          <p:spPr>
            <a:xfrm>
              <a:off x="9540240" y="4601528"/>
              <a:ext cx="1224870" cy="213360"/>
            </a:xfrm>
            <a:prstGeom prst="rect">
              <a:avLst/>
            </a:prstGeom>
            <a:noFill/>
            <a:ln>
              <a:noFill/>
            </a:ln>
          </p:spPr>
          <p:txBody>
            <a:bodyPr wrap="none" lIns="0" tIns="0" rIns="0" bIns="0" anchor="t" anchorCtr="0">
              <a:spAutoFit/>
            </a:bodyPr>
            <a:lstStyle/>
            <a:p>
              <a:pPr algn="l"/>
              <a:r>
                <a:rPr lang="zh-CN" sz="1050" b="1" dirty="0">
                  <a:solidFill>
                    <a:srgbClr val="191919"/>
                  </a:solidFill>
                  <a:latin typeface="Anthropic Sans"/>
                  <a:ea typeface="Microsoft YaHei"/>
                  <a:cs typeface="Anthropic Sans"/>
                </a:rPr>
                <a:t>One requirement</a:t>
              </a:r>
            </a:p>
          </p:txBody>
        </p:sp>
        <p:sp>
          <p:nvSpPr>
            <p:cNvPr id="87" name="TextBox 87"/>
            <p:cNvSpPr txBox="1"/>
            <p:nvPr/>
          </p:nvSpPr>
          <p:spPr>
            <a:xfrm>
              <a:off x="9542145" y="4808220"/>
              <a:ext cx="1360170" cy="354330"/>
            </a:xfrm>
            <a:prstGeom prst="rect">
              <a:avLst/>
            </a:prstGeom>
            <a:noFill/>
            <a:ln>
              <a:noFill/>
            </a:ln>
          </p:spPr>
          <p:txBody>
            <a:bodyPr wrap="square" lIns="0" tIns="0" rIns="0" bIns="0" anchor="t" anchorCtr="0"/>
            <a:lstStyle/>
            <a:p>
              <a:pPr algn="l">
                <a:lnSpc>
                  <a:spcPts val="1350"/>
                </a:lnSpc>
              </a:pPr>
              <a:r>
                <a:rPr lang="zh-CN" sz="900" dirty="0">
                  <a:solidFill>
                    <a:srgbClr val="64748B"/>
                  </a:solidFill>
                  <a:latin typeface="Anthropic Sans"/>
                  <a:ea typeface="Microsoft YaHei"/>
                  <a:cs typeface="Anthropic Sans"/>
                </a:rPr>
                <a:t xml:space="preserve">30-day data retention — </a:t>
              </a:r>
              <a:r>
                <a:rPr lang="zh-CN" sz="900" dirty="0">
                  <a:solidFill>
                    <a:srgbClr val="64748B"/>
                  </a:solidFill>
                  <a:latin typeface="Anthropic Sans"/>
                  <a:ea typeface="Microsoft YaHei"/>
                  <a:cs typeface="Anthropic Sans"/>
                </a:rPr>
                <a:t>not available under ZDR.</a:t>
              </a:r>
            </a:p>
          </p:txBody>
        </p:sp>
      </p:grpSp>
      <p:grpSp>
        <p:nvGrpSpPr>
          <p:cNvPr id="91" name="Group 91"/>
          <p:cNvGrpSpPr/>
          <p:nvPr/>
        </p:nvGrpSpPr>
        <p:grpSpPr>
          <a:xfrm>
            <a:off x="751522" y="6502241"/>
            <a:ext cx="10688955" cy="167640"/>
            <a:chOff x="751522" y="6502241"/>
            <a:chExt cx="10688955" cy="167640"/>
          </a:xfrm>
        </p:grpSpPr>
        <p:sp>
          <p:nvSpPr>
            <p:cNvPr id="89" name="TextBox 89"/>
            <p:cNvSpPr txBox="1"/>
            <p:nvPr/>
          </p:nvSpPr>
          <p:spPr>
            <a:xfrm>
              <a:off x="751522" y="6502241"/>
              <a:ext cx="4272986" cy="167640"/>
            </a:xfrm>
            <a:prstGeom prst="rect">
              <a:avLst/>
            </a:prstGeom>
            <a:noFill/>
            <a:ln>
              <a:noFill/>
            </a:ln>
          </p:spPr>
          <p:txBody>
            <a:bodyPr wrap="none" lIns="0" tIns="0" rIns="0" bIns="0" anchor="t" anchorCtr="0">
              <a:spAutoFit/>
            </a:bodyPr>
            <a:lstStyle/>
            <a:p>
              <a:pPr algn="l"/>
              <a:r>
                <a:rPr lang="zh-CN" sz="825" dirty="0">
                  <a:solidFill>
                    <a:srgbClr val="94A3B8"/>
                  </a:solidFill>
                  <a:latin typeface="Anthropic Sans"/>
                  <a:ea typeface="Microsoft YaHei"/>
                  <a:cs typeface="Anthropic Sans"/>
                </a:rPr>
                <a:t>Source: platform.claude.com — Messages API on Claude Fable 5; migration guide</a:t>
              </a:r>
            </a:p>
          </p:txBody>
        </p:sp>
        <p:sp>
          <p:nvSpPr>
            <p:cNvPr id="90" name="TextBox 90"/>
            <p:cNvSpPr txBox="1"/>
            <p:nvPr/>
          </p:nvSpPr>
          <p:spPr>
            <a:xfrm>
              <a:off x="11298507" y="6502241"/>
              <a:ext cx="141970" cy="167640"/>
            </a:xfrm>
            <a:prstGeom prst="rect">
              <a:avLst/>
            </a:prstGeom>
            <a:noFill/>
            <a:ln>
              <a:noFill/>
            </a:ln>
          </p:spPr>
          <p:txBody>
            <a:bodyPr wrap="none" lIns="0" tIns="0" rIns="0" bIns="0" anchor="t" anchorCtr="0">
              <a:spAutoFit/>
            </a:bodyPr>
            <a:lstStyle/>
            <a:p>
              <a:pPr algn="r"/>
              <a:r>
                <a:rPr lang="zh-CN" sz="825" dirty="0">
                  <a:solidFill>
                    <a:srgbClr val="94A3B8"/>
                  </a:solidFill>
                  <a:latin typeface="Anthropic Sans"/>
                  <a:ea typeface="Microsoft YaHei"/>
                  <a:cs typeface="Anthropic Sans"/>
                </a:rPr>
                <a:t>11</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27"/>
                                        </p:tgtEl>
                                        <p:attrNameLst>
                                          <p:attrName>style.visibility</p:attrName>
                                        </p:attrNameLst>
                                      </p:cBhvr>
                                      <p:to>
                                        <p:strVal val="visible"/>
                                      </p:to>
                                    </p:set>
                                    <p:animEffect transition="in" filter="slide(fromBottom)">
                                      <p:cBhvr>
                                        <p:cTn id="7" dur="400"/>
                                        <p:tgtEl>
                                          <p:spTgt spid="27"/>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44"/>
                                        </p:tgtEl>
                                        <p:attrNameLst>
                                          <p:attrName>style.visibility</p:attrName>
                                        </p:attrNameLst>
                                      </p:cBhvr>
                                      <p:to>
                                        <p:strVal val="visible"/>
                                      </p:to>
                                    </p:set>
                                    <p:animEffect transition="in" filter="slide(fromBottom)">
                                      <p:cBhvr>
                                        <p:cTn id="11" dur="400"/>
                                        <p:tgtEl>
                                          <p:spTgt spid="44"/>
                                        </p:tgtEl>
                                      </p:cBhvr>
                                    </p:animEffect>
                                  </p:childTnLst>
                                </p:cTn>
                              </p:par>
                            </p:childTnLst>
                          </p:cTn>
                        </p:par>
                        <p:par>
                          <p:cTn id="12" fill="hold">
                            <p:stCondLst>
                              <p:cond delay="1800"/>
                            </p:stCondLst>
                            <p:childTnLst>
                              <p:par>
                                <p:cTn id="13" presetID="2" presetClass="entr" presetSubtype="4" fill="hold" nodeType="afterEffect">
                                  <p:stCondLst>
                                    <p:cond delay="0"/>
                                  </p:stCondLst>
                                  <p:childTnLst>
                                    <p:set>
                                      <p:cBhvr>
                                        <p:cTn id="14" dur="1" fill="hold">
                                          <p:stCondLst>
                                            <p:cond delay="0"/>
                                          </p:stCondLst>
                                        </p:cTn>
                                        <p:tgtEl>
                                          <p:spTgt spid="68"/>
                                        </p:tgtEl>
                                        <p:attrNameLst>
                                          <p:attrName>style.visibility</p:attrName>
                                        </p:attrNameLst>
                                      </p:cBhvr>
                                      <p:to>
                                        <p:strVal val="visible"/>
                                      </p:to>
                                    </p:set>
                                    <p:animEffect transition="in" filter="slide(fromBottom)">
                                      <p:cBhvr>
                                        <p:cTn id="15" dur="400"/>
                                        <p:tgtEl>
                                          <p:spTgt spid="68"/>
                                        </p:tgtEl>
                                      </p:cBhvr>
                                    </p:animEffect>
                                  </p:childTnLst>
                                </p:cTn>
                              </p:par>
                            </p:childTnLst>
                          </p:cTn>
                        </p:par>
                        <p:par>
                          <p:cTn id="16" fill="hold">
                            <p:stCondLst>
                              <p:cond delay="2700"/>
                            </p:stCondLst>
                            <p:childTnLst>
                              <p:par>
                                <p:cTn id="17" presetID="2" presetClass="entr" presetSubtype="4" fill="hold" nodeType="afterEffect">
                                  <p:stCondLst>
                                    <p:cond delay="0"/>
                                  </p:stCondLst>
                                  <p:childTnLst>
                                    <p:set>
                                      <p:cBhvr>
                                        <p:cTn id="18" dur="1" fill="hold">
                                          <p:stCondLst>
                                            <p:cond delay="0"/>
                                          </p:stCondLst>
                                        </p:cTn>
                                        <p:tgtEl>
                                          <p:spTgt spid="88"/>
                                        </p:tgtEl>
                                        <p:attrNameLst>
                                          <p:attrName>style.visibility</p:attrName>
                                        </p:attrNameLst>
                                      </p:cBhvr>
                                      <p:to>
                                        <p:strVal val="visible"/>
                                      </p:to>
                                    </p:set>
                                    <p:animEffect transition="in" filter="slide(fromBottom)">
                                      <p:cBhvr>
                                        <p:cTn id="19" dur="400"/>
                                        <p:tgtEl>
                                          <p:spTgt spid="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44" grpId="0"/>
      <p:bldP spid="68" grpId="0"/>
      <p:bldP spid="8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FFFFF"/>
          </a:solidFill>
          <a:ln>
            <a:noFill/>
          </a:ln>
        </p:spPr>
      </p:sp>
      <p:grpSp>
        <p:nvGrpSpPr>
          <p:cNvPr id="6" name="Group 6"/>
          <p:cNvGrpSpPr/>
          <p:nvPr/>
        </p:nvGrpSpPr>
        <p:grpSpPr>
          <a:xfrm>
            <a:off x="731520" y="495300"/>
            <a:ext cx="6613779" cy="842962"/>
            <a:chOff x="731520" y="495300"/>
            <a:chExt cx="6613779" cy="842962"/>
          </a:xfrm>
        </p:grpSpPr>
        <p:sp>
          <p:nvSpPr>
            <p:cNvPr id="3" name="Rectangle 3"/>
            <p:cNvSpPr/>
            <p:nvPr/>
          </p:nvSpPr>
          <p:spPr>
            <a:xfrm>
              <a:off x="762000" y="495300"/>
              <a:ext cx="419100" cy="38100"/>
            </a:xfrm>
            <a:prstGeom prst="roundRect">
              <a:avLst>
                <a:gd name="adj" fmla="val 50000"/>
              </a:avLst>
            </a:prstGeom>
            <a:solidFill>
              <a:srgbClr val="D97757"/>
            </a:solidFill>
            <a:ln>
              <a:noFill/>
            </a:ln>
          </p:spPr>
        </p:sp>
        <p:sp>
          <p:nvSpPr>
            <p:cNvPr id="4" name="TextBox 4"/>
            <p:cNvSpPr txBox="1"/>
            <p:nvPr/>
          </p:nvSpPr>
          <p:spPr>
            <a:xfrm>
              <a:off x="731520" y="693420"/>
              <a:ext cx="6613779" cy="487680"/>
            </a:xfrm>
            <a:prstGeom prst="rect">
              <a:avLst/>
            </a:prstGeom>
            <a:noFill/>
            <a:ln>
              <a:noFill/>
            </a:ln>
          </p:spPr>
          <p:txBody>
            <a:bodyPr wrap="none" lIns="0" tIns="0" rIns="0" bIns="0" anchor="t" anchorCtr="0">
              <a:spAutoFit/>
            </a:bodyPr>
            <a:lstStyle/>
            <a:p>
              <a:pPr algn="l"/>
              <a:r>
                <a:rPr lang="zh-CN" sz="2400" b="1" dirty="0">
                  <a:solidFill>
                    <a:srgbClr val="191919"/>
                  </a:solidFill>
                  <a:latin typeface="Styrene A"/>
                  <a:ea typeface="Microsoft YaHei"/>
                  <a:cs typeface="Styrene A"/>
                </a:rPr>
                <a:t>Frontier capability, shipped responsibly</a:t>
              </a:r>
            </a:p>
          </p:txBody>
        </p:sp>
        <p:sp>
          <p:nvSpPr>
            <p:cNvPr id="5" name="TextBox 5"/>
            <p:cNvSpPr txBox="1"/>
            <p:nvPr/>
          </p:nvSpPr>
          <p:spPr>
            <a:xfrm>
              <a:off x="748665" y="1124902"/>
              <a:ext cx="4709205" cy="213360"/>
            </a:xfrm>
            <a:prstGeom prst="rect">
              <a:avLst/>
            </a:prstGeom>
            <a:noFill/>
            <a:ln>
              <a:noFill/>
            </a:ln>
          </p:spPr>
          <p:txBody>
            <a:bodyPr wrap="none" lIns="0" tIns="0" rIns="0" bIns="0" anchor="t" anchorCtr="0">
              <a:spAutoFit/>
            </a:bodyPr>
            <a:lstStyle/>
            <a:p>
              <a:pPr algn="l"/>
              <a:r>
                <a:rPr lang="zh-CN" sz="1050" b="1" dirty="0">
                  <a:solidFill>
                    <a:srgbClr val="64748B"/>
                  </a:solidFill>
                  <a:latin typeface="Anthropic Sans"/>
                  <a:ea typeface="Microsoft YaHei"/>
                  <a:cs typeface="Anthropic Sans"/>
                </a:rPr>
                <a:t>08 · SAFETY ARCHITECTURE — THREE SAFEGUARDS TRAVEL WITH FABLE 5</a:t>
              </a:r>
            </a:p>
          </p:txBody>
        </p:sp>
      </p:grpSp>
      <p:grpSp>
        <p:nvGrpSpPr>
          <p:cNvPr id="8" name="Group 8"/>
          <p:cNvGrpSpPr/>
          <p:nvPr/>
        </p:nvGrpSpPr>
        <p:grpSpPr>
          <a:xfrm>
            <a:off x="1143000" y="1905000"/>
            <a:ext cx="9525" cy="3238500"/>
            <a:chOff x="1143000" y="1905000"/>
            <a:chExt cx="9525" cy="3238500"/>
          </a:xfrm>
        </p:grpSpPr>
        <p:sp>
          <p:nvSpPr>
            <p:cNvPr id="7" name="Line 7"/>
            <p:cNvSpPr/>
            <p:nvPr/>
          </p:nvSpPr>
          <p:spPr>
            <a:xfrm>
              <a:off x="1143000" y="1905000"/>
              <a:ext cx="9525" cy="3238500"/>
            </a:xfrm>
            <a:custGeom>
              <a:avLst/>
              <a:gdLst/>
              <a:ahLst/>
              <a:cxnLst/>
              <a:rect l="l" t="t" r="r" b="b"/>
              <a:pathLst>
                <a:path w="9525" h="3238500">
                  <a:moveTo>
                    <a:pt x="0" y="0"/>
                  </a:moveTo>
                  <a:lnTo>
                    <a:pt x="0" y="3238500"/>
                  </a:lnTo>
                </a:path>
              </a:pathLst>
            </a:custGeom>
            <a:noFill/>
            <a:ln w="28575" cap="rnd">
              <a:solidFill>
                <a:srgbClr val="D97757">
                  <a:alpha val="35000"/>
                </a:srgbClr>
              </a:solidFill>
            </a:ln>
          </p:spPr>
        </p:sp>
      </p:grpSp>
      <p:grpSp>
        <p:nvGrpSpPr>
          <p:cNvPr id="17" name="Group 17"/>
          <p:cNvGrpSpPr/>
          <p:nvPr/>
        </p:nvGrpSpPr>
        <p:grpSpPr>
          <a:xfrm>
            <a:off x="933450" y="1790700"/>
            <a:ext cx="10687050" cy="990600"/>
            <a:chOff x="933450" y="1790700"/>
            <a:chExt cx="10687050" cy="990600"/>
          </a:xfrm>
        </p:grpSpPr>
        <p:sp>
          <p:nvSpPr>
            <p:cNvPr id="9" name="Ellipse 9"/>
            <p:cNvSpPr/>
            <p:nvPr/>
          </p:nvSpPr>
          <p:spPr>
            <a:xfrm>
              <a:off x="933450" y="2076450"/>
              <a:ext cx="419100" cy="419100"/>
            </a:xfrm>
            <a:prstGeom prst="ellipse">
              <a:avLst/>
            </a:prstGeom>
            <a:solidFill>
              <a:srgbClr val="D97757"/>
            </a:solidFill>
            <a:ln>
              <a:noFill/>
            </a:ln>
          </p:spPr>
        </p:sp>
        <p:sp>
          <p:nvSpPr>
            <p:cNvPr id="10" name="TextBox 10"/>
            <p:cNvSpPr txBox="1"/>
            <p:nvPr/>
          </p:nvSpPr>
          <p:spPr>
            <a:xfrm>
              <a:off x="1085395" y="2221706"/>
              <a:ext cx="115211"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Styrene A"/>
                  <a:ea typeface="Microsoft YaHei"/>
                  <a:cs typeface="Styrene A"/>
                </a:rPr>
                <a:t>1</a:t>
              </a:r>
            </a:p>
          </p:txBody>
        </p:sp>
        <p:sp>
          <p:nvSpPr>
            <p:cNvPr id="11" name="Rectangle 11"/>
            <p:cNvSpPr/>
            <p:nvPr/>
          </p:nvSpPr>
          <p:spPr>
            <a:xfrm>
              <a:off x="1638300" y="1790700"/>
              <a:ext cx="9982200" cy="990600"/>
            </a:xfrm>
            <a:prstGeom prst="roundRect">
              <a:avLst>
                <a:gd name="adj" fmla="val 9615"/>
              </a:avLst>
            </a:prstGeom>
            <a:solidFill>
              <a:srgbClr val="F8FAFC"/>
            </a:solidFill>
            <a:ln>
              <a:noFill/>
            </a:ln>
          </p:spPr>
        </p:sp>
        <p:grpSp>
          <p:nvGrpSpPr>
            <p:cNvPr id="14" name="Group 14"/>
            <p:cNvGrpSpPr/>
            <p:nvPr/>
          </p:nvGrpSpPr>
          <p:grpSpPr>
            <a:xfrm>
              <a:off x="1969301" y="2143125"/>
              <a:ext cx="310011" cy="285750"/>
              <a:chOff x="1969301" y="2143125"/>
              <a:chExt cx="310011" cy="285750"/>
            </a:xfrm>
          </p:grpSpPr>
          <p:sp>
            <p:nvSpPr>
              <p:cNvPr id="12" name="Freeform 12"/>
              <p:cNvSpPr/>
              <p:nvPr/>
            </p:nvSpPr>
            <p:spPr>
              <a:xfrm>
                <a:off x="1969301" y="2143125"/>
                <a:ext cx="310011" cy="283305"/>
              </a:xfrm>
              <a:custGeom>
                <a:avLst/>
                <a:gdLst/>
                <a:ahLst/>
                <a:cxnLst/>
                <a:rect l="l" t="t" r="r" b="b"/>
                <a:pathLst>
                  <a:path w="310011" h="283305">
                    <a:moveTo>
                      <a:pt x="155727" y="283305"/>
                    </a:moveTo>
                    <a:cubicBezTo>
                      <a:pt x="56277" y="252478"/>
                      <a:pt x="0" y="147517"/>
                      <a:pt x="29362" y="47625"/>
                    </a:cubicBezTo>
                    <a:cubicBezTo>
                      <a:pt x="78821" y="49888"/>
                      <a:pt x="127218" y="32807"/>
                      <a:pt x="164299" y="0"/>
                    </a:cubicBezTo>
                    <a:cubicBezTo>
                      <a:pt x="201380" y="32807"/>
                      <a:pt x="249778" y="49888"/>
                      <a:pt x="299237" y="47625"/>
                    </a:cubicBezTo>
                    <a:cubicBezTo>
                      <a:pt x="310011" y="84282"/>
                      <a:pt x="309513" y="123332"/>
                      <a:pt x="297808" y="159702"/>
                    </a:cubicBezTo>
                  </a:path>
                </a:pathLst>
              </a:custGeom>
              <a:noFill/>
              <a:ln w="19050">
                <a:solidFill>
                  <a:srgbClr val="D97757"/>
                </a:solidFill>
              </a:ln>
            </p:spPr>
          </p:sp>
          <p:sp>
            <p:nvSpPr>
              <p:cNvPr id="13" name="Freeform 13"/>
              <p:cNvSpPr/>
              <p:nvPr/>
            </p:nvSpPr>
            <p:spPr>
              <a:xfrm>
                <a:off x="2181225" y="2365375"/>
                <a:ext cx="95250" cy="63500"/>
              </a:xfrm>
              <a:custGeom>
                <a:avLst/>
                <a:gdLst/>
                <a:ahLst/>
                <a:cxnLst/>
                <a:rect l="l" t="t" r="r" b="b"/>
                <a:pathLst>
                  <a:path w="95250" h="63500">
                    <a:moveTo>
                      <a:pt x="0" y="31750"/>
                    </a:moveTo>
                    <a:lnTo>
                      <a:pt x="31750" y="63500"/>
                    </a:lnTo>
                    <a:lnTo>
                      <a:pt x="95250" y="0"/>
                    </a:lnTo>
                  </a:path>
                </a:pathLst>
              </a:custGeom>
              <a:noFill/>
              <a:ln w="19050">
                <a:solidFill>
                  <a:srgbClr val="D97757"/>
                </a:solidFill>
              </a:ln>
            </p:spPr>
          </p:sp>
        </p:grpSp>
        <p:sp>
          <p:nvSpPr>
            <p:cNvPr id="15" name="TextBox 15"/>
            <p:cNvSpPr txBox="1"/>
            <p:nvPr/>
          </p:nvSpPr>
          <p:spPr>
            <a:xfrm>
              <a:off x="2610802" y="1998821"/>
              <a:ext cx="1981563" cy="289560"/>
            </a:xfrm>
            <a:prstGeom prst="rect">
              <a:avLst/>
            </a:prstGeom>
            <a:noFill/>
            <a:ln>
              <a:noFill/>
            </a:ln>
          </p:spPr>
          <p:txBody>
            <a:bodyPr wrap="none" lIns="0" tIns="0" rIns="0" bIns="0" anchor="t" anchorCtr="0">
              <a:spAutoFit/>
            </a:bodyPr>
            <a:lstStyle/>
            <a:p>
              <a:pPr algn="l"/>
              <a:r>
                <a:rPr lang="zh-CN" sz="1425" b="1" dirty="0">
                  <a:solidFill>
                    <a:srgbClr val="191919"/>
                  </a:solidFill>
                  <a:latin typeface="Styrene A"/>
                  <a:ea typeface="Microsoft YaHei"/>
                  <a:cs typeface="Styrene A"/>
                </a:rPr>
                <a:t>Dual-use classifiers</a:t>
              </a:r>
            </a:p>
          </p:txBody>
        </p:sp>
        <p:sp>
          <p:nvSpPr>
            <p:cNvPr id="16" name="TextBox 16"/>
            <p:cNvSpPr txBox="1"/>
            <p:nvPr/>
          </p:nvSpPr>
          <p:spPr>
            <a:xfrm>
              <a:off x="2615565" y="2306002"/>
              <a:ext cx="5520690" cy="422910"/>
            </a:xfrm>
            <a:prstGeom prst="rect">
              <a:avLst/>
            </a:prstGeom>
            <a:noFill/>
            <a:ln>
              <a:noFill/>
            </a:ln>
          </p:spPr>
          <p:txBody>
            <a:bodyPr wrap="square" lIns="0" tIns="0" rIns="0" bIns="0" anchor="t" anchorCtr="0"/>
            <a:lstStyle/>
            <a:p>
              <a:pPr algn="l">
                <a:lnSpc>
                  <a:spcPts val="1650"/>
                </a:lnSpc>
              </a:pPr>
              <a:r>
                <a:rPr lang="zh-CN" sz="1050" dirty="0">
                  <a:solidFill>
                    <a:srgbClr val="64748B"/>
                  </a:solidFill>
                  <a:latin typeface="Anthropic Sans"/>
                  <a:ea typeface="Microsoft YaHei"/>
                  <a:cs typeface="Anthropic Sans"/>
                </a:rPr>
                <a:t xml:space="preserve">Detect and block harmful </a:t>
              </a:r>
              <a:r>
                <a:rPr lang="zh-CN" sz="1050" b="1" dirty="0">
                  <a:solidFill>
                    <a:srgbClr val="191919"/>
                  </a:solidFill>
                  <a:latin typeface="Anthropic Sans"/>
                  <a:ea typeface="Microsoft YaHei"/>
                  <a:cs typeface="Anthropic Sans"/>
                </a:rPr>
                <a:t>cybersecurity, bio/chem, and model-distillation</a:t>
              </a:r>
              <a:r>
                <a:rPr lang="zh-CN" sz="1050" dirty="0">
                  <a:solidFill>
                    <a:srgbClr val="64748B"/>
                  </a:solidFill>
                  <a:latin typeface="Anthropic Sans"/>
                  <a:ea typeface="Microsoft YaHei"/>
                  <a:cs typeface="Anthropic Sans"/>
                </a:rPr>
                <a:t xml:space="preserve"> requests. </a:t>
              </a:r>
              <a:r>
                <a:rPr lang="zh-CN" sz="1050" dirty="0">
                  <a:solidFill>
                    <a:srgbClr val="64748B"/>
                  </a:solidFill>
                  <a:latin typeface="Anthropic Sans"/>
                  <a:ea typeface="Microsoft YaHei"/>
                  <a:cs typeface="Anthropic Sans"/>
                </a:rPr>
                <a:t>Blocked queries fall back to Opus 4.8 instead of dead-ending.</a:t>
              </a:r>
            </a:p>
          </p:txBody>
        </p:sp>
      </p:grpSp>
      <p:grpSp>
        <p:nvGrpSpPr>
          <p:cNvPr id="27" name="Group 27"/>
          <p:cNvGrpSpPr/>
          <p:nvPr/>
        </p:nvGrpSpPr>
        <p:grpSpPr>
          <a:xfrm>
            <a:off x="933450" y="3124200"/>
            <a:ext cx="10687050" cy="990600"/>
            <a:chOff x="933450" y="3124200"/>
            <a:chExt cx="10687050" cy="990600"/>
          </a:xfrm>
        </p:grpSpPr>
        <p:sp>
          <p:nvSpPr>
            <p:cNvPr id="18" name="Ellipse 18"/>
            <p:cNvSpPr/>
            <p:nvPr/>
          </p:nvSpPr>
          <p:spPr>
            <a:xfrm>
              <a:off x="933450" y="3409950"/>
              <a:ext cx="419100" cy="419100"/>
            </a:xfrm>
            <a:prstGeom prst="ellipse">
              <a:avLst/>
            </a:prstGeom>
            <a:solidFill>
              <a:srgbClr val="D97757"/>
            </a:solidFill>
            <a:ln>
              <a:noFill/>
            </a:ln>
          </p:spPr>
        </p:sp>
        <p:sp>
          <p:nvSpPr>
            <p:cNvPr id="19" name="TextBox 19"/>
            <p:cNvSpPr txBox="1"/>
            <p:nvPr/>
          </p:nvSpPr>
          <p:spPr>
            <a:xfrm>
              <a:off x="1085395" y="3555206"/>
              <a:ext cx="115211"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Styrene A"/>
                  <a:ea typeface="Microsoft YaHei"/>
                  <a:cs typeface="Styrene A"/>
                </a:rPr>
                <a:t>2</a:t>
              </a:r>
            </a:p>
          </p:txBody>
        </p:sp>
        <p:sp>
          <p:nvSpPr>
            <p:cNvPr id="20" name="Rectangle 20"/>
            <p:cNvSpPr/>
            <p:nvPr/>
          </p:nvSpPr>
          <p:spPr>
            <a:xfrm>
              <a:off x="1638300" y="3124200"/>
              <a:ext cx="9982200" cy="990600"/>
            </a:xfrm>
            <a:prstGeom prst="roundRect">
              <a:avLst>
                <a:gd name="adj" fmla="val 9615"/>
              </a:avLst>
            </a:prstGeom>
            <a:solidFill>
              <a:srgbClr val="F8FAFC"/>
            </a:solidFill>
            <a:ln>
              <a:noFill/>
            </a:ln>
          </p:spPr>
        </p:sp>
        <p:grpSp>
          <p:nvGrpSpPr>
            <p:cNvPr id="24" name="Group 24"/>
            <p:cNvGrpSpPr/>
            <p:nvPr/>
          </p:nvGrpSpPr>
          <p:grpSpPr>
            <a:xfrm>
              <a:off x="1984114" y="3476625"/>
              <a:ext cx="298972" cy="285750"/>
              <a:chOff x="1984114" y="3476625"/>
              <a:chExt cx="298972" cy="285750"/>
            </a:xfrm>
          </p:grpSpPr>
          <p:sp>
            <p:nvSpPr>
              <p:cNvPr id="21" name="Freeform 21"/>
              <p:cNvSpPr/>
              <p:nvPr/>
            </p:nvSpPr>
            <p:spPr>
              <a:xfrm>
                <a:off x="1984114" y="3476625"/>
                <a:ext cx="298972" cy="285750"/>
              </a:xfrm>
              <a:custGeom>
                <a:avLst/>
                <a:gdLst/>
                <a:ahLst/>
                <a:cxnLst/>
                <a:rect l="l" t="t" r="r" b="b"/>
                <a:pathLst>
                  <a:path w="298972" h="285750">
                    <a:moveTo>
                      <a:pt x="149486" y="0"/>
                    </a:moveTo>
                    <a:cubicBezTo>
                      <a:pt x="186567" y="32807"/>
                      <a:pt x="234965" y="49888"/>
                      <a:pt x="284424" y="47625"/>
                    </a:cubicBezTo>
                    <a:cubicBezTo>
                      <a:pt x="298972" y="97116"/>
                      <a:pt x="292828" y="150391"/>
                      <a:pt x="267396" y="195271"/>
                    </a:cubicBezTo>
                    <a:cubicBezTo>
                      <a:pt x="241964" y="240151"/>
                      <a:pt x="199419" y="272798"/>
                      <a:pt x="149486" y="285750"/>
                    </a:cubicBezTo>
                    <a:cubicBezTo>
                      <a:pt x="99554" y="272798"/>
                      <a:pt x="57008" y="240151"/>
                      <a:pt x="31576" y="195271"/>
                    </a:cubicBezTo>
                    <a:cubicBezTo>
                      <a:pt x="6144" y="150391"/>
                      <a:pt x="0" y="97116"/>
                      <a:pt x="14549" y="47625"/>
                    </a:cubicBezTo>
                    <a:cubicBezTo>
                      <a:pt x="64008" y="49888"/>
                      <a:pt x="112405" y="32807"/>
                      <a:pt x="149486" y="0"/>
                    </a:cubicBezTo>
                  </a:path>
                </a:pathLst>
              </a:custGeom>
              <a:noFill/>
              <a:ln w="19050">
                <a:solidFill>
                  <a:srgbClr val="D97757"/>
                </a:solidFill>
              </a:ln>
            </p:spPr>
          </p:sp>
          <p:sp>
            <p:nvSpPr>
              <p:cNvPr id="22" name="Freeform 22"/>
              <p:cNvSpPr/>
              <p:nvPr/>
            </p:nvSpPr>
            <p:spPr>
              <a:xfrm>
                <a:off x="2117725" y="3587750"/>
                <a:ext cx="31750" cy="31750"/>
              </a:xfrm>
              <a:custGeom>
                <a:avLst/>
                <a:gdLst/>
                <a:ahLst/>
                <a:cxnLst/>
                <a:rect l="l" t="t" r="r" b="b"/>
                <a:pathLst>
                  <a:path w="31750" h="31750">
                    <a:moveTo>
                      <a:pt x="0" y="15875"/>
                    </a:moveTo>
                    <a:cubicBezTo>
                      <a:pt x="0" y="24643"/>
                      <a:pt x="7107" y="31750"/>
                      <a:pt x="15875" y="31750"/>
                    </a:cubicBezTo>
                    <a:cubicBezTo>
                      <a:pt x="24643" y="31750"/>
                      <a:pt x="31750" y="24643"/>
                      <a:pt x="31750" y="15875"/>
                    </a:cubicBezTo>
                    <a:cubicBezTo>
                      <a:pt x="31750" y="7107"/>
                      <a:pt x="24643" y="0"/>
                      <a:pt x="15875" y="0"/>
                    </a:cubicBezTo>
                    <a:cubicBezTo>
                      <a:pt x="7107" y="0"/>
                      <a:pt x="0" y="7107"/>
                      <a:pt x="0" y="15875"/>
                    </a:cubicBezTo>
                  </a:path>
                </a:pathLst>
              </a:custGeom>
              <a:noFill/>
              <a:ln w="19050">
                <a:solidFill>
                  <a:srgbClr val="D97757"/>
                </a:solidFill>
              </a:ln>
            </p:spPr>
          </p:sp>
          <p:sp>
            <p:nvSpPr>
              <p:cNvPr id="23" name="Freeform 23"/>
              <p:cNvSpPr/>
              <p:nvPr/>
            </p:nvSpPr>
            <p:spPr>
              <a:xfrm>
                <a:off x="2133600" y="3619500"/>
                <a:ext cx="9525" cy="39688"/>
              </a:xfrm>
              <a:custGeom>
                <a:avLst/>
                <a:gdLst/>
                <a:ahLst/>
                <a:cxnLst/>
                <a:rect l="l" t="t" r="r" b="b"/>
                <a:pathLst>
                  <a:path w="9525" h="39688">
                    <a:moveTo>
                      <a:pt x="0" y="0"/>
                    </a:moveTo>
                    <a:lnTo>
                      <a:pt x="0" y="39688"/>
                    </a:lnTo>
                  </a:path>
                </a:pathLst>
              </a:custGeom>
              <a:noFill/>
              <a:ln w="19050">
                <a:solidFill>
                  <a:srgbClr val="D97757"/>
                </a:solidFill>
              </a:ln>
            </p:spPr>
          </p:sp>
        </p:grpSp>
        <p:sp>
          <p:nvSpPr>
            <p:cNvPr id="25" name="TextBox 25"/>
            <p:cNvSpPr txBox="1"/>
            <p:nvPr/>
          </p:nvSpPr>
          <p:spPr>
            <a:xfrm>
              <a:off x="2610802" y="3332321"/>
              <a:ext cx="2031444" cy="289560"/>
            </a:xfrm>
            <a:prstGeom prst="rect">
              <a:avLst/>
            </a:prstGeom>
            <a:noFill/>
            <a:ln>
              <a:noFill/>
            </a:ln>
          </p:spPr>
          <p:txBody>
            <a:bodyPr wrap="none" lIns="0" tIns="0" rIns="0" bIns="0" anchor="t" anchorCtr="0">
              <a:spAutoFit/>
            </a:bodyPr>
            <a:lstStyle/>
            <a:p>
              <a:pPr algn="l"/>
              <a:r>
                <a:rPr lang="zh-CN" sz="1425" b="1" dirty="0">
                  <a:solidFill>
                    <a:srgbClr val="191919"/>
                  </a:solidFill>
                  <a:latin typeface="Styrene A"/>
                  <a:ea typeface="Microsoft YaHei"/>
                  <a:cs typeface="Styrene A"/>
                </a:rPr>
                <a:t>Jailbreak resistance</a:t>
              </a:r>
            </a:p>
          </p:txBody>
        </p:sp>
        <p:sp>
          <p:nvSpPr>
            <p:cNvPr id="26" name="TextBox 26"/>
            <p:cNvSpPr txBox="1"/>
            <p:nvPr/>
          </p:nvSpPr>
          <p:spPr>
            <a:xfrm>
              <a:off x="2615565" y="3639502"/>
              <a:ext cx="4047172" cy="422910"/>
            </a:xfrm>
            <a:prstGeom prst="rect">
              <a:avLst/>
            </a:prstGeom>
            <a:noFill/>
            <a:ln>
              <a:noFill/>
            </a:ln>
          </p:spPr>
          <p:txBody>
            <a:bodyPr wrap="square" lIns="0" tIns="0" rIns="0" bIns="0" anchor="t" anchorCtr="0"/>
            <a:lstStyle/>
            <a:p>
              <a:pPr algn="l">
                <a:lnSpc>
                  <a:spcPts val="1650"/>
                </a:lnSpc>
              </a:pPr>
              <a:r>
                <a:rPr lang="zh-CN" sz="1050" b="1" dirty="0">
                  <a:solidFill>
                    <a:srgbClr val="D97757"/>
                  </a:solidFill>
                  <a:latin typeface="Anthropic Sans"/>
                  <a:ea typeface="Microsoft YaHei"/>
                  <a:cs typeface="Anthropic Sans"/>
                </a:rPr>
                <a:t>1,000+ hours</a:t>
              </a:r>
              <a:r>
                <a:rPr lang="zh-CN" sz="1050" dirty="0">
                  <a:solidFill>
                    <a:srgbClr val="64748B"/>
                  </a:solidFill>
                  <a:latin typeface="Anthropic Sans"/>
                  <a:ea typeface="Microsoft YaHei"/>
                  <a:cs typeface="Anthropic Sans"/>
                </a:rPr>
                <a:t xml:space="preserve"> of external red-teaming before launch produced </a:t>
              </a:r>
              <a:r>
                <a:rPr lang="zh-CN" sz="1050" b="1" dirty="0">
                  <a:solidFill>
                    <a:srgbClr val="191919"/>
                  </a:solidFill>
                  <a:latin typeface="Anthropic Sans"/>
                  <a:ea typeface="Microsoft YaHei"/>
                  <a:cs typeface="Anthropic Sans"/>
                </a:rPr>
                <a:t>no universal jailbreaks</a:t>
              </a:r>
              <a:r>
                <a:rPr lang="zh-CN" sz="1050" dirty="0">
                  <a:solidFill>
                    <a:srgbClr val="64748B"/>
                  </a:solidFill>
                  <a:latin typeface="Anthropic Sans"/>
                  <a:ea typeface="Microsoft YaHei"/>
                  <a:cs typeface="Anthropic Sans"/>
                </a:rPr>
                <a:t>.</a:t>
              </a:r>
            </a:p>
          </p:txBody>
        </p:sp>
      </p:grpSp>
      <p:grpSp>
        <p:nvGrpSpPr>
          <p:cNvPr id="37" name="Group 37"/>
          <p:cNvGrpSpPr/>
          <p:nvPr/>
        </p:nvGrpSpPr>
        <p:grpSpPr>
          <a:xfrm>
            <a:off x="933450" y="4457700"/>
            <a:ext cx="10687050" cy="990600"/>
            <a:chOff x="933450" y="4457700"/>
            <a:chExt cx="10687050" cy="990600"/>
          </a:xfrm>
        </p:grpSpPr>
        <p:sp>
          <p:nvSpPr>
            <p:cNvPr id="28" name="Ellipse 28"/>
            <p:cNvSpPr/>
            <p:nvPr/>
          </p:nvSpPr>
          <p:spPr>
            <a:xfrm>
              <a:off x="933450" y="4743450"/>
              <a:ext cx="419100" cy="419100"/>
            </a:xfrm>
            <a:prstGeom prst="ellipse">
              <a:avLst/>
            </a:prstGeom>
            <a:solidFill>
              <a:srgbClr val="D97757"/>
            </a:solidFill>
            <a:ln>
              <a:noFill/>
            </a:ln>
          </p:spPr>
        </p:sp>
        <p:sp>
          <p:nvSpPr>
            <p:cNvPr id="29" name="TextBox 29"/>
            <p:cNvSpPr txBox="1"/>
            <p:nvPr/>
          </p:nvSpPr>
          <p:spPr>
            <a:xfrm>
              <a:off x="1085395" y="4888706"/>
              <a:ext cx="115211"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Styrene A"/>
                  <a:ea typeface="Microsoft YaHei"/>
                  <a:cs typeface="Styrene A"/>
                </a:rPr>
                <a:t>3</a:t>
              </a:r>
            </a:p>
          </p:txBody>
        </p:sp>
        <p:sp>
          <p:nvSpPr>
            <p:cNvPr id="30" name="Rectangle 30"/>
            <p:cNvSpPr/>
            <p:nvPr/>
          </p:nvSpPr>
          <p:spPr>
            <a:xfrm>
              <a:off x="1638300" y="4457700"/>
              <a:ext cx="9982200" cy="990600"/>
            </a:xfrm>
            <a:prstGeom prst="roundRect">
              <a:avLst>
                <a:gd name="adj" fmla="val 9615"/>
              </a:avLst>
            </a:prstGeom>
            <a:solidFill>
              <a:srgbClr val="F8FAFC"/>
            </a:solidFill>
            <a:ln>
              <a:noFill/>
            </a:ln>
          </p:spPr>
        </p:sp>
        <p:grpSp>
          <p:nvGrpSpPr>
            <p:cNvPr id="34" name="Group 34"/>
            <p:cNvGrpSpPr/>
            <p:nvPr/>
          </p:nvGrpSpPr>
          <p:grpSpPr>
            <a:xfrm>
              <a:off x="2022475" y="4810125"/>
              <a:ext cx="222250" cy="285750"/>
              <a:chOff x="2022475" y="4810125"/>
              <a:chExt cx="222250" cy="285750"/>
            </a:xfrm>
          </p:grpSpPr>
          <p:sp>
            <p:nvSpPr>
              <p:cNvPr id="31" name="Freeform 31"/>
              <p:cNvSpPr/>
              <p:nvPr/>
            </p:nvSpPr>
            <p:spPr>
              <a:xfrm>
                <a:off x="2022475" y="4937125"/>
                <a:ext cx="222250" cy="158750"/>
              </a:xfrm>
              <a:custGeom>
                <a:avLst/>
                <a:gdLst/>
                <a:ahLst/>
                <a:cxnLst/>
                <a:rect l="l" t="t" r="r" b="b"/>
                <a:pathLst>
                  <a:path w="222250" h="158750">
                    <a:moveTo>
                      <a:pt x="0" y="31750"/>
                    </a:moveTo>
                    <a:cubicBezTo>
                      <a:pt x="0" y="14215"/>
                      <a:pt x="14215" y="0"/>
                      <a:pt x="31750" y="0"/>
                    </a:cubicBezTo>
                    <a:lnTo>
                      <a:pt x="190500" y="0"/>
                    </a:lnTo>
                    <a:cubicBezTo>
                      <a:pt x="208035" y="0"/>
                      <a:pt x="222250" y="14215"/>
                      <a:pt x="222250" y="31750"/>
                    </a:cubicBezTo>
                    <a:lnTo>
                      <a:pt x="222250" y="127000"/>
                    </a:lnTo>
                    <a:cubicBezTo>
                      <a:pt x="222250" y="144535"/>
                      <a:pt x="208035" y="158750"/>
                      <a:pt x="190500" y="158750"/>
                    </a:cubicBezTo>
                    <a:lnTo>
                      <a:pt x="31750" y="158750"/>
                    </a:lnTo>
                    <a:cubicBezTo>
                      <a:pt x="14215" y="158750"/>
                      <a:pt x="0" y="144535"/>
                      <a:pt x="0" y="127000"/>
                    </a:cubicBezTo>
                    <a:lnTo>
                      <a:pt x="0" y="31750"/>
                    </a:lnTo>
                  </a:path>
                </a:pathLst>
              </a:custGeom>
              <a:noFill/>
              <a:ln w="19050">
                <a:solidFill>
                  <a:srgbClr val="D97757"/>
                </a:solidFill>
              </a:ln>
            </p:spPr>
          </p:sp>
          <p:sp>
            <p:nvSpPr>
              <p:cNvPr id="32" name="Freeform 32"/>
              <p:cNvSpPr/>
              <p:nvPr/>
            </p:nvSpPr>
            <p:spPr>
              <a:xfrm>
                <a:off x="2117725" y="5000625"/>
                <a:ext cx="31750" cy="31750"/>
              </a:xfrm>
              <a:custGeom>
                <a:avLst/>
                <a:gdLst/>
                <a:ahLst/>
                <a:cxnLst/>
                <a:rect l="l" t="t" r="r" b="b"/>
                <a:pathLst>
                  <a:path w="31750" h="31750">
                    <a:moveTo>
                      <a:pt x="0" y="15875"/>
                    </a:moveTo>
                    <a:cubicBezTo>
                      <a:pt x="0" y="24643"/>
                      <a:pt x="7107" y="31750"/>
                      <a:pt x="15875" y="31750"/>
                    </a:cubicBezTo>
                    <a:cubicBezTo>
                      <a:pt x="24643" y="31750"/>
                      <a:pt x="31750" y="24643"/>
                      <a:pt x="31750" y="15875"/>
                    </a:cubicBezTo>
                    <a:cubicBezTo>
                      <a:pt x="31750" y="7107"/>
                      <a:pt x="24643" y="0"/>
                      <a:pt x="15875" y="0"/>
                    </a:cubicBezTo>
                    <a:cubicBezTo>
                      <a:pt x="7107" y="0"/>
                      <a:pt x="0" y="7107"/>
                      <a:pt x="0" y="15875"/>
                    </a:cubicBezTo>
                  </a:path>
                </a:pathLst>
              </a:custGeom>
              <a:noFill/>
              <a:ln w="19050">
                <a:solidFill>
                  <a:srgbClr val="D97757"/>
                </a:solidFill>
              </a:ln>
            </p:spPr>
          </p:sp>
          <p:sp>
            <p:nvSpPr>
              <p:cNvPr id="33" name="Freeform 33"/>
              <p:cNvSpPr/>
              <p:nvPr/>
            </p:nvSpPr>
            <p:spPr>
              <a:xfrm>
                <a:off x="2070100" y="4810125"/>
                <a:ext cx="127000" cy="127000"/>
              </a:xfrm>
              <a:custGeom>
                <a:avLst/>
                <a:gdLst/>
                <a:ahLst/>
                <a:cxnLst/>
                <a:rect l="l" t="t" r="r" b="b"/>
                <a:pathLst>
                  <a:path w="127000" h="127000">
                    <a:moveTo>
                      <a:pt x="0" y="127000"/>
                    </a:moveTo>
                    <a:lnTo>
                      <a:pt x="0" y="63500"/>
                    </a:lnTo>
                    <a:cubicBezTo>
                      <a:pt x="0" y="28430"/>
                      <a:pt x="28430" y="0"/>
                      <a:pt x="63500" y="0"/>
                    </a:cubicBezTo>
                    <a:cubicBezTo>
                      <a:pt x="98570" y="0"/>
                      <a:pt x="127000" y="28430"/>
                      <a:pt x="127000" y="63500"/>
                    </a:cubicBezTo>
                    <a:lnTo>
                      <a:pt x="127000" y="127000"/>
                    </a:lnTo>
                  </a:path>
                </a:pathLst>
              </a:custGeom>
              <a:noFill/>
              <a:ln w="19050">
                <a:solidFill>
                  <a:srgbClr val="D97757"/>
                </a:solidFill>
              </a:ln>
            </p:spPr>
          </p:sp>
        </p:grpSp>
        <p:sp>
          <p:nvSpPr>
            <p:cNvPr id="35" name="TextBox 35"/>
            <p:cNvSpPr txBox="1"/>
            <p:nvPr/>
          </p:nvSpPr>
          <p:spPr>
            <a:xfrm>
              <a:off x="2610802" y="4665821"/>
              <a:ext cx="1472775" cy="289560"/>
            </a:xfrm>
            <a:prstGeom prst="rect">
              <a:avLst/>
            </a:prstGeom>
            <a:noFill/>
            <a:ln>
              <a:noFill/>
            </a:ln>
          </p:spPr>
          <p:txBody>
            <a:bodyPr wrap="none" lIns="0" tIns="0" rIns="0" bIns="0" anchor="t" anchorCtr="0">
              <a:spAutoFit/>
            </a:bodyPr>
            <a:lstStyle/>
            <a:p>
              <a:pPr algn="l"/>
              <a:r>
                <a:rPr lang="zh-CN" sz="1425" b="1" dirty="0">
                  <a:solidFill>
                    <a:srgbClr val="191919"/>
                  </a:solidFill>
                  <a:latin typeface="Styrene A"/>
                  <a:ea typeface="Microsoft YaHei"/>
                  <a:cs typeface="Styrene A"/>
                </a:rPr>
                <a:t>Data retention</a:t>
              </a:r>
            </a:p>
          </p:txBody>
        </p:sp>
        <p:sp>
          <p:nvSpPr>
            <p:cNvPr id="36" name="TextBox 36"/>
            <p:cNvSpPr txBox="1"/>
            <p:nvPr/>
          </p:nvSpPr>
          <p:spPr>
            <a:xfrm>
              <a:off x="2615565" y="4973002"/>
              <a:ext cx="5607367" cy="422910"/>
            </a:xfrm>
            <a:prstGeom prst="rect">
              <a:avLst/>
            </a:prstGeom>
            <a:noFill/>
            <a:ln>
              <a:noFill/>
            </a:ln>
          </p:spPr>
          <p:txBody>
            <a:bodyPr wrap="square" lIns="0" tIns="0" rIns="0" bIns="0" anchor="t" anchorCtr="0"/>
            <a:lstStyle/>
            <a:p>
              <a:pPr algn="l">
                <a:lnSpc>
                  <a:spcPts val="1650"/>
                </a:lnSpc>
              </a:pPr>
              <a:r>
                <a:rPr lang="zh-CN" sz="1050" b="1" dirty="0">
                  <a:solidFill>
                    <a:srgbClr val="191919"/>
                  </a:solidFill>
                  <a:latin typeface="Anthropic Sans"/>
                  <a:ea typeface="Microsoft YaHei"/>
                  <a:cs typeface="Anthropic Sans"/>
                </a:rPr>
                <a:t>30-day policy</a:t>
              </a:r>
              <a:r>
                <a:rPr lang="zh-CN" sz="1050" dirty="0">
                  <a:solidFill>
                    <a:srgbClr val="64748B"/>
                  </a:solidFill>
                  <a:latin typeface="Anthropic Sans"/>
                  <a:ea typeface="Microsoft YaHei"/>
                  <a:cs typeface="Anthropic Sans"/>
                </a:rPr>
                <a:t xml:space="preserve"> required for all Fable 5 traffic — data is used for safety purposes only, </a:t>
              </a:r>
              <a:r>
                <a:rPr lang="zh-CN" sz="1050" dirty="0">
                  <a:solidFill>
                    <a:srgbClr val="64748B"/>
                  </a:solidFill>
                  <a:latin typeface="Anthropic Sans"/>
                  <a:ea typeface="Microsoft YaHei"/>
                  <a:cs typeface="Anthropic Sans"/>
                </a:rPr>
                <a:t>then deleted.</a:t>
              </a:r>
            </a:p>
          </p:txBody>
        </p:sp>
      </p:grpSp>
      <p:grpSp>
        <p:nvGrpSpPr>
          <p:cNvPr id="40" name="Group 40"/>
          <p:cNvGrpSpPr/>
          <p:nvPr/>
        </p:nvGrpSpPr>
        <p:grpSpPr>
          <a:xfrm>
            <a:off x="1638300" y="5715000"/>
            <a:ext cx="9982200" cy="457200"/>
            <a:chOff x="1638300" y="5715000"/>
            <a:chExt cx="9982200" cy="457200"/>
          </a:xfrm>
        </p:grpSpPr>
        <p:sp>
          <p:nvSpPr>
            <p:cNvPr id="38" name="Rectangle 38"/>
            <p:cNvSpPr/>
            <p:nvPr/>
          </p:nvSpPr>
          <p:spPr>
            <a:xfrm>
              <a:off x="1638300" y="5715000"/>
              <a:ext cx="9982200" cy="457200"/>
            </a:xfrm>
            <a:prstGeom prst="roundRect">
              <a:avLst>
                <a:gd name="adj" fmla="val 20833"/>
              </a:avLst>
            </a:prstGeom>
            <a:solidFill>
              <a:srgbClr val="FFFFFF"/>
            </a:solidFill>
            <a:ln w="14288">
              <a:solidFill>
                <a:srgbClr val="E2E8F0"/>
              </a:solidFill>
              <a:custDash>
                <a:ds d="400000" sp="266666"/>
              </a:custDash>
            </a:ln>
          </p:spPr>
        </p:sp>
        <p:sp>
          <p:nvSpPr>
            <p:cNvPr id="39" name="TextBox 39"/>
            <p:cNvSpPr txBox="1"/>
            <p:nvPr/>
          </p:nvSpPr>
          <p:spPr>
            <a:xfrm>
              <a:off x="2671024" y="5895499"/>
              <a:ext cx="7916751" cy="198120"/>
            </a:xfrm>
            <a:prstGeom prst="rect">
              <a:avLst/>
            </a:prstGeom>
            <a:noFill/>
            <a:ln>
              <a:noFill/>
            </a:ln>
          </p:spPr>
          <p:txBody>
            <a:bodyPr wrap="none" lIns="0" tIns="0" rIns="0" bIns="0" anchor="t" anchorCtr="0">
              <a:spAutoFit/>
            </a:bodyPr>
            <a:lstStyle/>
            <a:p>
              <a:pPr algn="ctr"/>
              <a:r>
                <a:rPr lang="zh-CN" sz="975" dirty="0">
                  <a:solidFill>
                    <a:srgbClr val="64748B"/>
                  </a:solidFill>
                  <a:latin typeface="Anthropic Sans"/>
                  <a:ea typeface="Microsoft YaHei"/>
                  <a:cs typeface="Anthropic Sans"/>
                </a:rPr>
                <a:t xml:space="preserve">Mythos 5 is the </a:t>
              </a:r>
              <a:r>
                <a:rPr lang="zh-CN" sz="975" b="1" dirty="0">
                  <a:solidFill>
                    <a:srgbClr val="191919"/>
                  </a:solidFill>
                  <a:latin typeface="Anthropic Sans"/>
                  <a:ea typeface="Microsoft YaHei"/>
                  <a:cs typeface="Anthropic Sans"/>
                </a:rPr>
                <a:t>same model with safeguards lifted</a:t>
              </a:r>
              <a:r>
                <a:rPr lang="zh-CN" sz="975" dirty="0">
                  <a:solidFill>
                    <a:srgbClr val="64748B"/>
                  </a:solidFill>
                  <a:latin typeface="Anthropic Sans"/>
                  <a:ea typeface="Microsoft YaHei"/>
                  <a:cs typeface="Anthropic Sans"/>
                </a:rPr>
                <a:t xml:space="preserve"> for vetted defense and research partners via trusted-access programs.</a:t>
              </a:r>
            </a:p>
          </p:txBody>
        </p:sp>
      </p:grpSp>
      <p:grpSp>
        <p:nvGrpSpPr>
          <p:cNvPr id="43" name="Group 43"/>
          <p:cNvGrpSpPr/>
          <p:nvPr/>
        </p:nvGrpSpPr>
        <p:grpSpPr>
          <a:xfrm>
            <a:off x="751522" y="6502241"/>
            <a:ext cx="10688955" cy="167640"/>
            <a:chOff x="751522" y="6502241"/>
            <a:chExt cx="10688955" cy="167640"/>
          </a:xfrm>
        </p:grpSpPr>
        <p:sp>
          <p:nvSpPr>
            <p:cNvPr id="41" name="TextBox 41"/>
            <p:cNvSpPr txBox="1"/>
            <p:nvPr/>
          </p:nvSpPr>
          <p:spPr>
            <a:xfrm>
              <a:off x="751522" y="6502241"/>
              <a:ext cx="3673412" cy="167640"/>
            </a:xfrm>
            <a:prstGeom prst="rect">
              <a:avLst/>
            </a:prstGeom>
            <a:noFill/>
            <a:ln>
              <a:noFill/>
            </a:ln>
          </p:spPr>
          <p:txBody>
            <a:bodyPr wrap="none" lIns="0" tIns="0" rIns="0" bIns="0" anchor="t" anchorCtr="0">
              <a:spAutoFit/>
            </a:bodyPr>
            <a:lstStyle/>
            <a:p>
              <a:pPr algn="l"/>
              <a:r>
                <a:rPr lang="zh-CN" sz="825" dirty="0">
                  <a:solidFill>
                    <a:srgbClr val="94A3B8"/>
                  </a:solidFill>
                  <a:latin typeface="Anthropic Sans"/>
                  <a:ea typeface="Microsoft YaHei"/>
                  <a:cs typeface="Anthropic Sans"/>
                </a:rPr>
                <a:t>Source: Anthropic launch announcement — safety section, June 2026</a:t>
              </a:r>
            </a:p>
          </p:txBody>
        </p:sp>
        <p:sp>
          <p:nvSpPr>
            <p:cNvPr id="42" name="TextBox 42"/>
            <p:cNvSpPr txBox="1"/>
            <p:nvPr/>
          </p:nvSpPr>
          <p:spPr>
            <a:xfrm>
              <a:off x="11298507" y="6502241"/>
              <a:ext cx="141970" cy="167640"/>
            </a:xfrm>
            <a:prstGeom prst="rect">
              <a:avLst/>
            </a:prstGeom>
            <a:noFill/>
            <a:ln>
              <a:noFill/>
            </a:ln>
          </p:spPr>
          <p:txBody>
            <a:bodyPr wrap="none" lIns="0" tIns="0" rIns="0" bIns="0" anchor="t" anchorCtr="0">
              <a:spAutoFit/>
            </a:bodyPr>
            <a:lstStyle/>
            <a:p>
              <a:pPr algn="r"/>
              <a:r>
                <a:rPr lang="zh-CN" sz="825" dirty="0">
                  <a:solidFill>
                    <a:srgbClr val="94A3B8"/>
                  </a:solidFill>
                  <a:latin typeface="Anthropic Sans"/>
                  <a:ea typeface="Microsoft YaHei"/>
                  <a:cs typeface="Anthropic Sans"/>
                </a:rPr>
                <a:t>12</a:t>
              </a:r>
            </a:p>
          </p:txBody>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400"/>
                                        <p:tgtEl>
                                          <p:spTgt spid="8"/>
                                        </p:tgtEl>
                                      </p:cBhvr>
                                    </p:animEffect>
                                  </p:childTnLst>
                                </p:cTn>
                              </p:par>
                            </p:childTnLst>
                          </p:cTn>
                        </p:par>
                        <p:par>
                          <p:cTn id="8" fill="hold">
                            <p:stCondLst>
                              <p:cond delay="900"/>
                            </p:stCondLst>
                            <p:childTnLst>
                              <p:par>
                                <p:cTn id="9" presetID="2" presetClass="entr" presetSubtype="4"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slide(fromBottom)">
                                      <p:cBhvr>
                                        <p:cTn id="11" dur="400"/>
                                        <p:tgtEl>
                                          <p:spTgt spid="17"/>
                                        </p:tgtEl>
                                      </p:cBhvr>
                                    </p:animEffect>
                                  </p:childTnLst>
                                </p:cTn>
                              </p:par>
                            </p:childTnLst>
                          </p:cTn>
                        </p:par>
                        <p:par>
                          <p:cTn id="12" fill="hold">
                            <p:stCondLst>
                              <p:cond delay="1800"/>
                            </p:stCondLst>
                            <p:childTnLst>
                              <p:par>
                                <p:cTn id="13" presetID="23" presetClass="entr" presetSubtype="0" fill="hold" nodeType="after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image">
                                      <p:cBhvr>
                                        <p:cTn id="15" dur="400"/>
                                        <p:tgtEl>
                                          <p:spTgt spid="27"/>
                                        </p:tgtEl>
                                      </p:cBhvr>
                                    </p:animEffect>
                                  </p:childTnLst>
                                </p:cTn>
                              </p:par>
                            </p:childTnLst>
                          </p:cTn>
                        </p:par>
                        <p:par>
                          <p:cTn id="16" fill="hold">
                            <p:stCondLst>
                              <p:cond delay="2700"/>
                            </p:stCondLst>
                            <p:childTnLst>
                              <p:par>
                                <p:cTn id="17" presetID="10" presetClass="entr" presetSubtype="0" fill="hold" nodeType="afterEffect">
                                  <p:stCondLst>
                                    <p:cond delay="0"/>
                                  </p:stCondLst>
                                  <p:childTnLst>
                                    <p:set>
                                      <p:cBhvr>
                                        <p:cTn id="18" dur="1" fill="hold">
                                          <p:stCondLst>
                                            <p:cond delay="0"/>
                                          </p:stCondLst>
                                        </p:cTn>
                                        <p:tgtEl>
                                          <p:spTgt spid="37"/>
                                        </p:tgtEl>
                                        <p:attrNameLst>
                                          <p:attrName>style.visibility</p:attrName>
                                        </p:attrNameLst>
                                      </p:cBhvr>
                                      <p:to>
                                        <p:strVal val="visible"/>
                                      </p:to>
                                    </p:set>
                                    <p:animEffect transition="in" filter="fade">
                                      <p:cBhvr>
                                        <p:cTn id="19" dur="400"/>
                                        <p:tgtEl>
                                          <p:spTgt spid="37"/>
                                        </p:tgtEl>
                                      </p:cBhvr>
                                    </p:animEffect>
                                  </p:childTnLst>
                                </p:cTn>
                              </p:par>
                            </p:childTnLst>
                          </p:cTn>
                        </p:par>
                        <p:par>
                          <p:cTn id="20" fill="hold">
                            <p:stCondLst>
                              <p:cond delay="3600"/>
                            </p:stCondLst>
                            <p:childTnLst>
                              <p:par>
                                <p:cTn id="21" presetID="10" presetClass="entr" presetSubtype="0" fill="hold" nodeType="after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fade">
                                      <p:cBhvr>
                                        <p:cTn id="23" dur="4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7" grpId="0"/>
      <p:bldP spid="27" grpId="0"/>
      <p:bldP spid="37" grpId="0"/>
      <p:bldP spid="4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FFFFF"/>
            </a:solidFill>
            <a:ln>
              <a:noFill/>
            </a:ln>
          </p:spPr>
        </p:sp>
        <p:sp>
          <p:nvSpPr>
            <p:cNvPr id="3" name="Rectangle 3"/>
            <p:cNvSpPr/>
            <p:nvPr/>
          </p:nvSpPr>
          <p:spPr>
            <a:xfrm>
              <a:off x="0" y="0"/>
              <a:ext cx="12192000" cy="6858000"/>
            </a:xfrm>
            <a:prstGeom prst="rect">
              <a:avLst/>
            </a:prstGeom>
            <a:gradFill>
              <a:gsLst>
                <a:gs pos="0">
                  <a:srgbClr val="D97757">
                    <a:alpha val="8000"/>
                  </a:srgbClr>
                </a:gs>
                <a:gs pos="100000">
                  <a:srgbClr val="D97757">
                    <a:alpha val="0"/>
                  </a:srgbClr>
                </a:gs>
              </a:gsLst>
              <a:path path="circle">
                <a:fillToRect l="50000" t="50000" r="50000" b="50000"/>
              </a:path>
            </a:gradFill>
            <a:ln>
              <a:noFill/>
            </a:ln>
          </p:spPr>
        </p:sp>
      </p:grpSp>
      <p:grpSp>
        <p:nvGrpSpPr>
          <p:cNvPr id="6" name="Group 6"/>
          <p:cNvGrpSpPr/>
          <p:nvPr/>
        </p:nvGrpSpPr>
        <p:grpSpPr>
          <a:xfrm>
            <a:off x="5867400" y="914400"/>
            <a:ext cx="228600" cy="228600"/>
            <a:chOff x="5867400" y="914400"/>
            <a:chExt cx="228600" cy="228600"/>
          </a:xfrm>
        </p:grpSpPr>
        <p:sp>
          <p:nvSpPr>
            <p:cNvPr id="5" name="Freeform 5"/>
            <p:cNvSpPr/>
            <p:nvPr/>
          </p:nvSpPr>
          <p:spPr>
            <a:xfrm>
              <a:off x="5867400" y="914400"/>
              <a:ext cx="228600" cy="228600"/>
            </a:xfrm>
            <a:custGeom>
              <a:avLst/>
              <a:gdLst/>
              <a:ahLst/>
              <a:cxnLst/>
              <a:rect l="l" t="t" r="r" b="b"/>
              <a:pathLst>
                <a:path w="228600" h="228600">
                  <a:moveTo>
                    <a:pt x="108356" y="228600"/>
                  </a:moveTo>
                  <a:lnTo>
                    <a:pt x="102641" y="224257"/>
                  </a:lnTo>
                  <a:lnTo>
                    <a:pt x="99441" y="217170"/>
                  </a:lnTo>
                  <a:lnTo>
                    <a:pt x="102641" y="202997"/>
                  </a:lnTo>
                  <a:lnTo>
                    <a:pt x="106299" y="184709"/>
                  </a:lnTo>
                  <a:lnTo>
                    <a:pt x="109271" y="170078"/>
                  </a:lnTo>
                  <a:lnTo>
                    <a:pt x="112014" y="152019"/>
                  </a:lnTo>
                  <a:lnTo>
                    <a:pt x="113614" y="146075"/>
                  </a:lnTo>
                  <a:lnTo>
                    <a:pt x="113386" y="145618"/>
                  </a:lnTo>
                  <a:lnTo>
                    <a:pt x="112243" y="145847"/>
                  </a:lnTo>
                  <a:lnTo>
                    <a:pt x="98527" y="164592"/>
                  </a:lnTo>
                  <a:lnTo>
                    <a:pt x="77724" y="192710"/>
                  </a:lnTo>
                  <a:lnTo>
                    <a:pt x="61265" y="210083"/>
                  </a:lnTo>
                  <a:lnTo>
                    <a:pt x="57379" y="211684"/>
                  </a:lnTo>
                  <a:lnTo>
                    <a:pt x="50521" y="208255"/>
                  </a:lnTo>
                  <a:lnTo>
                    <a:pt x="51206" y="201854"/>
                  </a:lnTo>
                  <a:lnTo>
                    <a:pt x="55093" y="196367"/>
                  </a:lnTo>
                  <a:lnTo>
                    <a:pt x="77724" y="167335"/>
                  </a:lnTo>
                  <a:lnTo>
                    <a:pt x="91440" y="149276"/>
                  </a:lnTo>
                  <a:lnTo>
                    <a:pt x="100355" y="138989"/>
                  </a:lnTo>
                  <a:lnTo>
                    <a:pt x="100127" y="137617"/>
                  </a:lnTo>
                  <a:lnTo>
                    <a:pt x="99670" y="137617"/>
                  </a:lnTo>
                  <a:lnTo>
                    <a:pt x="39319" y="176936"/>
                  </a:lnTo>
                  <a:lnTo>
                    <a:pt x="28575" y="178308"/>
                  </a:lnTo>
                  <a:lnTo>
                    <a:pt x="23774" y="173965"/>
                  </a:lnTo>
                  <a:lnTo>
                    <a:pt x="24460" y="166878"/>
                  </a:lnTo>
                  <a:lnTo>
                    <a:pt x="26746" y="164592"/>
                  </a:lnTo>
                  <a:lnTo>
                    <a:pt x="44806" y="152019"/>
                  </a:lnTo>
                  <a:lnTo>
                    <a:pt x="89840" y="126873"/>
                  </a:lnTo>
                  <a:lnTo>
                    <a:pt x="90526" y="124587"/>
                  </a:lnTo>
                  <a:lnTo>
                    <a:pt x="89840" y="123444"/>
                  </a:lnTo>
                  <a:lnTo>
                    <a:pt x="87554" y="123444"/>
                  </a:lnTo>
                  <a:lnTo>
                    <a:pt x="80010" y="122987"/>
                  </a:lnTo>
                  <a:lnTo>
                    <a:pt x="54407" y="122301"/>
                  </a:lnTo>
                  <a:lnTo>
                    <a:pt x="32233" y="121387"/>
                  </a:lnTo>
                  <a:lnTo>
                    <a:pt x="10516" y="120244"/>
                  </a:lnTo>
                  <a:lnTo>
                    <a:pt x="5029" y="119101"/>
                  </a:lnTo>
                  <a:lnTo>
                    <a:pt x="0" y="112243"/>
                  </a:lnTo>
                  <a:lnTo>
                    <a:pt x="457" y="108814"/>
                  </a:lnTo>
                  <a:lnTo>
                    <a:pt x="5029" y="105842"/>
                  </a:lnTo>
                  <a:lnTo>
                    <a:pt x="11659" y="106299"/>
                  </a:lnTo>
                  <a:lnTo>
                    <a:pt x="26060" y="107442"/>
                  </a:lnTo>
                  <a:lnTo>
                    <a:pt x="47777" y="108814"/>
                  </a:lnTo>
                  <a:lnTo>
                    <a:pt x="63551" y="109728"/>
                  </a:lnTo>
                  <a:lnTo>
                    <a:pt x="86868" y="112243"/>
                  </a:lnTo>
                  <a:lnTo>
                    <a:pt x="90526" y="112243"/>
                  </a:lnTo>
                  <a:lnTo>
                    <a:pt x="90983" y="110642"/>
                  </a:lnTo>
                  <a:lnTo>
                    <a:pt x="89840" y="109728"/>
                  </a:lnTo>
                  <a:lnTo>
                    <a:pt x="88925" y="108814"/>
                  </a:lnTo>
                  <a:lnTo>
                    <a:pt x="66294" y="93726"/>
                  </a:lnTo>
                  <a:lnTo>
                    <a:pt x="42062" y="77724"/>
                  </a:lnTo>
                  <a:lnTo>
                    <a:pt x="29261" y="68351"/>
                  </a:lnTo>
                  <a:lnTo>
                    <a:pt x="22403" y="63551"/>
                  </a:lnTo>
                  <a:lnTo>
                    <a:pt x="18974" y="59207"/>
                  </a:lnTo>
                  <a:lnTo>
                    <a:pt x="17602" y="49606"/>
                  </a:lnTo>
                  <a:lnTo>
                    <a:pt x="23774" y="42748"/>
                  </a:lnTo>
                  <a:lnTo>
                    <a:pt x="32233" y="43434"/>
                  </a:lnTo>
                  <a:lnTo>
                    <a:pt x="34290" y="43891"/>
                  </a:lnTo>
                  <a:lnTo>
                    <a:pt x="42748" y="50521"/>
                  </a:lnTo>
                  <a:lnTo>
                    <a:pt x="60808" y="64465"/>
                  </a:lnTo>
                  <a:lnTo>
                    <a:pt x="84582" y="82067"/>
                  </a:lnTo>
                  <a:lnTo>
                    <a:pt x="88011" y="84811"/>
                  </a:lnTo>
                  <a:lnTo>
                    <a:pt x="89611" y="83896"/>
                  </a:lnTo>
                  <a:lnTo>
                    <a:pt x="89611" y="83210"/>
                  </a:lnTo>
                  <a:lnTo>
                    <a:pt x="88011" y="80696"/>
                  </a:lnTo>
                  <a:lnTo>
                    <a:pt x="75209" y="57379"/>
                  </a:lnTo>
                  <a:lnTo>
                    <a:pt x="61493" y="33604"/>
                  </a:lnTo>
                  <a:lnTo>
                    <a:pt x="55321" y="23774"/>
                  </a:lnTo>
                  <a:lnTo>
                    <a:pt x="53721" y="17831"/>
                  </a:lnTo>
                  <a:cubicBezTo>
                    <a:pt x="53111" y="15773"/>
                    <a:pt x="52807" y="13487"/>
                    <a:pt x="52807" y="10973"/>
                  </a:cubicBezTo>
                  <a:lnTo>
                    <a:pt x="59893" y="1372"/>
                  </a:lnTo>
                  <a:lnTo>
                    <a:pt x="63779" y="0"/>
                  </a:lnTo>
                  <a:lnTo>
                    <a:pt x="73381" y="1372"/>
                  </a:lnTo>
                  <a:lnTo>
                    <a:pt x="77267" y="4801"/>
                  </a:lnTo>
                  <a:lnTo>
                    <a:pt x="83210" y="18288"/>
                  </a:lnTo>
                  <a:lnTo>
                    <a:pt x="92583" y="39548"/>
                  </a:lnTo>
                  <a:lnTo>
                    <a:pt x="107442" y="68351"/>
                  </a:lnTo>
                  <a:lnTo>
                    <a:pt x="111785" y="77038"/>
                  </a:lnTo>
                  <a:lnTo>
                    <a:pt x="114071" y="84811"/>
                  </a:lnTo>
                  <a:lnTo>
                    <a:pt x="114986" y="87325"/>
                  </a:lnTo>
                  <a:lnTo>
                    <a:pt x="116586" y="87325"/>
                  </a:lnTo>
                  <a:lnTo>
                    <a:pt x="116586" y="85954"/>
                  </a:lnTo>
                  <a:lnTo>
                    <a:pt x="117729" y="69494"/>
                  </a:lnTo>
                  <a:lnTo>
                    <a:pt x="120015" y="49606"/>
                  </a:lnTo>
                  <a:lnTo>
                    <a:pt x="122301" y="24003"/>
                  </a:lnTo>
                  <a:lnTo>
                    <a:pt x="122987" y="16688"/>
                  </a:lnTo>
                  <a:lnTo>
                    <a:pt x="126644" y="8001"/>
                  </a:lnTo>
                  <a:lnTo>
                    <a:pt x="133731" y="3429"/>
                  </a:lnTo>
                  <a:lnTo>
                    <a:pt x="139217" y="5944"/>
                  </a:lnTo>
                  <a:lnTo>
                    <a:pt x="143789" y="12573"/>
                  </a:lnTo>
                  <a:lnTo>
                    <a:pt x="143104" y="16688"/>
                  </a:lnTo>
                  <a:lnTo>
                    <a:pt x="140589" y="34290"/>
                  </a:lnTo>
                  <a:lnTo>
                    <a:pt x="135103" y="61951"/>
                  </a:lnTo>
                  <a:lnTo>
                    <a:pt x="131674" y="80696"/>
                  </a:lnTo>
                  <a:lnTo>
                    <a:pt x="133731" y="80696"/>
                  </a:lnTo>
                  <a:lnTo>
                    <a:pt x="136017" y="78181"/>
                  </a:lnTo>
                  <a:lnTo>
                    <a:pt x="145390" y="65837"/>
                  </a:lnTo>
                  <a:lnTo>
                    <a:pt x="161163" y="46177"/>
                  </a:lnTo>
                  <a:lnTo>
                    <a:pt x="168021" y="38405"/>
                  </a:lnTo>
                  <a:lnTo>
                    <a:pt x="176251" y="29718"/>
                  </a:lnTo>
                  <a:lnTo>
                    <a:pt x="181508" y="25603"/>
                  </a:lnTo>
                  <a:lnTo>
                    <a:pt x="191338" y="25603"/>
                  </a:lnTo>
                  <a:lnTo>
                    <a:pt x="198425" y="36347"/>
                  </a:lnTo>
                  <a:lnTo>
                    <a:pt x="195224" y="47549"/>
                  </a:lnTo>
                  <a:lnTo>
                    <a:pt x="185166" y="60350"/>
                  </a:lnTo>
                  <a:lnTo>
                    <a:pt x="176708" y="71095"/>
                  </a:lnTo>
                  <a:lnTo>
                    <a:pt x="164592" y="87325"/>
                  </a:lnTo>
                  <a:lnTo>
                    <a:pt x="157277" y="100355"/>
                  </a:lnTo>
                  <a:lnTo>
                    <a:pt x="157963" y="101270"/>
                  </a:lnTo>
                  <a:lnTo>
                    <a:pt x="159563" y="101270"/>
                  </a:lnTo>
                  <a:lnTo>
                    <a:pt x="186766" y="95326"/>
                  </a:lnTo>
                  <a:lnTo>
                    <a:pt x="201625" y="92812"/>
                  </a:lnTo>
                  <a:lnTo>
                    <a:pt x="218999" y="89840"/>
                  </a:lnTo>
                  <a:lnTo>
                    <a:pt x="227000" y="93497"/>
                  </a:lnTo>
                  <a:lnTo>
                    <a:pt x="227914" y="97155"/>
                  </a:lnTo>
                  <a:lnTo>
                    <a:pt x="224714" y="104927"/>
                  </a:lnTo>
                  <a:lnTo>
                    <a:pt x="205969" y="109499"/>
                  </a:lnTo>
                  <a:lnTo>
                    <a:pt x="184023" y="113843"/>
                  </a:lnTo>
                  <a:lnTo>
                    <a:pt x="151333" y="121615"/>
                  </a:lnTo>
                  <a:lnTo>
                    <a:pt x="150876" y="121844"/>
                  </a:lnTo>
                  <a:lnTo>
                    <a:pt x="151333" y="122530"/>
                  </a:lnTo>
                  <a:lnTo>
                    <a:pt x="165964" y="123901"/>
                  </a:lnTo>
                  <a:lnTo>
                    <a:pt x="172364" y="124358"/>
                  </a:lnTo>
                  <a:lnTo>
                    <a:pt x="187909" y="124358"/>
                  </a:lnTo>
                  <a:lnTo>
                    <a:pt x="216713" y="126416"/>
                  </a:lnTo>
                  <a:lnTo>
                    <a:pt x="224257" y="131445"/>
                  </a:lnTo>
                  <a:lnTo>
                    <a:pt x="228600" y="137389"/>
                  </a:lnTo>
                  <a:lnTo>
                    <a:pt x="227914" y="142189"/>
                  </a:lnTo>
                  <a:lnTo>
                    <a:pt x="216256" y="147904"/>
                  </a:lnTo>
                  <a:lnTo>
                    <a:pt x="200711" y="144247"/>
                  </a:lnTo>
                  <a:lnTo>
                    <a:pt x="164135" y="135560"/>
                  </a:lnTo>
                  <a:lnTo>
                    <a:pt x="151790" y="132588"/>
                  </a:lnTo>
                  <a:lnTo>
                    <a:pt x="149962" y="132588"/>
                  </a:lnTo>
                  <a:lnTo>
                    <a:pt x="149962" y="133502"/>
                  </a:lnTo>
                  <a:lnTo>
                    <a:pt x="160477" y="143789"/>
                  </a:lnTo>
                  <a:lnTo>
                    <a:pt x="179451" y="160934"/>
                  </a:lnTo>
                  <a:lnTo>
                    <a:pt x="203454" y="183109"/>
                  </a:lnTo>
                  <a:lnTo>
                    <a:pt x="204597" y="188595"/>
                  </a:lnTo>
                  <a:lnTo>
                    <a:pt x="201625" y="193167"/>
                  </a:lnTo>
                  <a:lnTo>
                    <a:pt x="198425" y="192710"/>
                  </a:lnTo>
                  <a:lnTo>
                    <a:pt x="177394" y="176708"/>
                  </a:lnTo>
                  <a:lnTo>
                    <a:pt x="169164" y="169621"/>
                  </a:lnTo>
                  <a:lnTo>
                    <a:pt x="150876" y="154305"/>
                  </a:lnTo>
                  <a:lnTo>
                    <a:pt x="149733" y="154305"/>
                  </a:lnTo>
                  <a:lnTo>
                    <a:pt x="149733" y="155905"/>
                  </a:lnTo>
                  <a:lnTo>
                    <a:pt x="153848" y="162077"/>
                  </a:lnTo>
                  <a:lnTo>
                    <a:pt x="176251" y="195682"/>
                  </a:lnTo>
                  <a:lnTo>
                    <a:pt x="177394" y="205969"/>
                  </a:lnTo>
                  <a:lnTo>
                    <a:pt x="175793" y="209169"/>
                  </a:lnTo>
                  <a:lnTo>
                    <a:pt x="169850" y="211226"/>
                  </a:lnTo>
                  <a:lnTo>
                    <a:pt x="163678" y="210083"/>
                  </a:lnTo>
                  <a:lnTo>
                    <a:pt x="150419" y="191795"/>
                  </a:lnTo>
                  <a:lnTo>
                    <a:pt x="136931" y="170993"/>
                  </a:lnTo>
                  <a:lnTo>
                    <a:pt x="125959" y="152476"/>
                  </a:lnTo>
                  <a:lnTo>
                    <a:pt x="124816" y="153391"/>
                  </a:lnTo>
                  <a:lnTo>
                    <a:pt x="118186" y="222428"/>
                  </a:lnTo>
                  <a:lnTo>
                    <a:pt x="115214" y="225857"/>
                  </a:lnTo>
                  <a:lnTo>
                    <a:pt x="108356" y="228600"/>
                  </a:lnTo>
                  <a:close/>
                </a:path>
              </a:pathLst>
            </a:custGeom>
            <a:solidFill>
              <a:srgbClr val="D97757"/>
            </a:solidFill>
            <a:ln>
              <a:noFill/>
            </a:ln>
          </p:spPr>
        </p:sp>
      </p:grpSp>
      <p:grpSp>
        <p:nvGrpSpPr>
          <p:cNvPr id="9" name="Group 9"/>
          <p:cNvGrpSpPr/>
          <p:nvPr/>
        </p:nvGrpSpPr>
        <p:grpSpPr>
          <a:xfrm>
            <a:off x="1691576" y="1941195"/>
            <a:ext cx="8808849" cy="1013936"/>
            <a:chOff x="1691576" y="1941195"/>
            <a:chExt cx="8808849" cy="1013936"/>
          </a:xfrm>
        </p:grpSpPr>
        <p:sp>
          <p:nvSpPr>
            <p:cNvPr id="7" name="TextBox 7"/>
            <p:cNvSpPr txBox="1"/>
            <p:nvPr/>
          </p:nvSpPr>
          <p:spPr>
            <a:xfrm>
              <a:off x="1691576" y="1941195"/>
              <a:ext cx="8808849" cy="792480"/>
            </a:xfrm>
            <a:prstGeom prst="rect">
              <a:avLst/>
            </a:prstGeom>
            <a:noFill/>
            <a:ln>
              <a:noFill/>
            </a:ln>
          </p:spPr>
          <p:txBody>
            <a:bodyPr wrap="none" lIns="0" tIns="0" rIns="0" bIns="0" anchor="t" anchorCtr="0">
              <a:spAutoFit/>
            </a:bodyPr>
            <a:lstStyle/>
            <a:p>
              <a:pPr algn="ctr"/>
              <a:r>
                <a:rPr lang="zh-CN" sz="3900" b="1" dirty="0">
                  <a:solidFill>
                    <a:srgbClr val="191919"/>
                  </a:solidFill>
                  <a:latin typeface="Styrene A"/>
                  <a:ea typeface="Microsoft YaHei"/>
                  <a:cs typeface="Styrene A"/>
                </a:rPr>
                <a:t xml:space="preserve">Start with your </a:t>
              </a:r>
              <a:r>
                <a:rPr lang="zh-CN" sz="3900" b="1" dirty="0">
                  <a:solidFill>
                    <a:srgbClr val="D97757"/>
                  </a:solidFill>
                  <a:latin typeface="Styrene A"/>
                  <a:ea typeface="Microsoft YaHei"/>
                  <a:cs typeface="Styrene A"/>
                </a:rPr>
                <a:t>hardest problem</a:t>
              </a:r>
            </a:p>
          </p:txBody>
        </p:sp>
        <p:sp>
          <p:nvSpPr>
            <p:cNvPr id="8" name="TextBox 8"/>
            <p:cNvSpPr txBox="1"/>
            <p:nvPr/>
          </p:nvSpPr>
          <p:spPr>
            <a:xfrm>
              <a:off x="2158663" y="2665571"/>
              <a:ext cx="7874675" cy="289560"/>
            </a:xfrm>
            <a:prstGeom prst="rect">
              <a:avLst/>
            </a:prstGeom>
            <a:noFill/>
            <a:ln>
              <a:noFill/>
            </a:ln>
          </p:spPr>
          <p:txBody>
            <a:bodyPr wrap="none" lIns="0" tIns="0" rIns="0" bIns="0" anchor="t" anchorCtr="0">
              <a:spAutoFit/>
            </a:bodyPr>
            <a:lstStyle/>
            <a:p>
              <a:pPr algn="ctr"/>
              <a:r>
                <a:rPr lang="zh-CN" sz="1425" dirty="0">
                  <a:solidFill>
                    <a:srgbClr val="64748B"/>
                  </a:solidFill>
                  <a:latin typeface="Anthropic Sans"/>
                  <a:ea typeface="Microsoft YaHei"/>
                  <a:cs typeface="Anthropic Sans"/>
                </a:rPr>
                <a:t>The teams with the best results gave Fable 5 their hardest unsolved problems first.</a:t>
              </a:r>
            </a:p>
          </p:txBody>
        </p:sp>
      </p:grpSp>
      <p:grpSp>
        <p:nvGrpSpPr>
          <p:cNvPr id="14" name="Group 14"/>
          <p:cNvGrpSpPr/>
          <p:nvPr/>
        </p:nvGrpSpPr>
        <p:grpSpPr>
          <a:xfrm>
            <a:off x="2610231" y="3528060"/>
            <a:ext cx="6971538" cy="1467802"/>
            <a:chOff x="2610231" y="3528060"/>
            <a:chExt cx="6971538" cy="1467802"/>
          </a:xfrm>
        </p:grpSpPr>
        <p:sp>
          <p:nvSpPr>
            <p:cNvPr id="10" name="TextBox 10"/>
            <p:cNvSpPr txBox="1"/>
            <p:nvPr/>
          </p:nvSpPr>
          <p:spPr>
            <a:xfrm>
              <a:off x="2912364" y="3528060"/>
              <a:ext cx="6367272" cy="243840"/>
            </a:xfrm>
            <a:prstGeom prst="rect">
              <a:avLst/>
            </a:prstGeom>
            <a:noFill/>
            <a:ln>
              <a:noFill/>
            </a:ln>
          </p:spPr>
          <p:txBody>
            <a:bodyPr wrap="none" lIns="0" tIns="0" rIns="0" bIns="0" anchor="t" anchorCtr="0">
              <a:spAutoFit/>
            </a:bodyPr>
            <a:lstStyle/>
            <a:p>
              <a:pPr algn="ctr"/>
              <a:r>
                <a:rPr lang="zh-CN" sz="1200" dirty="0">
                  <a:solidFill>
                    <a:srgbClr val="191919"/>
                  </a:solidFill>
                  <a:latin typeface="Anthropic Sans"/>
                  <a:ea typeface="Microsoft YaHei"/>
                  <a:cs typeface="Anthropic Sans"/>
                </a:rPr>
                <a:t xml:space="preserve">Give the </a:t>
              </a:r>
              <a:r>
                <a:rPr lang="zh-CN" sz="1200" b="1" dirty="0">
                  <a:solidFill>
                    <a:srgbClr val="191919"/>
                  </a:solidFill>
                  <a:latin typeface="Anthropic Sans"/>
                  <a:ea typeface="Microsoft YaHei"/>
                  <a:cs typeface="Anthropic Sans"/>
                </a:rPr>
                <a:t>full spec up front</a:t>
              </a:r>
              <a:r>
                <a:rPr lang="zh-CN" sz="1200" dirty="0">
                  <a:solidFill>
                    <a:srgbClr val="191919"/>
                  </a:solidFill>
                  <a:latin typeface="Anthropic Sans"/>
                  <a:ea typeface="Microsoft YaHei"/>
                  <a:cs typeface="Anthropic Sans"/>
                </a:rPr>
                <a:t xml:space="preserve"> · sweep </a:t>
              </a:r>
              <a:r>
                <a:rPr lang="zh-CN" sz="1200" b="1" dirty="0">
                  <a:solidFill>
                    <a:srgbClr val="191919"/>
                  </a:solidFill>
                  <a:latin typeface="Anthropic Sans"/>
                  <a:ea typeface="Microsoft YaHei"/>
                  <a:cs typeface="Anthropic Sans"/>
                </a:rPr>
                <a:t>effort levels</a:t>
              </a:r>
              <a:r>
                <a:rPr lang="zh-CN" sz="1200" dirty="0">
                  <a:solidFill>
                    <a:srgbClr val="191919"/>
                  </a:solidFill>
                  <a:latin typeface="Anthropic Sans"/>
                  <a:ea typeface="Microsoft YaHei"/>
                  <a:cs typeface="Anthropic Sans"/>
                </a:rPr>
                <a:t xml:space="preserve"> · let it </a:t>
              </a:r>
              <a:r>
                <a:rPr lang="zh-CN" sz="1200" b="1" dirty="0">
                  <a:solidFill>
                    <a:srgbClr val="191919"/>
                  </a:solidFill>
                  <a:latin typeface="Anthropic Sans"/>
                  <a:ea typeface="Microsoft YaHei"/>
                  <a:cs typeface="Anthropic Sans"/>
                </a:rPr>
                <a:t>delegate and self-verify</a:t>
              </a:r>
            </a:p>
          </p:txBody>
        </p:sp>
        <p:sp>
          <p:nvSpPr>
            <p:cNvPr id="11" name="TextBox 11"/>
            <p:cNvSpPr txBox="1"/>
            <p:nvPr/>
          </p:nvSpPr>
          <p:spPr>
            <a:xfrm>
              <a:off x="5001816" y="4048125"/>
              <a:ext cx="2188369" cy="304800"/>
            </a:xfrm>
            <a:prstGeom prst="rect">
              <a:avLst/>
            </a:prstGeom>
            <a:noFill/>
            <a:ln>
              <a:noFill/>
            </a:ln>
          </p:spPr>
          <p:txBody>
            <a:bodyPr wrap="none" lIns="0" tIns="0" rIns="0" bIns="0" anchor="t" anchorCtr="0">
              <a:spAutoFit/>
            </a:bodyPr>
            <a:lstStyle/>
            <a:p>
              <a:pPr algn="ctr"/>
              <a:r>
                <a:rPr lang="zh-CN" sz="1500" dirty="0">
                  <a:solidFill>
                    <a:srgbClr val="D97757"/>
                  </a:solidFill>
                  <a:latin typeface="Consolas"/>
                  <a:ea typeface="Microsoft YaHei"/>
                  <a:cs typeface="Consolas"/>
                </a:rPr>
                <a:t>model: claude-fable-5</a:t>
              </a:r>
            </a:p>
          </p:txBody>
        </p:sp>
        <p:sp>
          <p:nvSpPr>
            <p:cNvPr id="12" name="TextBox 12"/>
            <p:cNvSpPr txBox="1"/>
            <p:nvPr/>
          </p:nvSpPr>
          <p:spPr>
            <a:xfrm>
              <a:off x="2610231" y="4515802"/>
              <a:ext cx="6971538" cy="213360"/>
            </a:xfrm>
            <a:prstGeom prst="rect">
              <a:avLst/>
            </a:prstGeom>
            <a:noFill/>
            <a:ln>
              <a:noFill/>
            </a:ln>
          </p:spPr>
          <p:txBody>
            <a:bodyPr wrap="none" lIns="0" tIns="0" rIns="0" bIns="0" anchor="t" anchorCtr="0">
              <a:spAutoFit/>
            </a:bodyPr>
            <a:lstStyle/>
            <a:p>
              <a:pPr algn="ctr"/>
              <a:r>
                <a:rPr lang="zh-CN" sz="1050" dirty="0">
                  <a:solidFill>
                    <a:srgbClr val="64748B"/>
                  </a:solidFill>
                  <a:latin typeface="Anthropic Sans"/>
                  <a:ea typeface="Microsoft YaHei"/>
                  <a:cs typeface="Anthropic Sans"/>
                </a:rPr>
                <a:t>Available today on the Claude API, Claude Platform on AWS, Bedrock, Vertex AI, and Microsoft Foundry</a:t>
              </a:r>
            </a:p>
          </p:txBody>
        </p:sp>
        <p:sp>
          <p:nvSpPr>
            <p:cNvPr id="13" name="TextBox 13"/>
            <p:cNvSpPr txBox="1"/>
            <p:nvPr/>
          </p:nvSpPr>
          <p:spPr>
            <a:xfrm>
              <a:off x="4475964" y="4782502"/>
              <a:ext cx="3240072" cy="213360"/>
            </a:xfrm>
            <a:prstGeom prst="rect">
              <a:avLst/>
            </a:prstGeom>
            <a:noFill/>
            <a:ln>
              <a:noFill/>
            </a:ln>
          </p:spPr>
          <p:txBody>
            <a:bodyPr wrap="none" lIns="0" tIns="0" rIns="0" bIns="0" anchor="t" anchorCtr="0">
              <a:spAutoFit/>
            </a:bodyPr>
            <a:lstStyle/>
            <a:p>
              <a:pPr algn="ctr"/>
              <a:r>
                <a:rPr lang="zh-CN" sz="1050" dirty="0">
                  <a:solidFill>
                    <a:srgbClr val="64748B"/>
                  </a:solidFill>
                  <a:latin typeface="Anthropic Sans"/>
                  <a:ea typeface="Microsoft YaHei"/>
                  <a:cs typeface="Anthropic Sans"/>
                </a:rPr>
                <a:t>anthropic.com/news/claude-fable-5-mythos-5</a:t>
              </a:r>
            </a:p>
          </p:txBody>
        </p:sp>
      </p:grpSp>
      <p:grpSp>
        <p:nvGrpSpPr>
          <p:cNvPr id="17" name="Group 17"/>
          <p:cNvGrpSpPr/>
          <p:nvPr/>
        </p:nvGrpSpPr>
        <p:grpSpPr>
          <a:xfrm>
            <a:off x="5295900" y="5715000"/>
            <a:ext cx="1059447" cy="228600"/>
            <a:chOff x="5295900" y="5715000"/>
            <a:chExt cx="1059447" cy="228600"/>
          </a:xfrm>
        </p:grpSpPr>
        <p:sp>
          <p:nvSpPr>
            <p:cNvPr id="15" name="Freeform 15"/>
            <p:cNvSpPr/>
            <p:nvPr/>
          </p:nvSpPr>
          <p:spPr>
            <a:xfrm>
              <a:off x="5295900" y="5715000"/>
              <a:ext cx="228600" cy="228600"/>
            </a:xfrm>
            <a:custGeom>
              <a:avLst/>
              <a:gdLst/>
              <a:ahLst/>
              <a:cxnLst/>
              <a:rect l="l" t="t" r="r" b="b"/>
              <a:pathLst>
                <a:path w="228600" h="228600">
                  <a:moveTo>
                    <a:pt x="108356" y="228600"/>
                  </a:moveTo>
                  <a:lnTo>
                    <a:pt x="102641" y="224257"/>
                  </a:lnTo>
                  <a:lnTo>
                    <a:pt x="99441" y="217170"/>
                  </a:lnTo>
                  <a:lnTo>
                    <a:pt x="102641" y="202997"/>
                  </a:lnTo>
                  <a:lnTo>
                    <a:pt x="106299" y="184709"/>
                  </a:lnTo>
                  <a:lnTo>
                    <a:pt x="109271" y="170078"/>
                  </a:lnTo>
                  <a:lnTo>
                    <a:pt x="112014" y="152019"/>
                  </a:lnTo>
                  <a:lnTo>
                    <a:pt x="113614" y="146075"/>
                  </a:lnTo>
                  <a:lnTo>
                    <a:pt x="113386" y="145618"/>
                  </a:lnTo>
                  <a:lnTo>
                    <a:pt x="112243" y="145847"/>
                  </a:lnTo>
                  <a:lnTo>
                    <a:pt x="98527" y="164592"/>
                  </a:lnTo>
                  <a:lnTo>
                    <a:pt x="77724" y="192710"/>
                  </a:lnTo>
                  <a:lnTo>
                    <a:pt x="61265" y="210083"/>
                  </a:lnTo>
                  <a:lnTo>
                    <a:pt x="57379" y="211684"/>
                  </a:lnTo>
                  <a:lnTo>
                    <a:pt x="50521" y="208255"/>
                  </a:lnTo>
                  <a:lnTo>
                    <a:pt x="51206" y="201854"/>
                  </a:lnTo>
                  <a:lnTo>
                    <a:pt x="55093" y="196367"/>
                  </a:lnTo>
                  <a:lnTo>
                    <a:pt x="77724" y="167335"/>
                  </a:lnTo>
                  <a:lnTo>
                    <a:pt x="91440" y="149276"/>
                  </a:lnTo>
                  <a:lnTo>
                    <a:pt x="100355" y="138989"/>
                  </a:lnTo>
                  <a:lnTo>
                    <a:pt x="100127" y="137617"/>
                  </a:lnTo>
                  <a:lnTo>
                    <a:pt x="99670" y="137617"/>
                  </a:lnTo>
                  <a:lnTo>
                    <a:pt x="39319" y="176936"/>
                  </a:lnTo>
                  <a:lnTo>
                    <a:pt x="28575" y="178308"/>
                  </a:lnTo>
                  <a:lnTo>
                    <a:pt x="23774" y="173965"/>
                  </a:lnTo>
                  <a:lnTo>
                    <a:pt x="24460" y="166878"/>
                  </a:lnTo>
                  <a:lnTo>
                    <a:pt x="26746" y="164592"/>
                  </a:lnTo>
                  <a:lnTo>
                    <a:pt x="44806" y="152019"/>
                  </a:lnTo>
                  <a:lnTo>
                    <a:pt x="89840" y="126873"/>
                  </a:lnTo>
                  <a:lnTo>
                    <a:pt x="90526" y="124587"/>
                  </a:lnTo>
                  <a:lnTo>
                    <a:pt x="89840" y="123444"/>
                  </a:lnTo>
                  <a:lnTo>
                    <a:pt x="87554" y="123444"/>
                  </a:lnTo>
                  <a:lnTo>
                    <a:pt x="80010" y="122987"/>
                  </a:lnTo>
                  <a:lnTo>
                    <a:pt x="54407" y="122301"/>
                  </a:lnTo>
                  <a:lnTo>
                    <a:pt x="32233" y="121387"/>
                  </a:lnTo>
                  <a:lnTo>
                    <a:pt x="10516" y="120244"/>
                  </a:lnTo>
                  <a:lnTo>
                    <a:pt x="5029" y="119101"/>
                  </a:lnTo>
                  <a:lnTo>
                    <a:pt x="0" y="112243"/>
                  </a:lnTo>
                  <a:lnTo>
                    <a:pt x="457" y="108814"/>
                  </a:lnTo>
                  <a:lnTo>
                    <a:pt x="5029" y="105842"/>
                  </a:lnTo>
                  <a:lnTo>
                    <a:pt x="11659" y="106299"/>
                  </a:lnTo>
                  <a:lnTo>
                    <a:pt x="26060" y="107442"/>
                  </a:lnTo>
                  <a:lnTo>
                    <a:pt x="47777" y="108814"/>
                  </a:lnTo>
                  <a:lnTo>
                    <a:pt x="63551" y="109728"/>
                  </a:lnTo>
                  <a:lnTo>
                    <a:pt x="86868" y="112243"/>
                  </a:lnTo>
                  <a:lnTo>
                    <a:pt x="90526" y="112243"/>
                  </a:lnTo>
                  <a:lnTo>
                    <a:pt x="90983" y="110642"/>
                  </a:lnTo>
                  <a:lnTo>
                    <a:pt x="89840" y="109728"/>
                  </a:lnTo>
                  <a:lnTo>
                    <a:pt x="88925" y="108814"/>
                  </a:lnTo>
                  <a:lnTo>
                    <a:pt x="66294" y="93726"/>
                  </a:lnTo>
                  <a:lnTo>
                    <a:pt x="42062" y="77724"/>
                  </a:lnTo>
                  <a:lnTo>
                    <a:pt x="29261" y="68351"/>
                  </a:lnTo>
                  <a:lnTo>
                    <a:pt x="22403" y="63551"/>
                  </a:lnTo>
                  <a:lnTo>
                    <a:pt x="18974" y="59207"/>
                  </a:lnTo>
                  <a:lnTo>
                    <a:pt x="17602" y="49606"/>
                  </a:lnTo>
                  <a:lnTo>
                    <a:pt x="23774" y="42748"/>
                  </a:lnTo>
                  <a:lnTo>
                    <a:pt x="32233" y="43434"/>
                  </a:lnTo>
                  <a:lnTo>
                    <a:pt x="34290" y="43891"/>
                  </a:lnTo>
                  <a:lnTo>
                    <a:pt x="42748" y="50521"/>
                  </a:lnTo>
                  <a:lnTo>
                    <a:pt x="60808" y="64465"/>
                  </a:lnTo>
                  <a:lnTo>
                    <a:pt x="84582" y="82067"/>
                  </a:lnTo>
                  <a:lnTo>
                    <a:pt x="88011" y="84811"/>
                  </a:lnTo>
                  <a:lnTo>
                    <a:pt x="89611" y="83896"/>
                  </a:lnTo>
                  <a:lnTo>
                    <a:pt x="89611" y="83210"/>
                  </a:lnTo>
                  <a:lnTo>
                    <a:pt x="88011" y="80696"/>
                  </a:lnTo>
                  <a:lnTo>
                    <a:pt x="75209" y="57379"/>
                  </a:lnTo>
                  <a:lnTo>
                    <a:pt x="61493" y="33604"/>
                  </a:lnTo>
                  <a:lnTo>
                    <a:pt x="55321" y="23774"/>
                  </a:lnTo>
                  <a:lnTo>
                    <a:pt x="53721" y="17831"/>
                  </a:lnTo>
                  <a:cubicBezTo>
                    <a:pt x="53111" y="15773"/>
                    <a:pt x="52807" y="13487"/>
                    <a:pt x="52807" y="10973"/>
                  </a:cubicBezTo>
                  <a:lnTo>
                    <a:pt x="59893" y="1372"/>
                  </a:lnTo>
                  <a:lnTo>
                    <a:pt x="63779" y="0"/>
                  </a:lnTo>
                  <a:lnTo>
                    <a:pt x="73381" y="1372"/>
                  </a:lnTo>
                  <a:lnTo>
                    <a:pt x="77267" y="4801"/>
                  </a:lnTo>
                  <a:lnTo>
                    <a:pt x="83210" y="18288"/>
                  </a:lnTo>
                  <a:lnTo>
                    <a:pt x="92583" y="39548"/>
                  </a:lnTo>
                  <a:lnTo>
                    <a:pt x="107442" y="68351"/>
                  </a:lnTo>
                  <a:lnTo>
                    <a:pt x="111785" y="77038"/>
                  </a:lnTo>
                  <a:lnTo>
                    <a:pt x="114071" y="84811"/>
                  </a:lnTo>
                  <a:lnTo>
                    <a:pt x="114986" y="87325"/>
                  </a:lnTo>
                  <a:lnTo>
                    <a:pt x="116586" y="87325"/>
                  </a:lnTo>
                  <a:lnTo>
                    <a:pt x="116586" y="85954"/>
                  </a:lnTo>
                  <a:lnTo>
                    <a:pt x="117729" y="69494"/>
                  </a:lnTo>
                  <a:lnTo>
                    <a:pt x="120015" y="49606"/>
                  </a:lnTo>
                  <a:lnTo>
                    <a:pt x="122301" y="24003"/>
                  </a:lnTo>
                  <a:lnTo>
                    <a:pt x="122987" y="16688"/>
                  </a:lnTo>
                  <a:lnTo>
                    <a:pt x="126644" y="8001"/>
                  </a:lnTo>
                  <a:lnTo>
                    <a:pt x="133731" y="3429"/>
                  </a:lnTo>
                  <a:lnTo>
                    <a:pt x="139217" y="5944"/>
                  </a:lnTo>
                  <a:lnTo>
                    <a:pt x="143789" y="12573"/>
                  </a:lnTo>
                  <a:lnTo>
                    <a:pt x="143104" y="16688"/>
                  </a:lnTo>
                  <a:lnTo>
                    <a:pt x="140589" y="34290"/>
                  </a:lnTo>
                  <a:lnTo>
                    <a:pt x="135103" y="61951"/>
                  </a:lnTo>
                  <a:lnTo>
                    <a:pt x="131674" y="80696"/>
                  </a:lnTo>
                  <a:lnTo>
                    <a:pt x="133731" y="80696"/>
                  </a:lnTo>
                  <a:lnTo>
                    <a:pt x="136017" y="78181"/>
                  </a:lnTo>
                  <a:lnTo>
                    <a:pt x="145390" y="65837"/>
                  </a:lnTo>
                  <a:lnTo>
                    <a:pt x="161163" y="46177"/>
                  </a:lnTo>
                  <a:lnTo>
                    <a:pt x="168021" y="38405"/>
                  </a:lnTo>
                  <a:lnTo>
                    <a:pt x="176251" y="29718"/>
                  </a:lnTo>
                  <a:lnTo>
                    <a:pt x="181508" y="25603"/>
                  </a:lnTo>
                  <a:lnTo>
                    <a:pt x="191338" y="25603"/>
                  </a:lnTo>
                  <a:lnTo>
                    <a:pt x="198425" y="36347"/>
                  </a:lnTo>
                  <a:lnTo>
                    <a:pt x="195224" y="47549"/>
                  </a:lnTo>
                  <a:lnTo>
                    <a:pt x="185166" y="60350"/>
                  </a:lnTo>
                  <a:lnTo>
                    <a:pt x="176708" y="71095"/>
                  </a:lnTo>
                  <a:lnTo>
                    <a:pt x="164592" y="87325"/>
                  </a:lnTo>
                  <a:lnTo>
                    <a:pt x="157277" y="100355"/>
                  </a:lnTo>
                  <a:lnTo>
                    <a:pt x="157963" y="101270"/>
                  </a:lnTo>
                  <a:lnTo>
                    <a:pt x="159563" y="101270"/>
                  </a:lnTo>
                  <a:lnTo>
                    <a:pt x="186766" y="95326"/>
                  </a:lnTo>
                  <a:lnTo>
                    <a:pt x="201625" y="92812"/>
                  </a:lnTo>
                  <a:lnTo>
                    <a:pt x="218999" y="89840"/>
                  </a:lnTo>
                  <a:lnTo>
                    <a:pt x="227000" y="93497"/>
                  </a:lnTo>
                  <a:lnTo>
                    <a:pt x="227914" y="97155"/>
                  </a:lnTo>
                  <a:lnTo>
                    <a:pt x="224714" y="104927"/>
                  </a:lnTo>
                  <a:lnTo>
                    <a:pt x="205969" y="109499"/>
                  </a:lnTo>
                  <a:lnTo>
                    <a:pt x="184023" y="113843"/>
                  </a:lnTo>
                  <a:lnTo>
                    <a:pt x="151333" y="121615"/>
                  </a:lnTo>
                  <a:lnTo>
                    <a:pt x="150876" y="121844"/>
                  </a:lnTo>
                  <a:lnTo>
                    <a:pt x="151333" y="122530"/>
                  </a:lnTo>
                  <a:lnTo>
                    <a:pt x="165964" y="123901"/>
                  </a:lnTo>
                  <a:lnTo>
                    <a:pt x="172364" y="124358"/>
                  </a:lnTo>
                  <a:lnTo>
                    <a:pt x="187909" y="124358"/>
                  </a:lnTo>
                  <a:lnTo>
                    <a:pt x="216713" y="126416"/>
                  </a:lnTo>
                  <a:lnTo>
                    <a:pt x="224257" y="131445"/>
                  </a:lnTo>
                  <a:lnTo>
                    <a:pt x="228600" y="137389"/>
                  </a:lnTo>
                  <a:lnTo>
                    <a:pt x="227914" y="142189"/>
                  </a:lnTo>
                  <a:lnTo>
                    <a:pt x="216256" y="147904"/>
                  </a:lnTo>
                  <a:lnTo>
                    <a:pt x="200711" y="144247"/>
                  </a:lnTo>
                  <a:lnTo>
                    <a:pt x="164135" y="135560"/>
                  </a:lnTo>
                  <a:lnTo>
                    <a:pt x="151790" y="132588"/>
                  </a:lnTo>
                  <a:lnTo>
                    <a:pt x="149962" y="132588"/>
                  </a:lnTo>
                  <a:lnTo>
                    <a:pt x="149962" y="133502"/>
                  </a:lnTo>
                  <a:lnTo>
                    <a:pt x="160477" y="143789"/>
                  </a:lnTo>
                  <a:lnTo>
                    <a:pt x="179451" y="160934"/>
                  </a:lnTo>
                  <a:lnTo>
                    <a:pt x="203454" y="183109"/>
                  </a:lnTo>
                  <a:lnTo>
                    <a:pt x="204597" y="188595"/>
                  </a:lnTo>
                  <a:lnTo>
                    <a:pt x="201625" y="193167"/>
                  </a:lnTo>
                  <a:lnTo>
                    <a:pt x="198425" y="192710"/>
                  </a:lnTo>
                  <a:lnTo>
                    <a:pt x="177394" y="176708"/>
                  </a:lnTo>
                  <a:lnTo>
                    <a:pt x="169164" y="169621"/>
                  </a:lnTo>
                  <a:lnTo>
                    <a:pt x="150876" y="154305"/>
                  </a:lnTo>
                  <a:lnTo>
                    <a:pt x="149733" y="154305"/>
                  </a:lnTo>
                  <a:lnTo>
                    <a:pt x="149733" y="155905"/>
                  </a:lnTo>
                  <a:lnTo>
                    <a:pt x="153848" y="162077"/>
                  </a:lnTo>
                  <a:lnTo>
                    <a:pt x="176251" y="195682"/>
                  </a:lnTo>
                  <a:lnTo>
                    <a:pt x="177394" y="205969"/>
                  </a:lnTo>
                  <a:lnTo>
                    <a:pt x="175793" y="209169"/>
                  </a:lnTo>
                  <a:lnTo>
                    <a:pt x="169850" y="211226"/>
                  </a:lnTo>
                  <a:lnTo>
                    <a:pt x="163678" y="210083"/>
                  </a:lnTo>
                  <a:lnTo>
                    <a:pt x="150419" y="191795"/>
                  </a:lnTo>
                  <a:lnTo>
                    <a:pt x="136931" y="170993"/>
                  </a:lnTo>
                  <a:lnTo>
                    <a:pt x="125959" y="152476"/>
                  </a:lnTo>
                  <a:lnTo>
                    <a:pt x="124816" y="153391"/>
                  </a:lnTo>
                  <a:lnTo>
                    <a:pt x="118186" y="222428"/>
                  </a:lnTo>
                  <a:lnTo>
                    <a:pt x="115214" y="225857"/>
                  </a:lnTo>
                  <a:lnTo>
                    <a:pt x="108356" y="228600"/>
                  </a:lnTo>
                  <a:close/>
                </a:path>
              </a:pathLst>
            </a:custGeom>
            <a:solidFill>
              <a:srgbClr val="D97757"/>
            </a:solidFill>
            <a:ln>
              <a:noFill/>
            </a:ln>
          </p:spPr>
        </p:sp>
        <p:sp>
          <p:nvSpPr>
            <p:cNvPr id="16" name="Freeform 16"/>
            <p:cNvSpPr/>
            <p:nvPr/>
          </p:nvSpPr>
          <p:spPr>
            <a:xfrm>
              <a:off x="5581650" y="5741064"/>
              <a:ext cx="773697" cy="176479"/>
            </a:xfrm>
            <a:custGeom>
              <a:avLst/>
              <a:gdLst/>
              <a:ahLst/>
              <a:cxnLst/>
              <a:rect l="l" t="t" r="r" b="b"/>
              <a:pathLst>
                <a:path w="773697" h="176479">
                  <a:moveTo>
                    <a:pt x="90526" y="176479"/>
                  </a:moveTo>
                  <a:cubicBezTo>
                    <a:pt x="73228" y="176479"/>
                    <a:pt x="57721" y="173012"/>
                    <a:pt x="44006" y="166078"/>
                  </a:cubicBezTo>
                  <a:cubicBezTo>
                    <a:pt x="30289" y="159143"/>
                    <a:pt x="19507" y="149352"/>
                    <a:pt x="11659" y="136703"/>
                  </a:cubicBezTo>
                  <a:cubicBezTo>
                    <a:pt x="3886" y="124053"/>
                    <a:pt x="0" y="109423"/>
                    <a:pt x="0" y="92811"/>
                  </a:cubicBezTo>
                  <a:cubicBezTo>
                    <a:pt x="0" y="75438"/>
                    <a:pt x="3924" y="59969"/>
                    <a:pt x="11773" y="46406"/>
                  </a:cubicBezTo>
                  <a:cubicBezTo>
                    <a:pt x="19621" y="32766"/>
                    <a:pt x="30442" y="22212"/>
                    <a:pt x="44234" y="14745"/>
                  </a:cubicBezTo>
                  <a:cubicBezTo>
                    <a:pt x="58103" y="7201"/>
                    <a:pt x="73724" y="3429"/>
                    <a:pt x="91097" y="3429"/>
                  </a:cubicBezTo>
                  <a:cubicBezTo>
                    <a:pt x="101841" y="3429"/>
                    <a:pt x="112586" y="4610"/>
                    <a:pt x="123330" y="6972"/>
                  </a:cubicBezTo>
                  <a:cubicBezTo>
                    <a:pt x="134150" y="9335"/>
                    <a:pt x="143561" y="12954"/>
                    <a:pt x="151562" y="17831"/>
                  </a:cubicBezTo>
                  <a:lnTo>
                    <a:pt x="151562" y="55550"/>
                  </a:lnTo>
                  <a:lnTo>
                    <a:pt x="141275" y="55550"/>
                  </a:lnTo>
                  <a:cubicBezTo>
                    <a:pt x="138455" y="42215"/>
                    <a:pt x="132969" y="32271"/>
                    <a:pt x="124816" y="25718"/>
                  </a:cubicBezTo>
                  <a:cubicBezTo>
                    <a:pt x="116738" y="19164"/>
                    <a:pt x="105499" y="15888"/>
                    <a:pt x="91097" y="15888"/>
                  </a:cubicBezTo>
                  <a:cubicBezTo>
                    <a:pt x="77762" y="15888"/>
                    <a:pt x="66637" y="19012"/>
                    <a:pt x="57721" y="25260"/>
                  </a:cubicBezTo>
                  <a:cubicBezTo>
                    <a:pt x="48882" y="31433"/>
                    <a:pt x="42329" y="40005"/>
                    <a:pt x="38062" y="50978"/>
                  </a:cubicBezTo>
                  <a:cubicBezTo>
                    <a:pt x="33795" y="61951"/>
                    <a:pt x="31661" y="74561"/>
                    <a:pt x="31661" y="88811"/>
                  </a:cubicBezTo>
                  <a:cubicBezTo>
                    <a:pt x="31661" y="102984"/>
                    <a:pt x="34061" y="115748"/>
                    <a:pt x="38862" y="127101"/>
                  </a:cubicBezTo>
                  <a:cubicBezTo>
                    <a:pt x="43663" y="138455"/>
                    <a:pt x="50749" y="147447"/>
                    <a:pt x="60122" y="154076"/>
                  </a:cubicBezTo>
                  <a:cubicBezTo>
                    <a:pt x="69494" y="160629"/>
                    <a:pt x="80734" y="163906"/>
                    <a:pt x="93840" y="163906"/>
                  </a:cubicBezTo>
                  <a:cubicBezTo>
                    <a:pt x="102832" y="163906"/>
                    <a:pt x="110566" y="162039"/>
                    <a:pt x="117043" y="158305"/>
                  </a:cubicBezTo>
                  <a:cubicBezTo>
                    <a:pt x="123520" y="154571"/>
                    <a:pt x="128968" y="149542"/>
                    <a:pt x="133388" y="143218"/>
                  </a:cubicBezTo>
                  <a:cubicBezTo>
                    <a:pt x="137808" y="136817"/>
                    <a:pt x="141999" y="129006"/>
                    <a:pt x="145961" y="119786"/>
                  </a:cubicBezTo>
                  <a:lnTo>
                    <a:pt x="156820" y="119786"/>
                  </a:lnTo>
                  <a:lnTo>
                    <a:pt x="149390" y="161391"/>
                  </a:lnTo>
                  <a:cubicBezTo>
                    <a:pt x="141846" y="166344"/>
                    <a:pt x="132740" y="170116"/>
                    <a:pt x="122072" y="172707"/>
                  </a:cubicBezTo>
                  <a:cubicBezTo>
                    <a:pt x="111481" y="175222"/>
                    <a:pt x="100965" y="176479"/>
                    <a:pt x="90526" y="176479"/>
                  </a:cubicBezTo>
                  <a:close/>
                  <a:moveTo>
                    <a:pt x="171107" y="173964"/>
                  </a:moveTo>
                  <a:lnTo>
                    <a:pt x="171107" y="164020"/>
                  </a:lnTo>
                  <a:cubicBezTo>
                    <a:pt x="174841" y="163487"/>
                    <a:pt x="177813" y="162915"/>
                    <a:pt x="180022" y="162306"/>
                  </a:cubicBezTo>
                  <a:cubicBezTo>
                    <a:pt x="182308" y="161620"/>
                    <a:pt x="184137" y="160515"/>
                    <a:pt x="185509" y="158991"/>
                  </a:cubicBezTo>
                  <a:cubicBezTo>
                    <a:pt x="186957" y="157467"/>
                    <a:pt x="187681" y="155333"/>
                    <a:pt x="187681" y="152590"/>
                  </a:cubicBezTo>
                  <a:lnTo>
                    <a:pt x="187681" y="29489"/>
                  </a:lnTo>
                  <a:lnTo>
                    <a:pt x="171107" y="22403"/>
                  </a:lnTo>
                  <a:lnTo>
                    <a:pt x="171107" y="14745"/>
                  </a:lnTo>
                  <a:lnTo>
                    <a:pt x="205854" y="0"/>
                  </a:lnTo>
                  <a:lnTo>
                    <a:pt x="214884" y="0"/>
                  </a:lnTo>
                  <a:lnTo>
                    <a:pt x="214884" y="152590"/>
                  </a:lnTo>
                  <a:cubicBezTo>
                    <a:pt x="214884" y="155410"/>
                    <a:pt x="215570" y="157581"/>
                    <a:pt x="216941" y="159105"/>
                  </a:cubicBezTo>
                  <a:cubicBezTo>
                    <a:pt x="218389" y="160629"/>
                    <a:pt x="220218" y="161696"/>
                    <a:pt x="222428" y="162306"/>
                  </a:cubicBezTo>
                  <a:cubicBezTo>
                    <a:pt x="224714" y="162915"/>
                    <a:pt x="227762" y="163487"/>
                    <a:pt x="231572" y="164020"/>
                  </a:cubicBezTo>
                  <a:lnTo>
                    <a:pt x="231572" y="173964"/>
                  </a:lnTo>
                  <a:lnTo>
                    <a:pt x="171107" y="173964"/>
                  </a:lnTo>
                  <a:close/>
                  <a:moveTo>
                    <a:pt x="276492" y="176479"/>
                  </a:moveTo>
                  <a:cubicBezTo>
                    <a:pt x="270319" y="176479"/>
                    <a:pt x="264719" y="175260"/>
                    <a:pt x="259690" y="172821"/>
                  </a:cubicBezTo>
                  <a:cubicBezTo>
                    <a:pt x="254660" y="170383"/>
                    <a:pt x="250698" y="166878"/>
                    <a:pt x="247802" y="162306"/>
                  </a:cubicBezTo>
                  <a:cubicBezTo>
                    <a:pt x="244907" y="157734"/>
                    <a:pt x="243459" y="152400"/>
                    <a:pt x="243459" y="146304"/>
                  </a:cubicBezTo>
                  <a:cubicBezTo>
                    <a:pt x="243459" y="137007"/>
                    <a:pt x="246317" y="129616"/>
                    <a:pt x="252032" y="124130"/>
                  </a:cubicBezTo>
                  <a:cubicBezTo>
                    <a:pt x="257823" y="118567"/>
                    <a:pt x="265900" y="114338"/>
                    <a:pt x="276263" y="111442"/>
                  </a:cubicBezTo>
                  <a:lnTo>
                    <a:pt x="316611" y="100012"/>
                  </a:lnTo>
                  <a:lnTo>
                    <a:pt x="316611" y="85496"/>
                  </a:lnTo>
                  <a:cubicBezTo>
                    <a:pt x="316611" y="77648"/>
                    <a:pt x="314782" y="71590"/>
                    <a:pt x="311125" y="67323"/>
                  </a:cubicBezTo>
                  <a:cubicBezTo>
                    <a:pt x="307543" y="62979"/>
                    <a:pt x="302019" y="60808"/>
                    <a:pt x="294551" y="60808"/>
                  </a:cubicBezTo>
                  <a:cubicBezTo>
                    <a:pt x="287922" y="60808"/>
                    <a:pt x="282931" y="62827"/>
                    <a:pt x="279578" y="66866"/>
                  </a:cubicBezTo>
                  <a:cubicBezTo>
                    <a:pt x="276301" y="70828"/>
                    <a:pt x="274663" y="76314"/>
                    <a:pt x="274663" y="83324"/>
                  </a:cubicBezTo>
                  <a:lnTo>
                    <a:pt x="274663" y="94069"/>
                  </a:lnTo>
                  <a:lnTo>
                    <a:pt x="257061" y="94069"/>
                  </a:lnTo>
                  <a:cubicBezTo>
                    <a:pt x="254927" y="92697"/>
                    <a:pt x="253251" y="90868"/>
                    <a:pt x="252032" y="88582"/>
                  </a:cubicBezTo>
                  <a:cubicBezTo>
                    <a:pt x="250889" y="86220"/>
                    <a:pt x="250317" y="83629"/>
                    <a:pt x="250317" y="80810"/>
                  </a:cubicBezTo>
                  <a:cubicBezTo>
                    <a:pt x="250317" y="74485"/>
                    <a:pt x="252565" y="69075"/>
                    <a:pt x="257061" y="64580"/>
                  </a:cubicBezTo>
                  <a:cubicBezTo>
                    <a:pt x="261557" y="60008"/>
                    <a:pt x="267271" y="56579"/>
                    <a:pt x="274206" y="54293"/>
                  </a:cubicBezTo>
                  <a:cubicBezTo>
                    <a:pt x="281140" y="52007"/>
                    <a:pt x="288188" y="50864"/>
                    <a:pt x="295351" y="50864"/>
                  </a:cubicBezTo>
                  <a:cubicBezTo>
                    <a:pt x="310439" y="50864"/>
                    <a:pt x="322288" y="54331"/>
                    <a:pt x="330899" y="61265"/>
                  </a:cubicBezTo>
                  <a:cubicBezTo>
                    <a:pt x="339509" y="68199"/>
                    <a:pt x="343814" y="78714"/>
                    <a:pt x="343814" y="92811"/>
                  </a:cubicBezTo>
                  <a:lnTo>
                    <a:pt x="343814" y="150533"/>
                  </a:lnTo>
                  <a:cubicBezTo>
                    <a:pt x="343814" y="153581"/>
                    <a:pt x="344500" y="155905"/>
                    <a:pt x="345872" y="157505"/>
                  </a:cubicBezTo>
                  <a:cubicBezTo>
                    <a:pt x="347243" y="159105"/>
                    <a:pt x="349034" y="160248"/>
                    <a:pt x="351244" y="160934"/>
                  </a:cubicBezTo>
                  <a:cubicBezTo>
                    <a:pt x="353530" y="161544"/>
                    <a:pt x="356616" y="162115"/>
                    <a:pt x="360502" y="162649"/>
                  </a:cubicBezTo>
                  <a:lnTo>
                    <a:pt x="360502" y="172593"/>
                  </a:lnTo>
                  <a:cubicBezTo>
                    <a:pt x="357530" y="173660"/>
                    <a:pt x="354406" y="174498"/>
                    <a:pt x="351130" y="175107"/>
                  </a:cubicBezTo>
                  <a:cubicBezTo>
                    <a:pt x="347929" y="175717"/>
                    <a:pt x="344843" y="176022"/>
                    <a:pt x="341871" y="176022"/>
                  </a:cubicBezTo>
                  <a:cubicBezTo>
                    <a:pt x="334785" y="176022"/>
                    <a:pt x="329070" y="174422"/>
                    <a:pt x="324726" y="171221"/>
                  </a:cubicBezTo>
                  <a:cubicBezTo>
                    <a:pt x="320459" y="167945"/>
                    <a:pt x="317868" y="163144"/>
                    <a:pt x="316954" y="156819"/>
                  </a:cubicBezTo>
                  <a:cubicBezTo>
                    <a:pt x="311620" y="163144"/>
                    <a:pt x="305562" y="168021"/>
                    <a:pt x="298780" y="171450"/>
                  </a:cubicBezTo>
                  <a:cubicBezTo>
                    <a:pt x="292075" y="174803"/>
                    <a:pt x="284645" y="176479"/>
                    <a:pt x="276492" y="176479"/>
                  </a:cubicBezTo>
                  <a:close/>
                  <a:moveTo>
                    <a:pt x="289979" y="158191"/>
                  </a:moveTo>
                  <a:cubicBezTo>
                    <a:pt x="294780" y="158191"/>
                    <a:pt x="299466" y="157086"/>
                    <a:pt x="304038" y="154876"/>
                  </a:cubicBezTo>
                  <a:cubicBezTo>
                    <a:pt x="308686" y="152590"/>
                    <a:pt x="312877" y="149580"/>
                    <a:pt x="316611" y="145847"/>
                  </a:cubicBezTo>
                  <a:lnTo>
                    <a:pt x="316611" y="110528"/>
                  </a:lnTo>
                  <a:lnTo>
                    <a:pt x="287350" y="119215"/>
                  </a:lnTo>
                  <a:cubicBezTo>
                    <a:pt x="281864" y="120891"/>
                    <a:pt x="277673" y="123482"/>
                    <a:pt x="274777" y="126987"/>
                  </a:cubicBezTo>
                  <a:cubicBezTo>
                    <a:pt x="271882" y="130492"/>
                    <a:pt x="270434" y="134912"/>
                    <a:pt x="270434" y="140246"/>
                  </a:cubicBezTo>
                  <a:cubicBezTo>
                    <a:pt x="270434" y="143675"/>
                    <a:pt x="271272" y="146761"/>
                    <a:pt x="272948" y="149504"/>
                  </a:cubicBezTo>
                  <a:cubicBezTo>
                    <a:pt x="274625" y="152247"/>
                    <a:pt x="276949" y="154381"/>
                    <a:pt x="279921" y="155905"/>
                  </a:cubicBezTo>
                  <a:cubicBezTo>
                    <a:pt x="282893" y="157429"/>
                    <a:pt x="286245" y="158191"/>
                    <a:pt x="289979" y="158191"/>
                  </a:cubicBezTo>
                  <a:close/>
                  <a:moveTo>
                    <a:pt x="415366" y="176479"/>
                  </a:moveTo>
                  <a:cubicBezTo>
                    <a:pt x="403098" y="176479"/>
                    <a:pt x="393916" y="173279"/>
                    <a:pt x="387820" y="166878"/>
                  </a:cubicBezTo>
                  <a:cubicBezTo>
                    <a:pt x="381800" y="160477"/>
                    <a:pt x="378790" y="151447"/>
                    <a:pt x="378790" y="139789"/>
                  </a:cubicBezTo>
                  <a:lnTo>
                    <a:pt x="378790" y="77838"/>
                  </a:lnTo>
                  <a:lnTo>
                    <a:pt x="362102" y="71666"/>
                  </a:lnTo>
                  <a:lnTo>
                    <a:pt x="363017" y="64008"/>
                  </a:lnTo>
                  <a:lnTo>
                    <a:pt x="396850" y="50864"/>
                  </a:lnTo>
                  <a:lnTo>
                    <a:pt x="405994" y="50864"/>
                  </a:lnTo>
                  <a:lnTo>
                    <a:pt x="405994" y="135217"/>
                  </a:lnTo>
                  <a:cubicBezTo>
                    <a:pt x="405994" y="142456"/>
                    <a:pt x="407784" y="147828"/>
                    <a:pt x="411366" y="151333"/>
                  </a:cubicBezTo>
                  <a:cubicBezTo>
                    <a:pt x="414947" y="154838"/>
                    <a:pt x="420433" y="156591"/>
                    <a:pt x="427825" y="156591"/>
                  </a:cubicBezTo>
                  <a:cubicBezTo>
                    <a:pt x="432702" y="156591"/>
                    <a:pt x="437807" y="155486"/>
                    <a:pt x="443141" y="153276"/>
                  </a:cubicBezTo>
                  <a:cubicBezTo>
                    <a:pt x="448475" y="150990"/>
                    <a:pt x="453390" y="148056"/>
                    <a:pt x="457886" y="144475"/>
                  </a:cubicBezTo>
                  <a:lnTo>
                    <a:pt x="457886" y="77838"/>
                  </a:lnTo>
                  <a:lnTo>
                    <a:pt x="441198" y="71666"/>
                  </a:lnTo>
                  <a:lnTo>
                    <a:pt x="441198" y="64008"/>
                  </a:lnTo>
                  <a:lnTo>
                    <a:pt x="476060" y="50864"/>
                  </a:lnTo>
                  <a:lnTo>
                    <a:pt x="485089" y="50864"/>
                  </a:lnTo>
                  <a:lnTo>
                    <a:pt x="485089" y="143789"/>
                  </a:lnTo>
                  <a:cubicBezTo>
                    <a:pt x="485089" y="146837"/>
                    <a:pt x="485775" y="149199"/>
                    <a:pt x="487147" y="150876"/>
                  </a:cubicBezTo>
                  <a:cubicBezTo>
                    <a:pt x="488518" y="152476"/>
                    <a:pt x="490309" y="153619"/>
                    <a:pt x="492519" y="154305"/>
                  </a:cubicBezTo>
                  <a:cubicBezTo>
                    <a:pt x="494805" y="154991"/>
                    <a:pt x="497891" y="155600"/>
                    <a:pt x="501777" y="156134"/>
                  </a:cubicBezTo>
                  <a:lnTo>
                    <a:pt x="501777" y="165963"/>
                  </a:lnTo>
                  <a:lnTo>
                    <a:pt x="466915" y="175679"/>
                  </a:lnTo>
                  <a:lnTo>
                    <a:pt x="457886" y="175679"/>
                  </a:lnTo>
                  <a:lnTo>
                    <a:pt x="457886" y="155676"/>
                  </a:lnTo>
                  <a:cubicBezTo>
                    <a:pt x="451866" y="161925"/>
                    <a:pt x="445084" y="166954"/>
                    <a:pt x="437540" y="170764"/>
                  </a:cubicBezTo>
                  <a:cubicBezTo>
                    <a:pt x="429997" y="174574"/>
                    <a:pt x="422605" y="176479"/>
                    <a:pt x="415366" y="176479"/>
                  </a:cubicBezTo>
                  <a:close/>
                  <a:moveTo>
                    <a:pt x="565099" y="176479"/>
                  </a:moveTo>
                  <a:cubicBezTo>
                    <a:pt x="554965" y="176479"/>
                    <a:pt x="545897" y="174041"/>
                    <a:pt x="537896" y="169164"/>
                  </a:cubicBezTo>
                  <a:cubicBezTo>
                    <a:pt x="529895" y="164211"/>
                    <a:pt x="523646" y="157467"/>
                    <a:pt x="519151" y="148933"/>
                  </a:cubicBezTo>
                  <a:cubicBezTo>
                    <a:pt x="514655" y="140398"/>
                    <a:pt x="512407" y="130949"/>
                    <a:pt x="512407" y="120586"/>
                  </a:cubicBezTo>
                  <a:cubicBezTo>
                    <a:pt x="512407" y="106946"/>
                    <a:pt x="515112" y="94869"/>
                    <a:pt x="520522" y="84353"/>
                  </a:cubicBezTo>
                  <a:cubicBezTo>
                    <a:pt x="526009" y="73838"/>
                    <a:pt x="533705" y="65646"/>
                    <a:pt x="543611" y="59779"/>
                  </a:cubicBezTo>
                  <a:cubicBezTo>
                    <a:pt x="553517" y="53835"/>
                    <a:pt x="565023" y="50864"/>
                    <a:pt x="578129" y="50864"/>
                  </a:cubicBezTo>
                  <a:cubicBezTo>
                    <a:pt x="582168" y="50864"/>
                    <a:pt x="586321" y="51321"/>
                    <a:pt x="590588" y="52235"/>
                  </a:cubicBezTo>
                  <a:cubicBezTo>
                    <a:pt x="594932" y="53073"/>
                    <a:pt x="599084" y="54293"/>
                    <a:pt x="603047" y="55893"/>
                  </a:cubicBezTo>
                  <a:lnTo>
                    <a:pt x="603047" y="29375"/>
                  </a:lnTo>
                  <a:lnTo>
                    <a:pt x="586359" y="22403"/>
                  </a:lnTo>
                  <a:lnTo>
                    <a:pt x="586359" y="14745"/>
                  </a:lnTo>
                  <a:lnTo>
                    <a:pt x="621221" y="0"/>
                  </a:lnTo>
                  <a:lnTo>
                    <a:pt x="630250" y="0"/>
                  </a:lnTo>
                  <a:lnTo>
                    <a:pt x="630250" y="143789"/>
                  </a:lnTo>
                  <a:cubicBezTo>
                    <a:pt x="630250" y="146837"/>
                    <a:pt x="630936" y="149199"/>
                    <a:pt x="632308" y="150876"/>
                  </a:cubicBezTo>
                  <a:cubicBezTo>
                    <a:pt x="633755" y="152476"/>
                    <a:pt x="635584" y="153619"/>
                    <a:pt x="637794" y="154305"/>
                  </a:cubicBezTo>
                  <a:cubicBezTo>
                    <a:pt x="640080" y="154991"/>
                    <a:pt x="643128" y="155600"/>
                    <a:pt x="646938" y="156134"/>
                  </a:cubicBezTo>
                  <a:lnTo>
                    <a:pt x="646938" y="165963"/>
                  </a:lnTo>
                  <a:lnTo>
                    <a:pt x="612076" y="175679"/>
                  </a:lnTo>
                  <a:lnTo>
                    <a:pt x="603047" y="175679"/>
                  </a:lnTo>
                  <a:lnTo>
                    <a:pt x="603047" y="160477"/>
                  </a:lnTo>
                  <a:cubicBezTo>
                    <a:pt x="597713" y="165506"/>
                    <a:pt x="591807" y="169430"/>
                    <a:pt x="585330" y="172250"/>
                  </a:cubicBezTo>
                  <a:cubicBezTo>
                    <a:pt x="578929" y="175069"/>
                    <a:pt x="572186" y="176479"/>
                    <a:pt x="565099" y="176479"/>
                  </a:cubicBezTo>
                  <a:close/>
                  <a:moveTo>
                    <a:pt x="576301" y="158077"/>
                  </a:moveTo>
                  <a:cubicBezTo>
                    <a:pt x="580796" y="158077"/>
                    <a:pt x="585368" y="157162"/>
                    <a:pt x="590017" y="155333"/>
                  </a:cubicBezTo>
                  <a:cubicBezTo>
                    <a:pt x="594665" y="153505"/>
                    <a:pt x="599008" y="150990"/>
                    <a:pt x="603047" y="147790"/>
                  </a:cubicBezTo>
                  <a:lnTo>
                    <a:pt x="603047" y="72580"/>
                  </a:lnTo>
                  <a:cubicBezTo>
                    <a:pt x="596113" y="66942"/>
                    <a:pt x="588416" y="64122"/>
                    <a:pt x="579958" y="64122"/>
                  </a:cubicBezTo>
                  <a:cubicBezTo>
                    <a:pt x="571424" y="64122"/>
                    <a:pt x="564223" y="66294"/>
                    <a:pt x="558356" y="70637"/>
                  </a:cubicBezTo>
                  <a:cubicBezTo>
                    <a:pt x="552488" y="74981"/>
                    <a:pt x="548068" y="80886"/>
                    <a:pt x="545097" y="88354"/>
                  </a:cubicBezTo>
                  <a:cubicBezTo>
                    <a:pt x="542201" y="95745"/>
                    <a:pt x="540753" y="104013"/>
                    <a:pt x="540753" y="113157"/>
                  </a:cubicBezTo>
                  <a:cubicBezTo>
                    <a:pt x="540753" y="121844"/>
                    <a:pt x="542049" y="129578"/>
                    <a:pt x="544640" y="136360"/>
                  </a:cubicBezTo>
                  <a:cubicBezTo>
                    <a:pt x="547230" y="143065"/>
                    <a:pt x="551193" y="148361"/>
                    <a:pt x="556527" y="152247"/>
                  </a:cubicBezTo>
                  <a:cubicBezTo>
                    <a:pt x="561861" y="156134"/>
                    <a:pt x="568452" y="158077"/>
                    <a:pt x="576301" y="158077"/>
                  </a:cubicBezTo>
                  <a:close/>
                  <a:moveTo>
                    <a:pt x="716775" y="176479"/>
                  </a:moveTo>
                  <a:cubicBezTo>
                    <a:pt x="705498" y="176479"/>
                    <a:pt x="695363" y="173850"/>
                    <a:pt x="686371" y="168592"/>
                  </a:cubicBezTo>
                  <a:cubicBezTo>
                    <a:pt x="677380" y="163334"/>
                    <a:pt x="670331" y="156019"/>
                    <a:pt x="665226" y="146647"/>
                  </a:cubicBezTo>
                  <a:cubicBezTo>
                    <a:pt x="660121" y="137274"/>
                    <a:pt x="657568" y="126758"/>
                    <a:pt x="657568" y="115100"/>
                  </a:cubicBezTo>
                  <a:cubicBezTo>
                    <a:pt x="657568" y="103060"/>
                    <a:pt x="660159" y="92164"/>
                    <a:pt x="665340" y="82410"/>
                  </a:cubicBezTo>
                  <a:cubicBezTo>
                    <a:pt x="670598" y="72580"/>
                    <a:pt x="677761" y="64884"/>
                    <a:pt x="686829" y="59322"/>
                  </a:cubicBezTo>
                  <a:cubicBezTo>
                    <a:pt x="695973" y="53683"/>
                    <a:pt x="706145" y="50864"/>
                    <a:pt x="717347" y="50864"/>
                  </a:cubicBezTo>
                  <a:cubicBezTo>
                    <a:pt x="725957" y="50864"/>
                    <a:pt x="733882" y="52654"/>
                    <a:pt x="741121" y="56236"/>
                  </a:cubicBezTo>
                  <a:cubicBezTo>
                    <a:pt x="748360" y="59817"/>
                    <a:pt x="754380" y="64846"/>
                    <a:pt x="759181" y="71323"/>
                  </a:cubicBezTo>
                  <a:cubicBezTo>
                    <a:pt x="764057" y="77800"/>
                    <a:pt x="767258" y="85268"/>
                    <a:pt x="768782" y="93726"/>
                  </a:cubicBezTo>
                  <a:lnTo>
                    <a:pt x="685114" y="119558"/>
                  </a:lnTo>
                  <a:cubicBezTo>
                    <a:pt x="687400" y="130149"/>
                    <a:pt x="691934" y="138493"/>
                    <a:pt x="698716" y="144589"/>
                  </a:cubicBezTo>
                  <a:cubicBezTo>
                    <a:pt x="705574" y="150685"/>
                    <a:pt x="714070" y="153733"/>
                    <a:pt x="724205" y="153733"/>
                  </a:cubicBezTo>
                  <a:cubicBezTo>
                    <a:pt x="732663" y="153733"/>
                    <a:pt x="740245" y="151600"/>
                    <a:pt x="746950" y="147332"/>
                  </a:cubicBezTo>
                  <a:cubicBezTo>
                    <a:pt x="753656" y="142989"/>
                    <a:pt x="759600" y="136436"/>
                    <a:pt x="764781" y="127673"/>
                  </a:cubicBezTo>
                  <a:lnTo>
                    <a:pt x="773697" y="130530"/>
                  </a:lnTo>
                  <a:cubicBezTo>
                    <a:pt x="771639" y="139674"/>
                    <a:pt x="767906" y="147713"/>
                    <a:pt x="762495" y="154648"/>
                  </a:cubicBezTo>
                  <a:cubicBezTo>
                    <a:pt x="757085" y="161582"/>
                    <a:pt x="750418" y="166954"/>
                    <a:pt x="742493" y="170764"/>
                  </a:cubicBezTo>
                  <a:cubicBezTo>
                    <a:pt x="734644" y="174574"/>
                    <a:pt x="726072" y="176479"/>
                    <a:pt x="716775" y="176479"/>
                  </a:cubicBezTo>
                  <a:close/>
                  <a:moveTo>
                    <a:pt x="739407" y="90182"/>
                  </a:moveTo>
                  <a:cubicBezTo>
                    <a:pt x="738340" y="84925"/>
                    <a:pt x="736511" y="80315"/>
                    <a:pt x="733920" y="76352"/>
                  </a:cubicBezTo>
                  <a:cubicBezTo>
                    <a:pt x="731406" y="72314"/>
                    <a:pt x="728282" y="69189"/>
                    <a:pt x="724548" y="66980"/>
                  </a:cubicBezTo>
                  <a:cubicBezTo>
                    <a:pt x="720814" y="64770"/>
                    <a:pt x="716699" y="63665"/>
                    <a:pt x="712203" y="63665"/>
                  </a:cubicBezTo>
                  <a:cubicBezTo>
                    <a:pt x="706565" y="63665"/>
                    <a:pt x="701573" y="65380"/>
                    <a:pt x="697230" y="68809"/>
                  </a:cubicBezTo>
                  <a:cubicBezTo>
                    <a:pt x="692963" y="72161"/>
                    <a:pt x="689610" y="76962"/>
                    <a:pt x="687172" y="83210"/>
                  </a:cubicBezTo>
                  <a:cubicBezTo>
                    <a:pt x="684809" y="89382"/>
                    <a:pt x="683628" y="96545"/>
                    <a:pt x="683628" y="104699"/>
                  </a:cubicBezTo>
                  <a:cubicBezTo>
                    <a:pt x="683628" y="106146"/>
                    <a:pt x="683666" y="107251"/>
                    <a:pt x="683743" y="108013"/>
                  </a:cubicBezTo>
                  <a:lnTo>
                    <a:pt x="739407" y="90182"/>
                  </a:lnTo>
                  <a:close/>
                </a:path>
              </a:pathLst>
            </a:custGeom>
            <a:solidFill>
              <a:srgbClr val="191919"/>
            </a:solidFill>
            <a:ln>
              <a:noFill/>
            </a:ln>
          </p:spPr>
        </p:sp>
      </p:grpSp>
    </p:spTree>
  </p:cSld>
  <p:clrMapOvr>
    <a:masterClrMapping/>
  </p:clrMapOvr>
  <p:transition xmlns:p14="http://schemas.microsoft.com/office/powerpoint/2010/main" p14:dur="400">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slide(fromBottom)">
                                      <p:cBhvr>
                                        <p:cTn id="7" dur="400"/>
                                        <p:tgtEl>
                                          <p:spTgt spid="6"/>
                                        </p:tgtEl>
                                      </p:cBhvr>
                                    </p:animEffect>
                                  </p:childTnLst>
                                </p:cTn>
                              </p:par>
                            </p:childTnLst>
                          </p:cTn>
                        </p:par>
                        <p:par>
                          <p:cTn id="8" fill="hold">
                            <p:stCondLst>
                              <p:cond delay="900"/>
                            </p:stCondLst>
                            <p:childTnLst>
                              <p:par>
                                <p:cTn id="9" presetID="10"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00"/>
                                        <p:tgtEl>
                                          <p:spTgt spid="9"/>
                                        </p:tgtEl>
                                      </p:cBhvr>
                                    </p:animEffect>
                                  </p:childTnLst>
                                </p:cTn>
                              </p:par>
                            </p:childTnLst>
                          </p:cTn>
                        </p:par>
                        <p:par>
                          <p:cTn id="12" fill="hold">
                            <p:stCondLst>
                              <p:cond delay="1800"/>
                            </p:stCondLst>
                            <p:childTnLst>
                              <p:par>
                                <p:cTn id="13" presetID="10" presetClass="entr" presetSubtype="0" fill="hold"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p:bldP spid="14"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13</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2026-06-12T03:23:45Z</dcterms:created>
  <dcterms:modified xsi:type="dcterms:W3CDTF">2026-06-12T03:23:45Z</dcterms:modified>
  <cp:category/>
  <cp:contentStatus/>
</cp:coreProperties>
</file>