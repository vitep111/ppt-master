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Default Extension="jpg" ContentType="image/jpeg"/>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deck presents the Change Impact Analysis for the Finance and Travel &amp; Expense workstream under the PTTEP S/4HANA and Concur transformation programme. It covers the current-state system landscape, quantified impact areas, the target architecture, and a four-phase delivery timeline running July through October 2026. The analysis was prepared by Accenture DigitalX under the SHANA Change Impact methodology.</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 begin by establishing where we are today. The current-state section maps the existing systems and processes that are in scope for change.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Four systems define the current landscape. SAP ECC 6.0 is the core ERP, handling general ledger, accounts payable and receivable for 140 Finance users — it will be replaced by S/4HANA. The E-Payment Portal handles travel claims and expense reimbursement for 340 staff through manual approval workflows; it is being decommissioned. Concur Legacy is a partial rollout limited to HQ Finance with 60 users and no mobile access; it will be upgraded to the full Concur platform. Finally, the Manual Excel CO Tracker used by 20 CO team members for budget tracking has no ECC integration and will also be decommissioned. Together these four systems represent the baseline from which the transformation is measured.</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transformation touches three headline numbers. Fifteen business processes are impacted across T&amp;E claims, expense approvals, cost centre coding, month-end close, and AP reconciliation — plus ten additional sub-processes. Three systems are being decommissioned — the E-Payment Portal, the SAP ECC Finance module, and the Manual Excel CO Tracker — all requiring data migration and archival. And 480 end users will need training: 120 in the Finance team, 340 T&amp;E requestors, and 20 AP clerks. These numbers drive the change management, training, and communication plans.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Across the five standard CIA dimensions, People and Process carry high impact. 480 users face role changes, a new approval hierarchy, and an estimated 16 hours of training per cohort. Fifteen processes are revised, with manual steps replaced by automated workflows and a projected three-day reduction in month-end close cycle time. Technology carries medium impact: three systems retire and a new SAP BTP integration layer is introduced. Data is also medium: five years of financial history must be migrated, the Chart of Accounts requires mapping, and 4,200 vendor master records need cleansing. Document impact is low: twelve SOPs require updates alongside new user guides for Concur and S/4HANA.</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We now turn to where we are going — the target architecture and the key actions that will get us there.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Each current-state system maps to a clear target. SAP ECC 6.0 transitions to SAP S/4HANA, delivering Universal Journal, Fiori UX, and a target two-day close cycle — go-live October 2026. The E-Payment Portal and Concur Legacy are consolidated into an upgraded SAP Concur platform with mobile access for all staff including field teams — go-live August 2026. The Manual Excel CO Tracker is absorbed into the native S/4HANA Controlling module, providing real-time budget visibility as a single source of truth — go-live October 2026. A new Integration Middleware layer using SAP BTP provides Concur-to-S/4HANA data sync, a net-new capability for the organisation.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programme runs four phases. Phase 1 in July covers foundation work: kick-off and governance, stakeholder mapping, data migration assessment, training needs analysis, and SOP gap inventory. Phase 2 in August is Concur Go-Live: all-staff T&amp;E launch, E-Payment decommission, Excel tracker retirement, Wave 1 training, and the start of hypercare support. Phase 3 in September is UAT and parallel run for S/4HANA Finance, alongside Wave 2 Finance user training and cutover planning. Phase 4 in October is the S/4HANA Go-Live: ECC decommission, full Finance cutover, and stabilisation review leading to project close-out.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Thank you for your time. For any questions on the scope of change impacts or the training and communication schedule, please contact the Finance Transformation Lead at shana-ci@pttep.com. This analysis has been prepared under the SHANA CI methodology by Accenture DigitalX.</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ba97a8152e77e6ff.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9b89f4b3d9b11208.png"/>
  <Relationship Id="rId6"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4f180675a8a98df.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6a140e160ae0900b.png"/>
  <Relationship Id="rId6"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0e77f333dd983df.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6a140e160ae0900b.png"/>
  <Relationship Id="rId6"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0e77f333dd983df.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6a140e160ae0900b.png"/>
  <Relationship Id="rId6"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0e77f333dd983df.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6a140e160ae0900b.png"/>
  <Relationship Id="rId6"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4f180675a8a98df.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6a140e160ae0900b.png"/>
  <Relationship Id="rId6"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0e77f333dd983df.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6a140e160ae0900b.png"/>
  <Relationship Id="rId6"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30e77f333dd983df.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6a140e160ae0900b.png"/>
  <Relationship Id="rId6"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_f924286a6a705700.jpg"/>
  <Relationship Id="rId3" Type="http://schemas.openxmlformats.org/officeDocument/2006/relationships/image" Target="../media/image_96fd30a1606a4037.png"/>
  <Relationship Id="rId4" Type="http://schemas.openxmlformats.org/officeDocument/2006/relationships/image" Target="../media/image_94ddd85f1b5e12ca.png"/>
  <Relationship Id="rId5" Type="http://schemas.openxmlformats.org/officeDocument/2006/relationships/image" Target="../media/image_9b89f4b3d9b11208.png"/>
  <Relationship Id="rId6" Type="http://schemas.openxmlformats.org/officeDocument/2006/relationships/notesSlide" Target="../notesSlides/notesSlide9.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6008576" cy="809625"/>
            <a:chOff x="0" y="0"/>
            <a:chExt cx="6008576" cy="809625"/>
          </a:xfrm>
        </p:grpSpPr>
        <p:pic>
          <p:nvPicPr>
            <p:cNvPr id="3" name="Image 3"/>
            <p:cNvPicPr>
              <a:picLocks noChangeAspect="1"/>
            </p:cNvPicPr>
            <p:nvPr/>
          </p:nvPicPr>
          <p:blipFill>
            <a:blip r:embed="rId3"/>
            <a:stretch>
              <a:fillRect/>
            </a:stretch>
          </p:blipFill>
          <p:spPr>
            <a:xfrm>
              <a:off x="0" y="19050"/>
              <a:ext cx="2417885" cy="628650"/>
            </a:xfrm>
            <a:prstGeom prst="rect">
              <a:avLst/>
            </a:prstGeom>
          </p:spPr>
        </p:pic>
        <p:pic>
          <p:nvPicPr>
            <p:cNvPr id="4" name="Image 4"/>
            <p:cNvPicPr>
              <a:picLocks noChangeAspect="1"/>
            </p:cNvPicPr>
            <p:nvPr/>
          </p:nvPicPr>
          <p:blipFill>
            <a:blip r:embed="rId4"/>
            <a:stretch>
              <a:fillRect/>
            </a:stretch>
          </p:blipFill>
          <p:spPr>
            <a:xfrm>
              <a:off x="3038475" y="0"/>
              <a:ext cx="1829452" cy="809625"/>
            </a:xfrm>
            <a:prstGeom prst="rect">
              <a:avLst/>
            </a:prstGeom>
          </p:spPr>
        </p:pic>
        <p:pic>
          <p:nvPicPr>
            <p:cNvPr id="5" name="Image 5"/>
            <p:cNvPicPr>
              <a:picLocks noChangeAspect="1"/>
            </p:cNvPicPr>
            <p:nvPr/>
          </p:nvPicPr>
          <p:blipFill>
            <a:blip r:embed="rId5"/>
            <a:stretch>
              <a:fillRect/>
            </a:stretch>
          </p:blipFill>
          <p:spPr>
            <a:xfrm>
              <a:off x="4857750" y="114300"/>
              <a:ext cx="1150826" cy="457200"/>
            </a:xfrm>
            <a:prstGeom prst="rect">
              <a:avLst/>
            </a:prstGeom>
          </p:spPr>
        </p:pic>
      </p:grpSp>
      <p:grpSp>
        <p:nvGrpSpPr>
          <p:cNvPr id="12" name="Group 12"/>
          <p:cNvGrpSpPr/>
          <p:nvPr/>
        </p:nvGrpSpPr>
        <p:grpSpPr>
          <a:xfrm>
            <a:off x="1143000" y="2571750"/>
            <a:ext cx="5085114" cy="3005138"/>
            <a:chOff x="1143000" y="2571750"/>
            <a:chExt cx="5085114" cy="3005138"/>
          </a:xfrm>
        </p:grpSpPr>
        <p:sp>
          <p:nvSpPr>
            <p:cNvPr id="7" name="Rectangle 7"/>
            <p:cNvSpPr/>
            <p:nvPr/>
          </p:nvSpPr>
          <p:spPr>
            <a:xfrm>
              <a:off x="1143000" y="2571750"/>
              <a:ext cx="57150" cy="1143000"/>
            </a:xfrm>
            <a:prstGeom prst="rect">
              <a:avLst/>
            </a:prstGeom>
            <a:solidFill>
              <a:srgbClr val="00AEEF"/>
            </a:solidFill>
            <a:ln>
              <a:noFill/>
            </a:ln>
          </p:spPr>
        </p:sp>
        <p:sp>
          <p:nvSpPr>
            <p:cNvPr id="8" name="TextBox 8"/>
            <p:cNvSpPr txBox="1"/>
            <p:nvPr/>
          </p:nvSpPr>
          <p:spPr>
            <a:xfrm>
              <a:off x="1274445" y="2688908"/>
              <a:ext cx="4953669" cy="640080"/>
            </a:xfrm>
            <a:prstGeom prst="rect">
              <a:avLst/>
            </a:prstGeom>
            <a:noFill/>
            <a:ln>
              <a:noFill/>
            </a:ln>
          </p:spPr>
          <p:txBody>
            <a:bodyPr wrap="none" lIns="0" tIns="0" rIns="0" bIns="0" anchor="t" anchorCtr="0">
              <a:spAutoFit/>
            </a:bodyPr>
            <a:lstStyle/>
            <a:p>
              <a:pPr algn="l"/>
              <a:r>
                <a:rPr lang="zh-CN" sz="3150" b="1" dirty="0">
                  <a:solidFill>
                    <a:srgbClr val="1B1164"/>
                  </a:solidFill>
                  <a:latin typeface="Arial"/>
                  <a:ea typeface="Microsoft YaHei"/>
                  <a:cs typeface="Arial"/>
                </a:rPr>
                <a:t>Change Impact Analysis</a:t>
              </a:r>
            </a:p>
          </p:txBody>
        </p:sp>
        <p:sp>
          <p:nvSpPr>
            <p:cNvPr id="9" name="TextBox 9"/>
            <p:cNvSpPr txBox="1"/>
            <p:nvPr/>
          </p:nvSpPr>
          <p:spPr>
            <a:xfrm>
              <a:off x="1293495" y="3365182"/>
              <a:ext cx="4464463" cy="335280"/>
            </a:xfrm>
            <a:prstGeom prst="rect">
              <a:avLst/>
            </a:prstGeom>
            <a:noFill/>
            <a:ln>
              <a:noFill/>
            </a:ln>
          </p:spPr>
          <p:txBody>
            <a:bodyPr wrap="none" lIns="0" tIns="0" rIns="0" bIns="0" anchor="t" anchorCtr="0">
              <a:spAutoFit/>
            </a:bodyPr>
            <a:lstStyle/>
            <a:p>
              <a:pPr algn="l"/>
              <a:r>
                <a:rPr lang="zh-CN" sz="1650" dirty="0">
                  <a:solidFill>
                    <a:srgbClr val="2A6FA0"/>
                  </a:solidFill>
                  <a:latin typeface="Arial"/>
                  <a:ea typeface="Microsoft YaHei"/>
                  <a:cs typeface="Arial"/>
                </a:rPr>
                <a:t>Finance &amp; Travel and Expense Workstream</a:t>
              </a:r>
            </a:p>
          </p:txBody>
        </p:sp>
        <p:sp>
          <p:nvSpPr>
            <p:cNvPr id="10" name="Rectangle 10"/>
            <p:cNvSpPr/>
            <p:nvPr/>
          </p:nvSpPr>
          <p:spPr>
            <a:xfrm>
              <a:off x="1314450" y="3733800"/>
              <a:ext cx="4572000" cy="28575"/>
            </a:xfrm>
            <a:prstGeom prst="rect">
              <a:avLst/>
            </a:prstGeom>
            <a:solidFill>
              <a:srgbClr val="3BBF92"/>
            </a:solidFill>
            <a:ln>
              <a:noFill/>
            </a:ln>
          </p:spPr>
        </p:sp>
        <p:sp>
          <p:nvSpPr>
            <p:cNvPr id="11" name="TextBox 11"/>
            <p:cNvSpPr txBox="1"/>
            <p:nvPr/>
          </p:nvSpPr>
          <p:spPr>
            <a:xfrm>
              <a:off x="1297305" y="5302568"/>
              <a:ext cx="2941653" cy="274320"/>
            </a:xfrm>
            <a:prstGeom prst="rect">
              <a:avLst/>
            </a:prstGeom>
            <a:noFill/>
            <a:ln>
              <a:noFill/>
            </a:ln>
          </p:spPr>
          <p:txBody>
            <a:bodyPr wrap="none" lIns="0" tIns="0" rIns="0" bIns="0" anchor="t" anchorCtr="0">
              <a:spAutoFit/>
            </a:bodyPr>
            <a:lstStyle/>
            <a:p>
              <a:pPr algn="l"/>
              <a:r>
                <a:rPr lang="zh-CN" sz="1350" dirty="0">
                  <a:solidFill>
                    <a:srgbClr val="1B1164"/>
                  </a:solidFill>
                  <a:latin typeface="Arial"/>
                  <a:ea typeface="Microsoft YaHei"/>
                  <a:cs typeface="Arial"/>
                </a:rPr>
                <a:t>June 2026 | v0.1 | Internal Review</a:t>
              </a:r>
            </a:p>
          </p:txBody>
        </p:sp>
      </p:grpSp>
      <p:sp>
        <p:nvSpPr>
          <p:cNvPr id="13" name="TextBox 13"/>
          <p:cNvSpPr txBox="1"/>
          <p:nvPr/>
        </p:nvSpPr>
        <p:spPr>
          <a:xfrm>
            <a:off x="4434173" y="6659880"/>
            <a:ext cx="3323653" cy="121920"/>
          </a:xfrm>
          <a:prstGeom prst="rect">
            <a:avLst/>
          </a:prstGeom>
          <a:noFill/>
          <a:ln>
            <a:noFill/>
          </a:ln>
        </p:spPr>
        <p:txBody>
          <a:bodyPr wrap="none" lIns="0" tIns="0" rIns="0" bIns="0" anchor="t" anchorCtr="0">
            <a:spAutoFit/>
          </a:bodyPr>
          <a:lstStyle/>
          <a:p>
            <a:pPr algn="ctr"/>
            <a:r>
              <a:rPr lang="zh-CN" sz="600" dirty="0">
                <a:solidFill>
                  <a:srgbClr val="000000"/>
                </a:solidFill>
                <a:latin typeface="Arial"/>
                <a:ea typeface="Microsoft YaHei"/>
                <a:cs typeface="Arial"/>
              </a:rPr>
              <a:t>Copyright © 2026 Accenture. All rights reserved. Accenture Confidential Information</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3739017" cy="476250"/>
            <a:chOff x="0" y="0"/>
            <a:chExt cx="3739017" cy="476250"/>
          </a:xfrm>
        </p:grpSpPr>
        <p:pic>
          <p:nvPicPr>
            <p:cNvPr id="3" name="Image 3"/>
            <p:cNvPicPr>
              <a:picLocks noChangeAspect="1"/>
            </p:cNvPicPr>
            <p:nvPr/>
          </p:nvPicPr>
          <p:blipFill>
            <a:blip r:embed="rId3"/>
            <a:stretch>
              <a:fillRect/>
            </a:stretch>
          </p:blipFill>
          <p:spPr>
            <a:xfrm>
              <a:off x="0" y="0"/>
              <a:ext cx="1466850" cy="381000"/>
            </a:xfrm>
            <a:prstGeom prst="rect">
              <a:avLst/>
            </a:prstGeom>
          </p:spPr>
        </p:pic>
        <p:pic>
          <p:nvPicPr>
            <p:cNvPr id="4" name="Image 4"/>
            <p:cNvPicPr>
              <a:picLocks noChangeAspect="1"/>
            </p:cNvPicPr>
            <p:nvPr/>
          </p:nvPicPr>
          <p:blipFill>
            <a:blip r:embed="rId4"/>
            <a:stretch>
              <a:fillRect/>
            </a:stretch>
          </p:blipFill>
          <p:spPr>
            <a:xfrm>
              <a:off x="1838325" y="19050"/>
              <a:ext cx="1028700" cy="457200"/>
            </a:xfrm>
            <a:prstGeom prst="rect">
              <a:avLst/>
            </a:prstGeom>
          </p:spPr>
        </p:pic>
        <p:pic>
          <p:nvPicPr>
            <p:cNvPr id="5" name="Image 5"/>
            <p:cNvPicPr>
              <a:picLocks noChangeAspect="1"/>
            </p:cNvPicPr>
            <p:nvPr/>
          </p:nvPicPr>
          <p:blipFill>
            <a:blip r:embed="rId5"/>
            <a:stretch>
              <a:fillRect/>
            </a:stretch>
          </p:blipFill>
          <p:spPr>
            <a:xfrm>
              <a:off x="2971800" y="47625"/>
              <a:ext cx="767217" cy="304800"/>
            </a:xfrm>
            <a:prstGeom prst="rect">
              <a:avLst/>
            </a:prstGeom>
          </p:spPr>
        </p:pic>
      </p:grpSp>
      <p:sp>
        <p:nvSpPr>
          <p:cNvPr id="7" name="TextBox 7"/>
          <p:cNvSpPr txBox="1"/>
          <p:nvPr/>
        </p:nvSpPr>
        <p:spPr>
          <a:xfrm>
            <a:off x="923925" y="1852612"/>
            <a:ext cx="3094982" cy="3505200"/>
          </a:xfrm>
          <a:prstGeom prst="rect">
            <a:avLst/>
          </a:prstGeom>
          <a:noFill/>
          <a:ln>
            <a:noFill/>
          </a:ln>
        </p:spPr>
        <p:txBody>
          <a:bodyPr wrap="none" lIns="0" tIns="0" rIns="0" bIns="0" anchor="t" anchorCtr="0">
            <a:spAutoFit/>
          </a:bodyPr>
          <a:lstStyle/>
          <a:p>
            <a:pPr algn="l"/>
            <a:r>
              <a:rPr lang="zh-CN" sz="17250" b="1" dirty="0">
                <a:solidFill>
                  <a:srgbClr val="1B1164">
                    <a:alphaMod val="12000"/>
                  </a:srgbClr>
                </a:solidFill>
                <a:latin typeface="Arial"/>
                <a:ea typeface="Microsoft YaHei"/>
                <a:cs typeface="Arial"/>
              </a:rPr>
              <a:t>01</a:t>
            </a:r>
          </a:p>
        </p:txBody>
      </p:sp>
      <p:grpSp>
        <p:nvGrpSpPr>
          <p:cNvPr id="10" name="Group 10"/>
          <p:cNvGrpSpPr/>
          <p:nvPr/>
        </p:nvGrpSpPr>
        <p:grpSpPr>
          <a:xfrm>
            <a:off x="1097280" y="4069080"/>
            <a:ext cx="6014180" cy="731520"/>
            <a:chOff x="1097280" y="4069080"/>
            <a:chExt cx="6014180" cy="731520"/>
          </a:xfrm>
        </p:grpSpPr>
        <p:sp>
          <p:nvSpPr>
            <p:cNvPr id="8" name="TextBox 8"/>
            <p:cNvSpPr txBox="1"/>
            <p:nvPr/>
          </p:nvSpPr>
          <p:spPr>
            <a:xfrm>
              <a:off x="1097280" y="4069080"/>
              <a:ext cx="6014180" cy="731520"/>
            </a:xfrm>
            <a:prstGeom prst="rect">
              <a:avLst/>
            </a:prstGeom>
            <a:noFill/>
            <a:ln>
              <a:noFill/>
            </a:ln>
          </p:spPr>
          <p:txBody>
            <a:bodyPr wrap="none" lIns="0" tIns="0" rIns="0" bIns="0" anchor="t" anchorCtr="0">
              <a:spAutoFit/>
            </a:bodyPr>
            <a:lstStyle/>
            <a:p>
              <a:pPr algn="l"/>
              <a:r>
                <a:rPr lang="zh-CN" sz="3600" b="1" dirty="0">
                  <a:solidFill>
                    <a:srgbClr val="1B1164"/>
                  </a:solidFill>
                  <a:latin typeface="Arial"/>
                  <a:ea typeface="Microsoft YaHei"/>
                  <a:cs typeface="Arial"/>
                </a:rPr>
                <a:t>Current State Overview</a:t>
              </a:r>
            </a:p>
          </p:txBody>
        </p:sp>
        <p:sp>
          <p:nvSpPr>
            <p:cNvPr id="9" name="Rectangle 9"/>
            <p:cNvSpPr/>
            <p:nvPr/>
          </p:nvSpPr>
          <p:spPr>
            <a:xfrm>
              <a:off x="1143000" y="4572000"/>
              <a:ext cx="5334000" cy="38100"/>
            </a:xfrm>
            <a:prstGeom prst="rect">
              <a:avLst/>
            </a:prstGeom>
            <a:solidFill>
              <a:srgbClr val="3BBF92"/>
            </a:solidFill>
            <a:ln>
              <a:noFill/>
            </a:ln>
          </p:spPr>
        </p:sp>
      </p:grpSp>
      <p:sp>
        <p:nvSpPr>
          <p:cNvPr id="11" name="TextBox 11"/>
          <p:cNvSpPr txBox="1"/>
          <p:nvPr/>
        </p:nvSpPr>
        <p:spPr>
          <a:xfrm>
            <a:off x="11508343" y="6557962"/>
            <a:ext cx="74057" cy="152400"/>
          </a:xfrm>
          <a:prstGeom prst="rect">
            <a:avLst/>
          </a:prstGeom>
          <a:noFill/>
          <a:ln>
            <a:noFill/>
          </a:ln>
        </p:spPr>
        <p:txBody>
          <a:bodyPr wrap="none" lIns="0" tIns="0" rIns="0" bIns="0" anchor="t" anchorCtr="0">
            <a:spAutoFit/>
          </a:bodyPr>
          <a:lstStyle/>
          <a:p>
            <a:pPr algn="r"/>
            <a:r>
              <a:rPr lang="zh-CN" sz="750" dirty="0">
                <a:solidFill>
                  <a:srgbClr val="000000"/>
                </a:solidFill>
                <a:latin typeface="Arial"/>
                <a:ea typeface="Microsoft YaHei"/>
                <a:cs typeface="Arial"/>
              </a:rPr>
              <a:t>2</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3739017" cy="476250"/>
            <a:chOff x="0" y="0"/>
            <a:chExt cx="3739017" cy="476250"/>
          </a:xfrm>
        </p:grpSpPr>
        <p:pic>
          <p:nvPicPr>
            <p:cNvPr id="3" name="Image 3"/>
            <p:cNvPicPr>
              <a:picLocks noChangeAspect="1"/>
            </p:cNvPicPr>
            <p:nvPr/>
          </p:nvPicPr>
          <p:blipFill>
            <a:blip r:embed="rId3"/>
            <a:stretch>
              <a:fillRect/>
            </a:stretch>
          </p:blipFill>
          <p:spPr>
            <a:xfrm>
              <a:off x="0" y="0"/>
              <a:ext cx="1466850" cy="381000"/>
            </a:xfrm>
            <a:prstGeom prst="rect">
              <a:avLst/>
            </a:prstGeom>
          </p:spPr>
        </p:pic>
        <p:pic>
          <p:nvPicPr>
            <p:cNvPr id="4" name="Image 4"/>
            <p:cNvPicPr>
              <a:picLocks noChangeAspect="1"/>
            </p:cNvPicPr>
            <p:nvPr/>
          </p:nvPicPr>
          <p:blipFill>
            <a:blip r:embed="rId4"/>
            <a:stretch>
              <a:fillRect/>
            </a:stretch>
          </p:blipFill>
          <p:spPr>
            <a:xfrm>
              <a:off x="1838325" y="19050"/>
              <a:ext cx="1028700" cy="457200"/>
            </a:xfrm>
            <a:prstGeom prst="rect">
              <a:avLst/>
            </a:prstGeom>
          </p:spPr>
        </p:pic>
        <p:pic>
          <p:nvPicPr>
            <p:cNvPr id="5" name="Image 5"/>
            <p:cNvPicPr>
              <a:picLocks noChangeAspect="1"/>
            </p:cNvPicPr>
            <p:nvPr/>
          </p:nvPicPr>
          <p:blipFill>
            <a:blip r:embed="rId5"/>
            <a:stretch>
              <a:fillRect/>
            </a:stretch>
          </p:blipFill>
          <p:spPr>
            <a:xfrm>
              <a:off x="2971800" y="47625"/>
              <a:ext cx="767217" cy="304800"/>
            </a:xfrm>
            <a:prstGeom prst="rect">
              <a:avLst/>
            </a:prstGeom>
          </p:spPr>
        </p:pic>
      </p:grpSp>
      <p:grpSp>
        <p:nvGrpSpPr>
          <p:cNvPr id="9" name="Group 9"/>
          <p:cNvGrpSpPr/>
          <p:nvPr/>
        </p:nvGrpSpPr>
        <p:grpSpPr>
          <a:xfrm>
            <a:off x="544830" y="592455"/>
            <a:ext cx="11075670" cy="426720"/>
            <a:chOff x="544830" y="592455"/>
            <a:chExt cx="11075670" cy="426720"/>
          </a:xfrm>
        </p:grpSpPr>
        <p:sp>
          <p:nvSpPr>
            <p:cNvPr id="7" name="TextBox 7"/>
            <p:cNvSpPr txBox="1"/>
            <p:nvPr/>
          </p:nvSpPr>
          <p:spPr>
            <a:xfrm>
              <a:off x="544830" y="592455"/>
              <a:ext cx="3449464" cy="426720"/>
            </a:xfrm>
            <a:prstGeom prst="rect">
              <a:avLst/>
            </a:prstGeom>
            <a:noFill/>
            <a:ln>
              <a:noFill/>
            </a:ln>
          </p:spPr>
          <p:txBody>
            <a:bodyPr wrap="none" lIns="0" tIns="0" rIns="0" bIns="0" anchor="t" anchorCtr="0">
              <a:spAutoFit/>
            </a:bodyPr>
            <a:lstStyle/>
            <a:p>
              <a:pPr algn="l"/>
              <a:r>
                <a:rPr lang="zh-CN" sz="2100" b="1" dirty="0">
                  <a:solidFill>
                    <a:srgbClr val="1B1164"/>
                  </a:solidFill>
                  <a:latin typeface="Arial"/>
                  <a:ea typeface="Microsoft YaHei"/>
                  <a:cs typeface="Arial"/>
                </a:rPr>
                <a:t>As-Is System Landscape</a:t>
              </a:r>
            </a:p>
          </p:txBody>
        </p:sp>
        <p:sp>
          <p:nvSpPr>
            <p:cNvPr id="8" name="Rectangle 8"/>
            <p:cNvSpPr/>
            <p:nvPr/>
          </p:nvSpPr>
          <p:spPr>
            <a:xfrm>
              <a:off x="571500" y="952500"/>
              <a:ext cx="11049000" cy="19050"/>
            </a:xfrm>
            <a:prstGeom prst="rect">
              <a:avLst/>
            </a:prstGeom>
            <a:solidFill>
              <a:srgbClr val="00AEEF"/>
            </a:solidFill>
            <a:ln>
              <a:noFill/>
            </a:ln>
          </p:spPr>
        </p:sp>
      </p:grpSp>
      <p:grpSp>
        <p:nvGrpSpPr>
          <p:cNvPr id="62" name="Group 62"/>
          <p:cNvGrpSpPr/>
          <p:nvPr/>
        </p:nvGrpSpPr>
        <p:grpSpPr>
          <a:xfrm>
            <a:off x="571500" y="1143000"/>
            <a:ext cx="11049000" cy="4600575"/>
            <a:chOff x="571500" y="1143000"/>
            <a:chExt cx="11049000" cy="4600575"/>
          </a:xfrm>
        </p:grpSpPr>
        <p:sp>
          <p:nvSpPr>
            <p:cNvPr id="10" name="Rectangle 10"/>
            <p:cNvSpPr/>
            <p:nvPr/>
          </p:nvSpPr>
          <p:spPr>
            <a:xfrm>
              <a:off x="571500" y="1143000"/>
              <a:ext cx="11049000" cy="381000"/>
            </a:xfrm>
            <a:prstGeom prst="rect">
              <a:avLst/>
            </a:prstGeom>
            <a:solidFill>
              <a:srgbClr val="00AEEF"/>
            </a:solidFill>
            <a:ln>
              <a:noFill/>
            </a:ln>
          </p:spPr>
        </p:sp>
        <p:sp>
          <p:nvSpPr>
            <p:cNvPr id="11" name="TextBox 11"/>
            <p:cNvSpPr txBox="1"/>
            <p:nvPr/>
          </p:nvSpPr>
          <p:spPr>
            <a:xfrm>
              <a:off x="748665" y="1277302"/>
              <a:ext cx="1349835"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System / Platform</a:t>
              </a:r>
            </a:p>
          </p:txBody>
        </p:sp>
        <p:sp>
          <p:nvSpPr>
            <p:cNvPr id="12" name="TextBox 12"/>
            <p:cNvSpPr txBox="1"/>
            <p:nvPr/>
          </p:nvSpPr>
          <p:spPr>
            <a:xfrm>
              <a:off x="3606165" y="1277302"/>
              <a:ext cx="1077851"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Module / Scope</a:t>
              </a:r>
            </a:p>
          </p:txBody>
        </p:sp>
        <p:sp>
          <p:nvSpPr>
            <p:cNvPr id="13" name="TextBox 13"/>
            <p:cNvSpPr txBox="1"/>
            <p:nvPr/>
          </p:nvSpPr>
          <p:spPr>
            <a:xfrm>
              <a:off x="7416165" y="1277302"/>
              <a:ext cx="1063150"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Owner / Users</a:t>
              </a:r>
            </a:p>
          </p:txBody>
        </p:sp>
        <p:sp>
          <p:nvSpPr>
            <p:cNvPr id="14" name="TextBox 14"/>
            <p:cNvSpPr txBox="1"/>
            <p:nvPr/>
          </p:nvSpPr>
          <p:spPr>
            <a:xfrm>
              <a:off x="9702165" y="1277302"/>
              <a:ext cx="1041097" cy="213360"/>
            </a:xfrm>
            <a:prstGeom prst="rect">
              <a:avLst/>
            </a:prstGeom>
            <a:noFill/>
            <a:ln>
              <a:noFill/>
            </a:ln>
          </p:spPr>
          <p:txBody>
            <a:bodyPr wrap="none" lIns="0" tIns="0" rIns="0" bIns="0" anchor="t" anchorCtr="0">
              <a:spAutoFit/>
            </a:bodyPr>
            <a:lstStyle/>
            <a:p>
              <a:pPr algn="l"/>
              <a:r>
                <a:rPr lang="zh-CN" sz="1050" b="1" dirty="0">
                  <a:solidFill>
                    <a:srgbClr val="FFFFFF"/>
                  </a:solidFill>
                  <a:latin typeface="Arial"/>
                  <a:ea typeface="Microsoft YaHei"/>
                  <a:cs typeface="Arial"/>
                </a:rPr>
                <a:t>Change Status</a:t>
              </a:r>
            </a:p>
          </p:txBody>
        </p:sp>
        <p:sp>
          <p:nvSpPr>
            <p:cNvPr id="15" name="Line 15"/>
            <p:cNvSpPr/>
            <p:nvPr/>
          </p:nvSpPr>
          <p:spPr>
            <a:xfrm>
              <a:off x="3524250" y="1143000"/>
              <a:ext cx="9525" cy="381000"/>
            </a:xfrm>
            <a:custGeom>
              <a:avLst/>
              <a:gdLst/>
              <a:ahLst/>
              <a:cxnLst/>
              <a:rect l="l" t="t" r="r" b="b"/>
              <a:pathLst>
                <a:path w="9525" h="381000">
                  <a:moveTo>
                    <a:pt x="0" y="0"/>
                  </a:moveTo>
                  <a:lnTo>
                    <a:pt x="0" y="381000"/>
                  </a:lnTo>
                </a:path>
              </a:pathLst>
            </a:custGeom>
            <a:noFill/>
            <a:ln w="9525">
              <a:solidFill>
                <a:srgbClr val="FFFFFF">
                  <a:alpha val="40000"/>
                </a:srgbClr>
              </a:solidFill>
            </a:ln>
          </p:spPr>
        </p:sp>
        <p:sp>
          <p:nvSpPr>
            <p:cNvPr id="16" name="Line 16"/>
            <p:cNvSpPr/>
            <p:nvPr/>
          </p:nvSpPr>
          <p:spPr>
            <a:xfrm>
              <a:off x="7334250" y="1143000"/>
              <a:ext cx="9525" cy="381000"/>
            </a:xfrm>
            <a:custGeom>
              <a:avLst/>
              <a:gdLst/>
              <a:ahLst/>
              <a:cxnLst/>
              <a:rect l="l" t="t" r="r" b="b"/>
              <a:pathLst>
                <a:path w="9525" h="381000">
                  <a:moveTo>
                    <a:pt x="0" y="0"/>
                  </a:moveTo>
                  <a:lnTo>
                    <a:pt x="0" y="381000"/>
                  </a:lnTo>
                </a:path>
              </a:pathLst>
            </a:custGeom>
            <a:noFill/>
            <a:ln w="9525">
              <a:solidFill>
                <a:srgbClr val="FFFFFF">
                  <a:alpha val="40000"/>
                </a:srgbClr>
              </a:solidFill>
            </a:ln>
          </p:spPr>
        </p:sp>
        <p:sp>
          <p:nvSpPr>
            <p:cNvPr id="17" name="Line 17"/>
            <p:cNvSpPr/>
            <p:nvPr/>
          </p:nvSpPr>
          <p:spPr>
            <a:xfrm>
              <a:off x="9620250" y="1143000"/>
              <a:ext cx="9525" cy="381000"/>
            </a:xfrm>
            <a:custGeom>
              <a:avLst/>
              <a:gdLst/>
              <a:ahLst/>
              <a:cxnLst/>
              <a:rect l="l" t="t" r="r" b="b"/>
              <a:pathLst>
                <a:path w="9525" h="381000">
                  <a:moveTo>
                    <a:pt x="0" y="0"/>
                  </a:moveTo>
                  <a:lnTo>
                    <a:pt x="0" y="381000"/>
                  </a:lnTo>
                </a:path>
              </a:pathLst>
            </a:custGeom>
            <a:noFill/>
            <a:ln w="9525">
              <a:solidFill>
                <a:srgbClr val="FFFFFF">
                  <a:alpha val="40000"/>
                </a:srgbClr>
              </a:solidFill>
            </a:ln>
          </p:spPr>
        </p:sp>
        <p:sp>
          <p:nvSpPr>
            <p:cNvPr id="18" name="Rectangle 18"/>
            <p:cNvSpPr/>
            <p:nvPr/>
          </p:nvSpPr>
          <p:spPr>
            <a:xfrm>
              <a:off x="571500" y="1524000"/>
              <a:ext cx="11049000" cy="1047750"/>
            </a:xfrm>
            <a:prstGeom prst="rect">
              <a:avLst/>
            </a:prstGeom>
            <a:solidFill>
              <a:srgbClr val="FFFFFF"/>
            </a:solidFill>
            <a:ln>
              <a:noFill/>
            </a:ln>
          </p:spPr>
        </p:sp>
        <p:sp>
          <p:nvSpPr>
            <p:cNvPr id="19" name="Rectangle 19"/>
            <p:cNvSpPr/>
            <p:nvPr/>
          </p:nvSpPr>
          <p:spPr>
            <a:xfrm>
              <a:off x="571500" y="2571750"/>
              <a:ext cx="11049000" cy="9525"/>
            </a:xfrm>
            <a:prstGeom prst="rect">
              <a:avLst/>
            </a:prstGeom>
            <a:solidFill>
              <a:srgbClr val="D5D5D5"/>
            </a:solidFill>
            <a:ln>
              <a:noFill/>
            </a:ln>
          </p:spPr>
        </p:sp>
        <p:sp>
          <p:nvSpPr>
            <p:cNvPr id="20" name="TextBox 20"/>
            <p:cNvSpPr txBox="1"/>
            <p:nvPr/>
          </p:nvSpPr>
          <p:spPr>
            <a:xfrm>
              <a:off x="746760" y="1775460"/>
              <a:ext cx="962997" cy="243840"/>
            </a:xfrm>
            <a:prstGeom prst="rect">
              <a:avLst/>
            </a:prstGeom>
            <a:noFill/>
            <a:ln>
              <a:noFill/>
            </a:ln>
          </p:spPr>
          <p:txBody>
            <a:bodyPr wrap="none" lIns="0" tIns="0" rIns="0" bIns="0" anchor="t" anchorCtr="0">
              <a:spAutoFit/>
            </a:bodyPr>
            <a:lstStyle/>
            <a:p>
              <a:pPr algn="l"/>
              <a:r>
                <a:rPr lang="zh-CN" sz="1200" b="1" dirty="0">
                  <a:solidFill>
                    <a:srgbClr val="1B1164"/>
                  </a:solidFill>
                  <a:latin typeface="Arial"/>
                  <a:ea typeface="Microsoft YaHei"/>
                  <a:cs typeface="Arial"/>
                </a:rPr>
                <a:t>SAP ECC 6.0</a:t>
              </a:r>
            </a:p>
          </p:txBody>
        </p:sp>
        <p:sp>
          <p:nvSpPr>
            <p:cNvPr id="21" name="TextBox 21"/>
            <p:cNvSpPr txBox="1"/>
            <p:nvPr/>
          </p:nvSpPr>
          <p:spPr>
            <a:xfrm>
              <a:off x="749618" y="2009299"/>
              <a:ext cx="564332"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Core ERP</a:t>
              </a:r>
            </a:p>
          </p:txBody>
        </p:sp>
        <p:sp>
          <p:nvSpPr>
            <p:cNvPr id="22" name="TextBox 22"/>
            <p:cNvSpPr txBox="1"/>
            <p:nvPr/>
          </p:nvSpPr>
          <p:spPr>
            <a:xfrm>
              <a:off x="3606165" y="1744028"/>
              <a:ext cx="1622870"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Core Finance GL, AP, AR</a:t>
              </a:r>
            </a:p>
          </p:txBody>
        </p:sp>
        <p:sp>
          <p:nvSpPr>
            <p:cNvPr id="23" name="TextBox 23"/>
            <p:cNvSpPr txBox="1"/>
            <p:nvPr/>
          </p:nvSpPr>
          <p:spPr>
            <a:xfrm>
              <a:off x="3607118" y="1971199"/>
              <a:ext cx="1923002"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Month-end close, cost centre</a:t>
              </a:r>
            </a:p>
          </p:txBody>
        </p:sp>
        <p:sp>
          <p:nvSpPr>
            <p:cNvPr id="24" name="TextBox 24"/>
            <p:cNvSpPr txBox="1"/>
            <p:nvPr/>
          </p:nvSpPr>
          <p:spPr>
            <a:xfrm>
              <a:off x="3607118" y="2171224"/>
              <a:ext cx="1584960"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coding, AP reconciliation</a:t>
              </a:r>
            </a:p>
          </p:txBody>
        </p:sp>
        <p:sp>
          <p:nvSpPr>
            <p:cNvPr id="25" name="TextBox 25"/>
            <p:cNvSpPr txBox="1"/>
            <p:nvPr/>
          </p:nvSpPr>
          <p:spPr>
            <a:xfrm>
              <a:off x="7416165" y="1791652"/>
              <a:ext cx="1699879"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Finance dept · 140 users</a:t>
              </a:r>
            </a:p>
          </p:txBody>
        </p:sp>
        <p:sp>
          <p:nvSpPr>
            <p:cNvPr id="26" name="Rectangle 26"/>
            <p:cNvSpPr/>
            <p:nvPr/>
          </p:nvSpPr>
          <p:spPr>
            <a:xfrm>
              <a:off x="9715500" y="1666875"/>
              <a:ext cx="1714500" cy="285750"/>
            </a:xfrm>
            <a:prstGeom prst="roundRect">
              <a:avLst>
                <a:gd name="adj" fmla="val 13333"/>
              </a:avLst>
            </a:prstGeom>
            <a:solidFill>
              <a:srgbClr val="F4A261">
                <a:alpha val="15000"/>
              </a:srgbClr>
            </a:solidFill>
            <a:ln>
              <a:noFill/>
            </a:ln>
          </p:spPr>
        </p:sp>
        <p:sp>
          <p:nvSpPr>
            <p:cNvPr id="27" name="Rectangle 27"/>
            <p:cNvSpPr/>
            <p:nvPr/>
          </p:nvSpPr>
          <p:spPr>
            <a:xfrm>
              <a:off x="9715500" y="1666875"/>
              <a:ext cx="47625" cy="285750"/>
            </a:xfrm>
            <a:prstGeom prst="rect">
              <a:avLst/>
            </a:prstGeom>
            <a:solidFill>
              <a:srgbClr val="F4A261"/>
            </a:solidFill>
            <a:ln>
              <a:noFill/>
            </a:ln>
          </p:spPr>
        </p:sp>
        <p:sp>
          <p:nvSpPr>
            <p:cNvPr id="28" name="TextBox 28"/>
            <p:cNvSpPr txBox="1"/>
            <p:nvPr/>
          </p:nvSpPr>
          <p:spPr>
            <a:xfrm>
              <a:off x="9855518" y="1761649"/>
              <a:ext cx="973559" cy="198120"/>
            </a:xfrm>
            <a:prstGeom prst="rect">
              <a:avLst/>
            </a:prstGeom>
            <a:noFill/>
            <a:ln>
              <a:noFill/>
            </a:ln>
          </p:spPr>
          <p:txBody>
            <a:bodyPr wrap="none" lIns="0" tIns="0" rIns="0" bIns="0" anchor="t" anchorCtr="0">
              <a:spAutoFit/>
            </a:bodyPr>
            <a:lstStyle/>
            <a:p>
              <a:pPr algn="l"/>
              <a:r>
                <a:rPr lang="zh-CN" sz="975" b="1" dirty="0">
                  <a:solidFill>
                    <a:srgbClr val="F4A261"/>
                  </a:solidFill>
                  <a:latin typeface="Arial"/>
                  <a:ea typeface="Microsoft YaHei"/>
                  <a:cs typeface="Arial"/>
                </a:rPr>
                <a:t>Being Replaced</a:t>
              </a:r>
            </a:p>
          </p:txBody>
        </p:sp>
        <p:sp>
          <p:nvSpPr>
            <p:cNvPr id="29" name="Rectangle 29"/>
            <p:cNvSpPr/>
            <p:nvPr/>
          </p:nvSpPr>
          <p:spPr>
            <a:xfrm>
              <a:off x="571500" y="2581275"/>
              <a:ext cx="11049000" cy="1047750"/>
            </a:xfrm>
            <a:prstGeom prst="rect">
              <a:avLst/>
            </a:prstGeom>
            <a:solidFill>
              <a:srgbClr val="F5F5F5"/>
            </a:solidFill>
            <a:ln>
              <a:noFill/>
            </a:ln>
          </p:spPr>
        </p:sp>
        <p:sp>
          <p:nvSpPr>
            <p:cNvPr id="30" name="Rectangle 30"/>
            <p:cNvSpPr/>
            <p:nvPr/>
          </p:nvSpPr>
          <p:spPr>
            <a:xfrm>
              <a:off x="571500" y="3629025"/>
              <a:ext cx="11049000" cy="9525"/>
            </a:xfrm>
            <a:prstGeom prst="rect">
              <a:avLst/>
            </a:prstGeom>
            <a:solidFill>
              <a:srgbClr val="D5D5D5"/>
            </a:solidFill>
            <a:ln>
              <a:noFill/>
            </a:ln>
          </p:spPr>
        </p:sp>
        <p:sp>
          <p:nvSpPr>
            <p:cNvPr id="31" name="TextBox 31"/>
            <p:cNvSpPr txBox="1"/>
            <p:nvPr/>
          </p:nvSpPr>
          <p:spPr>
            <a:xfrm>
              <a:off x="746760" y="2832735"/>
              <a:ext cx="1458659" cy="243840"/>
            </a:xfrm>
            <a:prstGeom prst="rect">
              <a:avLst/>
            </a:prstGeom>
            <a:noFill/>
            <a:ln>
              <a:noFill/>
            </a:ln>
          </p:spPr>
          <p:txBody>
            <a:bodyPr wrap="none" lIns="0" tIns="0" rIns="0" bIns="0" anchor="t" anchorCtr="0">
              <a:spAutoFit/>
            </a:bodyPr>
            <a:lstStyle/>
            <a:p>
              <a:pPr algn="l"/>
              <a:r>
                <a:rPr lang="zh-CN" sz="1200" b="1" dirty="0">
                  <a:solidFill>
                    <a:srgbClr val="1B1164"/>
                  </a:solidFill>
                  <a:latin typeface="Arial"/>
                  <a:ea typeface="Microsoft YaHei"/>
                  <a:cs typeface="Arial"/>
                </a:rPr>
                <a:t>E-Payment Portal</a:t>
              </a:r>
            </a:p>
          </p:txBody>
        </p:sp>
        <p:sp>
          <p:nvSpPr>
            <p:cNvPr id="32" name="TextBox 32"/>
            <p:cNvSpPr txBox="1"/>
            <p:nvPr/>
          </p:nvSpPr>
          <p:spPr>
            <a:xfrm>
              <a:off x="749618" y="3066574"/>
              <a:ext cx="707350"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Legacy T&amp;E</a:t>
              </a:r>
            </a:p>
          </p:txBody>
        </p:sp>
        <p:sp>
          <p:nvSpPr>
            <p:cNvPr id="33" name="TextBox 33"/>
            <p:cNvSpPr txBox="1"/>
            <p:nvPr/>
          </p:nvSpPr>
          <p:spPr>
            <a:xfrm>
              <a:off x="3606165" y="2801302"/>
              <a:ext cx="2637996"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Travel claims, expense reimbursement</a:t>
              </a:r>
            </a:p>
          </p:txBody>
        </p:sp>
        <p:sp>
          <p:nvSpPr>
            <p:cNvPr id="34" name="TextBox 34"/>
            <p:cNvSpPr txBox="1"/>
            <p:nvPr/>
          </p:nvSpPr>
          <p:spPr>
            <a:xfrm>
              <a:off x="3607118" y="3028474"/>
              <a:ext cx="1727978"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Manual approval workflows</a:t>
              </a:r>
            </a:p>
          </p:txBody>
        </p:sp>
        <p:sp>
          <p:nvSpPr>
            <p:cNvPr id="35" name="TextBox 35"/>
            <p:cNvSpPr txBox="1"/>
            <p:nvPr/>
          </p:nvSpPr>
          <p:spPr>
            <a:xfrm>
              <a:off x="7416165" y="2848928"/>
              <a:ext cx="1818894"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All staff · 340 requestors</a:t>
              </a:r>
            </a:p>
          </p:txBody>
        </p:sp>
        <p:sp>
          <p:nvSpPr>
            <p:cNvPr id="36" name="Rectangle 36"/>
            <p:cNvSpPr/>
            <p:nvPr/>
          </p:nvSpPr>
          <p:spPr>
            <a:xfrm>
              <a:off x="9715500" y="2724150"/>
              <a:ext cx="1714500" cy="285750"/>
            </a:xfrm>
            <a:prstGeom prst="roundRect">
              <a:avLst>
                <a:gd name="adj" fmla="val 13333"/>
              </a:avLst>
            </a:prstGeom>
            <a:solidFill>
              <a:srgbClr val="C00000">
                <a:alpha val="10000"/>
              </a:srgbClr>
            </a:solidFill>
            <a:ln>
              <a:noFill/>
            </a:ln>
          </p:spPr>
        </p:sp>
        <p:sp>
          <p:nvSpPr>
            <p:cNvPr id="37" name="Rectangle 37"/>
            <p:cNvSpPr/>
            <p:nvPr/>
          </p:nvSpPr>
          <p:spPr>
            <a:xfrm>
              <a:off x="9715500" y="2724150"/>
              <a:ext cx="47625" cy="285750"/>
            </a:xfrm>
            <a:prstGeom prst="rect">
              <a:avLst/>
            </a:prstGeom>
            <a:solidFill>
              <a:srgbClr val="C00000"/>
            </a:solidFill>
            <a:ln>
              <a:noFill/>
            </a:ln>
          </p:spPr>
        </p:sp>
        <p:sp>
          <p:nvSpPr>
            <p:cNvPr id="38" name="TextBox 38"/>
            <p:cNvSpPr txBox="1"/>
            <p:nvPr/>
          </p:nvSpPr>
          <p:spPr>
            <a:xfrm>
              <a:off x="9855518" y="2818924"/>
              <a:ext cx="1062295" cy="198120"/>
            </a:xfrm>
            <a:prstGeom prst="rect">
              <a:avLst/>
            </a:prstGeom>
            <a:noFill/>
            <a:ln>
              <a:noFill/>
            </a:ln>
          </p:spPr>
          <p:txBody>
            <a:bodyPr wrap="none" lIns="0" tIns="0" rIns="0" bIns="0" anchor="t" anchorCtr="0">
              <a:spAutoFit/>
            </a:bodyPr>
            <a:lstStyle/>
            <a:p>
              <a:pPr algn="l"/>
              <a:r>
                <a:rPr lang="zh-CN" sz="975" b="1" dirty="0">
                  <a:solidFill>
                    <a:srgbClr val="C00000"/>
                  </a:solidFill>
                  <a:latin typeface="Arial"/>
                  <a:ea typeface="Microsoft YaHei"/>
                  <a:cs typeface="Arial"/>
                </a:rPr>
                <a:t>Decommissioned</a:t>
              </a:r>
            </a:p>
          </p:txBody>
        </p:sp>
        <p:sp>
          <p:nvSpPr>
            <p:cNvPr id="39" name="Rectangle 39"/>
            <p:cNvSpPr/>
            <p:nvPr/>
          </p:nvSpPr>
          <p:spPr>
            <a:xfrm>
              <a:off x="571500" y="3638550"/>
              <a:ext cx="11049000" cy="1047750"/>
            </a:xfrm>
            <a:prstGeom prst="rect">
              <a:avLst/>
            </a:prstGeom>
            <a:solidFill>
              <a:srgbClr val="FFFFFF"/>
            </a:solidFill>
            <a:ln>
              <a:noFill/>
            </a:ln>
          </p:spPr>
        </p:sp>
        <p:sp>
          <p:nvSpPr>
            <p:cNvPr id="40" name="Rectangle 40"/>
            <p:cNvSpPr/>
            <p:nvPr/>
          </p:nvSpPr>
          <p:spPr>
            <a:xfrm>
              <a:off x="571500" y="4686300"/>
              <a:ext cx="11049000" cy="9525"/>
            </a:xfrm>
            <a:prstGeom prst="rect">
              <a:avLst/>
            </a:prstGeom>
            <a:solidFill>
              <a:srgbClr val="D5D5D5"/>
            </a:solidFill>
            <a:ln>
              <a:noFill/>
            </a:ln>
          </p:spPr>
        </p:sp>
        <p:sp>
          <p:nvSpPr>
            <p:cNvPr id="41" name="TextBox 41"/>
            <p:cNvSpPr txBox="1"/>
            <p:nvPr/>
          </p:nvSpPr>
          <p:spPr>
            <a:xfrm>
              <a:off x="746760" y="3890010"/>
              <a:ext cx="1189825" cy="243840"/>
            </a:xfrm>
            <a:prstGeom prst="rect">
              <a:avLst/>
            </a:prstGeom>
            <a:noFill/>
            <a:ln>
              <a:noFill/>
            </a:ln>
          </p:spPr>
          <p:txBody>
            <a:bodyPr wrap="none" lIns="0" tIns="0" rIns="0" bIns="0" anchor="t" anchorCtr="0">
              <a:spAutoFit/>
            </a:bodyPr>
            <a:lstStyle/>
            <a:p>
              <a:pPr algn="l"/>
              <a:r>
                <a:rPr lang="zh-CN" sz="1200" b="1" dirty="0">
                  <a:solidFill>
                    <a:srgbClr val="1B1164"/>
                  </a:solidFill>
                  <a:latin typeface="Arial"/>
                  <a:ea typeface="Microsoft YaHei"/>
                  <a:cs typeface="Arial"/>
                </a:rPr>
                <a:t>Concur Legacy</a:t>
              </a:r>
            </a:p>
          </p:txBody>
        </p:sp>
        <p:sp>
          <p:nvSpPr>
            <p:cNvPr id="42" name="TextBox 42"/>
            <p:cNvSpPr txBox="1"/>
            <p:nvPr/>
          </p:nvSpPr>
          <p:spPr>
            <a:xfrm>
              <a:off x="749618" y="4123849"/>
              <a:ext cx="934879"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Partial rollout</a:t>
              </a:r>
            </a:p>
          </p:txBody>
        </p:sp>
        <p:sp>
          <p:nvSpPr>
            <p:cNvPr id="43" name="TextBox 43"/>
            <p:cNvSpPr txBox="1"/>
            <p:nvPr/>
          </p:nvSpPr>
          <p:spPr>
            <a:xfrm>
              <a:off x="3606165" y="3858578"/>
              <a:ext cx="1846897"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T&amp;E booking — limited to HQ</a:t>
              </a:r>
            </a:p>
          </p:txBody>
        </p:sp>
        <p:sp>
          <p:nvSpPr>
            <p:cNvPr id="44" name="TextBox 44"/>
            <p:cNvSpPr txBox="1"/>
            <p:nvPr/>
          </p:nvSpPr>
          <p:spPr>
            <a:xfrm>
              <a:off x="3607118" y="4085749"/>
              <a:ext cx="1962007"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No mobile or field-team access</a:t>
              </a:r>
            </a:p>
          </p:txBody>
        </p:sp>
        <p:sp>
          <p:nvSpPr>
            <p:cNvPr id="45" name="TextBox 45"/>
            <p:cNvSpPr txBox="1"/>
            <p:nvPr/>
          </p:nvSpPr>
          <p:spPr>
            <a:xfrm>
              <a:off x="7416165" y="3906202"/>
              <a:ext cx="1496854"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HQ Finance · 60 users</a:t>
              </a:r>
            </a:p>
          </p:txBody>
        </p:sp>
        <p:sp>
          <p:nvSpPr>
            <p:cNvPr id="46" name="Rectangle 46"/>
            <p:cNvSpPr/>
            <p:nvPr/>
          </p:nvSpPr>
          <p:spPr>
            <a:xfrm>
              <a:off x="9715500" y="3781425"/>
              <a:ext cx="1714500" cy="285750"/>
            </a:xfrm>
            <a:prstGeom prst="roundRect">
              <a:avLst>
                <a:gd name="adj" fmla="val 13333"/>
              </a:avLst>
            </a:prstGeom>
            <a:solidFill>
              <a:srgbClr val="3BBF92">
                <a:alpha val="15000"/>
              </a:srgbClr>
            </a:solidFill>
            <a:ln>
              <a:noFill/>
            </a:ln>
          </p:spPr>
        </p:sp>
        <p:sp>
          <p:nvSpPr>
            <p:cNvPr id="47" name="Rectangle 47"/>
            <p:cNvSpPr/>
            <p:nvPr/>
          </p:nvSpPr>
          <p:spPr>
            <a:xfrm>
              <a:off x="9715500" y="3781425"/>
              <a:ext cx="47625" cy="285750"/>
            </a:xfrm>
            <a:prstGeom prst="rect">
              <a:avLst/>
            </a:prstGeom>
            <a:solidFill>
              <a:srgbClr val="3BBF92"/>
            </a:solidFill>
            <a:ln>
              <a:noFill/>
            </a:ln>
          </p:spPr>
        </p:sp>
        <p:sp>
          <p:nvSpPr>
            <p:cNvPr id="48" name="TextBox 48"/>
            <p:cNvSpPr txBox="1"/>
            <p:nvPr/>
          </p:nvSpPr>
          <p:spPr>
            <a:xfrm>
              <a:off x="9855518" y="3876199"/>
              <a:ext cx="625440" cy="198120"/>
            </a:xfrm>
            <a:prstGeom prst="rect">
              <a:avLst/>
            </a:prstGeom>
            <a:noFill/>
            <a:ln>
              <a:noFill/>
            </a:ln>
          </p:spPr>
          <p:txBody>
            <a:bodyPr wrap="none" lIns="0" tIns="0" rIns="0" bIns="0" anchor="t" anchorCtr="0">
              <a:spAutoFit/>
            </a:bodyPr>
            <a:lstStyle/>
            <a:p>
              <a:pPr algn="l"/>
              <a:r>
                <a:rPr lang="zh-CN" sz="975" b="1" dirty="0">
                  <a:solidFill>
                    <a:srgbClr val="3BBF92"/>
                  </a:solidFill>
                  <a:latin typeface="Arial"/>
                  <a:ea typeface="Microsoft YaHei"/>
                  <a:cs typeface="Arial"/>
                </a:rPr>
                <a:t>Upgraded</a:t>
              </a:r>
            </a:p>
          </p:txBody>
        </p:sp>
        <p:sp>
          <p:nvSpPr>
            <p:cNvPr id="49" name="Rectangle 49"/>
            <p:cNvSpPr/>
            <p:nvPr/>
          </p:nvSpPr>
          <p:spPr>
            <a:xfrm>
              <a:off x="571500" y="4695825"/>
              <a:ext cx="11049000" cy="1047750"/>
            </a:xfrm>
            <a:prstGeom prst="rect">
              <a:avLst/>
            </a:prstGeom>
            <a:solidFill>
              <a:srgbClr val="F5F5F5"/>
            </a:solidFill>
            <a:ln>
              <a:noFill/>
            </a:ln>
          </p:spPr>
        </p:sp>
        <p:sp>
          <p:nvSpPr>
            <p:cNvPr id="50" name="TextBox 50"/>
            <p:cNvSpPr txBox="1"/>
            <p:nvPr/>
          </p:nvSpPr>
          <p:spPr>
            <a:xfrm>
              <a:off x="746760" y="4947285"/>
              <a:ext cx="1744294" cy="243840"/>
            </a:xfrm>
            <a:prstGeom prst="rect">
              <a:avLst/>
            </a:prstGeom>
            <a:noFill/>
            <a:ln>
              <a:noFill/>
            </a:ln>
          </p:spPr>
          <p:txBody>
            <a:bodyPr wrap="none" lIns="0" tIns="0" rIns="0" bIns="0" anchor="t" anchorCtr="0">
              <a:spAutoFit/>
            </a:bodyPr>
            <a:lstStyle/>
            <a:p>
              <a:pPr algn="l"/>
              <a:r>
                <a:rPr lang="zh-CN" sz="1200" b="1" dirty="0">
                  <a:solidFill>
                    <a:srgbClr val="1B1164"/>
                  </a:solidFill>
                  <a:latin typeface="Arial"/>
                  <a:ea typeface="Microsoft YaHei"/>
                  <a:cs typeface="Arial"/>
                </a:rPr>
                <a:t>Manual Excel Tracker</a:t>
              </a:r>
            </a:p>
          </p:txBody>
        </p:sp>
        <p:sp>
          <p:nvSpPr>
            <p:cNvPr id="51" name="TextBox 51"/>
            <p:cNvSpPr txBox="1"/>
            <p:nvPr/>
          </p:nvSpPr>
          <p:spPr>
            <a:xfrm>
              <a:off x="749618" y="5181124"/>
              <a:ext cx="772358"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Shadow tool</a:t>
              </a:r>
            </a:p>
          </p:txBody>
        </p:sp>
        <p:sp>
          <p:nvSpPr>
            <p:cNvPr id="52" name="TextBox 52"/>
            <p:cNvSpPr txBox="1"/>
            <p:nvPr/>
          </p:nvSpPr>
          <p:spPr>
            <a:xfrm>
              <a:off x="3606165" y="4915852"/>
              <a:ext cx="2245947"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Budget tracking, cost allocation</a:t>
              </a:r>
            </a:p>
          </p:txBody>
        </p:sp>
        <p:sp>
          <p:nvSpPr>
            <p:cNvPr id="53" name="TextBox 53"/>
            <p:cNvSpPr txBox="1"/>
            <p:nvPr/>
          </p:nvSpPr>
          <p:spPr>
            <a:xfrm>
              <a:off x="3607118" y="5143024"/>
              <a:ext cx="2573084"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No integration with ECC; manual updates</a:t>
              </a:r>
            </a:p>
          </p:txBody>
        </p:sp>
        <p:sp>
          <p:nvSpPr>
            <p:cNvPr id="54" name="TextBox 54"/>
            <p:cNvSpPr txBox="1"/>
            <p:nvPr/>
          </p:nvSpPr>
          <p:spPr>
            <a:xfrm>
              <a:off x="7416165" y="4963478"/>
              <a:ext cx="1328833" cy="213360"/>
            </a:xfrm>
            <a:prstGeom prst="rect">
              <a:avLst/>
            </a:prstGeom>
            <a:noFill/>
            <a:ln>
              <a:noFill/>
            </a:ln>
          </p:spPr>
          <p:txBody>
            <a:bodyPr wrap="none" lIns="0" tIns="0" rIns="0" bIns="0" anchor="t" anchorCtr="0">
              <a:spAutoFit/>
            </a:bodyPr>
            <a:lstStyle/>
            <a:p>
              <a:pPr algn="l"/>
              <a:r>
                <a:rPr lang="zh-CN" sz="1050" dirty="0">
                  <a:solidFill>
                    <a:srgbClr val="000000"/>
                  </a:solidFill>
                  <a:latin typeface="Arial"/>
                  <a:ea typeface="Microsoft YaHei"/>
                  <a:cs typeface="Arial"/>
                </a:rPr>
                <a:t>CO team · 20 users</a:t>
              </a:r>
            </a:p>
          </p:txBody>
        </p:sp>
        <p:sp>
          <p:nvSpPr>
            <p:cNvPr id="55" name="Rectangle 55"/>
            <p:cNvSpPr/>
            <p:nvPr/>
          </p:nvSpPr>
          <p:spPr>
            <a:xfrm>
              <a:off x="9715500" y="4838700"/>
              <a:ext cx="1714500" cy="285750"/>
            </a:xfrm>
            <a:prstGeom prst="roundRect">
              <a:avLst>
                <a:gd name="adj" fmla="val 13333"/>
              </a:avLst>
            </a:prstGeom>
            <a:solidFill>
              <a:srgbClr val="C00000">
                <a:alpha val="10000"/>
              </a:srgbClr>
            </a:solidFill>
            <a:ln>
              <a:noFill/>
            </a:ln>
          </p:spPr>
        </p:sp>
        <p:sp>
          <p:nvSpPr>
            <p:cNvPr id="56" name="Rectangle 56"/>
            <p:cNvSpPr/>
            <p:nvPr/>
          </p:nvSpPr>
          <p:spPr>
            <a:xfrm>
              <a:off x="9715500" y="4838700"/>
              <a:ext cx="47625" cy="285750"/>
            </a:xfrm>
            <a:prstGeom prst="rect">
              <a:avLst/>
            </a:prstGeom>
            <a:solidFill>
              <a:srgbClr val="C00000"/>
            </a:solidFill>
            <a:ln>
              <a:noFill/>
            </a:ln>
          </p:spPr>
        </p:sp>
        <p:sp>
          <p:nvSpPr>
            <p:cNvPr id="57" name="TextBox 57"/>
            <p:cNvSpPr txBox="1"/>
            <p:nvPr/>
          </p:nvSpPr>
          <p:spPr>
            <a:xfrm>
              <a:off x="9855518" y="4933474"/>
              <a:ext cx="1062295" cy="198120"/>
            </a:xfrm>
            <a:prstGeom prst="rect">
              <a:avLst/>
            </a:prstGeom>
            <a:noFill/>
            <a:ln>
              <a:noFill/>
            </a:ln>
          </p:spPr>
          <p:txBody>
            <a:bodyPr wrap="none" lIns="0" tIns="0" rIns="0" bIns="0" anchor="t" anchorCtr="0">
              <a:spAutoFit/>
            </a:bodyPr>
            <a:lstStyle/>
            <a:p>
              <a:pPr algn="l"/>
              <a:r>
                <a:rPr lang="zh-CN" sz="975" b="1" dirty="0">
                  <a:solidFill>
                    <a:srgbClr val="C00000"/>
                  </a:solidFill>
                  <a:latin typeface="Arial"/>
                  <a:ea typeface="Microsoft YaHei"/>
                  <a:cs typeface="Arial"/>
                </a:rPr>
                <a:t>Decommissioned</a:t>
              </a:r>
            </a:p>
          </p:txBody>
        </p:sp>
        <p:sp>
          <p:nvSpPr>
            <p:cNvPr id="58" name="Rectangle 58"/>
            <p:cNvSpPr/>
            <p:nvPr/>
          </p:nvSpPr>
          <p:spPr>
            <a:xfrm>
              <a:off x="571500" y="1143000"/>
              <a:ext cx="11049000" cy="4600575"/>
            </a:xfrm>
            <a:prstGeom prst="rect">
              <a:avLst/>
            </a:prstGeom>
            <a:noFill/>
            <a:ln w="9525">
              <a:solidFill>
                <a:srgbClr val="D5D5D5"/>
              </a:solidFill>
            </a:ln>
          </p:spPr>
        </p:sp>
        <p:sp>
          <p:nvSpPr>
            <p:cNvPr id="59" name="Line 59"/>
            <p:cNvSpPr/>
            <p:nvPr/>
          </p:nvSpPr>
          <p:spPr>
            <a:xfrm>
              <a:off x="3524250" y="1524000"/>
              <a:ext cx="9525" cy="4219575"/>
            </a:xfrm>
            <a:custGeom>
              <a:avLst/>
              <a:gdLst/>
              <a:ahLst/>
              <a:cxnLst/>
              <a:rect l="l" t="t" r="r" b="b"/>
              <a:pathLst>
                <a:path w="9525" h="4219575">
                  <a:moveTo>
                    <a:pt x="0" y="0"/>
                  </a:moveTo>
                  <a:lnTo>
                    <a:pt x="0" y="4219575"/>
                  </a:lnTo>
                </a:path>
              </a:pathLst>
            </a:custGeom>
            <a:noFill/>
            <a:ln w="9525">
              <a:solidFill>
                <a:srgbClr val="D5D5D5"/>
              </a:solidFill>
            </a:ln>
          </p:spPr>
        </p:sp>
        <p:sp>
          <p:nvSpPr>
            <p:cNvPr id="60" name="Line 60"/>
            <p:cNvSpPr/>
            <p:nvPr/>
          </p:nvSpPr>
          <p:spPr>
            <a:xfrm>
              <a:off x="7334250" y="1524000"/>
              <a:ext cx="9525" cy="4219575"/>
            </a:xfrm>
            <a:custGeom>
              <a:avLst/>
              <a:gdLst/>
              <a:ahLst/>
              <a:cxnLst/>
              <a:rect l="l" t="t" r="r" b="b"/>
              <a:pathLst>
                <a:path w="9525" h="4219575">
                  <a:moveTo>
                    <a:pt x="0" y="0"/>
                  </a:moveTo>
                  <a:lnTo>
                    <a:pt x="0" y="4219575"/>
                  </a:lnTo>
                </a:path>
              </a:pathLst>
            </a:custGeom>
            <a:noFill/>
            <a:ln w="9525">
              <a:solidFill>
                <a:srgbClr val="D5D5D5"/>
              </a:solidFill>
            </a:ln>
          </p:spPr>
        </p:sp>
        <p:sp>
          <p:nvSpPr>
            <p:cNvPr id="61" name="Line 61"/>
            <p:cNvSpPr/>
            <p:nvPr/>
          </p:nvSpPr>
          <p:spPr>
            <a:xfrm>
              <a:off x="9620250" y="1524000"/>
              <a:ext cx="9525" cy="4219575"/>
            </a:xfrm>
            <a:custGeom>
              <a:avLst/>
              <a:gdLst/>
              <a:ahLst/>
              <a:cxnLst/>
              <a:rect l="l" t="t" r="r" b="b"/>
              <a:pathLst>
                <a:path w="9525" h="4219575">
                  <a:moveTo>
                    <a:pt x="0" y="0"/>
                  </a:moveTo>
                  <a:lnTo>
                    <a:pt x="0" y="4219575"/>
                  </a:lnTo>
                </a:path>
              </a:pathLst>
            </a:custGeom>
            <a:noFill/>
            <a:ln w="9525">
              <a:solidFill>
                <a:srgbClr val="D5D5D5"/>
              </a:solidFill>
            </a:ln>
          </p:spPr>
        </p:sp>
      </p:grpSp>
      <p:grpSp>
        <p:nvGrpSpPr>
          <p:cNvPr id="69" name="Group 69"/>
          <p:cNvGrpSpPr/>
          <p:nvPr/>
        </p:nvGrpSpPr>
        <p:grpSpPr>
          <a:xfrm>
            <a:off x="571500" y="5886450"/>
            <a:ext cx="3987546" cy="200025"/>
            <a:chOff x="571500" y="5886450"/>
            <a:chExt cx="3987546" cy="200025"/>
          </a:xfrm>
        </p:grpSpPr>
        <p:sp>
          <p:nvSpPr>
            <p:cNvPr id="63" name="Rectangle 63"/>
            <p:cNvSpPr/>
            <p:nvPr/>
          </p:nvSpPr>
          <p:spPr>
            <a:xfrm>
              <a:off x="571500" y="5886450"/>
              <a:ext cx="133350" cy="133350"/>
            </a:xfrm>
            <a:prstGeom prst="rect">
              <a:avLst/>
            </a:prstGeom>
            <a:solidFill>
              <a:srgbClr val="F4A261"/>
            </a:solidFill>
            <a:ln>
              <a:noFill/>
            </a:ln>
          </p:spPr>
        </p:sp>
        <p:sp>
          <p:nvSpPr>
            <p:cNvPr id="64" name="TextBox 64"/>
            <p:cNvSpPr txBox="1"/>
            <p:nvPr/>
          </p:nvSpPr>
          <p:spPr>
            <a:xfrm>
              <a:off x="769620" y="5903595"/>
              <a:ext cx="856964"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Being Replaced</a:t>
              </a:r>
            </a:p>
          </p:txBody>
        </p:sp>
        <p:sp>
          <p:nvSpPr>
            <p:cNvPr id="65" name="Rectangle 65"/>
            <p:cNvSpPr/>
            <p:nvPr/>
          </p:nvSpPr>
          <p:spPr>
            <a:xfrm>
              <a:off x="2095500" y="5886450"/>
              <a:ext cx="133350" cy="133350"/>
            </a:xfrm>
            <a:prstGeom prst="rect">
              <a:avLst/>
            </a:prstGeom>
            <a:solidFill>
              <a:srgbClr val="C00000"/>
            </a:solidFill>
            <a:ln>
              <a:noFill/>
            </a:ln>
          </p:spPr>
        </p:sp>
        <p:sp>
          <p:nvSpPr>
            <p:cNvPr id="66" name="TextBox 66"/>
            <p:cNvSpPr txBox="1"/>
            <p:nvPr/>
          </p:nvSpPr>
          <p:spPr>
            <a:xfrm>
              <a:off x="2293620" y="5903595"/>
              <a:ext cx="934974"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Decommissioned</a:t>
              </a:r>
            </a:p>
          </p:txBody>
        </p:sp>
        <p:sp>
          <p:nvSpPr>
            <p:cNvPr id="67" name="Rectangle 67"/>
            <p:cNvSpPr/>
            <p:nvPr/>
          </p:nvSpPr>
          <p:spPr>
            <a:xfrm>
              <a:off x="3810000" y="5886450"/>
              <a:ext cx="133350" cy="133350"/>
            </a:xfrm>
            <a:prstGeom prst="rect">
              <a:avLst/>
            </a:prstGeom>
            <a:solidFill>
              <a:srgbClr val="3BBF92"/>
            </a:solidFill>
            <a:ln>
              <a:noFill/>
            </a:ln>
          </p:spPr>
        </p:sp>
        <p:sp>
          <p:nvSpPr>
            <p:cNvPr id="68" name="TextBox 68"/>
            <p:cNvSpPr txBox="1"/>
            <p:nvPr/>
          </p:nvSpPr>
          <p:spPr>
            <a:xfrm>
              <a:off x="4008120" y="5903595"/>
              <a:ext cx="550926"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Upgraded</a:t>
              </a:r>
            </a:p>
          </p:txBody>
        </p:sp>
      </p:grpSp>
      <p:grpSp>
        <p:nvGrpSpPr>
          <p:cNvPr id="72" name="Group 72"/>
          <p:cNvGrpSpPr/>
          <p:nvPr/>
        </p:nvGrpSpPr>
        <p:grpSpPr>
          <a:xfrm>
            <a:off x="7402830" y="6557962"/>
            <a:ext cx="4179570" cy="152400"/>
            <a:chOff x="7402830" y="6557962"/>
            <a:chExt cx="4179570" cy="152400"/>
          </a:xfrm>
        </p:grpSpPr>
        <p:sp>
          <p:nvSpPr>
            <p:cNvPr id="70" name="TextBox 70"/>
            <p:cNvSpPr txBox="1"/>
            <p:nvPr/>
          </p:nvSpPr>
          <p:spPr>
            <a:xfrm>
              <a:off x="7402830" y="6574155"/>
              <a:ext cx="3323653" cy="121920"/>
            </a:xfrm>
            <a:prstGeom prst="rect">
              <a:avLst/>
            </a:prstGeom>
            <a:noFill/>
            <a:ln>
              <a:noFill/>
            </a:ln>
          </p:spPr>
          <p:txBody>
            <a:bodyPr wrap="none" lIns="0" tIns="0" rIns="0" bIns="0" anchor="t" anchorCtr="0">
              <a:spAutoFit/>
            </a:bodyPr>
            <a:lstStyle/>
            <a:p>
              <a:pPr algn="l"/>
              <a:r>
                <a:rPr lang="zh-CN" sz="600" dirty="0">
                  <a:solidFill>
                    <a:srgbClr val="000000"/>
                  </a:solidFill>
                  <a:latin typeface="Arial"/>
                  <a:ea typeface="Microsoft YaHei"/>
                  <a:cs typeface="Arial"/>
                </a:rPr>
                <a:t>Copyright © 2026 Accenture. All rights reserved. Accenture Confidential Information</a:t>
              </a:r>
            </a:p>
          </p:txBody>
        </p:sp>
        <p:sp>
          <p:nvSpPr>
            <p:cNvPr id="71" name="TextBox 71"/>
            <p:cNvSpPr txBox="1"/>
            <p:nvPr/>
          </p:nvSpPr>
          <p:spPr>
            <a:xfrm>
              <a:off x="11508343" y="6557962"/>
              <a:ext cx="74057" cy="152400"/>
            </a:xfrm>
            <a:prstGeom prst="rect">
              <a:avLst/>
            </a:prstGeom>
            <a:noFill/>
            <a:ln>
              <a:noFill/>
            </a:ln>
          </p:spPr>
          <p:txBody>
            <a:bodyPr wrap="none" lIns="0" tIns="0" rIns="0" bIns="0" anchor="t" anchorCtr="0">
              <a:spAutoFit/>
            </a:bodyPr>
            <a:lstStyle/>
            <a:p>
              <a:pPr algn="r"/>
              <a:r>
                <a:rPr lang="zh-CN" sz="750" dirty="0">
                  <a:solidFill>
                    <a:srgbClr val="000000"/>
                  </a:solidFill>
                  <a:latin typeface="Arial"/>
                  <a:ea typeface="Microsoft YaHei"/>
                  <a:cs typeface="Arial"/>
                </a:rPr>
                <a:t>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62"/>
                                        </p:tgtEl>
                                        <p:attrNameLst>
                                          <p:attrName>style.visibility</p:attrName>
                                        </p:attrNameLst>
                                      </p:cBhvr>
                                      <p:to>
                                        <p:strVal val="visible"/>
                                      </p:to>
                                    </p:set>
                                    <p:animEffect transition="in" filter="wipe(left)">
                                      <p:cBhvr>
                                        <p:cTn id="7" dur="400"/>
                                        <p:tgtEl>
                                          <p:spTgt spid="62"/>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69"/>
                                        </p:tgtEl>
                                        <p:attrNameLst>
                                          <p:attrName>style.visibility</p:attrName>
                                        </p:attrNameLst>
                                      </p:cBhvr>
                                      <p:to>
                                        <p:strVal val="visible"/>
                                      </p:to>
                                    </p:set>
                                    <p:animEffect transition="in" filter="wipe(left)">
                                      <p:cBhvr>
                                        <p:cTn id="11" dur="40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p:bldP spid="6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3739017" cy="476250"/>
            <a:chOff x="0" y="0"/>
            <a:chExt cx="3739017" cy="476250"/>
          </a:xfrm>
        </p:grpSpPr>
        <p:pic>
          <p:nvPicPr>
            <p:cNvPr id="3" name="Image 3"/>
            <p:cNvPicPr>
              <a:picLocks noChangeAspect="1"/>
            </p:cNvPicPr>
            <p:nvPr/>
          </p:nvPicPr>
          <p:blipFill>
            <a:blip r:embed="rId3"/>
            <a:stretch>
              <a:fillRect/>
            </a:stretch>
          </p:blipFill>
          <p:spPr>
            <a:xfrm>
              <a:off x="0" y="0"/>
              <a:ext cx="1466850" cy="381000"/>
            </a:xfrm>
            <a:prstGeom prst="rect">
              <a:avLst/>
            </a:prstGeom>
          </p:spPr>
        </p:pic>
        <p:pic>
          <p:nvPicPr>
            <p:cNvPr id="4" name="Image 4"/>
            <p:cNvPicPr>
              <a:picLocks noChangeAspect="1"/>
            </p:cNvPicPr>
            <p:nvPr/>
          </p:nvPicPr>
          <p:blipFill>
            <a:blip r:embed="rId4"/>
            <a:stretch>
              <a:fillRect/>
            </a:stretch>
          </p:blipFill>
          <p:spPr>
            <a:xfrm>
              <a:off x="1838325" y="19050"/>
              <a:ext cx="1028700" cy="457200"/>
            </a:xfrm>
            <a:prstGeom prst="rect">
              <a:avLst/>
            </a:prstGeom>
          </p:spPr>
        </p:pic>
        <p:pic>
          <p:nvPicPr>
            <p:cNvPr id="5" name="Image 5"/>
            <p:cNvPicPr>
              <a:picLocks noChangeAspect="1"/>
            </p:cNvPicPr>
            <p:nvPr/>
          </p:nvPicPr>
          <p:blipFill>
            <a:blip r:embed="rId5"/>
            <a:stretch>
              <a:fillRect/>
            </a:stretch>
          </p:blipFill>
          <p:spPr>
            <a:xfrm>
              <a:off x="2971800" y="47625"/>
              <a:ext cx="767217" cy="304800"/>
            </a:xfrm>
            <a:prstGeom prst="rect">
              <a:avLst/>
            </a:prstGeom>
          </p:spPr>
        </p:pic>
      </p:grpSp>
      <p:grpSp>
        <p:nvGrpSpPr>
          <p:cNvPr id="9" name="Group 9"/>
          <p:cNvGrpSpPr/>
          <p:nvPr/>
        </p:nvGrpSpPr>
        <p:grpSpPr>
          <a:xfrm>
            <a:off x="544830" y="592455"/>
            <a:ext cx="11075670" cy="426720"/>
            <a:chOff x="544830" y="592455"/>
            <a:chExt cx="11075670" cy="426720"/>
          </a:xfrm>
        </p:grpSpPr>
        <p:sp>
          <p:nvSpPr>
            <p:cNvPr id="7" name="TextBox 7"/>
            <p:cNvSpPr txBox="1"/>
            <p:nvPr/>
          </p:nvSpPr>
          <p:spPr>
            <a:xfrm>
              <a:off x="544830" y="592455"/>
              <a:ext cx="3405359" cy="426720"/>
            </a:xfrm>
            <a:prstGeom prst="rect">
              <a:avLst/>
            </a:prstGeom>
            <a:noFill/>
            <a:ln>
              <a:noFill/>
            </a:ln>
          </p:spPr>
          <p:txBody>
            <a:bodyPr wrap="none" lIns="0" tIns="0" rIns="0" bIns="0" anchor="t" anchorCtr="0">
              <a:spAutoFit/>
            </a:bodyPr>
            <a:lstStyle/>
            <a:p>
              <a:pPr algn="l"/>
              <a:r>
                <a:rPr lang="zh-CN" sz="2100" b="1" dirty="0">
                  <a:solidFill>
                    <a:srgbClr val="1B1164"/>
                  </a:solidFill>
                  <a:latin typeface="Arial"/>
                  <a:ea typeface="Microsoft YaHei"/>
                  <a:cs typeface="Arial"/>
                </a:rPr>
                <a:t>Change Impact Summary</a:t>
              </a:r>
            </a:p>
          </p:txBody>
        </p:sp>
        <p:sp>
          <p:nvSpPr>
            <p:cNvPr id="8" name="Rectangle 8"/>
            <p:cNvSpPr/>
            <p:nvPr/>
          </p:nvSpPr>
          <p:spPr>
            <a:xfrm>
              <a:off x="571500" y="952500"/>
              <a:ext cx="11049000" cy="19050"/>
            </a:xfrm>
            <a:prstGeom prst="rect">
              <a:avLst/>
            </a:prstGeom>
            <a:solidFill>
              <a:srgbClr val="00AEEF"/>
            </a:solidFill>
            <a:ln>
              <a:noFill/>
            </a:ln>
          </p:spPr>
        </p:sp>
      </p:grpSp>
      <p:grpSp>
        <p:nvGrpSpPr>
          <p:cNvPr id="57" name="Group 57"/>
          <p:cNvGrpSpPr/>
          <p:nvPr/>
        </p:nvGrpSpPr>
        <p:grpSpPr>
          <a:xfrm>
            <a:off x="571500" y="1066800"/>
            <a:ext cx="11049000" cy="5295900"/>
            <a:chOff x="571500" y="1066800"/>
            <a:chExt cx="11049000" cy="5295900"/>
          </a:xfrm>
        </p:grpSpPr>
        <p:sp>
          <p:nvSpPr>
            <p:cNvPr id="10" name="Rectangle 10"/>
            <p:cNvSpPr/>
            <p:nvPr/>
          </p:nvSpPr>
          <p:spPr>
            <a:xfrm>
              <a:off x="571500" y="1066800"/>
              <a:ext cx="3552825" cy="5295900"/>
            </a:xfrm>
            <a:prstGeom prst="rect">
              <a:avLst/>
            </a:prstGeom>
            <a:solidFill>
              <a:srgbClr val="FFFFFF">
                <a:alpha val="85000"/>
              </a:srgbClr>
            </a:solidFill>
            <a:ln>
              <a:noFill/>
            </a:ln>
          </p:spPr>
        </p:sp>
        <p:sp>
          <p:nvSpPr>
            <p:cNvPr id="11" name="Rectangle 11"/>
            <p:cNvSpPr/>
            <p:nvPr/>
          </p:nvSpPr>
          <p:spPr>
            <a:xfrm>
              <a:off x="4314825" y="1066800"/>
              <a:ext cx="3562350" cy="5295900"/>
            </a:xfrm>
            <a:prstGeom prst="rect">
              <a:avLst/>
            </a:prstGeom>
            <a:solidFill>
              <a:srgbClr val="FFFFFF">
                <a:alpha val="85000"/>
              </a:srgbClr>
            </a:solidFill>
            <a:ln>
              <a:noFill/>
            </a:ln>
          </p:spPr>
        </p:sp>
        <p:sp>
          <p:nvSpPr>
            <p:cNvPr id="12" name="Rectangle 12"/>
            <p:cNvSpPr/>
            <p:nvPr/>
          </p:nvSpPr>
          <p:spPr>
            <a:xfrm>
              <a:off x="8067675" y="1066800"/>
              <a:ext cx="3552825" cy="5295900"/>
            </a:xfrm>
            <a:prstGeom prst="rect">
              <a:avLst/>
            </a:prstGeom>
            <a:solidFill>
              <a:srgbClr val="FFFFFF">
                <a:alpha val="85000"/>
              </a:srgbClr>
            </a:solidFill>
            <a:ln>
              <a:noFill/>
            </a:ln>
          </p:spPr>
        </p:sp>
        <p:sp>
          <p:nvSpPr>
            <p:cNvPr id="13" name="Line 13"/>
            <p:cNvSpPr/>
            <p:nvPr/>
          </p:nvSpPr>
          <p:spPr>
            <a:xfrm>
              <a:off x="4124325" y="1238250"/>
              <a:ext cx="9525" cy="4933950"/>
            </a:xfrm>
            <a:custGeom>
              <a:avLst/>
              <a:gdLst/>
              <a:ahLst/>
              <a:cxnLst/>
              <a:rect l="l" t="t" r="r" b="b"/>
              <a:pathLst>
                <a:path w="9525" h="4933950">
                  <a:moveTo>
                    <a:pt x="0" y="0"/>
                  </a:moveTo>
                  <a:lnTo>
                    <a:pt x="0" y="4933950"/>
                  </a:lnTo>
                </a:path>
              </a:pathLst>
            </a:custGeom>
            <a:noFill/>
            <a:ln w="9525">
              <a:solidFill>
                <a:srgbClr val="D5D5D5"/>
              </a:solidFill>
            </a:ln>
          </p:spPr>
        </p:sp>
        <p:sp>
          <p:nvSpPr>
            <p:cNvPr id="14" name="Line 14"/>
            <p:cNvSpPr/>
            <p:nvPr/>
          </p:nvSpPr>
          <p:spPr>
            <a:xfrm>
              <a:off x="7877175" y="1238250"/>
              <a:ext cx="9525" cy="4933950"/>
            </a:xfrm>
            <a:custGeom>
              <a:avLst/>
              <a:gdLst/>
              <a:ahLst/>
              <a:cxnLst/>
              <a:rect l="l" t="t" r="r" b="b"/>
              <a:pathLst>
                <a:path w="9525" h="4933950">
                  <a:moveTo>
                    <a:pt x="0" y="0"/>
                  </a:moveTo>
                  <a:lnTo>
                    <a:pt x="0" y="4933950"/>
                  </a:lnTo>
                </a:path>
              </a:pathLst>
            </a:custGeom>
            <a:noFill/>
            <a:ln w="9525">
              <a:solidFill>
                <a:srgbClr val="D5D5D5"/>
              </a:solidFill>
            </a:ln>
          </p:spPr>
        </p:sp>
        <p:grpSp>
          <p:nvGrpSpPr>
            <p:cNvPr id="26" name="Group 26"/>
            <p:cNvGrpSpPr/>
            <p:nvPr/>
          </p:nvGrpSpPr>
          <p:grpSpPr>
            <a:xfrm>
              <a:off x="571500" y="1066800"/>
              <a:ext cx="3552825" cy="3369469"/>
              <a:chOff x="571500" y="1066800"/>
              <a:chExt cx="3552825" cy="3369469"/>
            </a:xfrm>
          </p:grpSpPr>
          <p:sp>
            <p:nvSpPr>
              <p:cNvPr id="15" name="Rectangle 15"/>
              <p:cNvSpPr/>
              <p:nvPr/>
            </p:nvSpPr>
            <p:spPr>
              <a:xfrm>
                <a:off x="571500" y="1066800"/>
                <a:ext cx="3552825" cy="57150"/>
              </a:xfrm>
              <a:prstGeom prst="rect">
                <a:avLst/>
              </a:prstGeom>
              <a:solidFill>
                <a:srgbClr val="00AEEF"/>
              </a:solidFill>
              <a:ln>
                <a:noFill/>
              </a:ln>
            </p:spPr>
          </p:sp>
          <p:sp>
            <p:nvSpPr>
              <p:cNvPr id="16" name="TextBox 16"/>
              <p:cNvSpPr txBox="1"/>
              <p:nvPr/>
            </p:nvSpPr>
            <p:spPr>
              <a:xfrm>
                <a:off x="1804892" y="1390650"/>
                <a:ext cx="1076516" cy="1219200"/>
              </a:xfrm>
              <a:prstGeom prst="rect">
                <a:avLst/>
              </a:prstGeom>
              <a:noFill/>
              <a:ln>
                <a:noFill/>
              </a:ln>
            </p:spPr>
            <p:txBody>
              <a:bodyPr wrap="none" lIns="0" tIns="0" rIns="0" bIns="0" anchor="t" anchorCtr="0">
                <a:spAutoFit/>
              </a:bodyPr>
              <a:lstStyle/>
              <a:p>
                <a:pPr algn="ctr"/>
                <a:r>
                  <a:rPr lang="zh-CN" sz="6000" b="1" dirty="0">
                    <a:solidFill>
                      <a:srgbClr val="1B1164"/>
                    </a:solidFill>
                    <a:latin typeface="Arial"/>
                    <a:ea typeface="Microsoft YaHei"/>
                    <a:cs typeface="Arial"/>
                  </a:rPr>
                  <a:t>15</a:t>
                </a:r>
              </a:p>
            </p:txBody>
          </p:sp>
          <p:sp>
            <p:nvSpPr>
              <p:cNvPr id="17" name="TextBox 17"/>
              <p:cNvSpPr txBox="1"/>
              <p:nvPr/>
            </p:nvSpPr>
            <p:spPr>
              <a:xfrm>
                <a:off x="1588618" y="2251710"/>
                <a:ext cx="1509065" cy="243840"/>
              </a:xfrm>
              <a:prstGeom prst="rect">
                <a:avLst/>
              </a:prstGeom>
              <a:noFill/>
              <a:ln>
                <a:noFill/>
              </a:ln>
            </p:spPr>
            <p:txBody>
              <a:bodyPr wrap="none" lIns="0" tIns="0" rIns="0" bIns="0" anchor="t" anchorCtr="0">
                <a:spAutoFit/>
              </a:bodyPr>
              <a:lstStyle/>
              <a:p>
                <a:pPr algn="ctr"/>
                <a:r>
                  <a:rPr lang="zh-CN" sz="1200" b="1" dirty="0">
                    <a:solidFill>
                      <a:srgbClr val="1B1164"/>
                    </a:solidFill>
                    <a:latin typeface="Arial"/>
                    <a:ea typeface="Microsoft YaHei"/>
                    <a:cs typeface="Arial"/>
                  </a:rPr>
                  <a:t>Impacted Business</a:t>
                </a:r>
              </a:p>
            </p:txBody>
          </p:sp>
          <p:sp>
            <p:nvSpPr>
              <p:cNvPr id="18" name="TextBox 18"/>
              <p:cNvSpPr txBox="1"/>
              <p:nvPr/>
            </p:nvSpPr>
            <p:spPr>
              <a:xfrm>
                <a:off x="1912058" y="2461260"/>
                <a:ext cx="862184" cy="243840"/>
              </a:xfrm>
              <a:prstGeom prst="rect">
                <a:avLst/>
              </a:prstGeom>
              <a:noFill/>
              <a:ln>
                <a:noFill/>
              </a:ln>
            </p:spPr>
            <p:txBody>
              <a:bodyPr wrap="none" lIns="0" tIns="0" rIns="0" bIns="0" anchor="t" anchorCtr="0">
                <a:spAutoFit/>
              </a:bodyPr>
              <a:lstStyle/>
              <a:p>
                <a:pPr algn="ctr"/>
                <a:r>
                  <a:rPr lang="zh-CN" sz="1200" b="1" dirty="0">
                    <a:solidFill>
                      <a:srgbClr val="1B1164"/>
                    </a:solidFill>
                    <a:latin typeface="Arial"/>
                    <a:ea typeface="Microsoft YaHei"/>
                    <a:cs typeface="Arial"/>
                  </a:rPr>
                  <a:t>Processes</a:t>
                </a:r>
              </a:p>
            </p:txBody>
          </p:sp>
          <p:sp>
            <p:nvSpPr>
              <p:cNvPr id="19" name="Rectangle 19"/>
              <p:cNvSpPr/>
              <p:nvPr/>
            </p:nvSpPr>
            <p:spPr>
              <a:xfrm>
                <a:off x="1581150" y="2762250"/>
                <a:ext cx="1524000" cy="19050"/>
              </a:xfrm>
              <a:prstGeom prst="rect">
                <a:avLst/>
              </a:prstGeom>
              <a:solidFill>
                <a:srgbClr val="3BBF92"/>
              </a:solidFill>
              <a:ln>
                <a:noFill/>
              </a:ln>
            </p:spPr>
          </p:sp>
          <p:sp>
            <p:nvSpPr>
              <p:cNvPr id="20" name="TextBox 20"/>
              <p:cNvSpPr txBox="1"/>
              <p:nvPr/>
            </p:nvSpPr>
            <p:spPr>
              <a:xfrm>
                <a:off x="843915" y="2953702"/>
                <a:ext cx="1608868"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 T&amp;E claims submission</a:t>
                </a:r>
              </a:p>
            </p:txBody>
          </p:sp>
          <p:sp>
            <p:nvSpPr>
              <p:cNvPr id="21" name="TextBox 21"/>
              <p:cNvSpPr txBox="1"/>
              <p:nvPr/>
            </p:nvSpPr>
            <p:spPr>
              <a:xfrm>
                <a:off x="843915" y="3201352"/>
                <a:ext cx="1853898"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 Expense approval routing</a:t>
                </a:r>
              </a:p>
            </p:txBody>
          </p:sp>
          <p:sp>
            <p:nvSpPr>
              <p:cNvPr id="22" name="TextBox 22"/>
              <p:cNvSpPr txBox="1"/>
              <p:nvPr/>
            </p:nvSpPr>
            <p:spPr>
              <a:xfrm>
                <a:off x="843915" y="3449002"/>
                <a:ext cx="1426845"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 Cost centre coding</a:t>
                </a:r>
              </a:p>
            </p:txBody>
          </p:sp>
          <p:sp>
            <p:nvSpPr>
              <p:cNvPr id="23" name="TextBox 23"/>
              <p:cNvSpPr txBox="1"/>
              <p:nvPr/>
            </p:nvSpPr>
            <p:spPr>
              <a:xfrm>
                <a:off x="843915" y="3696652"/>
                <a:ext cx="1258824"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 Month-end close</a:t>
                </a:r>
              </a:p>
            </p:txBody>
          </p:sp>
          <p:sp>
            <p:nvSpPr>
              <p:cNvPr id="24" name="TextBox 24"/>
              <p:cNvSpPr txBox="1"/>
              <p:nvPr/>
            </p:nvSpPr>
            <p:spPr>
              <a:xfrm>
                <a:off x="843915" y="3944302"/>
                <a:ext cx="1279827"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 AP reconciliation</a:t>
                </a:r>
              </a:p>
            </p:txBody>
          </p:sp>
          <p:sp>
            <p:nvSpPr>
              <p:cNvPr id="25" name="TextBox 25"/>
              <p:cNvSpPr txBox="1"/>
              <p:nvPr/>
            </p:nvSpPr>
            <p:spPr>
              <a:xfrm>
                <a:off x="844868" y="4238149"/>
                <a:ext cx="1617464" cy="198120"/>
              </a:xfrm>
              <a:prstGeom prst="rect">
                <a:avLst/>
              </a:prstGeom>
              <a:noFill/>
              <a:ln>
                <a:noFill/>
              </a:ln>
            </p:spPr>
            <p:txBody>
              <a:bodyPr wrap="none" lIns="0" tIns="0" rIns="0" bIns="0" anchor="t" anchorCtr="0">
                <a:spAutoFit/>
              </a:bodyPr>
              <a:lstStyle/>
              <a:p>
                <a:pPr algn="l"/>
                <a:r>
                  <a:rPr lang="zh-CN" sz="975" dirty="0">
                    <a:solidFill>
                      <a:srgbClr val="00AEEF"/>
                    </a:solidFill>
                    <a:latin typeface="Arial"/>
                    <a:ea typeface="Microsoft YaHei"/>
                    <a:cs typeface="Arial"/>
                  </a:rPr>
                  <a:t>+ 10 additional processes</a:t>
                </a:r>
              </a:p>
            </p:txBody>
          </p:sp>
        </p:grpSp>
        <p:grpSp>
          <p:nvGrpSpPr>
            <p:cNvPr id="38" name="Group 38"/>
            <p:cNvGrpSpPr/>
            <p:nvPr/>
          </p:nvGrpSpPr>
          <p:grpSpPr>
            <a:xfrm>
              <a:off x="4314825" y="1066800"/>
              <a:ext cx="3562350" cy="3409950"/>
              <a:chOff x="4314825" y="1066800"/>
              <a:chExt cx="3562350" cy="3409950"/>
            </a:xfrm>
          </p:grpSpPr>
          <p:sp>
            <p:nvSpPr>
              <p:cNvPr id="27" name="Rectangle 27"/>
              <p:cNvSpPr/>
              <p:nvPr/>
            </p:nvSpPr>
            <p:spPr>
              <a:xfrm>
                <a:off x="4314825" y="1066800"/>
                <a:ext cx="3562350" cy="57150"/>
              </a:xfrm>
              <a:prstGeom prst="rect">
                <a:avLst/>
              </a:prstGeom>
              <a:solidFill>
                <a:srgbClr val="C00000"/>
              </a:solidFill>
              <a:ln>
                <a:noFill/>
              </a:ln>
            </p:spPr>
          </p:sp>
          <p:sp>
            <p:nvSpPr>
              <p:cNvPr id="28" name="TextBox 28"/>
              <p:cNvSpPr txBox="1"/>
              <p:nvPr/>
            </p:nvSpPr>
            <p:spPr>
              <a:xfrm>
                <a:off x="5788771" y="1390650"/>
                <a:ext cx="614458" cy="1219200"/>
              </a:xfrm>
              <a:prstGeom prst="rect">
                <a:avLst/>
              </a:prstGeom>
              <a:noFill/>
              <a:ln>
                <a:noFill/>
              </a:ln>
            </p:spPr>
            <p:txBody>
              <a:bodyPr wrap="none" lIns="0" tIns="0" rIns="0" bIns="0" anchor="t" anchorCtr="0">
                <a:spAutoFit/>
              </a:bodyPr>
              <a:lstStyle/>
              <a:p>
                <a:pPr algn="ctr"/>
                <a:r>
                  <a:rPr lang="zh-CN" sz="6000" b="1" dirty="0">
                    <a:solidFill>
                      <a:srgbClr val="C00000"/>
                    </a:solidFill>
                    <a:latin typeface="Arial"/>
                    <a:ea typeface="Microsoft YaHei"/>
                    <a:cs typeface="Arial"/>
                  </a:rPr>
                  <a:t>3</a:t>
                </a:r>
              </a:p>
            </p:txBody>
          </p:sp>
          <p:sp>
            <p:nvSpPr>
              <p:cNvPr id="29" name="TextBox 29"/>
              <p:cNvSpPr txBox="1"/>
              <p:nvPr/>
            </p:nvSpPr>
            <p:spPr>
              <a:xfrm>
                <a:off x="5740517" y="2251710"/>
                <a:ext cx="710965" cy="243840"/>
              </a:xfrm>
              <a:prstGeom prst="rect">
                <a:avLst/>
              </a:prstGeom>
              <a:noFill/>
              <a:ln>
                <a:noFill/>
              </a:ln>
            </p:spPr>
            <p:txBody>
              <a:bodyPr wrap="none" lIns="0" tIns="0" rIns="0" bIns="0" anchor="t" anchorCtr="0">
                <a:spAutoFit/>
              </a:bodyPr>
              <a:lstStyle/>
              <a:p>
                <a:pPr algn="ctr"/>
                <a:r>
                  <a:rPr lang="zh-CN" sz="1200" b="1" dirty="0">
                    <a:solidFill>
                      <a:srgbClr val="1B1164"/>
                    </a:solidFill>
                    <a:latin typeface="Arial"/>
                    <a:ea typeface="Microsoft YaHei"/>
                    <a:cs typeface="Arial"/>
                  </a:rPr>
                  <a:t>Systems</a:t>
                </a:r>
              </a:p>
            </p:txBody>
          </p:sp>
          <p:sp>
            <p:nvSpPr>
              <p:cNvPr id="30" name="TextBox 30"/>
              <p:cNvSpPr txBox="1"/>
              <p:nvPr/>
            </p:nvSpPr>
            <p:spPr>
              <a:xfrm>
                <a:off x="5442280" y="2461260"/>
                <a:ext cx="1307440" cy="243840"/>
              </a:xfrm>
              <a:prstGeom prst="rect">
                <a:avLst/>
              </a:prstGeom>
              <a:noFill/>
              <a:ln>
                <a:noFill/>
              </a:ln>
            </p:spPr>
            <p:txBody>
              <a:bodyPr wrap="none" lIns="0" tIns="0" rIns="0" bIns="0" anchor="t" anchorCtr="0">
                <a:spAutoFit/>
              </a:bodyPr>
              <a:lstStyle/>
              <a:p>
                <a:pPr algn="ctr"/>
                <a:r>
                  <a:rPr lang="zh-CN" sz="1200" b="1" dirty="0">
                    <a:solidFill>
                      <a:srgbClr val="1B1164"/>
                    </a:solidFill>
                    <a:latin typeface="Arial"/>
                    <a:ea typeface="Microsoft YaHei"/>
                    <a:cs typeface="Arial"/>
                  </a:rPr>
                  <a:t>Decommissioned</a:t>
                </a:r>
              </a:p>
            </p:txBody>
          </p:sp>
          <p:sp>
            <p:nvSpPr>
              <p:cNvPr id="31" name="Rectangle 31"/>
              <p:cNvSpPr/>
              <p:nvPr/>
            </p:nvSpPr>
            <p:spPr>
              <a:xfrm>
                <a:off x="5334000" y="2762250"/>
                <a:ext cx="1524000" cy="19050"/>
              </a:xfrm>
              <a:prstGeom prst="rect">
                <a:avLst/>
              </a:prstGeom>
              <a:solidFill>
                <a:srgbClr val="C00000"/>
              </a:solidFill>
              <a:ln>
                <a:noFill/>
              </a:ln>
            </p:spPr>
          </p:sp>
          <p:sp>
            <p:nvSpPr>
              <p:cNvPr id="32" name="TextBox 32"/>
              <p:cNvSpPr txBox="1"/>
              <p:nvPr/>
            </p:nvSpPr>
            <p:spPr>
              <a:xfrm>
                <a:off x="4587240" y="2953702"/>
                <a:ext cx="1335834"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 E-Payment Portal</a:t>
                </a:r>
              </a:p>
            </p:txBody>
          </p:sp>
          <p:sp>
            <p:nvSpPr>
              <p:cNvPr id="33" name="TextBox 33"/>
              <p:cNvSpPr txBox="1"/>
              <p:nvPr/>
            </p:nvSpPr>
            <p:spPr>
              <a:xfrm>
                <a:off x="4587240" y="3201352"/>
                <a:ext cx="1692878"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 SAP ECC Finance module</a:t>
                </a:r>
              </a:p>
            </p:txBody>
          </p:sp>
          <p:sp>
            <p:nvSpPr>
              <p:cNvPr id="34" name="TextBox 34"/>
              <p:cNvSpPr txBox="1"/>
              <p:nvPr/>
            </p:nvSpPr>
            <p:spPr>
              <a:xfrm>
                <a:off x="4587240" y="3449002"/>
                <a:ext cx="1797891"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 Manual Excel CO tracker</a:t>
                </a:r>
              </a:p>
            </p:txBody>
          </p:sp>
          <p:sp>
            <p:nvSpPr>
              <p:cNvPr id="35" name="Rectangle 35"/>
              <p:cNvSpPr/>
              <p:nvPr/>
            </p:nvSpPr>
            <p:spPr>
              <a:xfrm>
                <a:off x="4600575" y="3905250"/>
                <a:ext cx="3181350" cy="571500"/>
              </a:xfrm>
              <a:prstGeom prst="roundRect">
                <a:avLst>
                  <a:gd name="adj" fmla="val 6667"/>
                </a:avLst>
              </a:prstGeom>
              <a:solidFill>
                <a:srgbClr val="C00000">
                  <a:alpha val="6000"/>
                </a:srgbClr>
              </a:solidFill>
              <a:ln>
                <a:noFill/>
              </a:ln>
            </p:spPr>
          </p:sp>
          <p:sp>
            <p:nvSpPr>
              <p:cNvPr id="36" name="TextBox 36"/>
              <p:cNvSpPr txBox="1"/>
              <p:nvPr/>
            </p:nvSpPr>
            <p:spPr>
              <a:xfrm>
                <a:off x="4750118" y="4028599"/>
                <a:ext cx="1608363" cy="198120"/>
              </a:xfrm>
              <a:prstGeom prst="rect">
                <a:avLst/>
              </a:prstGeom>
              <a:noFill/>
              <a:ln>
                <a:noFill/>
              </a:ln>
            </p:spPr>
            <p:txBody>
              <a:bodyPr wrap="none" lIns="0" tIns="0" rIns="0" bIns="0" anchor="t" anchorCtr="0">
                <a:spAutoFit/>
              </a:bodyPr>
              <a:lstStyle/>
              <a:p>
                <a:pPr algn="l"/>
                <a:r>
                  <a:rPr lang="zh-CN" sz="975" b="1" dirty="0">
                    <a:solidFill>
                      <a:srgbClr val="C00000"/>
                    </a:solidFill>
                    <a:latin typeface="Arial"/>
                    <a:ea typeface="Microsoft YaHei"/>
                    <a:cs typeface="Arial"/>
                  </a:rPr>
                  <a:t>Data migration required</a:t>
                </a:r>
              </a:p>
            </p:txBody>
          </p:sp>
          <p:sp>
            <p:nvSpPr>
              <p:cNvPr id="37" name="TextBox 37"/>
              <p:cNvSpPr txBox="1"/>
              <p:nvPr/>
            </p:nvSpPr>
            <p:spPr>
              <a:xfrm>
                <a:off x="4750118" y="4238149"/>
                <a:ext cx="2124527"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Historical records to be archived</a:t>
                </a:r>
              </a:p>
            </p:txBody>
          </p:sp>
        </p:grpSp>
        <p:grpSp>
          <p:nvGrpSpPr>
            <p:cNvPr id="56" name="Group 56"/>
            <p:cNvGrpSpPr/>
            <p:nvPr/>
          </p:nvGrpSpPr>
          <p:grpSpPr>
            <a:xfrm>
              <a:off x="8067675" y="1066800"/>
              <a:ext cx="3552825" cy="2933700"/>
              <a:chOff x="8067675" y="1066800"/>
              <a:chExt cx="3552825" cy="2933700"/>
            </a:xfrm>
          </p:grpSpPr>
          <p:sp>
            <p:nvSpPr>
              <p:cNvPr id="39" name="Rectangle 39"/>
              <p:cNvSpPr/>
              <p:nvPr/>
            </p:nvSpPr>
            <p:spPr>
              <a:xfrm>
                <a:off x="8067675" y="1066800"/>
                <a:ext cx="3552825" cy="57150"/>
              </a:xfrm>
              <a:prstGeom prst="rect">
                <a:avLst/>
              </a:prstGeom>
              <a:solidFill>
                <a:srgbClr val="3BBF92"/>
              </a:solidFill>
              <a:ln>
                <a:noFill/>
              </a:ln>
            </p:spPr>
          </p:sp>
          <p:sp>
            <p:nvSpPr>
              <p:cNvPr id="40" name="TextBox 40"/>
              <p:cNvSpPr txBox="1"/>
              <p:nvPr/>
            </p:nvSpPr>
            <p:spPr>
              <a:xfrm>
                <a:off x="9070038" y="1390650"/>
                <a:ext cx="1538573" cy="1219200"/>
              </a:xfrm>
              <a:prstGeom prst="rect">
                <a:avLst/>
              </a:prstGeom>
              <a:noFill/>
              <a:ln>
                <a:noFill/>
              </a:ln>
            </p:spPr>
            <p:txBody>
              <a:bodyPr wrap="none" lIns="0" tIns="0" rIns="0" bIns="0" anchor="t" anchorCtr="0">
                <a:spAutoFit/>
              </a:bodyPr>
              <a:lstStyle/>
              <a:p>
                <a:pPr algn="ctr"/>
                <a:r>
                  <a:rPr lang="zh-CN" sz="6000" b="1" dirty="0">
                    <a:solidFill>
                      <a:srgbClr val="3BBF92"/>
                    </a:solidFill>
                    <a:latin typeface="Arial"/>
                    <a:ea typeface="Microsoft YaHei"/>
                    <a:cs typeface="Arial"/>
                  </a:rPr>
                  <a:t>480</a:t>
                </a:r>
              </a:p>
            </p:txBody>
          </p:sp>
          <p:sp>
            <p:nvSpPr>
              <p:cNvPr id="41" name="TextBox 41"/>
              <p:cNvSpPr txBox="1"/>
              <p:nvPr/>
            </p:nvSpPr>
            <p:spPr>
              <a:xfrm>
                <a:off x="9429236" y="2251710"/>
                <a:ext cx="820179" cy="243840"/>
              </a:xfrm>
              <a:prstGeom prst="rect">
                <a:avLst/>
              </a:prstGeom>
              <a:noFill/>
              <a:ln>
                <a:noFill/>
              </a:ln>
            </p:spPr>
            <p:txBody>
              <a:bodyPr wrap="none" lIns="0" tIns="0" rIns="0" bIns="0" anchor="t" anchorCtr="0">
                <a:spAutoFit/>
              </a:bodyPr>
              <a:lstStyle/>
              <a:p>
                <a:pPr algn="ctr"/>
                <a:r>
                  <a:rPr lang="zh-CN" sz="1200" b="1" dirty="0">
                    <a:solidFill>
                      <a:srgbClr val="1B1164"/>
                    </a:solidFill>
                    <a:latin typeface="Arial"/>
                    <a:ea typeface="Microsoft YaHei"/>
                    <a:cs typeface="Arial"/>
                  </a:rPr>
                  <a:t>End Users</a:t>
                </a:r>
              </a:p>
            </p:txBody>
          </p:sp>
          <p:sp>
            <p:nvSpPr>
              <p:cNvPr id="42" name="TextBox 42"/>
              <p:cNvSpPr txBox="1"/>
              <p:nvPr/>
            </p:nvSpPr>
            <p:spPr>
              <a:xfrm>
                <a:off x="9496444" y="2461260"/>
                <a:ext cx="685762" cy="243840"/>
              </a:xfrm>
              <a:prstGeom prst="rect">
                <a:avLst/>
              </a:prstGeom>
              <a:noFill/>
              <a:ln>
                <a:noFill/>
              </a:ln>
            </p:spPr>
            <p:txBody>
              <a:bodyPr wrap="none" lIns="0" tIns="0" rIns="0" bIns="0" anchor="t" anchorCtr="0">
                <a:spAutoFit/>
              </a:bodyPr>
              <a:lstStyle/>
              <a:p>
                <a:pPr algn="ctr"/>
                <a:r>
                  <a:rPr lang="zh-CN" sz="1200" b="1" dirty="0">
                    <a:solidFill>
                      <a:srgbClr val="1B1164"/>
                    </a:solidFill>
                    <a:latin typeface="Arial"/>
                    <a:ea typeface="Microsoft YaHei"/>
                    <a:cs typeface="Arial"/>
                  </a:rPr>
                  <a:t>to Train</a:t>
                </a:r>
              </a:p>
            </p:txBody>
          </p:sp>
          <p:sp>
            <p:nvSpPr>
              <p:cNvPr id="43" name="Rectangle 43"/>
              <p:cNvSpPr/>
              <p:nvPr/>
            </p:nvSpPr>
            <p:spPr>
              <a:xfrm>
                <a:off x="9077325" y="2762250"/>
                <a:ext cx="1524000" cy="19050"/>
              </a:xfrm>
              <a:prstGeom prst="rect">
                <a:avLst/>
              </a:prstGeom>
              <a:solidFill>
                <a:srgbClr val="3BBF92"/>
              </a:solidFill>
              <a:ln>
                <a:noFill/>
              </a:ln>
            </p:spPr>
          </p:sp>
          <p:sp>
            <p:nvSpPr>
              <p:cNvPr id="44" name="TextBox 44"/>
              <p:cNvSpPr txBox="1"/>
              <p:nvPr/>
            </p:nvSpPr>
            <p:spPr>
              <a:xfrm>
                <a:off x="8340090" y="2953702"/>
                <a:ext cx="908780"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Finance team</a:t>
                </a:r>
              </a:p>
            </p:txBody>
          </p:sp>
          <p:sp>
            <p:nvSpPr>
              <p:cNvPr id="45" name="TextBox 45"/>
              <p:cNvSpPr txBox="1"/>
              <p:nvPr/>
            </p:nvSpPr>
            <p:spPr>
              <a:xfrm>
                <a:off x="10888335" y="2953702"/>
                <a:ext cx="269250" cy="213360"/>
              </a:xfrm>
              <a:prstGeom prst="rect">
                <a:avLst/>
              </a:prstGeom>
              <a:noFill/>
              <a:ln>
                <a:noFill/>
              </a:ln>
            </p:spPr>
            <p:txBody>
              <a:bodyPr wrap="none" lIns="0" tIns="0" rIns="0" bIns="0" anchor="t" anchorCtr="0">
                <a:spAutoFit/>
              </a:bodyPr>
              <a:lstStyle/>
              <a:p>
                <a:pPr algn="r"/>
                <a:r>
                  <a:rPr lang="zh-CN" sz="1050" b="1" dirty="0">
                    <a:solidFill>
                      <a:srgbClr val="1B1164"/>
                    </a:solidFill>
                    <a:latin typeface="Arial"/>
                    <a:ea typeface="Microsoft YaHei"/>
                    <a:cs typeface="Arial"/>
                  </a:rPr>
                  <a:t>120</a:t>
                </a:r>
              </a:p>
            </p:txBody>
          </p:sp>
          <p:sp>
            <p:nvSpPr>
              <p:cNvPr id="46" name="Rectangle 46"/>
              <p:cNvSpPr/>
              <p:nvPr/>
            </p:nvSpPr>
            <p:spPr>
              <a:xfrm>
                <a:off x="8353425" y="3143250"/>
                <a:ext cx="2695575" cy="57150"/>
              </a:xfrm>
              <a:prstGeom prst="roundRect">
                <a:avLst>
                  <a:gd name="adj" fmla="val 50000"/>
                </a:avLst>
              </a:prstGeom>
              <a:solidFill>
                <a:srgbClr val="D5D5D5"/>
              </a:solidFill>
              <a:ln>
                <a:noFill/>
              </a:ln>
            </p:spPr>
          </p:sp>
          <p:sp>
            <p:nvSpPr>
              <p:cNvPr id="47" name="Rectangle 47"/>
              <p:cNvSpPr/>
              <p:nvPr/>
            </p:nvSpPr>
            <p:spPr>
              <a:xfrm>
                <a:off x="8353425" y="3143250"/>
                <a:ext cx="676275" cy="57150"/>
              </a:xfrm>
              <a:prstGeom prst="roundRect">
                <a:avLst>
                  <a:gd name="adj" fmla="val 50000"/>
                </a:avLst>
              </a:prstGeom>
              <a:solidFill>
                <a:srgbClr val="1B1164"/>
              </a:solidFill>
              <a:ln>
                <a:noFill/>
              </a:ln>
            </p:spPr>
          </p:sp>
          <p:sp>
            <p:nvSpPr>
              <p:cNvPr id="48" name="TextBox 48"/>
              <p:cNvSpPr txBox="1"/>
              <p:nvPr/>
            </p:nvSpPr>
            <p:spPr>
              <a:xfrm>
                <a:off x="8340090" y="3353752"/>
                <a:ext cx="1069800"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T&amp;E requestors</a:t>
                </a:r>
              </a:p>
            </p:txBody>
          </p:sp>
          <p:sp>
            <p:nvSpPr>
              <p:cNvPr id="49" name="TextBox 49"/>
              <p:cNvSpPr txBox="1"/>
              <p:nvPr/>
            </p:nvSpPr>
            <p:spPr>
              <a:xfrm>
                <a:off x="10888335" y="3353752"/>
                <a:ext cx="269250" cy="213360"/>
              </a:xfrm>
              <a:prstGeom prst="rect">
                <a:avLst/>
              </a:prstGeom>
              <a:noFill/>
              <a:ln>
                <a:noFill/>
              </a:ln>
            </p:spPr>
            <p:txBody>
              <a:bodyPr wrap="none" lIns="0" tIns="0" rIns="0" bIns="0" anchor="t" anchorCtr="0">
                <a:spAutoFit/>
              </a:bodyPr>
              <a:lstStyle/>
              <a:p>
                <a:pPr algn="r"/>
                <a:r>
                  <a:rPr lang="zh-CN" sz="1050" b="1" dirty="0">
                    <a:solidFill>
                      <a:srgbClr val="1B1164"/>
                    </a:solidFill>
                    <a:latin typeface="Arial"/>
                    <a:ea typeface="Microsoft YaHei"/>
                    <a:cs typeface="Arial"/>
                  </a:rPr>
                  <a:t>340</a:t>
                </a:r>
              </a:p>
            </p:txBody>
          </p:sp>
          <p:sp>
            <p:nvSpPr>
              <p:cNvPr id="50" name="Rectangle 50"/>
              <p:cNvSpPr/>
              <p:nvPr/>
            </p:nvSpPr>
            <p:spPr>
              <a:xfrm>
                <a:off x="8353425" y="3543300"/>
                <a:ext cx="2695575" cy="57150"/>
              </a:xfrm>
              <a:prstGeom prst="roundRect">
                <a:avLst>
                  <a:gd name="adj" fmla="val 50000"/>
                </a:avLst>
              </a:prstGeom>
              <a:solidFill>
                <a:srgbClr val="D5D5D5"/>
              </a:solidFill>
              <a:ln>
                <a:noFill/>
              </a:ln>
            </p:spPr>
          </p:sp>
          <p:sp>
            <p:nvSpPr>
              <p:cNvPr id="51" name="Rectangle 51"/>
              <p:cNvSpPr/>
              <p:nvPr/>
            </p:nvSpPr>
            <p:spPr>
              <a:xfrm>
                <a:off x="8353425" y="3543300"/>
                <a:ext cx="1905000" cy="57150"/>
              </a:xfrm>
              <a:prstGeom prst="roundRect">
                <a:avLst>
                  <a:gd name="adj" fmla="val 50000"/>
                </a:avLst>
              </a:prstGeom>
              <a:solidFill>
                <a:srgbClr val="00AEEF"/>
              </a:solidFill>
              <a:ln>
                <a:noFill/>
              </a:ln>
            </p:spPr>
          </p:sp>
          <p:sp>
            <p:nvSpPr>
              <p:cNvPr id="52" name="TextBox 52"/>
              <p:cNvSpPr txBox="1"/>
              <p:nvPr/>
            </p:nvSpPr>
            <p:spPr>
              <a:xfrm>
                <a:off x="8340090" y="3753802"/>
                <a:ext cx="649748"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AP clerks</a:t>
                </a:r>
              </a:p>
            </p:txBody>
          </p:sp>
          <p:sp>
            <p:nvSpPr>
              <p:cNvPr id="53" name="TextBox 53"/>
              <p:cNvSpPr txBox="1"/>
              <p:nvPr/>
            </p:nvSpPr>
            <p:spPr>
              <a:xfrm>
                <a:off x="10969195" y="3753802"/>
                <a:ext cx="188390" cy="213360"/>
              </a:xfrm>
              <a:prstGeom prst="rect">
                <a:avLst/>
              </a:prstGeom>
              <a:noFill/>
              <a:ln>
                <a:noFill/>
              </a:ln>
            </p:spPr>
            <p:txBody>
              <a:bodyPr wrap="none" lIns="0" tIns="0" rIns="0" bIns="0" anchor="t" anchorCtr="0">
                <a:spAutoFit/>
              </a:bodyPr>
              <a:lstStyle/>
              <a:p>
                <a:pPr algn="r"/>
                <a:r>
                  <a:rPr lang="zh-CN" sz="1050" b="1" dirty="0">
                    <a:solidFill>
                      <a:srgbClr val="1B1164"/>
                    </a:solidFill>
                    <a:latin typeface="Arial"/>
                    <a:ea typeface="Microsoft YaHei"/>
                    <a:cs typeface="Arial"/>
                  </a:rPr>
                  <a:t>20</a:t>
                </a:r>
              </a:p>
            </p:txBody>
          </p:sp>
          <p:sp>
            <p:nvSpPr>
              <p:cNvPr id="54" name="Rectangle 54"/>
              <p:cNvSpPr/>
              <p:nvPr/>
            </p:nvSpPr>
            <p:spPr>
              <a:xfrm>
                <a:off x="8353425" y="3943350"/>
                <a:ext cx="2695575" cy="57150"/>
              </a:xfrm>
              <a:prstGeom prst="roundRect">
                <a:avLst>
                  <a:gd name="adj" fmla="val 50000"/>
                </a:avLst>
              </a:prstGeom>
              <a:solidFill>
                <a:srgbClr val="D5D5D5"/>
              </a:solidFill>
              <a:ln>
                <a:noFill/>
              </a:ln>
            </p:spPr>
          </p:sp>
          <p:sp>
            <p:nvSpPr>
              <p:cNvPr id="55" name="Rectangle 55"/>
              <p:cNvSpPr/>
              <p:nvPr/>
            </p:nvSpPr>
            <p:spPr>
              <a:xfrm>
                <a:off x="8353425" y="3943350"/>
                <a:ext cx="114300" cy="57150"/>
              </a:xfrm>
              <a:prstGeom prst="roundRect">
                <a:avLst>
                  <a:gd name="adj" fmla="val 50000"/>
                </a:avLst>
              </a:prstGeom>
              <a:solidFill>
                <a:srgbClr val="3BBF92"/>
              </a:solidFill>
              <a:ln>
                <a:noFill/>
              </a:ln>
            </p:spPr>
          </p:sp>
        </p:grpSp>
      </p:grpSp>
      <p:grpSp>
        <p:nvGrpSpPr>
          <p:cNvPr id="60" name="Group 60"/>
          <p:cNvGrpSpPr/>
          <p:nvPr/>
        </p:nvGrpSpPr>
        <p:grpSpPr>
          <a:xfrm>
            <a:off x="571500" y="6191250"/>
            <a:ext cx="11049000" cy="309562"/>
            <a:chOff x="571500" y="6191250"/>
            <a:chExt cx="11049000" cy="309562"/>
          </a:xfrm>
        </p:grpSpPr>
        <p:sp>
          <p:nvSpPr>
            <p:cNvPr id="58" name="Rectangle 58"/>
            <p:cNvSpPr/>
            <p:nvPr/>
          </p:nvSpPr>
          <p:spPr>
            <a:xfrm>
              <a:off x="571500" y="6191250"/>
              <a:ext cx="11049000" cy="19050"/>
            </a:xfrm>
            <a:prstGeom prst="rect">
              <a:avLst/>
            </a:prstGeom>
            <a:solidFill>
              <a:srgbClr val="00AEEF"/>
            </a:solidFill>
            <a:ln>
              <a:noFill/>
            </a:ln>
          </p:spPr>
        </p:sp>
        <p:sp>
          <p:nvSpPr>
            <p:cNvPr id="59" name="TextBox 59"/>
            <p:cNvSpPr txBox="1"/>
            <p:nvPr/>
          </p:nvSpPr>
          <p:spPr>
            <a:xfrm>
              <a:off x="3278289" y="6287452"/>
              <a:ext cx="5635421" cy="213360"/>
            </a:xfrm>
            <a:prstGeom prst="rect">
              <a:avLst/>
            </a:prstGeom>
            <a:noFill/>
            <a:ln>
              <a:noFill/>
            </a:ln>
          </p:spPr>
          <p:txBody>
            <a:bodyPr wrap="none" lIns="0" tIns="0" rIns="0" bIns="0" anchor="t" anchorCtr="0">
              <a:spAutoFit/>
            </a:bodyPr>
            <a:lstStyle/>
            <a:p>
              <a:pPr algn="ctr"/>
              <a:r>
                <a:rPr lang="zh-CN" sz="1050" b="1" dirty="0">
                  <a:solidFill>
                    <a:srgbClr val="1B1164"/>
                  </a:solidFill>
                  <a:latin typeface="Arial"/>
                  <a:ea typeface="Microsoft YaHei"/>
                  <a:cs typeface="Arial"/>
                </a:rPr>
                <a:t>Impact spans Finance, T&amp;E, and CO sub-teams across HQ and all field locations</a:t>
              </a:r>
            </a:p>
          </p:txBody>
        </p:sp>
      </p:grpSp>
      <p:grpSp>
        <p:nvGrpSpPr>
          <p:cNvPr id="63" name="Group 63"/>
          <p:cNvGrpSpPr/>
          <p:nvPr/>
        </p:nvGrpSpPr>
        <p:grpSpPr>
          <a:xfrm>
            <a:off x="7402830" y="6557962"/>
            <a:ext cx="4179570" cy="152400"/>
            <a:chOff x="7402830" y="6557962"/>
            <a:chExt cx="4179570" cy="152400"/>
          </a:xfrm>
        </p:grpSpPr>
        <p:sp>
          <p:nvSpPr>
            <p:cNvPr id="61" name="TextBox 61"/>
            <p:cNvSpPr txBox="1"/>
            <p:nvPr/>
          </p:nvSpPr>
          <p:spPr>
            <a:xfrm>
              <a:off x="7402830" y="6574155"/>
              <a:ext cx="3323653" cy="121920"/>
            </a:xfrm>
            <a:prstGeom prst="rect">
              <a:avLst/>
            </a:prstGeom>
            <a:noFill/>
            <a:ln>
              <a:noFill/>
            </a:ln>
          </p:spPr>
          <p:txBody>
            <a:bodyPr wrap="none" lIns="0" tIns="0" rIns="0" bIns="0" anchor="t" anchorCtr="0">
              <a:spAutoFit/>
            </a:bodyPr>
            <a:lstStyle/>
            <a:p>
              <a:pPr algn="l"/>
              <a:r>
                <a:rPr lang="zh-CN" sz="600" dirty="0">
                  <a:solidFill>
                    <a:srgbClr val="000000"/>
                  </a:solidFill>
                  <a:latin typeface="Arial"/>
                  <a:ea typeface="Microsoft YaHei"/>
                  <a:cs typeface="Arial"/>
                </a:rPr>
                <a:t>Copyright © 2026 Accenture. All rights reserved. Accenture Confidential Information</a:t>
              </a:r>
            </a:p>
          </p:txBody>
        </p:sp>
        <p:sp>
          <p:nvSpPr>
            <p:cNvPr id="62" name="TextBox 62"/>
            <p:cNvSpPr txBox="1"/>
            <p:nvPr/>
          </p:nvSpPr>
          <p:spPr>
            <a:xfrm>
              <a:off x="11508343" y="6557962"/>
              <a:ext cx="74057" cy="152400"/>
            </a:xfrm>
            <a:prstGeom prst="rect">
              <a:avLst/>
            </a:prstGeom>
            <a:noFill/>
            <a:ln>
              <a:noFill/>
            </a:ln>
          </p:spPr>
          <p:txBody>
            <a:bodyPr wrap="none" lIns="0" tIns="0" rIns="0" bIns="0" anchor="t" anchorCtr="0">
              <a:spAutoFit/>
            </a:bodyPr>
            <a:lstStyle/>
            <a:p>
              <a:pPr algn="r"/>
              <a:r>
                <a:rPr lang="zh-CN" sz="750" dirty="0">
                  <a:solidFill>
                    <a:srgbClr val="000000"/>
                  </a:solidFill>
                  <a:latin typeface="Arial"/>
                  <a:ea typeface="Microsoft YaHei"/>
                  <a:cs typeface="Arial"/>
                </a:rPr>
                <a:t>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0" fill="hold" nodeType="after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diamond(in)">
                                      <p:cBhvr>
                                        <p:cTn id="7" dur="400"/>
                                        <p:tgtEl>
                                          <p:spTgt spid="57"/>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60"/>
                                        </p:tgtEl>
                                        <p:attrNameLst>
                                          <p:attrName>style.visibility</p:attrName>
                                        </p:attrNameLst>
                                      </p:cBhvr>
                                      <p:to>
                                        <p:strVal val="visible"/>
                                      </p:to>
                                    </p:set>
                                    <p:animEffect transition="in" filter="fade">
                                      <p:cBhvr>
                                        <p:cTn id="11" dur="4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p:bldP spid="6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3739017" cy="476250"/>
            <a:chOff x="0" y="0"/>
            <a:chExt cx="3739017" cy="476250"/>
          </a:xfrm>
        </p:grpSpPr>
        <p:pic>
          <p:nvPicPr>
            <p:cNvPr id="3" name="Image 3"/>
            <p:cNvPicPr>
              <a:picLocks noChangeAspect="1"/>
            </p:cNvPicPr>
            <p:nvPr/>
          </p:nvPicPr>
          <p:blipFill>
            <a:blip r:embed="rId3"/>
            <a:stretch>
              <a:fillRect/>
            </a:stretch>
          </p:blipFill>
          <p:spPr>
            <a:xfrm>
              <a:off x="0" y="0"/>
              <a:ext cx="1466850" cy="381000"/>
            </a:xfrm>
            <a:prstGeom prst="rect">
              <a:avLst/>
            </a:prstGeom>
          </p:spPr>
        </p:pic>
        <p:pic>
          <p:nvPicPr>
            <p:cNvPr id="4" name="Image 4"/>
            <p:cNvPicPr>
              <a:picLocks noChangeAspect="1"/>
            </p:cNvPicPr>
            <p:nvPr/>
          </p:nvPicPr>
          <p:blipFill>
            <a:blip r:embed="rId4"/>
            <a:stretch>
              <a:fillRect/>
            </a:stretch>
          </p:blipFill>
          <p:spPr>
            <a:xfrm>
              <a:off x="1838325" y="19050"/>
              <a:ext cx="1028700" cy="457200"/>
            </a:xfrm>
            <a:prstGeom prst="rect">
              <a:avLst/>
            </a:prstGeom>
          </p:spPr>
        </p:pic>
        <p:pic>
          <p:nvPicPr>
            <p:cNvPr id="5" name="Image 5"/>
            <p:cNvPicPr>
              <a:picLocks noChangeAspect="1"/>
            </p:cNvPicPr>
            <p:nvPr/>
          </p:nvPicPr>
          <p:blipFill>
            <a:blip r:embed="rId5"/>
            <a:stretch>
              <a:fillRect/>
            </a:stretch>
          </p:blipFill>
          <p:spPr>
            <a:xfrm>
              <a:off x="2971800" y="47625"/>
              <a:ext cx="767217" cy="304800"/>
            </a:xfrm>
            <a:prstGeom prst="rect">
              <a:avLst/>
            </a:prstGeom>
          </p:spPr>
        </p:pic>
      </p:grpSp>
      <p:grpSp>
        <p:nvGrpSpPr>
          <p:cNvPr id="9" name="Group 9"/>
          <p:cNvGrpSpPr/>
          <p:nvPr/>
        </p:nvGrpSpPr>
        <p:grpSpPr>
          <a:xfrm>
            <a:off x="544830" y="592455"/>
            <a:ext cx="11075670" cy="426720"/>
            <a:chOff x="544830" y="592455"/>
            <a:chExt cx="11075670" cy="426720"/>
          </a:xfrm>
        </p:grpSpPr>
        <p:sp>
          <p:nvSpPr>
            <p:cNvPr id="7" name="TextBox 7"/>
            <p:cNvSpPr txBox="1"/>
            <p:nvPr/>
          </p:nvSpPr>
          <p:spPr>
            <a:xfrm>
              <a:off x="544830" y="592455"/>
              <a:ext cx="3508272" cy="426720"/>
            </a:xfrm>
            <a:prstGeom prst="rect">
              <a:avLst/>
            </a:prstGeom>
            <a:noFill/>
            <a:ln>
              <a:noFill/>
            </a:ln>
          </p:spPr>
          <p:txBody>
            <a:bodyPr wrap="none" lIns="0" tIns="0" rIns="0" bIns="0" anchor="t" anchorCtr="0">
              <a:spAutoFit/>
            </a:bodyPr>
            <a:lstStyle/>
            <a:p>
              <a:pPr algn="l"/>
              <a:r>
                <a:rPr lang="zh-CN" sz="2100" b="1" dirty="0">
                  <a:solidFill>
                    <a:srgbClr val="1B1164"/>
                  </a:solidFill>
                  <a:latin typeface="Arial"/>
                  <a:ea typeface="Microsoft YaHei"/>
                  <a:cs typeface="Arial"/>
                </a:rPr>
                <a:t>Impact Area Assessment</a:t>
              </a:r>
            </a:p>
          </p:txBody>
        </p:sp>
        <p:sp>
          <p:nvSpPr>
            <p:cNvPr id="8" name="Rectangle 8"/>
            <p:cNvSpPr/>
            <p:nvPr/>
          </p:nvSpPr>
          <p:spPr>
            <a:xfrm>
              <a:off x="571500" y="952500"/>
              <a:ext cx="11049000" cy="19050"/>
            </a:xfrm>
            <a:prstGeom prst="rect">
              <a:avLst/>
            </a:prstGeom>
            <a:solidFill>
              <a:srgbClr val="00AEEF"/>
            </a:solidFill>
            <a:ln>
              <a:noFill/>
            </a:ln>
          </p:spPr>
        </p:sp>
      </p:grpSp>
      <p:grpSp>
        <p:nvGrpSpPr>
          <p:cNvPr id="84" name="Group 84"/>
          <p:cNvGrpSpPr/>
          <p:nvPr/>
        </p:nvGrpSpPr>
        <p:grpSpPr>
          <a:xfrm>
            <a:off x="571500" y="1143000"/>
            <a:ext cx="11049000" cy="5048250"/>
            <a:chOff x="571500" y="1143000"/>
            <a:chExt cx="11049000" cy="5048250"/>
          </a:xfrm>
        </p:grpSpPr>
        <p:grpSp>
          <p:nvGrpSpPr>
            <p:cNvPr id="26" name="Group 26"/>
            <p:cNvGrpSpPr/>
            <p:nvPr/>
          </p:nvGrpSpPr>
          <p:grpSpPr>
            <a:xfrm>
              <a:off x="571500" y="1143000"/>
              <a:ext cx="2133600" cy="5048250"/>
              <a:chOff x="571500" y="1143000"/>
              <a:chExt cx="2133600" cy="5048250"/>
            </a:xfrm>
          </p:grpSpPr>
          <p:sp>
            <p:nvSpPr>
              <p:cNvPr id="10" name="Rectangle 10"/>
              <p:cNvSpPr/>
              <p:nvPr/>
            </p:nvSpPr>
            <p:spPr>
              <a:xfrm>
                <a:off x="571500" y="1143000"/>
                <a:ext cx="2133600" cy="5048250"/>
              </a:xfrm>
              <a:prstGeom prst="roundRect">
                <a:avLst>
                  <a:gd name="adj" fmla="val 2679"/>
                </a:avLst>
              </a:prstGeom>
              <a:solidFill>
                <a:srgbClr val="FFFFFF">
                  <a:alpha val="92000"/>
                </a:srgbClr>
              </a:solidFill>
              <a:ln>
                <a:noFill/>
              </a:ln>
            </p:spPr>
          </p:sp>
          <p:sp>
            <p:nvSpPr>
              <p:cNvPr id="11" name="Rectangle 11"/>
              <p:cNvSpPr/>
              <p:nvPr/>
            </p:nvSpPr>
            <p:spPr>
              <a:xfrm>
                <a:off x="571500" y="1143000"/>
                <a:ext cx="2133600" cy="57150"/>
              </a:xfrm>
              <a:prstGeom prst="roundRect">
                <a:avLst>
                  <a:gd name="adj" fmla="val 50000"/>
                </a:avLst>
              </a:prstGeom>
              <a:solidFill>
                <a:srgbClr val="F4A261"/>
              </a:solidFill>
              <a:ln>
                <a:noFill/>
              </a:ln>
            </p:spPr>
          </p:sp>
          <p:grpSp>
            <p:nvGrpSpPr>
              <p:cNvPr id="14" name="Group 14"/>
              <p:cNvGrpSpPr/>
              <p:nvPr/>
            </p:nvGrpSpPr>
            <p:grpSpPr>
              <a:xfrm>
                <a:off x="1504950" y="1609725"/>
                <a:ext cx="266700" cy="381000"/>
                <a:chOff x="1504950" y="1609725"/>
                <a:chExt cx="266700" cy="381000"/>
              </a:xfrm>
            </p:grpSpPr>
            <p:sp>
              <p:nvSpPr>
                <p:cNvPr id="12" name="Freeform 12"/>
                <p:cNvSpPr/>
                <p:nvPr/>
              </p:nvSpPr>
              <p:spPr>
                <a:xfrm>
                  <a:off x="1543050" y="1609725"/>
                  <a:ext cx="190500" cy="190500"/>
                </a:xfrm>
                <a:custGeom>
                  <a:avLst/>
                  <a:gdLst/>
                  <a:ahLst/>
                  <a:cxnLst/>
                  <a:rect l="l" t="t" r="r" b="b"/>
                  <a:pathLst>
                    <a:path w="190500" h="190500">
                      <a:moveTo>
                        <a:pt x="95250" y="0"/>
                      </a:moveTo>
                      <a:cubicBezTo>
                        <a:pt x="147855" y="0"/>
                        <a:pt x="190500" y="42645"/>
                        <a:pt x="190500" y="95250"/>
                      </a:cubicBezTo>
                      <a:cubicBezTo>
                        <a:pt x="190500" y="147855"/>
                        <a:pt x="147855" y="190500"/>
                        <a:pt x="95250" y="190500"/>
                      </a:cubicBezTo>
                      <a:cubicBezTo>
                        <a:pt x="42645" y="190500"/>
                        <a:pt x="0" y="147855"/>
                        <a:pt x="0" y="95250"/>
                      </a:cubicBezTo>
                      <a:lnTo>
                        <a:pt x="95" y="91116"/>
                      </a:lnTo>
                      <a:cubicBezTo>
                        <a:pt x="2308" y="40169"/>
                        <a:pt x="44255" y="3"/>
                        <a:pt x="95250" y="0"/>
                      </a:cubicBezTo>
                      <a:close/>
                    </a:path>
                  </a:pathLst>
                </a:custGeom>
                <a:solidFill>
                  <a:srgbClr val="1B1164"/>
                </a:solidFill>
                <a:ln>
                  <a:noFill/>
                </a:ln>
              </p:spPr>
            </p:sp>
            <p:sp>
              <p:nvSpPr>
                <p:cNvPr id="13" name="Freeform 13"/>
                <p:cNvSpPr/>
                <p:nvPr/>
              </p:nvSpPr>
              <p:spPr>
                <a:xfrm>
                  <a:off x="1504950" y="1838325"/>
                  <a:ext cx="266700" cy="152400"/>
                </a:xfrm>
                <a:custGeom>
                  <a:avLst/>
                  <a:gdLst/>
                  <a:ahLst/>
                  <a:cxnLst/>
                  <a:rect l="l" t="t" r="r" b="b"/>
                  <a:pathLst>
                    <a:path w="266700" h="152400">
                      <a:moveTo>
                        <a:pt x="171450" y="0"/>
                      </a:moveTo>
                      <a:cubicBezTo>
                        <a:pt x="224055" y="0"/>
                        <a:pt x="266700" y="42645"/>
                        <a:pt x="266700" y="95250"/>
                      </a:cubicBezTo>
                      <a:lnTo>
                        <a:pt x="266700" y="114300"/>
                      </a:lnTo>
                      <a:cubicBezTo>
                        <a:pt x="266700" y="135342"/>
                        <a:pt x="249642" y="152400"/>
                        <a:pt x="228600" y="152400"/>
                      </a:cubicBezTo>
                      <a:lnTo>
                        <a:pt x="38100" y="152400"/>
                      </a:lnTo>
                      <a:cubicBezTo>
                        <a:pt x="17058" y="152400"/>
                        <a:pt x="0" y="135342"/>
                        <a:pt x="0" y="114300"/>
                      </a:cubicBezTo>
                      <a:lnTo>
                        <a:pt x="0" y="95250"/>
                      </a:lnTo>
                      <a:cubicBezTo>
                        <a:pt x="0" y="42645"/>
                        <a:pt x="42645" y="0"/>
                        <a:pt x="95250" y="0"/>
                      </a:cubicBezTo>
                      <a:lnTo>
                        <a:pt x="171450" y="0"/>
                      </a:lnTo>
                      <a:close/>
                    </a:path>
                  </a:pathLst>
                </a:custGeom>
                <a:solidFill>
                  <a:srgbClr val="1B1164"/>
                </a:solidFill>
                <a:ln>
                  <a:noFill/>
                </a:ln>
              </p:spPr>
            </p:sp>
          </p:grpSp>
          <p:sp>
            <p:nvSpPr>
              <p:cNvPr id="15" name="TextBox 15"/>
              <p:cNvSpPr txBox="1"/>
              <p:nvPr/>
            </p:nvSpPr>
            <p:spPr>
              <a:xfrm>
                <a:off x="1332894" y="2121218"/>
                <a:ext cx="610812" cy="274320"/>
              </a:xfrm>
              <a:prstGeom prst="rect">
                <a:avLst/>
              </a:prstGeom>
              <a:noFill/>
              <a:ln>
                <a:noFill/>
              </a:ln>
            </p:spPr>
            <p:txBody>
              <a:bodyPr wrap="none" lIns="0" tIns="0" rIns="0" bIns="0" anchor="t" anchorCtr="0">
                <a:spAutoFit/>
              </a:bodyPr>
              <a:lstStyle/>
              <a:p>
                <a:pPr algn="ctr"/>
                <a:r>
                  <a:rPr lang="zh-CN" sz="1350" b="1" dirty="0">
                    <a:solidFill>
                      <a:srgbClr val="1B1164"/>
                    </a:solidFill>
                    <a:latin typeface="Arial"/>
                    <a:ea typeface="Microsoft YaHei"/>
                    <a:cs typeface="Arial"/>
                  </a:rPr>
                  <a:t>People</a:t>
                </a:r>
              </a:p>
            </p:txBody>
          </p:sp>
          <p:sp>
            <p:nvSpPr>
              <p:cNvPr id="16" name="Rectangle 16"/>
              <p:cNvSpPr/>
              <p:nvPr/>
            </p:nvSpPr>
            <p:spPr>
              <a:xfrm>
                <a:off x="1057275" y="2381250"/>
                <a:ext cx="1162050" cy="247650"/>
              </a:xfrm>
              <a:prstGeom prst="roundRect">
                <a:avLst>
                  <a:gd name="adj" fmla="val 50000"/>
                </a:avLst>
              </a:prstGeom>
              <a:solidFill>
                <a:srgbClr val="F4A261">
                  <a:alpha val="18000"/>
                </a:srgbClr>
              </a:solidFill>
              <a:ln>
                <a:noFill/>
              </a:ln>
            </p:spPr>
          </p:sp>
          <p:sp>
            <p:nvSpPr>
              <p:cNvPr id="17" name="TextBox 17"/>
              <p:cNvSpPr txBox="1"/>
              <p:nvPr/>
            </p:nvSpPr>
            <p:spPr>
              <a:xfrm>
                <a:off x="1280327" y="2455545"/>
                <a:ext cx="715947" cy="182880"/>
              </a:xfrm>
              <a:prstGeom prst="rect">
                <a:avLst/>
              </a:prstGeom>
              <a:noFill/>
              <a:ln>
                <a:noFill/>
              </a:ln>
            </p:spPr>
            <p:txBody>
              <a:bodyPr wrap="none" lIns="0" tIns="0" rIns="0" bIns="0" anchor="t" anchorCtr="0">
                <a:spAutoFit/>
              </a:bodyPr>
              <a:lstStyle/>
              <a:p>
                <a:pPr algn="ctr"/>
                <a:r>
                  <a:rPr lang="zh-CN" sz="900" b="1" dirty="0">
                    <a:solidFill>
                      <a:srgbClr val="F4A261"/>
                    </a:solidFill>
                    <a:latin typeface="Arial"/>
                    <a:ea typeface="Microsoft YaHei"/>
                    <a:cs typeface="Arial"/>
                  </a:rPr>
                  <a:t>HIGH IMPACT</a:t>
                </a:r>
              </a:p>
            </p:txBody>
          </p:sp>
          <p:sp>
            <p:nvSpPr>
              <p:cNvPr id="18" name="Line 18"/>
              <p:cNvSpPr/>
              <p:nvPr/>
            </p:nvSpPr>
            <p:spPr>
              <a:xfrm>
                <a:off x="762000" y="2743200"/>
                <a:ext cx="1752600" cy="9525"/>
              </a:xfrm>
              <a:custGeom>
                <a:avLst/>
                <a:gdLst/>
                <a:ahLst/>
                <a:cxnLst/>
                <a:rect l="l" t="t" r="r" b="b"/>
                <a:pathLst>
                  <a:path w="1752600" h="9525">
                    <a:moveTo>
                      <a:pt x="0" y="0"/>
                    </a:moveTo>
                    <a:lnTo>
                      <a:pt x="1752600" y="0"/>
                    </a:lnTo>
                  </a:path>
                </a:pathLst>
              </a:custGeom>
              <a:noFill/>
              <a:ln w="9525">
                <a:solidFill>
                  <a:srgbClr val="D5D5D5"/>
                </a:solidFill>
              </a:ln>
            </p:spPr>
          </p:sp>
          <p:sp>
            <p:nvSpPr>
              <p:cNvPr id="19" name="TextBox 19"/>
              <p:cNvSpPr txBox="1"/>
              <p:nvPr/>
            </p:nvSpPr>
            <p:spPr>
              <a:xfrm>
                <a:off x="749618" y="2885599"/>
                <a:ext cx="1246918"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480 users affected</a:t>
                </a:r>
              </a:p>
            </p:txBody>
          </p:sp>
          <p:sp>
            <p:nvSpPr>
              <p:cNvPr id="20" name="TextBox 20"/>
              <p:cNvSpPr txBox="1"/>
              <p:nvPr/>
            </p:nvSpPr>
            <p:spPr>
              <a:xfrm>
                <a:off x="749618" y="3114199"/>
                <a:ext cx="1285923"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Role changes across</a:t>
                </a:r>
              </a:p>
            </p:txBody>
          </p:sp>
          <p:sp>
            <p:nvSpPr>
              <p:cNvPr id="21" name="TextBox 21"/>
              <p:cNvSpPr txBox="1"/>
              <p:nvPr/>
            </p:nvSpPr>
            <p:spPr>
              <a:xfrm>
                <a:off x="749618" y="3304699"/>
                <a:ext cx="1279422"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Finance &amp; T&amp;E teams</a:t>
                </a:r>
              </a:p>
            </p:txBody>
          </p:sp>
          <p:sp>
            <p:nvSpPr>
              <p:cNvPr id="22" name="TextBox 22"/>
              <p:cNvSpPr txBox="1"/>
              <p:nvPr/>
            </p:nvSpPr>
            <p:spPr>
              <a:xfrm>
                <a:off x="749618" y="3609499"/>
                <a:ext cx="1493949"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New approval hierarchy</a:t>
                </a:r>
              </a:p>
            </p:txBody>
          </p:sp>
          <p:sp>
            <p:nvSpPr>
              <p:cNvPr id="23" name="TextBox 23"/>
              <p:cNvSpPr txBox="1"/>
              <p:nvPr/>
            </p:nvSpPr>
            <p:spPr>
              <a:xfrm>
                <a:off x="749618" y="3799999"/>
                <a:ext cx="1253419"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required in S/4HANA</a:t>
                </a:r>
              </a:p>
            </p:txBody>
          </p:sp>
          <p:sp>
            <p:nvSpPr>
              <p:cNvPr id="24" name="TextBox 24"/>
              <p:cNvSpPr txBox="1"/>
              <p:nvPr/>
            </p:nvSpPr>
            <p:spPr>
              <a:xfrm>
                <a:off x="749618" y="4104799"/>
                <a:ext cx="1292423"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Training est. 16 hrs</a:t>
                </a:r>
              </a:p>
            </p:txBody>
          </p:sp>
          <p:sp>
            <p:nvSpPr>
              <p:cNvPr id="25" name="TextBox 25"/>
              <p:cNvSpPr txBox="1"/>
              <p:nvPr/>
            </p:nvSpPr>
            <p:spPr>
              <a:xfrm>
                <a:off x="749618" y="4295299"/>
                <a:ext cx="1032391"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per user cohort</a:t>
                </a:r>
              </a:p>
            </p:txBody>
          </p:sp>
        </p:grpSp>
        <p:grpSp>
          <p:nvGrpSpPr>
            <p:cNvPr id="39" name="Group 39"/>
            <p:cNvGrpSpPr/>
            <p:nvPr/>
          </p:nvGrpSpPr>
          <p:grpSpPr>
            <a:xfrm>
              <a:off x="2800350" y="1143000"/>
              <a:ext cx="2133600" cy="5048250"/>
              <a:chOff x="2800350" y="1143000"/>
              <a:chExt cx="2133600" cy="5048250"/>
            </a:xfrm>
          </p:grpSpPr>
          <p:sp>
            <p:nvSpPr>
              <p:cNvPr id="27" name="Rectangle 27"/>
              <p:cNvSpPr/>
              <p:nvPr/>
            </p:nvSpPr>
            <p:spPr>
              <a:xfrm>
                <a:off x="2800350" y="1143000"/>
                <a:ext cx="2133600" cy="5048250"/>
              </a:xfrm>
              <a:prstGeom prst="roundRect">
                <a:avLst>
                  <a:gd name="adj" fmla="val 2679"/>
                </a:avLst>
              </a:prstGeom>
              <a:solidFill>
                <a:srgbClr val="FFFFFF">
                  <a:alpha val="92000"/>
                </a:srgbClr>
              </a:solidFill>
              <a:ln>
                <a:noFill/>
              </a:ln>
            </p:spPr>
          </p:sp>
          <p:sp>
            <p:nvSpPr>
              <p:cNvPr id="28" name="Rectangle 28"/>
              <p:cNvSpPr/>
              <p:nvPr/>
            </p:nvSpPr>
            <p:spPr>
              <a:xfrm>
                <a:off x="2800350" y="1143000"/>
                <a:ext cx="2133600" cy="57150"/>
              </a:xfrm>
              <a:prstGeom prst="roundRect">
                <a:avLst>
                  <a:gd name="adj" fmla="val 50000"/>
                </a:avLst>
              </a:prstGeom>
              <a:solidFill>
                <a:srgbClr val="F4A261"/>
              </a:solidFill>
              <a:ln>
                <a:noFill/>
              </a:ln>
            </p:spPr>
          </p:sp>
          <p:sp>
            <p:nvSpPr>
              <p:cNvPr id="29" name="Freeform 29"/>
              <p:cNvSpPr/>
              <p:nvPr/>
            </p:nvSpPr>
            <p:spPr>
              <a:xfrm>
                <a:off x="3663429" y="1596504"/>
                <a:ext cx="407441" cy="407441"/>
              </a:xfrm>
              <a:custGeom>
                <a:avLst/>
                <a:gdLst/>
                <a:ahLst/>
                <a:cxnLst/>
                <a:rect l="l" t="t" r="r" b="b"/>
                <a:pathLst>
                  <a:path w="407441" h="407441">
                    <a:moveTo>
                      <a:pt x="254146" y="52864"/>
                    </a:moveTo>
                    <a:cubicBezTo>
                      <a:pt x="255183" y="57142"/>
                      <a:pt x="258200" y="60669"/>
                      <a:pt x="262266" y="62356"/>
                    </a:cubicBezTo>
                    <a:cubicBezTo>
                      <a:pt x="266332" y="64042"/>
                      <a:pt x="270959" y="63687"/>
                      <a:pt x="274720" y="61398"/>
                    </a:cubicBezTo>
                    <a:cubicBezTo>
                      <a:pt x="321183" y="33109"/>
                      <a:pt x="374352" y="86258"/>
                      <a:pt x="346062" y="132721"/>
                    </a:cubicBezTo>
                    <a:cubicBezTo>
                      <a:pt x="343774" y="136479"/>
                      <a:pt x="343416" y="141104"/>
                      <a:pt x="345098" y="145170"/>
                    </a:cubicBezTo>
                    <a:cubicBezTo>
                      <a:pt x="346781" y="149235"/>
                      <a:pt x="350303" y="152254"/>
                      <a:pt x="354578" y="153295"/>
                    </a:cubicBezTo>
                    <a:cubicBezTo>
                      <a:pt x="407441" y="166116"/>
                      <a:pt x="407441" y="241306"/>
                      <a:pt x="354578" y="254146"/>
                    </a:cubicBezTo>
                    <a:cubicBezTo>
                      <a:pt x="350299" y="255183"/>
                      <a:pt x="346773" y="258200"/>
                      <a:pt x="345086" y="262266"/>
                    </a:cubicBezTo>
                    <a:cubicBezTo>
                      <a:pt x="343399" y="266332"/>
                      <a:pt x="343755" y="270959"/>
                      <a:pt x="346043" y="274720"/>
                    </a:cubicBezTo>
                    <a:cubicBezTo>
                      <a:pt x="374332" y="321183"/>
                      <a:pt x="321183" y="374352"/>
                      <a:pt x="274720" y="346062"/>
                    </a:cubicBezTo>
                    <a:cubicBezTo>
                      <a:pt x="270962" y="343774"/>
                      <a:pt x="266337" y="343416"/>
                      <a:pt x="262272" y="345098"/>
                    </a:cubicBezTo>
                    <a:cubicBezTo>
                      <a:pt x="258206" y="346781"/>
                      <a:pt x="255187" y="350303"/>
                      <a:pt x="254146" y="354578"/>
                    </a:cubicBezTo>
                    <a:cubicBezTo>
                      <a:pt x="241325" y="407441"/>
                      <a:pt x="166135" y="407441"/>
                      <a:pt x="153295" y="354578"/>
                    </a:cubicBezTo>
                    <a:cubicBezTo>
                      <a:pt x="152259" y="350299"/>
                      <a:pt x="149242" y="346773"/>
                      <a:pt x="145176" y="345086"/>
                    </a:cubicBezTo>
                    <a:cubicBezTo>
                      <a:pt x="141109" y="343399"/>
                      <a:pt x="136482" y="343755"/>
                      <a:pt x="132721" y="346043"/>
                    </a:cubicBezTo>
                    <a:cubicBezTo>
                      <a:pt x="86258" y="374333"/>
                      <a:pt x="33090" y="321183"/>
                      <a:pt x="61379" y="274720"/>
                    </a:cubicBezTo>
                    <a:cubicBezTo>
                      <a:pt x="63668" y="270962"/>
                      <a:pt x="64026" y="266337"/>
                      <a:pt x="62343" y="262272"/>
                    </a:cubicBezTo>
                    <a:cubicBezTo>
                      <a:pt x="60660" y="258206"/>
                      <a:pt x="57139" y="255187"/>
                      <a:pt x="52864" y="254146"/>
                    </a:cubicBezTo>
                    <a:cubicBezTo>
                      <a:pt x="0" y="241325"/>
                      <a:pt x="0" y="166135"/>
                      <a:pt x="52864" y="153295"/>
                    </a:cubicBezTo>
                    <a:cubicBezTo>
                      <a:pt x="57142" y="152259"/>
                      <a:pt x="60669" y="149242"/>
                      <a:pt x="62356" y="145176"/>
                    </a:cubicBezTo>
                    <a:cubicBezTo>
                      <a:pt x="64042" y="141109"/>
                      <a:pt x="63687" y="136482"/>
                      <a:pt x="61398" y="132721"/>
                    </a:cubicBezTo>
                    <a:cubicBezTo>
                      <a:pt x="33109" y="86258"/>
                      <a:pt x="86258" y="33090"/>
                      <a:pt x="132721" y="61379"/>
                    </a:cubicBezTo>
                    <a:cubicBezTo>
                      <a:pt x="136476" y="63685"/>
                      <a:pt x="141108" y="64053"/>
                      <a:pt x="145180" y="62368"/>
                    </a:cubicBezTo>
                    <a:cubicBezTo>
                      <a:pt x="149251" y="60683"/>
                      <a:pt x="152269" y="57149"/>
                      <a:pt x="153295" y="52864"/>
                    </a:cubicBezTo>
                    <a:cubicBezTo>
                      <a:pt x="166116" y="0"/>
                      <a:pt x="241306" y="0"/>
                      <a:pt x="254146" y="52864"/>
                    </a:cubicBezTo>
                    <a:close/>
                    <a:moveTo>
                      <a:pt x="203721" y="146571"/>
                    </a:moveTo>
                    <a:cubicBezTo>
                      <a:pt x="172158" y="146571"/>
                      <a:pt x="146571" y="172158"/>
                      <a:pt x="146571" y="203721"/>
                    </a:cubicBezTo>
                    <a:cubicBezTo>
                      <a:pt x="146571" y="235284"/>
                      <a:pt x="172158" y="260871"/>
                      <a:pt x="203721" y="260871"/>
                    </a:cubicBezTo>
                    <a:cubicBezTo>
                      <a:pt x="235284" y="260871"/>
                      <a:pt x="260871" y="235284"/>
                      <a:pt x="260871" y="203721"/>
                    </a:cubicBezTo>
                    <a:cubicBezTo>
                      <a:pt x="260871" y="172158"/>
                      <a:pt x="235284" y="146571"/>
                      <a:pt x="203721" y="146571"/>
                    </a:cubicBezTo>
                  </a:path>
                </a:pathLst>
              </a:custGeom>
              <a:solidFill>
                <a:srgbClr val="1B1164"/>
              </a:solidFill>
              <a:ln>
                <a:noFill/>
              </a:ln>
            </p:spPr>
          </p:sp>
          <p:sp>
            <p:nvSpPr>
              <p:cNvPr id="30" name="TextBox 30"/>
              <p:cNvSpPr txBox="1"/>
              <p:nvPr/>
            </p:nvSpPr>
            <p:spPr>
              <a:xfrm>
                <a:off x="3486135" y="2121218"/>
                <a:ext cx="762031" cy="274320"/>
              </a:xfrm>
              <a:prstGeom prst="rect">
                <a:avLst/>
              </a:prstGeom>
              <a:noFill/>
              <a:ln>
                <a:noFill/>
              </a:ln>
            </p:spPr>
            <p:txBody>
              <a:bodyPr wrap="none" lIns="0" tIns="0" rIns="0" bIns="0" anchor="t" anchorCtr="0">
                <a:spAutoFit/>
              </a:bodyPr>
              <a:lstStyle/>
              <a:p>
                <a:pPr algn="ctr"/>
                <a:r>
                  <a:rPr lang="zh-CN" sz="1350" b="1" dirty="0">
                    <a:solidFill>
                      <a:srgbClr val="1B1164"/>
                    </a:solidFill>
                    <a:latin typeface="Arial"/>
                    <a:ea typeface="Microsoft YaHei"/>
                    <a:cs typeface="Arial"/>
                  </a:rPr>
                  <a:t>Process</a:t>
                </a:r>
              </a:p>
            </p:txBody>
          </p:sp>
          <p:sp>
            <p:nvSpPr>
              <p:cNvPr id="31" name="Rectangle 31"/>
              <p:cNvSpPr/>
              <p:nvPr/>
            </p:nvSpPr>
            <p:spPr>
              <a:xfrm>
                <a:off x="3286125" y="2381250"/>
                <a:ext cx="1162050" cy="247650"/>
              </a:xfrm>
              <a:prstGeom prst="roundRect">
                <a:avLst>
                  <a:gd name="adj" fmla="val 50000"/>
                </a:avLst>
              </a:prstGeom>
              <a:solidFill>
                <a:srgbClr val="F4A261">
                  <a:alpha val="18000"/>
                </a:srgbClr>
              </a:solidFill>
              <a:ln>
                <a:noFill/>
              </a:ln>
            </p:spPr>
          </p:sp>
          <p:sp>
            <p:nvSpPr>
              <p:cNvPr id="32" name="TextBox 32"/>
              <p:cNvSpPr txBox="1"/>
              <p:nvPr/>
            </p:nvSpPr>
            <p:spPr>
              <a:xfrm>
                <a:off x="3509177" y="2455545"/>
                <a:ext cx="715947" cy="182880"/>
              </a:xfrm>
              <a:prstGeom prst="rect">
                <a:avLst/>
              </a:prstGeom>
              <a:noFill/>
              <a:ln>
                <a:noFill/>
              </a:ln>
            </p:spPr>
            <p:txBody>
              <a:bodyPr wrap="none" lIns="0" tIns="0" rIns="0" bIns="0" anchor="t" anchorCtr="0">
                <a:spAutoFit/>
              </a:bodyPr>
              <a:lstStyle/>
              <a:p>
                <a:pPr algn="ctr"/>
                <a:r>
                  <a:rPr lang="zh-CN" sz="900" b="1" dirty="0">
                    <a:solidFill>
                      <a:srgbClr val="F4A261"/>
                    </a:solidFill>
                    <a:latin typeface="Arial"/>
                    <a:ea typeface="Microsoft YaHei"/>
                    <a:cs typeface="Arial"/>
                  </a:rPr>
                  <a:t>HIGH IMPACT</a:t>
                </a:r>
              </a:p>
            </p:txBody>
          </p:sp>
          <p:sp>
            <p:nvSpPr>
              <p:cNvPr id="33" name="Line 33"/>
              <p:cNvSpPr/>
              <p:nvPr/>
            </p:nvSpPr>
            <p:spPr>
              <a:xfrm>
                <a:off x="2990850" y="2743200"/>
                <a:ext cx="1752600" cy="9525"/>
              </a:xfrm>
              <a:custGeom>
                <a:avLst/>
                <a:gdLst/>
                <a:ahLst/>
                <a:cxnLst/>
                <a:rect l="l" t="t" r="r" b="b"/>
                <a:pathLst>
                  <a:path w="1752600" h="9525">
                    <a:moveTo>
                      <a:pt x="0" y="0"/>
                    </a:moveTo>
                    <a:lnTo>
                      <a:pt x="1752600" y="0"/>
                    </a:lnTo>
                  </a:path>
                </a:pathLst>
              </a:custGeom>
              <a:noFill/>
              <a:ln w="9525">
                <a:solidFill>
                  <a:srgbClr val="D5D5D5"/>
                </a:solidFill>
              </a:ln>
            </p:spPr>
          </p:sp>
          <p:sp>
            <p:nvSpPr>
              <p:cNvPr id="34" name="TextBox 34"/>
              <p:cNvSpPr txBox="1"/>
              <p:nvPr/>
            </p:nvSpPr>
            <p:spPr>
              <a:xfrm>
                <a:off x="2978468" y="2885599"/>
                <a:ext cx="1357432"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15 processes revised</a:t>
                </a:r>
              </a:p>
            </p:txBody>
          </p:sp>
          <p:sp>
            <p:nvSpPr>
              <p:cNvPr id="35" name="TextBox 35"/>
              <p:cNvSpPr txBox="1"/>
              <p:nvPr/>
            </p:nvSpPr>
            <p:spPr>
              <a:xfrm>
                <a:off x="2978468" y="3114199"/>
                <a:ext cx="1422440"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Manual steps replaced</a:t>
                </a:r>
              </a:p>
            </p:txBody>
          </p:sp>
          <p:sp>
            <p:nvSpPr>
              <p:cNvPr id="36" name="TextBox 36"/>
              <p:cNvSpPr txBox="1"/>
              <p:nvPr/>
            </p:nvSpPr>
            <p:spPr>
              <a:xfrm>
                <a:off x="2978468" y="3304699"/>
                <a:ext cx="1506950"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by automated workflow</a:t>
                </a:r>
              </a:p>
            </p:txBody>
          </p:sp>
          <p:sp>
            <p:nvSpPr>
              <p:cNvPr id="37" name="TextBox 37"/>
              <p:cNvSpPr txBox="1"/>
              <p:nvPr/>
            </p:nvSpPr>
            <p:spPr>
              <a:xfrm>
                <a:off x="2978468" y="3609499"/>
                <a:ext cx="1422440"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Month-end close cycle</a:t>
                </a:r>
              </a:p>
            </p:txBody>
          </p:sp>
          <p:sp>
            <p:nvSpPr>
              <p:cNvPr id="38" name="TextBox 38"/>
              <p:cNvSpPr txBox="1"/>
              <p:nvPr/>
            </p:nvSpPr>
            <p:spPr>
              <a:xfrm>
                <a:off x="2978468" y="3799999"/>
                <a:ext cx="960882"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reduced 3 days</a:t>
                </a:r>
              </a:p>
            </p:txBody>
          </p:sp>
        </p:grpSp>
        <p:grpSp>
          <p:nvGrpSpPr>
            <p:cNvPr id="52" name="Group 52"/>
            <p:cNvGrpSpPr/>
            <p:nvPr/>
          </p:nvGrpSpPr>
          <p:grpSpPr>
            <a:xfrm>
              <a:off x="5029200" y="1143000"/>
              <a:ext cx="2133600" cy="5048250"/>
              <a:chOff x="5029200" y="1143000"/>
              <a:chExt cx="2133600" cy="5048250"/>
            </a:xfrm>
          </p:grpSpPr>
          <p:sp>
            <p:nvSpPr>
              <p:cNvPr id="40" name="Rectangle 40"/>
              <p:cNvSpPr/>
              <p:nvPr/>
            </p:nvSpPr>
            <p:spPr>
              <a:xfrm>
                <a:off x="5029200" y="1143000"/>
                <a:ext cx="2133600" cy="5048250"/>
              </a:xfrm>
              <a:prstGeom prst="roundRect">
                <a:avLst>
                  <a:gd name="adj" fmla="val 2679"/>
                </a:avLst>
              </a:prstGeom>
              <a:solidFill>
                <a:srgbClr val="FFFFFF">
                  <a:alpha val="92000"/>
                </a:srgbClr>
              </a:solidFill>
              <a:ln>
                <a:noFill/>
              </a:ln>
            </p:spPr>
          </p:sp>
          <p:sp>
            <p:nvSpPr>
              <p:cNvPr id="41" name="Rectangle 41"/>
              <p:cNvSpPr/>
              <p:nvPr/>
            </p:nvSpPr>
            <p:spPr>
              <a:xfrm>
                <a:off x="5029200" y="1143000"/>
                <a:ext cx="2133600" cy="57150"/>
              </a:xfrm>
              <a:prstGeom prst="roundRect">
                <a:avLst>
                  <a:gd name="adj" fmla="val 50000"/>
                </a:avLst>
              </a:prstGeom>
              <a:solidFill>
                <a:srgbClr val="00AEEF"/>
              </a:solidFill>
              <a:ln>
                <a:noFill/>
              </a:ln>
            </p:spPr>
          </p:sp>
          <p:sp>
            <p:nvSpPr>
              <p:cNvPr id="42" name="Freeform 42"/>
              <p:cNvSpPr/>
              <p:nvPr/>
            </p:nvSpPr>
            <p:spPr>
              <a:xfrm>
                <a:off x="5905500" y="1628775"/>
                <a:ext cx="381000" cy="342900"/>
              </a:xfrm>
              <a:custGeom>
                <a:avLst/>
                <a:gdLst/>
                <a:ahLst/>
                <a:cxnLst/>
                <a:rect l="l" t="t" r="r" b="b"/>
                <a:pathLst>
                  <a:path w="381000" h="342900">
                    <a:moveTo>
                      <a:pt x="95250" y="342900"/>
                    </a:moveTo>
                    <a:cubicBezTo>
                      <a:pt x="84729" y="342900"/>
                      <a:pt x="76200" y="334371"/>
                      <a:pt x="76200" y="323850"/>
                    </a:cubicBezTo>
                    <a:cubicBezTo>
                      <a:pt x="76200" y="313329"/>
                      <a:pt x="84729" y="304800"/>
                      <a:pt x="95250" y="304800"/>
                    </a:cubicBezTo>
                    <a:lnTo>
                      <a:pt x="114300" y="304800"/>
                    </a:lnTo>
                    <a:lnTo>
                      <a:pt x="114300" y="266700"/>
                    </a:lnTo>
                    <a:lnTo>
                      <a:pt x="38100" y="266700"/>
                    </a:lnTo>
                    <a:cubicBezTo>
                      <a:pt x="17058" y="266700"/>
                      <a:pt x="0" y="249642"/>
                      <a:pt x="0" y="228600"/>
                    </a:cubicBezTo>
                    <a:lnTo>
                      <a:pt x="0" y="38100"/>
                    </a:lnTo>
                    <a:cubicBezTo>
                      <a:pt x="0" y="17058"/>
                      <a:pt x="17058" y="0"/>
                      <a:pt x="38100" y="0"/>
                    </a:cubicBezTo>
                    <a:lnTo>
                      <a:pt x="342900" y="0"/>
                    </a:lnTo>
                    <a:cubicBezTo>
                      <a:pt x="363942" y="0"/>
                      <a:pt x="381000" y="17058"/>
                      <a:pt x="381000" y="38100"/>
                    </a:cubicBezTo>
                    <a:lnTo>
                      <a:pt x="381000" y="228600"/>
                    </a:lnTo>
                    <a:cubicBezTo>
                      <a:pt x="381000" y="249642"/>
                      <a:pt x="363942" y="266700"/>
                      <a:pt x="342900" y="266700"/>
                    </a:cubicBezTo>
                    <a:lnTo>
                      <a:pt x="266700" y="266700"/>
                    </a:lnTo>
                    <a:lnTo>
                      <a:pt x="266700" y="304800"/>
                    </a:lnTo>
                    <a:lnTo>
                      <a:pt x="285750" y="304800"/>
                    </a:lnTo>
                    <a:cubicBezTo>
                      <a:pt x="296271" y="304800"/>
                      <a:pt x="304800" y="313329"/>
                      <a:pt x="304800" y="323850"/>
                    </a:cubicBezTo>
                    <a:cubicBezTo>
                      <a:pt x="304800" y="334371"/>
                      <a:pt x="296271" y="342900"/>
                      <a:pt x="285750" y="342900"/>
                    </a:cubicBezTo>
                    <a:close/>
                    <a:moveTo>
                      <a:pt x="228600" y="266700"/>
                    </a:moveTo>
                    <a:lnTo>
                      <a:pt x="152400" y="266700"/>
                    </a:lnTo>
                    <a:lnTo>
                      <a:pt x="152400" y="304800"/>
                    </a:lnTo>
                    <a:lnTo>
                      <a:pt x="228600" y="304800"/>
                    </a:lnTo>
                    <a:close/>
                  </a:path>
                </a:pathLst>
              </a:custGeom>
              <a:solidFill>
                <a:srgbClr val="1B1164"/>
              </a:solidFill>
              <a:ln>
                <a:noFill/>
              </a:ln>
            </p:spPr>
          </p:sp>
          <p:sp>
            <p:nvSpPr>
              <p:cNvPr id="43" name="TextBox 43"/>
              <p:cNvSpPr txBox="1"/>
              <p:nvPr/>
            </p:nvSpPr>
            <p:spPr>
              <a:xfrm>
                <a:off x="5582668" y="2121218"/>
                <a:ext cx="1026664" cy="274320"/>
              </a:xfrm>
              <a:prstGeom prst="rect">
                <a:avLst/>
              </a:prstGeom>
              <a:noFill/>
              <a:ln>
                <a:noFill/>
              </a:ln>
            </p:spPr>
            <p:txBody>
              <a:bodyPr wrap="none" lIns="0" tIns="0" rIns="0" bIns="0" anchor="t" anchorCtr="0">
                <a:spAutoFit/>
              </a:bodyPr>
              <a:lstStyle/>
              <a:p>
                <a:pPr algn="ctr"/>
                <a:r>
                  <a:rPr lang="zh-CN" sz="1350" b="1" dirty="0">
                    <a:solidFill>
                      <a:srgbClr val="1B1164"/>
                    </a:solidFill>
                    <a:latin typeface="Arial"/>
                    <a:ea typeface="Microsoft YaHei"/>
                    <a:cs typeface="Arial"/>
                  </a:rPr>
                  <a:t>Technology</a:t>
                </a:r>
              </a:p>
            </p:txBody>
          </p:sp>
          <p:sp>
            <p:nvSpPr>
              <p:cNvPr id="44" name="Rectangle 44"/>
              <p:cNvSpPr/>
              <p:nvPr/>
            </p:nvSpPr>
            <p:spPr>
              <a:xfrm>
                <a:off x="5514975" y="2381250"/>
                <a:ext cx="1162050" cy="247650"/>
              </a:xfrm>
              <a:prstGeom prst="roundRect">
                <a:avLst>
                  <a:gd name="adj" fmla="val 50000"/>
                </a:avLst>
              </a:prstGeom>
              <a:solidFill>
                <a:srgbClr val="00AEEF">
                  <a:alpha val="15000"/>
                </a:srgbClr>
              </a:solidFill>
              <a:ln>
                <a:noFill/>
              </a:ln>
            </p:spPr>
          </p:sp>
          <p:sp>
            <p:nvSpPr>
              <p:cNvPr id="45" name="TextBox 45"/>
              <p:cNvSpPr txBox="1"/>
              <p:nvPr/>
            </p:nvSpPr>
            <p:spPr>
              <a:xfrm>
                <a:off x="5744327" y="2455545"/>
                <a:ext cx="703345" cy="182880"/>
              </a:xfrm>
              <a:prstGeom prst="rect">
                <a:avLst/>
              </a:prstGeom>
              <a:noFill/>
              <a:ln>
                <a:noFill/>
              </a:ln>
            </p:spPr>
            <p:txBody>
              <a:bodyPr wrap="none" lIns="0" tIns="0" rIns="0" bIns="0" anchor="t" anchorCtr="0">
                <a:spAutoFit/>
              </a:bodyPr>
              <a:lstStyle/>
              <a:p>
                <a:pPr algn="ctr"/>
                <a:r>
                  <a:rPr lang="zh-CN" sz="900" b="1" dirty="0">
                    <a:solidFill>
                      <a:srgbClr val="00AEEF"/>
                    </a:solidFill>
                    <a:latin typeface="Arial"/>
                    <a:ea typeface="Microsoft YaHei"/>
                    <a:cs typeface="Arial"/>
                  </a:rPr>
                  <a:t>MED IMPACT</a:t>
                </a:r>
              </a:p>
            </p:txBody>
          </p:sp>
          <p:sp>
            <p:nvSpPr>
              <p:cNvPr id="46" name="Line 46"/>
              <p:cNvSpPr/>
              <p:nvPr/>
            </p:nvSpPr>
            <p:spPr>
              <a:xfrm>
                <a:off x="5219700" y="2743200"/>
                <a:ext cx="1752600" cy="9525"/>
              </a:xfrm>
              <a:custGeom>
                <a:avLst/>
                <a:gdLst/>
                <a:ahLst/>
                <a:cxnLst/>
                <a:rect l="l" t="t" r="r" b="b"/>
                <a:pathLst>
                  <a:path w="1752600" h="9525">
                    <a:moveTo>
                      <a:pt x="0" y="0"/>
                    </a:moveTo>
                    <a:lnTo>
                      <a:pt x="1752600" y="0"/>
                    </a:lnTo>
                  </a:path>
                </a:pathLst>
              </a:custGeom>
              <a:noFill/>
              <a:ln w="9525">
                <a:solidFill>
                  <a:srgbClr val="D5D5D5"/>
                </a:solidFill>
              </a:ln>
            </p:spPr>
          </p:sp>
          <p:sp>
            <p:nvSpPr>
              <p:cNvPr id="47" name="TextBox 47"/>
              <p:cNvSpPr txBox="1"/>
              <p:nvPr/>
            </p:nvSpPr>
            <p:spPr>
              <a:xfrm>
                <a:off x="5207318" y="2885599"/>
                <a:ext cx="1168908"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3 systems retired</a:t>
                </a:r>
              </a:p>
            </p:txBody>
          </p:sp>
          <p:sp>
            <p:nvSpPr>
              <p:cNvPr id="48" name="TextBox 48"/>
              <p:cNvSpPr txBox="1"/>
              <p:nvPr/>
            </p:nvSpPr>
            <p:spPr>
              <a:xfrm>
                <a:off x="5207318" y="3114199"/>
                <a:ext cx="1103900"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S/4HANA + Concur</a:t>
                </a:r>
              </a:p>
            </p:txBody>
          </p:sp>
          <p:sp>
            <p:nvSpPr>
              <p:cNvPr id="49" name="TextBox 49"/>
              <p:cNvSpPr txBox="1"/>
              <p:nvPr/>
            </p:nvSpPr>
            <p:spPr>
              <a:xfrm>
                <a:off x="5207318" y="3304699"/>
                <a:ext cx="986885"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new tech stack</a:t>
                </a:r>
              </a:p>
            </p:txBody>
          </p:sp>
          <p:sp>
            <p:nvSpPr>
              <p:cNvPr id="50" name="TextBox 50"/>
              <p:cNvSpPr txBox="1"/>
              <p:nvPr/>
            </p:nvSpPr>
            <p:spPr>
              <a:xfrm>
                <a:off x="5207318" y="3609499"/>
                <a:ext cx="1285923"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API integration with</a:t>
                </a:r>
              </a:p>
            </p:txBody>
          </p:sp>
          <p:sp>
            <p:nvSpPr>
              <p:cNvPr id="51" name="TextBox 51"/>
              <p:cNvSpPr txBox="1"/>
              <p:nvPr/>
            </p:nvSpPr>
            <p:spPr>
              <a:xfrm>
                <a:off x="5207318" y="3799999"/>
                <a:ext cx="1246918"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PTTEP ERP backbone</a:t>
                </a:r>
              </a:p>
            </p:txBody>
          </p:sp>
        </p:grpSp>
        <p:grpSp>
          <p:nvGrpSpPr>
            <p:cNvPr id="68" name="Group 68"/>
            <p:cNvGrpSpPr/>
            <p:nvPr/>
          </p:nvGrpSpPr>
          <p:grpSpPr>
            <a:xfrm>
              <a:off x="7258050" y="1143000"/>
              <a:ext cx="2133600" cy="5048250"/>
              <a:chOff x="7258050" y="1143000"/>
              <a:chExt cx="2133600" cy="5048250"/>
            </a:xfrm>
          </p:grpSpPr>
          <p:sp>
            <p:nvSpPr>
              <p:cNvPr id="53" name="Rectangle 53"/>
              <p:cNvSpPr/>
              <p:nvPr/>
            </p:nvSpPr>
            <p:spPr>
              <a:xfrm>
                <a:off x="7258050" y="1143000"/>
                <a:ext cx="2133600" cy="5048250"/>
              </a:xfrm>
              <a:prstGeom prst="roundRect">
                <a:avLst>
                  <a:gd name="adj" fmla="val 2679"/>
                </a:avLst>
              </a:prstGeom>
              <a:solidFill>
                <a:srgbClr val="FFFFFF">
                  <a:alpha val="92000"/>
                </a:srgbClr>
              </a:solidFill>
              <a:ln>
                <a:noFill/>
              </a:ln>
            </p:spPr>
          </p:sp>
          <p:sp>
            <p:nvSpPr>
              <p:cNvPr id="54" name="Rectangle 54"/>
              <p:cNvSpPr/>
              <p:nvPr/>
            </p:nvSpPr>
            <p:spPr>
              <a:xfrm>
                <a:off x="7258050" y="1143000"/>
                <a:ext cx="2133600" cy="57150"/>
              </a:xfrm>
              <a:prstGeom prst="roundRect">
                <a:avLst>
                  <a:gd name="adj" fmla="val 50000"/>
                </a:avLst>
              </a:prstGeom>
              <a:solidFill>
                <a:srgbClr val="00AEEF"/>
              </a:solidFill>
              <a:ln>
                <a:noFill/>
              </a:ln>
            </p:spPr>
          </p:sp>
          <p:grpSp>
            <p:nvGrpSpPr>
              <p:cNvPr id="58" name="Group 58"/>
              <p:cNvGrpSpPr/>
              <p:nvPr/>
            </p:nvGrpSpPr>
            <p:grpSpPr>
              <a:xfrm>
                <a:off x="8153399" y="1609725"/>
                <a:ext cx="342901" cy="381000"/>
                <a:chOff x="8153399" y="1609725"/>
                <a:chExt cx="342901" cy="381000"/>
              </a:xfrm>
            </p:grpSpPr>
            <p:sp>
              <p:nvSpPr>
                <p:cNvPr id="55" name="Freeform 55"/>
                <p:cNvSpPr/>
                <p:nvPr/>
              </p:nvSpPr>
              <p:spPr>
                <a:xfrm>
                  <a:off x="8153400" y="1871301"/>
                  <a:ext cx="342900" cy="119424"/>
                </a:xfrm>
                <a:custGeom>
                  <a:avLst/>
                  <a:gdLst/>
                  <a:ahLst/>
                  <a:cxnLst/>
                  <a:rect l="l" t="t" r="r" b="b"/>
                  <a:pathLst>
                    <a:path w="342900" h="119424">
                      <a:moveTo>
                        <a:pt x="0" y="0"/>
                      </a:moveTo>
                      <a:cubicBezTo>
                        <a:pt x="37490" y="28708"/>
                        <a:pt x="99708" y="43224"/>
                        <a:pt x="171450" y="43224"/>
                      </a:cubicBezTo>
                      <a:cubicBezTo>
                        <a:pt x="243078" y="43224"/>
                        <a:pt x="305276" y="28746"/>
                        <a:pt x="342900" y="324"/>
                      </a:cubicBezTo>
                      <a:lnTo>
                        <a:pt x="342900" y="43224"/>
                      </a:lnTo>
                      <a:cubicBezTo>
                        <a:pt x="342900" y="89421"/>
                        <a:pt x="268700" y="118205"/>
                        <a:pt x="177298" y="119386"/>
                      </a:cubicBezTo>
                      <a:lnTo>
                        <a:pt x="171450" y="119424"/>
                      </a:lnTo>
                      <a:cubicBezTo>
                        <a:pt x="77381" y="119424"/>
                        <a:pt x="0" y="90411"/>
                        <a:pt x="0" y="43224"/>
                      </a:cubicBezTo>
                      <a:close/>
                    </a:path>
                  </a:pathLst>
                </a:custGeom>
                <a:solidFill>
                  <a:srgbClr val="1B1164"/>
                </a:solidFill>
                <a:ln>
                  <a:noFill/>
                </a:ln>
              </p:spPr>
            </p:sp>
            <p:sp>
              <p:nvSpPr>
                <p:cNvPr id="56" name="Freeform 56"/>
                <p:cNvSpPr/>
                <p:nvPr/>
              </p:nvSpPr>
              <p:spPr>
                <a:xfrm>
                  <a:off x="8153400" y="1757001"/>
                  <a:ext cx="342900" cy="119424"/>
                </a:xfrm>
                <a:custGeom>
                  <a:avLst/>
                  <a:gdLst/>
                  <a:ahLst/>
                  <a:cxnLst/>
                  <a:rect l="l" t="t" r="r" b="b"/>
                  <a:pathLst>
                    <a:path w="342900" h="119424">
                      <a:moveTo>
                        <a:pt x="0" y="0"/>
                      </a:moveTo>
                      <a:cubicBezTo>
                        <a:pt x="37490" y="28708"/>
                        <a:pt x="99708" y="43224"/>
                        <a:pt x="171450" y="43224"/>
                      </a:cubicBezTo>
                      <a:cubicBezTo>
                        <a:pt x="243078" y="43224"/>
                        <a:pt x="305276" y="28746"/>
                        <a:pt x="342900" y="324"/>
                      </a:cubicBezTo>
                      <a:lnTo>
                        <a:pt x="342900" y="43224"/>
                      </a:lnTo>
                      <a:cubicBezTo>
                        <a:pt x="342900" y="90411"/>
                        <a:pt x="265519" y="119424"/>
                        <a:pt x="171450" y="119424"/>
                      </a:cubicBezTo>
                      <a:cubicBezTo>
                        <a:pt x="80048" y="119424"/>
                        <a:pt x="4382" y="92031"/>
                        <a:pt x="400" y="47130"/>
                      </a:cubicBezTo>
                      <a:lnTo>
                        <a:pt x="95" y="45206"/>
                      </a:lnTo>
                      <a:lnTo>
                        <a:pt x="0" y="43224"/>
                      </a:lnTo>
                      <a:close/>
                    </a:path>
                  </a:pathLst>
                </a:custGeom>
                <a:solidFill>
                  <a:srgbClr val="1B1164"/>
                </a:solidFill>
                <a:ln>
                  <a:noFill/>
                </a:ln>
              </p:spPr>
            </p:sp>
            <p:sp>
              <p:nvSpPr>
                <p:cNvPr id="57" name="Freeform 57"/>
                <p:cNvSpPr/>
                <p:nvPr/>
              </p:nvSpPr>
              <p:spPr>
                <a:xfrm>
                  <a:off x="8153399" y="1609725"/>
                  <a:ext cx="342901" cy="152400"/>
                </a:xfrm>
                <a:custGeom>
                  <a:avLst/>
                  <a:gdLst/>
                  <a:ahLst/>
                  <a:cxnLst/>
                  <a:rect l="l" t="t" r="r" b="b"/>
                  <a:pathLst>
                    <a:path w="342901" h="152400">
                      <a:moveTo>
                        <a:pt x="171451" y="0"/>
                      </a:moveTo>
                      <a:cubicBezTo>
                        <a:pt x="191283" y="0"/>
                        <a:pt x="210390" y="1295"/>
                        <a:pt x="228163" y="3772"/>
                      </a:cubicBezTo>
                      <a:lnTo>
                        <a:pt x="237098" y="5124"/>
                      </a:lnTo>
                      <a:cubicBezTo>
                        <a:pt x="247766" y="6902"/>
                        <a:pt x="257837" y="9112"/>
                        <a:pt x="267311" y="11754"/>
                      </a:cubicBezTo>
                      <a:lnTo>
                        <a:pt x="275693" y="14249"/>
                      </a:lnTo>
                      <a:lnTo>
                        <a:pt x="277122" y="14707"/>
                      </a:lnTo>
                      <a:cubicBezTo>
                        <a:pt x="282306" y="16411"/>
                        <a:pt x="287422" y="18318"/>
                        <a:pt x="292457" y="20422"/>
                      </a:cubicBezTo>
                      <a:lnTo>
                        <a:pt x="296248" y="22060"/>
                      </a:lnTo>
                      <a:cubicBezTo>
                        <a:pt x="303043" y="25133"/>
                        <a:pt x="309183" y="28499"/>
                        <a:pt x="314669" y="32156"/>
                      </a:cubicBezTo>
                      <a:cubicBezTo>
                        <a:pt x="316765" y="33553"/>
                        <a:pt x="318752" y="34982"/>
                        <a:pt x="320632" y="36443"/>
                      </a:cubicBezTo>
                      <a:cubicBezTo>
                        <a:pt x="325393" y="40137"/>
                        <a:pt x="329675" y="44412"/>
                        <a:pt x="333376" y="49168"/>
                      </a:cubicBezTo>
                      <a:lnTo>
                        <a:pt x="335110" y="51606"/>
                      </a:lnTo>
                      <a:cubicBezTo>
                        <a:pt x="335999" y="52940"/>
                        <a:pt x="336818" y="54280"/>
                        <a:pt x="337567" y="55626"/>
                      </a:cubicBezTo>
                      <a:lnTo>
                        <a:pt x="338901" y="58274"/>
                      </a:lnTo>
                      <a:cubicBezTo>
                        <a:pt x="340971" y="62719"/>
                        <a:pt x="342241" y="67354"/>
                        <a:pt x="342711" y="72180"/>
                      </a:cubicBezTo>
                      <a:lnTo>
                        <a:pt x="342901" y="76200"/>
                      </a:lnTo>
                      <a:cubicBezTo>
                        <a:pt x="342901" y="123387"/>
                        <a:pt x="265520" y="152400"/>
                        <a:pt x="171451" y="152400"/>
                      </a:cubicBezTo>
                      <a:cubicBezTo>
                        <a:pt x="80050" y="152400"/>
                        <a:pt x="4383" y="125006"/>
                        <a:pt x="402" y="80105"/>
                      </a:cubicBezTo>
                      <a:cubicBezTo>
                        <a:pt x="134" y="78821"/>
                        <a:pt x="0" y="77512"/>
                        <a:pt x="1" y="76200"/>
                      </a:cubicBezTo>
                      <a:lnTo>
                        <a:pt x="97" y="74219"/>
                      </a:lnTo>
                      <a:lnTo>
                        <a:pt x="402" y="72314"/>
                      </a:lnTo>
                      <a:cubicBezTo>
                        <a:pt x="4307" y="28384"/>
                        <a:pt x="76792" y="1200"/>
                        <a:pt x="165508" y="38"/>
                      </a:cubicBezTo>
                      <a:close/>
                    </a:path>
                  </a:pathLst>
                </a:custGeom>
                <a:solidFill>
                  <a:srgbClr val="1B1164"/>
                </a:solidFill>
                <a:ln>
                  <a:noFill/>
                </a:ln>
              </p:spPr>
            </p:sp>
          </p:grpSp>
          <p:sp>
            <p:nvSpPr>
              <p:cNvPr id="59" name="TextBox 59"/>
              <p:cNvSpPr txBox="1"/>
              <p:nvPr/>
            </p:nvSpPr>
            <p:spPr>
              <a:xfrm>
                <a:off x="8099779" y="2121218"/>
                <a:ext cx="450142" cy="274320"/>
              </a:xfrm>
              <a:prstGeom prst="rect">
                <a:avLst/>
              </a:prstGeom>
              <a:noFill/>
              <a:ln>
                <a:noFill/>
              </a:ln>
            </p:spPr>
            <p:txBody>
              <a:bodyPr wrap="none" lIns="0" tIns="0" rIns="0" bIns="0" anchor="t" anchorCtr="0">
                <a:spAutoFit/>
              </a:bodyPr>
              <a:lstStyle/>
              <a:p>
                <a:pPr algn="ctr"/>
                <a:r>
                  <a:rPr lang="zh-CN" sz="1350" b="1" dirty="0">
                    <a:solidFill>
                      <a:srgbClr val="1B1164"/>
                    </a:solidFill>
                    <a:latin typeface="Arial"/>
                    <a:ea typeface="Microsoft YaHei"/>
                    <a:cs typeface="Arial"/>
                  </a:rPr>
                  <a:t>Data</a:t>
                </a:r>
              </a:p>
            </p:txBody>
          </p:sp>
          <p:sp>
            <p:nvSpPr>
              <p:cNvPr id="60" name="Rectangle 60"/>
              <p:cNvSpPr/>
              <p:nvPr/>
            </p:nvSpPr>
            <p:spPr>
              <a:xfrm>
                <a:off x="7743825" y="2381250"/>
                <a:ext cx="1162050" cy="247650"/>
              </a:xfrm>
              <a:prstGeom prst="roundRect">
                <a:avLst>
                  <a:gd name="adj" fmla="val 50000"/>
                </a:avLst>
              </a:prstGeom>
              <a:solidFill>
                <a:srgbClr val="00AEEF">
                  <a:alpha val="15000"/>
                </a:srgbClr>
              </a:solidFill>
              <a:ln>
                <a:noFill/>
              </a:ln>
            </p:spPr>
          </p:sp>
          <p:sp>
            <p:nvSpPr>
              <p:cNvPr id="61" name="TextBox 61"/>
              <p:cNvSpPr txBox="1"/>
              <p:nvPr/>
            </p:nvSpPr>
            <p:spPr>
              <a:xfrm>
                <a:off x="7973177" y="2455545"/>
                <a:ext cx="703345" cy="182880"/>
              </a:xfrm>
              <a:prstGeom prst="rect">
                <a:avLst/>
              </a:prstGeom>
              <a:noFill/>
              <a:ln>
                <a:noFill/>
              </a:ln>
            </p:spPr>
            <p:txBody>
              <a:bodyPr wrap="none" lIns="0" tIns="0" rIns="0" bIns="0" anchor="t" anchorCtr="0">
                <a:spAutoFit/>
              </a:bodyPr>
              <a:lstStyle/>
              <a:p>
                <a:pPr algn="ctr"/>
                <a:r>
                  <a:rPr lang="zh-CN" sz="900" b="1" dirty="0">
                    <a:solidFill>
                      <a:srgbClr val="00AEEF"/>
                    </a:solidFill>
                    <a:latin typeface="Arial"/>
                    <a:ea typeface="Microsoft YaHei"/>
                    <a:cs typeface="Arial"/>
                  </a:rPr>
                  <a:t>MED IMPACT</a:t>
                </a:r>
              </a:p>
            </p:txBody>
          </p:sp>
          <p:sp>
            <p:nvSpPr>
              <p:cNvPr id="62" name="Line 62"/>
              <p:cNvSpPr/>
              <p:nvPr/>
            </p:nvSpPr>
            <p:spPr>
              <a:xfrm>
                <a:off x="7448550" y="2743200"/>
                <a:ext cx="1752600" cy="9525"/>
              </a:xfrm>
              <a:custGeom>
                <a:avLst/>
                <a:gdLst/>
                <a:ahLst/>
                <a:cxnLst/>
                <a:rect l="l" t="t" r="r" b="b"/>
                <a:pathLst>
                  <a:path w="1752600" h="9525">
                    <a:moveTo>
                      <a:pt x="0" y="0"/>
                    </a:moveTo>
                    <a:lnTo>
                      <a:pt x="1752600" y="0"/>
                    </a:lnTo>
                  </a:path>
                </a:pathLst>
              </a:custGeom>
              <a:noFill/>
              <a:ln w="9525">
                <a:solidFill>
                  <a:srgbClr val="D5D5D5"/>
                </a:solidFill>
              </a:ln>
            </p:spPr>
          </p:sp>
          <p:sp>
            <p:nvSpPr>
              <p:cNvPr id="63" name="TextBox 63"/>
              <p:cNvSpPr txBox="1"/>
              <p:nvPr/>
            </p:nvSpPr>
            <p:spPr>
              <a:xfrm>
                <a:off x="7436168" y="2885599"/>
                <a:ext cx="1461445"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5-yr history migration</a:t>
                </a:r>
              </a:p>
            </p:txBody>
          </p:sp>
          <p:sp>
            <p:nvSpPr>
              <p:cNvPr id="64" name="TextBox 64"/>
              <p:cNvSpPr txBox="1"/>
              <p:nvPr/>
            </p:nvSpPr>
            <p:spPr>
              <a:xfrm>
                <a:off x="7436168" y="3114199"/>
                <a:ext cx="1175409"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Chart of Accounts</a:t>
                </a:r>
              </a:p>
            </p:txBody>
          </p:sp>
          <p:sp>
            <p:nvSpPr>
              <p:cNvPr id="65" name="TextBox 65"/>
              <p:cNvSpPr txBox="1"/>
              <p:nvPr/>
            </p:nvSpPr>
            <p:spPr>
              <a:xfrm>
                <a:off x="7436168" y="3304699"/>
                <a:ext cx="1097399"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mapping required</a:t>
                </a:r>
              </a:p>
            </p:txBody>
          </p:sp>
          <p:sp>
            <p:nvSpPr>
              <p:cNvPr id="66" name="TextBox 66"/>
              <p:cNvSpPr txBox="1"/>
              <p:nvPr/>
            </p:nvSpPr>
            <p:spPr>
              <a:xfrm>
                <a:off x="7436168" y="3609499"/>
                <a:ext cx="1272921"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Vendor master data</a:t>
                </a:r>
              </a:p>
            </p:txBody>
          </p:sp>
          <p:sp>
            <p:nvSpPr>
              <p:cNvPr id="67" name="TextBox 67"/>
              <p:cNvSpPr txBox="1"/>
              <p:nvPr/>
            </p:nvSpPr>
            <p:spPr>
              <a:xfrm>
                <a:off x="7436168" y="3799999"/>
                <a:ext cx="1500449"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cleanse: 4,200 records</a:t>
                </a:r>
              </a:p>
            </p:txBody>
          </p:sp>
        </p:grpSp>
        <p:grpSp>
          <p:nvGrpSpPr>
            <p:cNvPr id="83" name="Group 83"/>
            <p:cNvGrpSpPr/>
            <p:nvPr/>
          </p:nvGrpSpPr>
          <p:grpSpPr>
            <a:xfrm>
              <a:off x="9486900" y="1143000"/>
              <a:ext cx="2133600" cy="5048250"/>
              <a:chOff x="9486900" y="1143000"/>
              <a:chExt cx="2133600" cy="5048250"/>
            </a:xfrm>
          </p:grpSpPr>
          <p:sp>
            <p:nvSpPr>
              <p:cNvPr id="69" name="Rectangle 69"/>
              <p:cNvSpPr/>
              <p:nvPr/>
            </p:nvSpPr>
            <p:spPr>
              <a:xfrm>
                <a:off x="9486900" y="1143000"/>
                <a:ext cx="2133600" cy="5048250"/>
              </a:xfrm>
              <a:prstGeom prst="roundRect">
                <a:avLst>
                  <a:gd name="adj" fmla="val 2679"/>
                </a:avLst>
              </a:prstGeom>
              <a:solidFill>
                <a:srgbClr val="FFFFFF">
                  <a:alpha val="92000"/>
                </a:srgbClr>
              </a:solidFill>
              <a:ln>
                <a:noFill/>
              </a:ln>
            </p:spPr>
          </p:sp>
          <p:sp>
            <p:nvSpPr>
              <p:cNvPr id="70" name="Rectangle 70"/>
              <p:cNvSpPr/>
              <p:nvPr/>
            </p:nvSpPr>
            <p:spPr>
              <a:xfrm>
                <a:off x="9486900" y="1143000"/>
                <a:ext cx="2133600" cy="57150"/>
              </a:xfrm>
              <a:prstGeom prst="roundRect">
                <a:avLst>
                  <a:gd name="adj" fmla="val 50000"/>
                </a:avLst>
              </a:prstGeom>
              <a:solidFill>
                <a:srgbClr val="3BBF92"/>
              </a:solidFill>
              <a:ln>
                <a:noFill/>
              </a:ln>
            </p:spPr>
          </p:sp>
          <p:grpSp>
            <p:nvGrpSpPr>
              <p:cNvPr id="73" name="Group 73"/>
              <p:cNvGrpSpPr/>
              <p:nvPr/>
            </p:nvGrpSpPr>
            <p:grpSpPr>
              <a:xfrm>
                <a:off x="10401298" y="1609725"/>
                <a:ext cx="304803" cy="381002"/>
                <a:chOff x="10401298" y="1609725"/>
                <a:chExt cx="304803" cy="381002"/>
              </a:xfrm>
            </p:grpSpPr>
            <p:sp>
              <p:nvSpPr>
                <p:cNvPr id="71" name="Freeform 71"/>
                <p:cNvSpPr/>
                <p:nvPr/>
              </p:nvSpPr>
              <p:spPr>
                <a:xfrm>
                  <a:off x="10401298" y="1609725"/>
                  <a:ext cx="304803" cy="381002"/>
                </a:xfrm>
                <a:custGeom>
                  <a:avLst/>
                  <a:gdLst/>
                  <a:ahLst/>
                  <a:cxnLst/>
                  <a:rect l="l" t="t" r="r" b="b"/>
                  <a:pathLst>
                    <a:path w="304803" h="381002">
                      <a:moveTo>
                        <a:pt x="152402" y="0"/>
                      </a:moveTo>
                      <a:lnTo>
                        <a:pt x="154631" y="133"/>
                      </a:lnTo>
                      <a:cubicBezTo>
                        <a:pt x="163384" y="1166"/>
                        <a:pt x="170286" y="8068"/>
                        <a:pt x="171318" y="16821"/>
                      </a:cubicBezTo>
                      <a:lnTo>
                        <a:pt x="171452" y="19050"/>
                      </a:lnTo>
                      <a:lnTo>
                        <a:pt x="171452" y="95250"/>
                      </a:lnTo>
                      <a:lnTo>
                        <a:pt x="171547" y="98108"/>
                      </a:lnTo>
                      <a:cubicBezTo>
                        <a:pt x="172955" y="116851"/>
                        <a:pt x="187822" y="131766"/>
                        <a:pt x="206561" y="133236"/>
                      </a:cubicBezTo>
                      <a:lnTo>
                        <a:pt x="209552" y="133350"/>
                      </a:lnTo>
                      <a:lnTo>
                        <a:pt x="285752" y="133350"/>
                      </a:lnTo>
                      <a:lnTo>
                        <a:pt x="287981" y="133483"/>
                      </a:lnTo>
                      <a:cubicBezTo>
                        <a:pt x="296734" y="134516"/>
                        <a:pt x="303636" y="141418"/>
                        <a:pt x="304668" y="150171"/>
                      </a:cubicBezTo>
                      <a:lnTo>
                        <a:pt x="304802" y="152400"/>
                      </a:lnTo>
                      <a:lnTo>
                        <a:pt x="304802" y="323850"/>
                      </a:lnTo>
                      <a:cubicBezTo>
                        <a:pt x="304803" y="354112"/>
                        <a:pt x="281214" y="379129"/>
                        <a:pt x="251004" y="380905"/>
                      </a:cubicBezTo>
                      <a:lnTo>
                        <a:pt x="247652" y="381000"/>
                      </a:lnTo>
                      <a:lnTo>
                        <a:pt x="57152" y="381000"/>
                      </a:lnTo>
                      <a:cubicBezTo>
                        <a:pt x="26890" y="381002"/>
                        <a:pt x="1872" y="357413"/>
                        <a:pt x="97" y="327203"/>
                      </a:cubicBezTo>
                      <a:lnTo>
                        <a:pt x="2" y="323850"/>
                      </a:lnTo>
                      <a:lnTo>
                        <a:pt x="2" y="57150"/>
                      </a:lnTo>
                      <a:cubicBezTo>
                        <a:pt x="0" y="26888"/>
                        <a:pt x="23589" y="1871"/>
                        <a:pt x="53799" y="95"/>
                      </a:cubicBezTo>
                      <a:lnTo>
                        <a:pt x="57152" y="0"/>
                      </a:lnTo>
                      <a:close/>
                      <a:moveTo>
                        <a:pt x="209552" y="266700"/>
                      </a:moveTo>
                      <a:lnTo>
                        <a:pt x="95252" y="266700"/>
                      </a:lnTo>
                      <a:cubicBezTo>
                        <a:pt x="84731" y="266700"/>
                        <a:pt x="76202" y="275229"/>
                        <a:pt x="76202" y="285750"/>
                      </a:cubicBezTo>
                      <a:cubicBezTo>
                        <a:pt x="76202" y="296271"/>
                        <a:pt x="84731" y="304800"/>
                        <a:pt x="95252" y="304800"/>
                      </a:cubicBezTo>
                      <a:lnTo>
                        <a:pt x="209552" y="304800"/>
                      </a:lnTo>
                      <a:cubicBezTo>
                        <a:pt x="220073" y="304800"/>
                        <a:pt x="228602" y="296271"/>
                        <a:pt x="228602" y="285750"/>
                      </a:cubicBezTo>
                      <a:cubicBezTo>
                        <a:pt x="228602" y="275229"/>
                        <a:pt x="220073" y="266700"/>
                        <a:pt x="209552" y="266700"/>
                      </a:cubicBezTo>
                      <a:moveTo>
                        <a:pt x="209552" y="190500"/>
                      </a:moveTo>
                      <a:lnTo>
                        <a:pt x="95252" y="190500"/>
                      </a:lnTo>
                      <a:cubicBezTo>
                        <a:pt x="84731" y="190500"/>
                        <a:pt x="76202" y="199029"/>
                        <a:pt x="76202" y="209550"/>
                      </a:cubicBezTo>
                      <a:cubicBezTo>
                        <a:pt x="76202" y="220071"/>
                        <a:pt x="84731" y="228600"/>
                        <a:pt x="95252" y="228600"/>
                      </a:cubicBezTo>
                      <a:lnTo>
                        <a:pt x="209552" y="228600"/>
                      </a:lnTo>
                      <a:cubicBezTo>
                        <a:pt x="220073" y="228600"/>
                        <a:pt x="228602" y="220071"/>
                        <a:pt x="228602" y="209550"/>
                      </a:cubicBezTo>
                      <a:cubicBezTo>
                        <a:pt x="228602" y="199029"/>
                        <a:pt x="220073" y="190500"/>
                        <a:pt x="209552" y="190500"/>
                      </a:cubicBezTo>
                    </a:path>
                  </a:pathLst>
                </a:custGeom>
                <a:solidFill>
                  <a:srgbClr val="1B1164"/>
                </a:solidFill>
                <a:ln>
                  <a:noFill/>
                </a:ln>
              </p:spPr>
            </p:sp>
            <p:sp>
              <p:nvSpPr>
                <p:cNvPr id="72" name="Freeform 72"/>
                <p:cNvSpPr/>
                <p:nvPr/>
              </p:nvSpPr>
              <p:spPr>
                <a:xfrm>
                  <a:off x="10610831" y="1628756"/>
                  <a:ext cx="76219" cy="76219"/>
                </a:xfrm>
                <a:custGeom>
                  <a:avLst/>
                  <a:gdLst/>
                  <a:ahLst/>
                  <a:cxnLst/>
                  <a:rect l="l" t="t" r="r" b="b"/>
                  <a:pathLst>
                    <a:path w="76219" h="76219">
                      <a:moveTo>
                        <a:pt x="76219" y="76219"/>
                      </a:moveTo>
                      <a:lnTo>
                        <a:pt x="19" y="76219"/>
                      </a:lnTo>
                      <a:lnTo>
                        <a:pt x="0" y="0"/>
                      </a:lnTo>
                      <a:close/>
                    </a:path>
                  </a:pathLst>
                </a:custGeom>
                <a:solidFill>
                  <a:srgbClr val="1B1164"/>
                </a:solidFill>
                <a:ln>
                  <a:noFill/>
                </a:ln>
              </p:spPr>
            </p:sp>
          </p:grpSp>
          <p:sp>
            <p:nvSpPr>
              <p:cNvPr id="74" name="TextBox 74"/>
              <p:cNvSpPr txBox="1"/>
              <p:nvPr/>
            </p:nvSpPr>
            <p:spPr>
              <a:xfrm>
                <a:off x="10101801" y="2121218"/>
                <a:ext cx="903799" cy="274320"/>
              </a:xfrm>
              <a:prstGeom prst="rect">
                <a:avLst/>
              </a:prstGeom>
              <a:noFill/>
              <a:ln>
                <a:noFill/>
              </a:ln>
            </p:spPr>
            <p:txBody>
              <a:bodyPr wrap="none" lIns="0" tIns="0" rIns="0" bIns="0" anchor="t" anchorCtr="0">
                <a:spAutoFit/>
              </a:bodyPr>
              <a:lstStyle/>
              <a:p>
                <a:pPr algn="ctr"/>
                <a:r>
                  <a:rPr lang="zh-CN" sz="1350" b="1" dirty="0">
                    <a:solidFill>
                      <a:srgbClr val="1B1164"/>
                    </a:solidFill>
                    <a:latin typeface="Arial"/>
                    <a:ea typeface="Microsoft YaHei"/>
                    <a:cs typeface="Arial"/>
                  </a:rPr>
                  <a:t>Document</a:t>
                </a:r>
              </a:p>
            </p:txBody>
          </p:sp>
          <p:sp>
            <p:nvSpPr>
              <p:cNvPr id="75" name="Rectangle 75"/>
              <p:cNvSpPr/>
              <p:nvPr/>
            </p:nvSpPr>
            <p:spPr>
              <a:xfrm>
                <a:off x="9972675" y="2381250"/>
                <a:ext cx="1162050" cy="247650"/>
              </a:xfrm>
              <a:prstGeom prst="roundRect">
                <a:avLst>
                  <a:gd name="adj" fmla="val 50000"/>
                </a:avLst>
              </a:prstGeom>
              <a:solidFill>
                <a:srgbClr val="3BBF92">
                  <a:alpha val="15000"/>
                </a:srgbClr>
              </a:solidFill>
              <a:ln>
                <a:noFill/>
              </a:ln>
            </p:spPr>
          </p:sp>
          <p:sp>
            <p:nvSpPr>
              <p:cNvPr id="76" name="TextBox 76"/>
              <p:cNvSpPr txBox="1"/>
              <p:nvPr/>
            </p:nvSpPr>
            <p:spPr>
              <a:xfrm>
                <a:off x="10189426" y="2455545"/>
                <a:ext cx="728548" cy="182880"/>
              </a:xfrm>
              <a:prstGeom prst="rect">
                <a:avLst/>
              </a:prstGeom>
              <a:noFill/>
              <a:ln>
                <a:noFill/>
              </a:ln>
            </p:spPr>
            <p:txBody>
              <a:bodyPr wrap="none" lIns="0" tIns="0" rIns="0" bIns="0" anchor="t" anchorCtr="0">
                <a:spAutoFit/>
              </a:bodyPr>
              <a:lstStyle/>
              <a:p>
                <a:pPr algn="ctr"/>
                <a:r>
                  <a:rPr lang="zh-CN" sz="900" b="1" dirty="0">
                    <a:solidFill>
                      <a:srgbClr val="3BBF92"/>
                    </a:solidFill>
                    <a:latin typeface="Arial"/>
                    <a:ea typeface="Microsoft YaHei"/>
                    <a:cs typeface="Arial"/>
                  </a:rPr>
                  <a:t>LOW IMPACT</a:t>
                </a:r>
              </a:p>
            </p:txBody>
          </p:sp>
          <p:sp>
            <p:nvSpPr>
              <p:cNvPr id="77" name="Line 77"/>
              <p:cNvSpPr/>
              <p:nvPr/>
            </p:nvSpPr>
            <p:spPr>
              <a:xfrm>
                <a:off x="9677400" y="2743200"/>
                <a:ext cx="1752600" cy="9525"/>
              </a:xfrm>
              <a:custGeom>
                <a:avLst/>
                <a:gdLst/>
                <a:ahLst/>
                <a:cxnLst/>
                <a:rect l="l" t="t" r="r" b="b"/>
                <a:pathLst>
                  <a:path w="1752600" h="9525">
                    <a:moveTo>
                      <a:pt x="0" y="0"/>
                    </a:moveTo>
                    <a:lnTo>
                      <a:pt x="1752600" y="0"/>
                    </a:lnTo>
                  </a:path>
                </a:pathLst>
              </a:custGeom>
              <a:noFill/>
              <a:ln w="9525">
                <a:solidFill>
                  <a:srgbClr val="D5D5D5"/>
                </a:solidFill>
              </a:ln>
            </p:spPr>
          </p:sp>
          <p:sp>
            <p:nvSpPr>
              <p:cNvPr id="78" name="TextBox 78"/>
              <p:cNvSpPr txBox="1"/>
              <p:nvPr/>
            </p:nvSpPr>
            <p:spPr>
              <a:xfrm>
                <a:off x="9665018" y="2885599"/>
                <a:ext cx="1383435"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SOP updates: 12 docs</a:t>
                </a:r>
              </a:p>
            </p:txBody>
          </p:sp>
          <p:sp>
            <p:nvSpPr>
              <p:cNvPr id="79" name="TextBox 79"/>
              <p:cNvSpPr txBox="1"/>
              <p:nvPr/>
            </p:nvSpPr>
            <p:spPr>
              <a:xfrm>
                <a:off x="9665018" y="3114199"/>
                <a:ext cx="1279422"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New user guides for</a:t>
                </a:r>
              </a:p>
            </p:txBody>
          </p:sp>
          <p:sp>
            <p:nvSpPr>
              <p:cNvPr id="80" name="TextBox 80"/>
              <p:cNvSpPr txBox="1"/>
              <p:nvPr/>
            </p:nvSpPr>
            <p:spPr>
              <a:xfrm>
                <a:off x="9665018" y="3304699"/>
                <a:ext cx="1103900"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Concur &amp; S/4HANA</a:t>
                </a:r>
              </a:p>
            </p:txBody>
          </p:sp>
          <p:sp>
            <p:nvSpPr>
              <p:cNvPr id="81" name="TextBox 81"/>
              <p:cNvSpPr txBox="1"/>
              <p:nvPr/>
            </p:nvSpPr>
            <p:spPr>
              <a:xfrm>
                <a:off x="9665018" y="3609499"/>
                <a:ext cx="1402937"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Policy refresh aligned</a:t>
                </a:r>
              </a:p>
            </p:txBody>
          </p:sp>
          <p:sp>
            <p:nvSpPr>
              <p:cNvPr id="82" name="TextBox 82"/>
              <p:cNvSpPr txBox="1"/>
              <p:nvPr/>
            </p:nvSpPr>
            <p:spPr>
              <a:xfrm>
                <a:off x="9665018" y="3799999"/>
                <a:ext cx="1246918"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to PTTEP standards</a:t>
                </a:r>
              </a:p>
            </p:txBody>
          </p:sp>
        </p:grpSp>
      </p:grpSp>
      <p:grpSp>
        <p:nvGrpSpPr>
          <p:cNvPr id="91" name="Group 91"/>
          <p:cNvGrpSpPr/>
          <p:nvPr/>
        </p:nvGrpSpPr>
        <p:grpSpPr>
          <a:xfrm>
            <a:off x="571500" y="6305550"/>
            <a:ext cx="3821811" cy="200025"/>
            <a:chOff x="571500" y="6305550"/>
            <a:chExt cx="3821811" cy="200025"/>
          </a:xfrm>
        </p:grpSpPr>
        <p:sp>
          <p:nvSpPr>
            <p:cNvPr id="85" name="Rectangle 85"/>
            <p:cNvSpPr/>
            <p:nvPr/>
          </p:nvSpPr>
          <p:spPr>
            <a:xfrm>
              <a:off x="571500" y="6305550"/>
              <a:ext cx="133350" cy="133350"/>
            </a:xfrm>
            <a:prstGeom prst="rect">
              <a:avLst/>
            </a:prstGeom>
            <a:solidFill>
              <a:srgbClr val="F4A261"/>
            </a:solidFill>
            <a:ln>
              <a:noFill/>
            </a:ln>
          </p:spPr>
        </p:sp>
        <p:sp>
          <p:nvSpPr>
            <p:cNvPr id="86" name="TextBox 86"/>
            <p:cNvSpPr txBox="1"/>
            <p:nvPr/>
          </p:nvSpPr>
          <p:spPr>
            <a:xfrm>
              <a:off x="769620" y="6322695"/>
              <a:ext cx="682942"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High Impact</a:t>
              </a:r>
            </a:p>
          </p:txBody>
        </p:sp>
        <p:sp>
          <p:nvSpPr>
            <p:cNvPr id="87" name="Rectangle 87"/>
            <p:cNvSpPr/>
            <p:nvPr/>
          </p:nvSpPr>
          <p:spPr>
            <a:xfrm>
              <a:off x="1905000" y="6305550"/>
              <a:ext cx="133350" cy="133350"/>
            </a:xfrm>
            <a:prstGeom prst="rect">
              <a:avLst/>
            </a:prstGeom>
            <a:solidFill>
              <a:srgbClr val="00AEEF"/>
            </a:solidFill>
            <a:ln>
              <a:noFill/>
            </a:ln>
          </p:spPr>
        </p:sp>
        <p:sp>
          <p:nvSpPr>
            <p:cNvPr id="88" name="TextBox 88"/>
            <p:cNvSpPr txBox="1"/>
            <p:nvPr/>
          </p:nvSpPr>
          <p:spPr>
            <a:xfrm>
              <a:off x="2103120" y="6322695"/>
              <a:ext cx="862965"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Medium Impact</a:t>
              </a:r>
            </a:p>
          </p:txBody>
        </p:sp>
        <p:sp>
          <p:nvSpPr>
            <p:cNvPr id="89" name="Rectangle 89"/>
            <p:cNvSpPr/>
            <p:nvPr/>
          </p:nvSpPr>
          <p:spPr>
            <a:xfrm>
              <a:off x="3524250" y="6305550"/>
              <a:ext cx="133350" cy="133350"/>
            </a:xfrm>
            <a:prstGeom prst="rect">
              <a:avLst/>
            </a:prstGeom>
            <a:solidFill>
              <a:srgbClr val="3BBF92"/>
            </a:solidFill>
            <a:ln>
              <a:noFill/>
            </a:ln>
          </p:spPr>
        </p:sp>
        <p:sp>
          <p:nvSpPr>
            <p:cNvPr id="90" name="TextBox 90"/>
            <p:cNvSpPr txBox="1"/>
            <p:nvPr/>
          </p:nvSpPr>
          <p:spPr>
            <a:xfrm>
              <a:off x="3722370" y="6322695"/>
              <a:ext cx="670941"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Low Impact</a:t>
              </a:r>
            </a:p>
          </p:txBody>
        </p:sp>
      </p:grpSp>
      <p:grpSp>
        <p:nvGrpSpPr>
          <p:cNvPr id="94" name="Group 94"/>
          <p:cNvGrpSpPr/>
          <p:nvPr/>
        </p:nvGrpSpPr>
        <p:grpSpPr>
          <a:xfrm>
            <a:off x="7402830" y="6557962"/>
            <a:ext cx="4179570" cy="152400"/>
            <a:chOff x="7402830" y="6557962"/>
            <a:chExt cx="4179570" cy="152400"/>
          </a:xfrm>
        </p:grpSpPr>
        <p:sp>
          <p:nvSpPr>
            <p:cNvPr id="92" name="TextBox 92"/>
            <p:cNvSpPr txBox="1"/>
            <p:nvPr/>
          </p:nvSpPr>
          <p:spPr>
            <a:xfrm>
              <a:off x="7402830" y="6574155"/>
              <a:ext cx="3323653" cy="121920"/>
            </a:xfrm>
            <a:prstGeom prst="rect">
              <a:avLst/>
            </a:prstGeom>
            <a:noFill/>
            <a:ln>
              <a:noFill/>
            </a:ln>
          </p:spPr>
          <p:txBody>
            <a:bodyPr wrap="none" lIns="0" tIns="0" rIns="0" bIns="0" anchor="t" anchorCtr="0">
              <a:spAutoFit/>
            </a:bodyPr>
            <a:lstStyle/>
            <a:p>
              <a:pPr algn="l"/>
              <a:r>
                <a:rPr lang="zh-CN" sz="600" dirty="0">
                  <a:solidFill>
                    <a:srgbClr val="000000"/>
                  </a:solidFill>
                  <a:latin typeface="Arial"/>
                  <a:ea typeface="Microsoft YaHei"/>
                  <a:cs typeface="Arial"/>
                </a:rPr>
                <a:t>Copyright © 2026 Accenture. All rights reserved. Accenture Confidential Information</a:t>
              </a:r>
            </a:p>
          </p:txBody>
        </p:sp>
        <p:sp>
          <p:nvSpPr>
            <p:cNvPr id="93" name="TextBox 93"/>
            <p:cNvSpPr txBox="1"/>
            <p:nvPr/>
          </p:nvSpPr>
          <p:spPr>
            <a:xfrm>
              <a:off x="11508343" y="6557962"/>
              <a:ext cx="74057" cy="152400"/>
            </a:xfrm>
            <a:prstGeom prst="rect">
              <a:avLst/>
            </a:prstGeom>
            <a:noFill/>
            <a:ln>
              <a:noFill/>
            </a:ln>
          </p:spPr>
          <p:txBody>
            <a:bodyPr wrap="none" lIns="0" tIns="0" rIns="0" bIns="0" anchor="t" anchorCtr="0">
              <a:spAutoFit/>
            </a:bodyPr>
            <a:lstStyle/>
            <a:p>
              <a:pPr algn="r"/>
              <a:r>
                <a:rPr lang="zh-CN" sz="750" dirty="0">
                  <a:solidFill>
                    <a:srgbClr val="000000"/>
                  </a:solidFill>
                  <a:latin typeface="Arial"/>
                  <a:ea typeface="Microsoft YaHei"/>
                  <a:cs typeface="Arial"/>
                </a:rPr>
                <a:t>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84"/>
                                        </p:tgtEl>
                                        <p:attrNameLst>
                                          <p:attrName>style.visibility</p:attrName>
                                        </p:attrNameLst>
                                      </p:cBhvr>
                                      <p:to>
                                        <p:strVal val="visible"/>
                                      </p:to>
                                    </p:set>
                                    <p:animEffect transition="in" filter="slide(fromBottom)">
                                      <p:cBhvr>
                                        <p:cTn id="7" dur="400"/>
                                        <p:tgtEl>
                                          <p:spTgt spid="84"/>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91"/>
                                        </p:tgtEl>
                                        <p:attrNameLst>
                                          <p:attrName>style.visibility</p:attrName>
                                        </p:attrNameLst>
                                      </p:cBhvr>
                                      <p:to>
                                        <p:strVal val="visible"/>
                                      </p:to>
                                    </p:set>
                                    <p:animEffect transition="in" filter="wipe(left)">
                                      <p:cBhvr>
                                        <p:cTn id="11" dur="4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4" grpId="0"/>
      <p:bldP spid="9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3739017" cy="476250"/>
            <a:chOff x="0" y="0"/>
            <a:chExt cx="3739017" cy="476250"/>
          </a:xfrm>
        </p:grpSpPr>
        <p:pic>
          <p:nvPicPr>
            <p:cNvPr id="3" name="Image 3"/>
            <p:cNvPicPr>
              <a:picLocks noChangeAspect="1"/>
            </p:cNvPicPr>
            <p:nvPr/>
          </p:nvPicPr>
          <p:blipFill>
            <a:blip r:embed="rId3"/>
            <a:stretch>
              <a:fillRect/>
            </a:stretch>
          </p:blipFill>
          <p:spPr>
            <a:xfrm>
              <a:off x="0" y="0"/>
              <a:ext cx="1466850" cy="381000"/>
            </a:xfrm>
            <a:prstGeom prst="rect">
              <a:avLst/>
            </a:prstGeom>
          </p:spPr>
        </p:pic>
        <p:pic>
          <p:nvPicPr>
            <p:cNvPr id="4" name="Image 4"/>
            <p:cNvPicPr>
              <a:picLocks noChangeAspect="1"/>
            </p:cNvPicPr>
            <p:nvPr/>
          </p:nvPicPr>
          <p:blipFill>
            <a:blip r:embed="rId4"/>
            <a:stretch>
              <a:fillRect/>
            </a:stretch>
          </p:blipFill>
          <p:spPr>
            <a:xfrm>
              <a:off x="1838325" y="19050"/>
              <a:ext cx="1028700" cy="457200"/>
            </a:xfrm>
            <a:prstGeom prst="rect">
              <a:avLst/>
            </a:prstGeom>
          </p:spPr>
        </p:pic>
        <p:pic>
          <p:nvPicPr>
            <p:cNvPr id="5" name="Image 5"/>
            <p:cNvPicPr>
              <a:picLocks noChangeAspect="1"/>
            </p:cNvPicPr>
            <p:nvPr/>
          </p:nvPicPr>
          <p:blipFill>
            <a:blip r:embed="rId5"/>
            <a:stretch>
              <a:fillRect/>
            </a:stretch>
          </p:blipFill>
          <p:spPr>
            <a:xfrm>
              <a:off x="2971800" y="47625"/>
              <a:ext cx="767217" cy="304800"/>
            </a:xfrm>
            <a:prstGeom prst="rect">
              <a:avLst/>
            </a:prstGeom>
          </p:spPr>
        </p:pic>
      </p:grpSp>
      <p:sp>
        <p:nvSpPr>
          <p:cNvPr id="7" name="TextBox 7"/>
          <p:cNvSpPr txBox="1"/>
          <p:nvPr/>
        </p:nvSpPr>
        <p:spPr>
          <a:xfrm>
            <a:off x="923925" y="1852612"/>
            <a:ext cx="3094982" cy="3505200"/>
          </a:xfrm>
          <a:prstGeom prst="rect">
            <a:avLst/>
          </a:prstGeom>
          <a:noFill/>
          <a:ln>
            <a:noFill/>
          </a:ln>
        </p:spPr>
        <p:txBody>
          <a:bodyPr wrap="none" lIns="0" tIns="0" rIns="0" bIns="0" anchor="t" anchorCtr="0">
            <a:spAutoFit/>
          </a:bodyPr>
          <a:lstStyle/>
          <a:p>
            <a:pPr algn="l"/>
            <a:r>
              <a:rPr lang="zh-CN" sz="17250" b="1" dirty="0">
                <a:solidFill>
                  <a:srgbClr val="1B1164">
                    <a:alphaMod val="12000"/>
                  </a:srgbClr>
                </a:solidFill>
                <a:latin typeface="Arial"/>
                <a:ea typeface="Microsoft YaHei"/>
                <a:cs typeface="Arial"/>
              </a:rPr>
              <a:t>02</a:t>
            </a:r>
          </a:p>
        </p:txBody>
      </p:sp>
      <p:grpSp>
        <p:nvGrpSpPr>
          <p:cNvPr id="10" name="Group 10"/>
          <p:cNvGrpSpPr/>
          <p:nvPr/>
        </p:nvGrpSpPr>
        <p:grpSpPr>
          <a:xfrm>
            <a:off x="1097280" y="4069080"/>
            <a:ext cx="6713220" cy="731520"/>
            <a:chOff x="1097280" y="4069080"/>
            <a:chExt cx="6713220" cy="731520"/>
          </a:xfrm>
        </p:grpSpPr>
        <p:sp>
          <p:nvSpPr>
            <p:cNvPr id="8" name="TextBox 8"/>
            <p:cNvSpPr txBox="1"/>
            <p:nvPr/>
          </p:nvSpPr>
          <p:spPr>
            <a:xfrm>
              <a:off x="1097280" y="4069080"/>
              <a:ext cx="6669462" cy="731520"/>
            </a:xfrm>
            <a:prstGeom prst="rect">
              <a:avLst/>
            </a:prstGeom>
            <a:noFill/>
            <a:ln>
              <a:noFill/>
            </a:ln>
          </p:spPr>
          <p:txBody>
            <a:bodyPr wrap="none" lIns="0" tIns="0" rIns="0" bIns="0" anchor="t" anchorCtr="0">
              <a:spAutoFit/>
            </a:bodyPr>
            <a:lstStyle/>
            <a:p>
              <a:pPr algn="l"/>
              <a:r>
                <a:rPr lang="zh-CN" sz="3600" b="1" dirty="0">
                  <a:solidFill>
                    <a:srgbClr val="1B1164"/>
                  </a:solidFill>
                  <a:latin typeface="Arial"/>
                  <a:ea typeface="Microsoft YaHei"/>
                  <a:cs typeface="Arial"/>
                </a:rPr>
                <a:t>Target State &amp; Key Actions</a:t>
              </a:r>
            </a:p>
          </p:txBody>
        </p:sp>
        <p:sp>
          <p:nvSpPr>
            <p:cNvPr id="9" name="Rectangle 9"/>
            <p:cNvSpPr/>
            <p:nvPr/>
          </p:nvSpPr>
          <p:spPr>
            <a:xfrm>
              <a:off x="1143000" y="4572000"/>
              <a:ext cx="6667500" cy="38100"/>
            </a:xfrm>
            <a:prstGeom prst="rect">
              <a:avLst/>
            </a:prstGeom>
            <a:solidFill>
              <a:srgbClr val="3BBF92"/>
            </a:solidFill>
            <a:ln>
              <a:noFill/>
            </a:ln>
          </p:spPr>
        </p:sp>
      </p:grpSp>
      <p:sp>
        <p:nvSpPr>
          <p:cNvPr id="11" name="TextBox 11"/>
          <p:cNvSpPr txBox="1"/>
          <p:nvPr/>
        </p:nvSpPr>
        <p:spPr>
          <a:xfrm>
            <a:off x="11508343" y="6557962"/>
            <a:ext cx="74057" cy="152400"/>
          </a:xfrm>
          <a:prstGeom prst="rect">
            <a:avLst/>
          </a:prstGeom>
          <a:noFill/>
          <a:ln>
            <a:noFill/>
          </a:ln>
        </p:spPr>
        <p:txBody>
          <a:bodyPr wrap="none" lIns="0" tIns="0" rIns="0" bIns="0" anchor="t" anchorCtr="0">
            <a:spAutoFit/>
          </a:bodyPr>
          <a:lstStyle/>
          <a:p>
            <a:pPr algn="r"/>
            <a:r>
              <a:rPr lang="zh-CN" sz="750" dirty="0">
                <a:solidFill>
                  <a:srgbClr val="000000"/>
                </a:solidFill>
                <a:latin typeface="Arial"/>
                <a:ea typeface="Microsoft YaHei"/>
                <a:cs typeface="Arial"/>
              </a:rPr>
              <a:t>6</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3739017" cy="476250"/>
            <a:chOff x="0" y="0"/>
            <a:chExt cx="3739017" cy="476250"/>
          </a:xfrm>
        </p:grpSpPr>
        <p:pic>
          <p:nvPicPr>
            <p:cNvPr id="3" name="Image 3"/>
            <p:cNvPicPr>
              <a:picLocks noChangeAspect="1"/>
            </p:cNvPicPr>
            <p:nvPr/>
          </p:nvPicPr>
          <p:blipFill>
            <a:blip r:embed="rId3"/>
            <a:stretch>
              <a:fillRect/>
            </a:stretch>
          </p:blipFill>
          <p:spPr>
            <a:xfrm>
              <a:off x="0" y="0"/>
              <a:ext cx="1466850" cy="381000"/>
            </a:xfrm>
            <a:prstGeom prst="rect">
              <a:avLst/>
            </a:prstGeom>
          </p:spPr>
        </p:pic>
        <p:pic>
          <p:nvPicPr>
            <p:cNvPr id="4" name="Image 4"/>
            <p:cNvPicPr>
              <a:picLocks noChangeAspect="1"/>
            </p:cNvPicPr>
            <p:nvPr/>
          </p:nvPicPr>
          <p:blipFill>
            <a:blip r:embed="rId4"/>
            <a:stretch>
              <a:fillRect/>
            </a:stretch>
          </p:blipFill>
          <p:spPr>
            <a:xfrm>
              <a:off x="1838325" y="19050"/>
              <a:ext cx="1028700" cy="457200"/>
            </a:xfrm>
            <a:prstGeom prst="rect">
              <a:avLst/>
            </a:prstGeom>
          </p:spPr>
        </p:pic>
        <p:pic>
          <p:nvPicPr>
            <p:cNvPr id="5" name="Image 5"/>
            <p:cNvPicPr>
              <a:picLocks noChangeAspect="1"/>
            </p:cNvPicPr>
            <p:nvPr/>
          </p:nvPicPr>
          <p:blipFill>
            <a:blip r:embed="rId5"/>
            <a:stretch>
              <a:fillRect/>
            </a:stretch>
          </p:blipFill>
          <p:spPr>
            <a:xfrm>
              <a:off x="2971800" y="47625"/>
              <a:ext cx="767217" cy="304800"/>
            </a:xfrm>
            <a:prstGeom prst="rect">
              <a:avLst/>
            </a:prstGeom>
          </p:spPr>
        </p:pic>
      </p:grpSp>
      <p:grpSp>
        <p:nvGrpSpPr>
          <p:cNvPr id="9" name="Group 9"/>
          <p:cNvGrpSpPr/>
          <p:nvPr/>
        </p:nvGrpSpPr>
        <p:grpSpPr>
          <a:xfrm>
            <a:off x="544830" y="592455"/>
            <a:ext cx="11075670" cy="426720"/>
            <a:chOff x="544830" y="592455"/>
            <a:chExt cx="11075670" cy="426720"/>
          </a:xfrm>
        </p:grpSpPr>
        <p:sp>
          <p:nvSpPr>
            <p:cNvPr id="7" name="TextBox 7"/>
            <p:cNvSpPr txBox="1"/>
            <p:nvPr/>
          </p:nvSpPr>
          <p:spPr>
            <a:xfrm>
              <a:off x="544830" y="592455"/>
              <a:ext cx="3522974" cy="426720"/>
            </a:xfrm>
            <a:prstGeom prst="rect">
              <a:avLst/>
            </a:prstGeom>
            <a:noFill/>
            <a:ln>
              <a:noFill/>
            </a:ln>
          </p:spPr>
          <p:txBody>
            <a:bodyPr wrap="none" lIns="0" tIns="0" rIns="0" bIns="0" anchor="t" anchorCtr="0">
              <a:spAutoFit/>
            </a:bodyPr>
            <a:lstStyle/>
            <a:p>
              <a:pPr algn="l"/>
              <a:r>
                <a:rPr lang="zh-CN" sz="2100" b="1" dirty="0">
                  <a:solidFill>
                    <a:srgbClr val="1B1164"/>
                  </a:solidFill>
                  <a:latin typeface="Arial"/>
                  <a:ea typeface="Microsoft YaHei"/>
                  <a:cs typeface="Arial"/>
                </a:rPr>
                <a:t>To-Be System Landscape</a:t>
              </a:r>
            </a:p>
          </p:txBody>
        </p:sp>
        <p:sp>
          <p:nvSpPr>
            <p:cNvPr id="8" name="Rectangle 8"/>
            <p:cNvSpPr/>
            <p:nvPr/>
          </p:nvSpPr>
          <p:spPr>
            <a:xfrm>
              <a:off x="571500" y="952500"/>
              <a:ext cx="11049000" cy="19050"/>
            </a:xfrm>
            <a:prstGeom prst="rect">
              <a:avLst/>
            </a:prstGeom>
            <a:solidFill>
              <a:srgbClr val="00AEEF"/>
            </a:solidFill>
            <a:ln>
              <a:noFill/>
            </a:ln>
          </p:spPr>
        </p:sp>
      </p:grpSp>
      <p:grpSp>
        <p:nvGrpSpPr>
          <p:cNvPr id="15" name="Group 15"/>
          <p:cNvGrpSpPr/>
          <p:nvPr/>
        </p:nvGrpSpPr>
        <p:grpSpPr>
          <a:xfrm>
            <a:off x="571500" y="1066800"/>
            <a:ext cx="11049000" cy="342900"/>
            <a:chOff x="571500" y="1066800"/>
            <a:chExt cx="11049000" cy="342900"/>
          </a:xfrm>
        </p:grpSpPr>
        <p:sp>
          <p:nvSpPr>
            <p:cNvPr id="10" name="Rectangle 10"/>
            <p:cNvSpPr/>
            <p:nvPr/>
          </p:nvSpPr>
          <p:spPr>
            <a:xfrm>
              <a:off x="571500" y="1066800"/>
              <a:ext cx="5048250" cy="342900"/>
            </a:xfrm>
            <a:prstGeom prst="rect">
              <a:avLst/>
            </a:prstGeom>
            <a:solidFill>
              <a:srgbClr val="5E5E5E">
                <a:alpha val="15000"/>
              </a:srgbClr>
            </a:solidFill>
            <a:ln>
              <a:noFill/>
            </a:ln>
          </p:spPr>
        </p:sp>
        <p:sp>
          <p:nvSpPr>
            <p:cNvPr id="11" name="TextBox 11"/>
            <p:cNvSpPr txBox="1"/>
            <p:nvPr/>
          </p:nvSpPr>
          <p:spPr>
            <a:xfrm>
              <a:off x="2898517" y="1182052"/>
              <a:ext cx="394216" cy="213360"/>
            </a:xfrm>
            <a:prstGeom prst="rect">
              <a:avLst/>
            </a:prstGeom>
            <a:noFill/>
            <a:ln>
              <a:noFill/>
            </a:ln>
          </p:spPr>
          <p:txBody>
            <a:bodyPr wrap="none" lIns="0" tIns="0" rIns="0" bIns="0" anchor="t" anchorCtr="0">
              <a:spAutoFit/>
            </a:bodyPr>
            <a:lstStyle/>
            <a:p>
              <a:pPr algn="ctr"/>
              <a:r>
                <a:rPr lang="zh-CN" sz="1050" b="1" dirty="0">
                  <a:solidFill>
                    <a:srgbClr val="5E5E5E"/>
                  </a:solidFill>
                  <a:latin typeface="Arial"/>
                  <a:ea typeface="Microsoft YaHei"/>
                  <a:cs typeface="Arial"/>
                </a:rPr>
                <a:t>AS-IS</a:t>
              </a:r>
            </a:p>
          </p:txBody>
        </p:sp>
        <p:sp>
          <p:nvSpPr>
            <p:cNvPr id="12" name="Rectangle 12"/>
            <p:cNvSpPr/>
            <p:nvPr/>
          </p:nvSpPr>
          <p:spPr>
            <a:xfrm>
              <a:off x="5695950" y="1066800"/>
              <a:ext cx="800100" cy="342900"/>
            </a:xfrm>
            <a:prstGeom prst="rect">
              <a:avLst/>
            </a:prstGeom>
            <a:solidFill>
              <a:srgbClr val="1B1164">
                <a:alpha val="8000"/>
              </a:srgbClr>
            </a:solidFill>
            <a:ln>
              <a:noFill/>
            </a:ln>
          </p:spPr>
        </p:sp>
        <p:sp>
          <p:nvSpPr>
            <p:cNvPr id="13" name="Rectangle 13"/>
            <p:cNvSpPr/>
            <p:nvPr/>
          </p:nvSpPr>
          <p:spPr>
            <a:xfrm>
              <a:off x="6572250" y="1066800"/>
              <a:ext cx="5048250" cy="342900"/>
            </a:xfrm>
            <a:prstGeom prst="rect">
              <a:avLst/>
            </a:prstGeom>
            <a:solidFill>
              <a:srgbClr val="1B1164">
                <a:alpha val="12000"/>
              </a:srgbClr>
            </a:solidFill>
            <a:ln>
              <a:noFill/>
            </a:ln>
          </p:spPr>
        </p:sp>
        <p:sp>
          <p:nvSpPr>
            <p:cNvPr id="14" name="TextBox 14"/>
            <p:cNvSpPr txBox="1"/>
            <p:nvPr/>
          </p:nvSpPr>
          <p:spPr>
            <a:xfrm>
              <a:off x="8866188" y="1182052"/>
              <a:ext cx="460374" cy="213360"/>
            </a:xfrm>
            <a:prstGeom prst="rect">
              <a:avLst/>
            </a:prstGeom>
            <a:noFill/>
            <a:ln>
              <a:noFill/>
            </a:ln>
          </p:spPr>
          <p:txBody>
            <a:bodyPr wrap="none" lIns="0" tIns="0" rIns="0" bIns="0" anchor="t" anchorCtr="0">
              <a:spAutoFit/>
            </a:bodyPr>
            <a:lstStyle/>
            <a:p>
              <a:pPr algn="ctr"/>
              <a:r>
                <a:rPr lang="zh-CN" sz="1050" b="1" dirty="0">
                  <a:solidFill>
                    <a:srgbClr val="1B1164"/>
                  </a:solidFill>
                  <a:latin typeface="Arial"/>
                  <a:ea typeface="Microsoft YaHei"/>
                  <a:cs typeface="Arial"/>
                </a:rPr>
                <a:t>TO-BE</a:t>
              </a:r>
            </a:p>
          </p:txBody>
        </p:sp>
      </p:grpSp>
      <p:grpSp>
        <p:nvGrpSpPr>
          <p:cNvPr id="70" name="Group 70"/>
          <p:cNvGrpSpPr/>
          <p:nvPr/>
        </p:nvGrpSpPr>
        <p:grpSpPr>
          <a:xfrm>
            <a:off x="571500" y="1409700"/>
            <a:ext cx="11049000" cy="4029075"/>
            <a:chOff x="571500" y="1409700"/>
            <a:chExt cx="11049000" cy="4029075"/>
          </a:xfrm>
        </p:grpSpPr>
        <p:grpSp>
          <p:nvGrpSpPr>
            <p:cNvPr id="30" name="Group 30"/>
            <p:cNvGrpSpPr/>
            <p:nvPr/>
          </p:nvGrpSpPr>
          <p:grpSpPr>
            <a:xfrm>
              <a:off x="571500" y="1409700"/>
              <a:ext cx="11049000" cy="1057275"/>
              <a:chOff x="571500" y="1409700"/>
              <a:chExt cx="11049000" cy="1057275"/>
            </a:xfrm>
          </p:grpSpPr>
          <p:sp>
            <p:nvSpPr>
              <p:cNvPr id="16" name="Rectangle 16"/>
              <p:cNvSpPr/>
              <p:nvPr/>
            </p:nvSpPr>
            <p:spPr>
              <a:xfrm>
                <a:off x="571500" y="1409700"/>
                <a:ext cx="5048250" cy="1047750"/>
              </a:xfrm>
              <a:prstGeom prst="rect">
                <a:avLst/>
              </a:prstGeom>
              <a:solidFill>
                <a:srgbClr val="FFFFFF">
                  <a:alpha val="80000"/>
                </a:srgbClr>
              </a:solidFill>
              <a:ln>
                <a:noFill/>
              </a:ln>
            </p:spPr>
          </p:sp>
          <p:sp>
            <p:nvSpPr>
              <p:cNvPr id="17" name="Rectangle 17"/>
              <p:cNvSpPr/>
              <p:nvPr/>
            </p:nvSpPr>
            <p:spPr>
              <a:xfrm>
                <a:off x="571500" y="1409700"/>
                <a:ext cx="38100" cy="1047750"/>
              </a:xfrm>
              <a:prstGeom prst="rect">
                <a:avLst/>
              </a:prstGeom>
              <a:solidFill>
                <a:srgbClr val="C00000"/>
              </a:solidFill>
              <a:ln>
                <a:noFill/>
              </a:ln>
            </p:spPr>
          </p:sp>
          <p:sp>
            <p:nvSpPr>
              <p:cNvPr id="18" name="TextBox 18"/>
              <p:cNvSpPr txBox="1"/>
              <p:nvPr/>
            </p:nvSpPr>
            <p:spPr>
              <a:xfrm>
                <a:off x="709612" y="1574006"/>
                <a:ext cx="902809" cy="228600"/>
              </a:xfrm>
              <a:prstGeom prst="rect">
                <a:avLst/>
              </a:prstGeom>
              <a:noFill/>
              <a:ln>
                <a:noFill/>
              </a:ln>
            </p:spPr>
            <p:txBody>
              <a:bodyPr wrap="none" lIns="0" tIns="0" rIns="0" bIns="0" anchor="t" anchorCtr="0">
                <a:spAutoFit/>
              </a:bodyPr>
              <a:lstStyle/>
              <a:p>
                <a:pPr algn="l"/>
                <a:r>
                  <a:rPr lang="zh-CN" sz="1125" b="1" dirty="0">
                    <a:solidFill>
                      <a:srgbClr val="1B1164"/>
                    </a:solidFill>
                    <a:latin typeface="Arial"/>
                    <a:ea typeface="Microsoft YaHei"/>
                    <a:cs typeface="Arial"/>
                  </a:rPr>
                  <a:t>SAP ECC 6.0</a:t>
                </a:r>
              </a:p>
            </p:txBody>
          </p:sp>
          <p:sp>
            <p:nvSpPr>
              <p:cNvPr id="19" name="TextBox 19"/>
              <p:cNvSpPr txBox="1"/>
              <p:nvPr/>
            </p:nvSpPr>
            <p:spPr>
              <a:xfrm>
                <a:off x="711518" y="1799749"/>
                <a:ext cx="2267545"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Core GL, AP, AR · 140 Finance users</a:t>
                </a:r>
              </a:p>
            </p:txBody>
          </p:sp>
          <p:sp>
            <p:nvSpPr>
              <p:cNvPr id="20" name="TextBox 20"/>
              <p:cNvSpPr txBox="1"/>
              <p:nvPr/>
            </p:nvSpPr>
            <p:spPr>
              <a:xfrm>
                <a:off x="711518" y="2009299"/>
                <a:ext cx="2391061"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Manual month-end close · 5-day cycle</a:t>
                </a:r>
              </a:p>
            </p:txBody>
          </p:sp>
          <p:sp>
            <p:nvSpPr>
              <p:cNvPr id="21" name="TextBox 21"/>
              <p:cNvSpPr txBox="1"/>
              <p:nvPr/>
            </p:nvSpPr>
            <p:spPr>
              <a:xfrm>
                <a:off x="711518" y="2218849"/>
                <a:ext cx="1710751" cy="198120"/>
              </a:xfrm>
              <a:prstGeom prst="rect">
                <a:avLst/>
              </a:prstGeom>
              <a:noFill/>
              <a:ln>
                <a:noFill/>
              </a:ln>
            </p:spPr>
            <p:txBody>
              <a:bodyPr wrap="none" lIns="0" tIns="0" rIns="0" bIns="0" anchor="t" anchorCtr="0">
                <a:spAutoFit/>
              </a:bodyPr>
              <a:lstStyle/>
              <a:p>
                <a:pPr algn="l"/>
                <a:r>
                  <a:rPr lang="zh-CN" sz="975" b="1" dirty="0">
                    <a:solidFill>
                      <a:srgbClr val="C00000"/>
                    </a:solidFill>
                    <a:latin typeface="Arial"/>
                    <a:ea typeface="Microsoft YaHei"/>
                    <a:cs typeface="Arial"/>
                  </a:rPr>
                  <a:t>Decommission by Sep 2026</a:t>
                </a:r>
              </a:p>
            </p:txBody>
          </p:sp>
          <p:sp>
            <p:nvSpPr>
              <p:cNvPr id="22" name="Freeform 22"/>
              <p:cNvSpPr/>
              <p:nvPr/>
            </p:nvSpPr>
            <p:spPr>
              <a:xfrm>
                <a:off x="5826125" y="1799939"/>
                <a:ext cx="533833" cy="305358"/>
              </a:xfrm>
              <a:custGeom>
                <a:avLst/>
                <a:gdLst/>
                <a:ahLst/>
                <a:cxnLst/>
                <a:rect l="l" t="t" r="r" b="b"/>
                <a:pathLst>
                  <a:path w="533833" h="305358">
                    <a:moveTo>
                      <a:pt x="272277" y="6594"/>
                    </a:moveTo>
                    <a:cubicBezTo>
                      <a:pt x="254241" y="12566"/>
                      <a:pt x="242892" y="24569"/>
                      <a:pt x="242888" y="37678"/>
                    </a:cubicBezTo>
                    <a:lnTo>
                      <a:pt x="242861" y="82836"/>
                    </a:lnTo>
                    <a:lnTo>
                      <a:pt x="53975" y="82836"/>
                    </a:lnTo>
                    <a:cubicBezTo>
                      <a:pt x="24165" y="82836"/>
                      <a:pt x="0" y="98472"/>
                      <a:pt x="0" y="117761"/>
                    </a:cubicBezTo>
                    <a:lnTo>
                      <a:pt x="0" y="187611"/>
                    </a:lnTo>
                    <a:lnTo>
                      <a:pt x="135" y="190230"/>
                    </a:lnTo>
                    <a:cubicBezTo>
                      <a:pt x="2253" y="208455"/>
                      <a:pt x="25729" y="222542"/>
                      <a:pt x="53975" y="222536"/>
                    </a:cubicBezTo>
                    <a:lnTo>
                      <a:pt x="242861" y="222518"/>
                    </a:lnTo>
                    <a:lnTo>
                      <a:pt x="242888" y="267694"/>
                    </a:lnTo>
                    <a:cubicBezTo>
                      <a:pt x="242892" y="281817"/>
                      <a:pt x="256043" y="294549"/>
                      <a:pt x="276209" y="299953"/>
                    </a:cubicBezTo>
                    <a:cubicBezTo>
                      <a:pt x="296375" y="305358"/>
                      <a:pt x="319586" y="302371"/>
                      <a:pt x="335023" y="292386"/>
                    </a:cubicBezTo>
                    <a:lnTo>
                      <a:pt x="512763" y="177378"/>
                    </a:lnTo>
                    <a:cubicBezTo>
                      <a:pt x="533833" y="163740"/>
                      <a:pt x="533833" y="141632"/>
                      <a:pt x="512763" y="127994"/>
                    </a:cubicBezTo>
                    <a:lnTo>
                      <a:pt x="335023" y="12986"/>
                    </a:lnTo>
                    <a:cubicBezTo>
                      <a:pt x="319587" y="2991"/>
                      <a:pt x="296365" y="0"/>
                      <a:pt x="276190" y="5407"/>
                    </a:cubicBezTo>
                    <a:lnTo>
                      <a:pt x="272277" y="6594"/>
                    </a:lnTo>
                    <a:close/>
                  </a:path>
                </a:pathLst>
              </a:custGeom>
              <a:solidFill>
                <a:srgbClr val="1B1164"/>
              </a:solidFill>
              <a:ln>
                <a:noFill/>
              </a:ln>
            </p:spPr>
          </p:sp>
          <p:sp>
            <p:nvSpPr>
              <p:cNvPr id="23" name="Rectangle 23"/>
              <p:cNvSpPr/>
              <p:nvPr/>
            </p:nvSpPr>
            <p:spPr>
              <a:xfrm>
                <a:off x="6572250" y="1409700"/>
                <a:ext cx="5048250" cy="1047750"/>
              </a:xfrm>
              <a:prstGeom prst="rect">
                <a:avLst/>
              </a:prstGeom>
              <a:solidFill>
                <a:srgbClr val="FFFFFF">
                  <a:alpha val="90000"/>
                </a:srgbClr>
              </a:solidFill>
              <a:ln>
                <a:noFill/>
              </a:ln>
            </p:spPr>
          </p:sp>
          <p:sp>
            <p:nvSpPr>
              <p:cNvPr id="24" name="Rectangle 24"/>
              <p:cNvSpPr/>
              <p:nvPr/>
            </p:nvSpPr>
            <p:spPr>
              <a:xfrm>
                <a:off x="6572250" y="1409700"/>
                <a:ext cx="38100" cy="1047750"/>
              </a:xfrm>
              <a:prstGeom prst="rect">
                <a:avLst/>
              </a:prstGeom>
              <a:solidFill>
                <a:srgbClr val="3BBF92"/>
              </a:solidFill>
              <a:ln>
                <a:noFill/>
              </a:ln>
            </p:spPr>
          </p:sp>
          <p:sp>
            <p:nvSpPr>
              <p:cNvPr id="25" name="TextBox 25"/>
              <p:cNvSpPr txBox="1"/>
              <p:nvPr/>
            </p:nvSpPr>
            <p:spPr>
              <a:xfrm>
                <a:off x="6710362" y="1574006"/>
                <a:ext cx="942189" cy="228600"/>
              </a:xfrm>
              <a:prstGeom prst="rect">
                <a:avLst/>
              </a:prstGeom>
              <a:noFill/>
              <a:ln>
                <a:noFill/>
              </a:ln>
            </p:spPr>
            <p:txBody>
              <a:bodyPr wrap="none" lIns="0" tIns="0" rIns="0" bIns="0" anchor="t" anchorCtr="0">
                <a:spAutoFit/>
              </a:bodyPr>
              <a:lstStyle/>
              <a:p>
                <a:pPr algn="l"/>
                <a:r>
                  <a:rPr lang="zh-CN" sz="1125" b="1" dirty="0">
                    <a:solidFill>
                      <a:srgbClr val="1B1164"/>
                    </a:solidFill>
                    <a:latin typeface="Arial"/>
                    <a:ea typeface="Microsoft YaHei"/>
                    <a:cs typeface="Arial"/>
                  </a:rPr>
                  <a:t>SAP S/4HANA</a:t>
                </a:r>
              </a:p>
            </p:txBody>
          </p:sp>
          <p:sp>
            <p:nvSpPr>
              <p:cNvPr id="26" name="TextBox 26"/>
              <p:cNvSpPr txBox="1"/>
              <p:nvPr/>
            </p:nvSpPr>
            <p:spPr>
              <a:xfrm>
                <a:off x="6712268" y="1799749"/>
                <a:ext cx="3002137"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Universal Journal · Fiori UX · 140 Finance users</a:t>
                </a:r>
              </a:p>
            </p:txBody>
          </p:sp>
          <p:sp>
            <p:nvSpPr>
              <p:cNvPr id="27" name="TextBox 27"/>
              <p:cNvSpPr txBox="1"/>
              <p:nvPr/>
            </p:nvSpPr>
            <p:spPr>
              <a:xfrm>
                <a:off x="6712268" y="2009299"/>
                <a:ext cx="2397562"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Automated close · Target 2-day cycle</a:t>
                </a:r>
              </a:p>
            </p:txBody>
          </p:sp>
          <p:sp>
            <p:nvSpPr>
              <p:cNvPr id="28" name="TextBox 28"/>
              <p:cNvSpPr txBox="1"/>
              <p:nvPr/>
            </p:nvSpPr>
            <p:spPr>
              <a:xfrm>
                <a:off x="6712268" y="2218849"/>
                <a:ext cx="1151031" cy="198120"/>
              </a:xfrm>
              <a:prstGeom prst="rect">
                <a:avLst/>
              </a:prstGeom>
              <a:noFill/>
              <a:ln>
                <a:noFill/>
              </a:ln>
            </p:spPr>
            <p:txBody>
              <a:bodyPr wrap="none" lIns="0" tIns="0" rIns="0" bIns="0" anchor="t" anchorCtr="0">
                <a:spAutoFit/>
              </a:bodyPr>
              <a:lstStyle/>
              <a:p>
                <a:pPr algn="l"/>
                <a:r>
                  <a:rPr lang="zh-CN" sz="975" b="1" dirty="0">
                    <a:solidFill>
                      <a:srgbClr val="3BBF92"/>
                    </a:solidFill>
                    <a:latin typeface="Arial"/>
                    <a:ea typeface="Microsoft YaHei"/>
                    <a:cs typeface="Arial"/>
                  </a:rPr>
                  <a:t>Go-Live Oct 2026</a:t>
                </a:r>
              </a:p>
            </p:txBody>
          </p:sp>
          <p:sp>
            <p:nvSpPr>
              <p:cNvPr id="29" name="Line 29"/>
              <p:cNvSpPr/>
              <p:nvPr/>
            </p:nvSpPr>
            <p:spPr>
              <a:xfrm>
                <a:off x="571500" y="2457450"/>
                <a:ext cx="11049000" cy="9525"/>
              </a:xfrm>
              <a:custGeom>
                <a:avLst/>
                <a:gdLst/>
                <a:ahLst/>
                <a:cxnLst/>
                <a:rect l="l" t="t" r="r" b="b"/>
                <a:pathLst>
                  <a:path w="11049000" h="9525">
                    <a:moveTo>
                      <a:pt x="0" y="0"/>
                    </a:moveTo>
                    <a:lnTo>
                      <a:pt x="11049000" y="0"/>
                    </a:lnTo>
                  </a:path>
                </a:pathLst>
              </a:custGeom>
              <a:noFill/>
              <a:ln w="9525">
                <a:solidFill>
                  <a:srgbClr val="D5D5D5"/>
                </a:solidFill>
              </a:ln>
            </p:spPr>
          </p:sp>
        </p:grpSp>
        <p:grpSp>
          <p:nvGrpSpPr>
            <p:cNvPr id="45" name="Group 45"/>
            <p:cNvGrpSpPr/>
            <p:nvPr/>
          </p:nvGrpSpPr>
          <p:grpSpPr>
            <a:xfrm>
              <a:off x="571500" y="2466975"/>
              <a:ext cx="11049000" cy="1057275"/>
              <a:chOff x="571500" y="2466975"/>
              <a:chExt cx="11049000" cy="1057275"/>
            </a:xfrm>
          </p:grpSpPr>
          <p:sp>
            <p:nvSpPr>
              <p:cNvPr id="31" name="Rectangle 31"/>
              <p:cNvSpPr/>
              <p:nvPr/>
            </p:nvSpPr>
            <p:spPr>
              <a:xfrm>
                <a:off x="571500" y="2466975"/>
                <a:ext cx="5048250" cy="1047750"/>
              </a:xfrm>
              <a:prstGeom prst="rect">
                <a:avLst/>
              </a:prstGeom>
              <a:solidFill>
                <a:srgbClr val="F5F5F5">
                  <a:alpha val="80000"/>
                </a:srgbClr>
              </a:solidFill>
              <a:ln>
                <a:noFill/>
              </a:ln>
            </p:spPr>
          </p:sp>
          <p:sp>
            <p:nvSpPr>
              <p:cNvPr id="32" name="Rectangle 32"/>
              <p:cNvSpPr/>
              <p:nvPr/>
            </p:nvSpPr>
            <p:spPr>
              <a:xfrm>
                <a:off x="571500" y="2466975"/>
                <a:ext cx="38100" cy="1047750"/>
              </a:xfrm>
              <a:prstGeom prst="rect">
                <a:avLst/>
              </a:prstGeom>
              <a:solidFill>
                <a:srgbClr val="C00000"/>
              </a:solidFill>
              <a:ln>
                <a:noFill/>
              </a:ln>
            </p:spPr>
          </p:sp>
          <p:sp>
            <p:nvSpPr>
              <p:cNvPr id="33" name="TextBox 33"/>
              <p:cNvSpPr txBox="1"/>
              <p:nvPr/>
            </p:nvSpPr>
            <p:spPr>
              <a:xfrm>
                <a:off x="709612" y="2631281"/>
                <a:ext cx="2635526" cy="228600"/>
              </a:xfrm>
              <a:prstGeom prst="rect">
                <a:avLst/>
              </a:prstGeom>
              <a:noFill/>
              <a:ln>
                <a:noFill/>
              </a:ln>
            </p:spPr>
            <p:txBody>
              <a:bodyPr wrap="none" lIns="0" tIns="0" rIns="0" bIns="0" anchor="t" anchorCtr="0">
                <a:spAutoFit/>
              </a:bodyPr>
              <a:lstStyle/>
              <a:p>
                <a:pPr algn="l"/>
                <a:r>
                  <a:rPr lang="zh-CN" sz="1125" b="1" dirty="0">
                    <a:solidFill>
                      <a:srgbClr val="1B1164"/>
                    </a:solidFill>
                    <a:latin typeface="Arial"/>
                    <a:ea typeface="Microsoft YaHei"/>
                    <a:cs typeface="Arial"/>
                  </a:rPr>
                  <a:t>E-Payment Portal + Concur Legacy</a:t>
                </a:r>
              </a:p>
            </p:txBody>
          </p:sp>
          <p:sp>
            <p:nvSpPr>
              <p:cNvPr id="34" name="TextBox 34"/>
              <p:cNvSpPr txBox="1"/>
              <p:nvPr/>
            </p:nvSpPr>
            <p:spPr>
              <a:xfrm>
                <a:off x="711518" y="2857024"/>
                <a:ext cx="2183035"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Parallel systems · 340 requestors</a:t>
                </a:r>
              </a:p>
            </p:txBody>
          </p:sp>
          <p:sp>
            <p:nvSpPr>
              <p:cNvPr id="35" name="TextBox 35"/>
              <p:cNvSpPr txBox="1"/>
              <p:nvPr/>
            </p:nvSpPr>
            <p:spPr>
              <a:xfrm>
                <a:off x="711518" y="3066574"/>
                <a:ext cx="2033516"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Manual paper approval · HQ only</a:t>
                </a:r>
              </a:p>
            </p:txBody>
          </p:sp>
          <p:sp>
            <p:nvSpPr>
              <p:cNvPr id="36" name="TextBox 36"/>
              <p:cNvSpPr txBox="1"/>
              <p:nvPr/>
            </p:nvSpPr>
            <p:spPr>
              <a:xfrm>
                <a:off x="711518" y="3276124"/>
                <a:ext cx="1403587" cy="198120"/>
              </a:xfrm>
              <a:prstGeom prst="rect">
                <a:avLst/>
              </a:prstGeom>
              <a:noFill/>
              <a:ln>
                <a:noFill/>
              </a:ln>
            </p:spPr>
            <p:txBody>
              <a:bodyPr wrap="none" lIns="0" tIns="0" rIns="0" bIns="0" anchor="t" anchorCtr="0">
                <a:spAutoFit/>
              </a:bodyPr>
              <a:lstStyle/>
              <a:p>
                <a:pPr algn="l"/>
                <a:r>
                  <a:rPr lang="zh-CN" sz="975" b="1" dirty="0">
                    <a:solidFill>
                      <a:srgbClr val="C00000"/>
                    </a:solidFill>
                    <a:latin typeface="Arial"/>
                    <a:ea typeface="Microsoft YaHei"/>
                    <a:cs typeface="Arial"/>
                  </a:rPr>
                  <a:t>Both decommissioned</a:t>
                </a:r>
              </a:p>
            </p:txBody>
          </p:sp>
          <p:sp>
            <p:nvSpPr>
              <p:cNvPr id="37" name="Freeform 37"/>
              <p:cNvSpPr/>
              <p:nvPr/>
            </p:nvSpPr>
            <p:spPr>
              <a:xfrm>
                <a:off x="5826125" y="2857214"/>
                <a:ext cx="533833" cy="305358"/>
              </a:xfrm>
              <a:custGeom>
                <a:avLst/>
                <a:gdLst/>
                <a:ahLst/>
                <a:cxnLst/>
                <a:rect l="l" t="t" r="r" b="b"/>
                <a:pathLst>
                  <a:path w="533833" h="305358">
                    <a:moveTo>
                      <a:pt x="272277" y="6594"/>
                    </a:moveTo>
                    <a:cubicBezTo>
                      <a:pt x="254241" y="12566"/>
                      <a:pt x="242892" y="24569"/>
                      <a:pt x="242888" y="37678"/>
                    </a:cubicBezTo>
                    <a:lnTo>
                      <a:pt x="242861" y="82836"/>
                    </a:lnTo>
                    <a:lnTo>
                      <a:pt x="53975" y="82836"/>
                    </a:lnTo>
                    <a:cubicBezTo>
                      <a:pt x="24165" y="82836"/>
                      <a:pt x="0" y="98472"/>
                      <a:pt x="0" y="117761"/>
                    </a:cubicBezTo>
                    <a:lnTo>
                      <a:pt x="0" y="187611"/>
                    </a:lnTo>
                    <a:lnTo>
                      <a:pt x="135" y="190230"/>
                    </a:lnTo>
                    <a:cubicBezTo>
                      <a:pt x="2253" y="208455"/>
                      <a:pt x="25729" y="222542"/>
                      <a:pt x="53975" y="222536"/>
                    </a:cubicBezTo>
                    <a:lnTo>
                      <a:pt x="242861" y="222518"/>
                    </a:lnTo>
                    <a:lnTo>
                      <a:pt x="242888" y="267694"/>
                    </a:lnTo>
                    <a:cubicBezTo>
                      <a:pt x="242892" y="281817"/>
                      <a:pt x="256043" y="294549"/>
                      <a:pt x="276209" y="299953"/>
                    </a:cubicBezTo>
                    <a:cubicBezTo>
                      <a:pt x="296375" y="305358"/>
                      <a:pt x="319586" y="302371"/>
                      <a:pt x="335023" y="292386"/>
                    </a:cubicBezTo>
                    <a:lnTo>
                      <a:pt x="512763" y="177378"/>
                    </a:lnTo>
                    <a:cubicBezTo>
                      <a:pt x="533833" y="163740"/>
                      <a:pt x="533833" y="141632"/>
                      <a:pt x="512763" y="127994"/>
                    </a:cubicBezTo>
                    <a:lnTo>
                      <a:pt x="335023" y="12986"/>
                    </a:lnTo>
                    <a:cubicBezTo>
                      <a:pt x="319587" y="2991"/>
                      <a:pt x="296365" y="0"/>
                      <a:pt x="276190" y="5407"/>
                    </a:cubicBezTo>
                    <a:lnTo>
                      <a:pt x="272277" y="6594"/>
                    </a:lnTo>
                    <a:close/>
                  </a:path>
                </a:pathLst>
              </a:custGeom>
              <a:solidFill>
                <a:srgbClr val="1B1164"/>
              </a:solidFill>
              <a:ln>
                <a:noFill/>
              </a:ln>
            </p:spPr>
          </p:sp>
          <p:sp>
            <p:nvSpPr>
              <p:cNvPr id="38" name="Rectangle 38"/>
              <p:cNvSpPr/>
              <p:nvPr/>
            </p:nvSpPr>
            <p:spPr>
              <a:xfrm>
                <a:off x="6572250" y="2466975"/>
                <a:ext cx="5048250" cy="1047750"/>
              </a:xfrm>
              <a:prstGeom prst="rect">
                <a:avLst/>
              </a:prstGeom>
              <a:solidFill>
                <a:srgbClr val="F5F5F5">
                  <a:alpha val="90000"/>
                </a:srgbClr>
              </a:solidFill>
              <a:ln>
                <a:noFill/>
              </a:ln>
            </p:spPr>
          </p:sp>
          <p:sp>
            <p:nvSpPr>
              <p:cNvPr id="39" name="Rectangle 39"/>
              <p:cNvSpPr/>
              <p:nvPr/>
            </p:nvSpPr>
            <p:spPr>
              <a:xfrm>
                <a:off x="6572250" y="2466975"/>
                <a:ext cx="38100" cy="1047750"/>
              </a:xfrm>
              <a:prstGeom prst="rect">
                <a:avLst/>
              </a:prstGeom>
              <a:solidFill>
                <a:srgbClr val="3BBF92"/>
              </a:solidFill>
              <a:ln>
                <a:noFill/>
              </a:ln>
            </p:spPr>
          </p:sp>
          <p:sp>
            <p:nvSpPr>
              <p:cNvPr id="40" name="TextBox 40"/>
              <p:cNvSpPr txBox="1"/>
              <p:nvPr/>
            </p:nvSpPr>
            <p:spPr>
              <a:xfrm>
                <a:off x="6710362" y="2631281"/>
                <a:ext cx="1769168" cy="228600"/>
              </a:xfrm>
              <a:prstGeom prst="rect">
                <a:avLst/>
              </a:prstGeom>
              <a:noFill/>
              <a:ln>
                <a:noFill/>
              </a:ln>
            </p:spPr>
            <p:txBody>
              <a:bodyPr wrap="none" lIns="0" tIns="0" rIns="0" bIns="0" anchor="t" anchorCtr="0">
                <a:spAutoFit/>
              </a:bodyPr>
              <a:lstStyle/>
              <a:p>
                <a:pPr algn="l"/>
                <a:r>
                  <a:rPr lang="zh-CN" sz="1125" b="1" dirty="0">
                    <a:solidFill>
                      <a:srgbClr val="1B1164"/>
                    </a:solidFill>
                    <a:latin typeface="Arial"/>
                    <a:ea typeface="Microsoft YaHei"/>
                    <a:cs typeface="Arial"/>
                  </a:rPr>
                  <a:t>SAP Concur (upgraded)</a:t>
                </a:r>
              </a:p>
            </p:txBody>
          </p:sp>
          <p:sp>
            <p:nvSpPr>
              <p:cNvPr id="41" name="TextBox 41"/>
              <p:cNvSpPr txBox="1"/>
              <p:nvPr/>
            </p:nvSpPr>
            <p:spPr>
              <a:xfrm>
                <a:off x="6712268" y="2857024"/>
                <a:ext cx="2514576"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Mobile app · All-staff · 340 requestors</a:t>
                </a:r>
              </a:p>
            </p:txBody>
          </p:sp>
          <p:sp>
            <p:nvSpPr>
              <p:cNvPr id="42" name="TextBox 42"/>
              <p:cNvSpPr txBox="1"/>
              <p:nvPr/>
            </p:nvSpPr>
            <p:spPr>
              <a:xfrm>
                <a:off x="6712268" y="3066574"/>
                <a:ext cx="2378059"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Digital approval · Field + HQ coverage</a:t>
                </a:r>
              </a:p>
            </p:txBody>
          </p:sp>
          <p:sp>
            <p:nvSpPr>
              <p:cNvPr id="43" name="TextBox 43"/>
              <p:cNvSpPr txBox="1"/>
              <p:nvPr/>
            </p:nvSpPr>
            <p:spPr>
              <a:xfrm>
                <a:off x="6712268" y="3276124"/>
                <a:ext cx="1123727" cy="198120"/>
              </a:xfrm>
              <a:prstGeom prst="rect">
                <a:avLst/>
              </a:prstGeom>
              <a:noFill/>
              <a:ln>
                <a:noFill/>
              </a:ln>
            </p:spPr>
            <p:txBody>
              <a:bodyPr wrap="none" lIns="0" tIns="0" rIns="0" bIns="0" anchor="t" anchorCtr="0">
                <a:spAutoFit/>
              </a:bodyPr>
              <a:lstStyle/>
              <a:p>
                <a:pPr algn="l"/>
                <a:r>
                  <a:rPr lang="zh-CN" sz="975" b="1" dirty="0">
                    <a:solidFill>
                      <a:srgbClr val="3BBF92"/>
                    </a:solidFill>
                    <a:latin typeface="Arial"/>
                    <a:ea typeface="Microsoft YaHei"/>
                    <a:cs typeface="Arial"/>
                  </a:rPr>
                  <a:t>Go-Live Aug 2026</a:t>
                </a:r>
              </a:p>
            </p:txBody>
          </p:sp>
          <p:sp>
            <p:nvSpPr>
              <p:cNvPr id="44" name="Line 44"/>
              <p:cNvSpPr/>
              <p:nvPr/>
            </p:nvSpPr>
            <p:spPr>
              <a:xfrm>
                <a:off x="571500" y="3514725"/>
                <a:ext cx="11049000" cy="9525"/>
              </a:xfrm>
              <a:custGeom>
                <a:avLst/>
                <a:gdLst/>
                <a:ahLst/>
                <a:cxnLst/>
                <a:rect l="l" t="t" r="r" b="b"/>
                <a:pathLst>
                  <a:path w="11049000" h="9525">
                    <a:moveTo>
                      <a:pt x="0" y="0"/>
                    </a:moveTo>
                    <a:lnTo>
                      <a:pt x="11049000" y="0"/>
                    </a:lnTo>
                  </a:path>
                </a:pathLst>
              </a:custGeom>
              <a:noFill/>
              <a:ln w="9525">
                <a:solidFill>
                  <a:srgbClr val="D5D5D5"/>
                </a:solidFill>
              </a:ln>
            </p:spPr>
          </p:sp>
        </p:grpSp>
        <p:grpSp>
          <p:nvGrpSpPr>
            <p:cNvPr id="60" name="Group 60"/>
            <p:cNvGrpSpPr/>
            <p:nvPr/>
          </p:nvGrpSpPr>
          <p:grpSpPr>
            <a:xfrm>
              <a:off x="571500" y="3524250"/>
              <a:ext cx="11049000" cy="1057275"/>
              <a:chOff x="571500" y="3524250"/>
              <a:chExt cx="11049000" cy="1057275"/>
            </a:xfrm>
          </p:grpSpPr>
          <p:sp>
            <p:nvSpPr>
              <p:cNvPr id="46" name="Rectangle 46"/>
              <p:cNvSpPr/>
              <p:nvPr/>
            </p:nvSpPr>
            <p:spPr>
              <a:xfrm>
                <a:off x="571500" y="3524250"/>
                <a:ext cx="5048250" cy="1047750"/>
              </a:xfrm>
              <a:prstGeom prst="rect">
                <a:avLst/>
              </a:prstGeom>
              <a:solidFill>
                <a:srgbClr val="FFFFFF">
                  <a:alpha val="80000"/>
                </a:srgbClr>
              </a:solidFill>
              <a:ln>
                <a:noFill/>
              </a:ln>
            </p:spPr>
          </p:sp>
          <p:sp>
            <p:nvSpPr>
              <p:cNvPr id="47" name="Rectangle 47"/>
              <p:cNvSpPr/>
              <p:nvPr/>
            </p:nvSpPr>
            <p:spPr>
              <a:xfrm>
                <a:off x="571500" y="3524250"/>
                <a:ext cx="38100" cy="1047750"/>
              </a:xfrm>
              <a:prstGeom prst="rect">
                <a:avLst/>
              </a:prstGeom>
              <a:solidFill>
                <a:srgbClr val="C00000"/>
              </a:solidFill>
              <a:ln>
                <a:noFill/>
              </a:ln>
            </p:spPr>
          </p:sp>
          <p:sp>
            <p:nvSpPr>
              <p:cNvPr id="48" name="TextBox 48"/>
              <p:cNvSpPr txBox="1"/>
              <p:nvPr/>
            </p:nvSpPr>
            <p:spPr>
              <a:xfrm>
                <a:off x="709612" y="3688556"/>
                <a:ext cx="1887307" cy="228600"/>
              </a:xfrm>
              <a:prstGeom prst="rect">
                <a:avLst/>
              </a:prstGeom>
              <a:noFill/>
              <a:ln>
                <a:noFill/>
              </a:ln>
            </p:spPr>
            <p:txBody>
              <a:bodyPr wrap="none" lIns="0" tIns="0" rIns="0" bIns="0" anchor="t" anchorCtr="0">
                <a:spAutoFit/>
              </a:bodyPr>
              <a:lstStyle/>
              <a:p>
                <a:pPr algn="l"/>
                <a:r>
                  <a:rPr lang="zh-CN" sz="1125" b="1" dirty="0">
                    <a:solidFill>
                      <a:srgbClr val="1B1164"/>
                    </a:solidFill>
                    <a:latin typeface="Arial"/>
                    <a:ea typeface="Microsoft YaHei"/>
                    <a:cs typeface="Arial"/>
                  </a:rPr>
                  <a:t>Manual Excel CO Tracker</a:t>
                </a:r>
              </a:p>
            </p:txBody>
          </p:sp>
          <p:sp>
            <p:nvSpPr>
              <p:cNvPr id="49" name="TextBox 49"/>
              <p:cNvSpPr txBox="1"/>
              <p:nvPr/>
            </p:nvSpPr>
            <p:spPr>
              <a:xfrm>
                <a:off x="711518" y="3914299"/>
                <a:ext cx="2020514"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Shadow tool · CO team 20 users</a:t>
                </a:r>
              </a:p>
            </p:txBody>
          </p:sp>
          <p:sp>
            <p:nvSpPr>
              <p:cNvPr id="50" name="TextBox 50"/>
              <p:cNvSpPr txBox="1"/>
              <p:nvPr/>
            </p:nvSpPr>
            <p:spPr>
              <a:xfrm>
                <a:off x="711518" y="4123849"/>
                <a:ext cx="2118027"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No ECC integration · error-prone</a:t>
                </a:r>
              </a:p>
            </p:txBody>
          </p:sp>
          <p:sp>
            <p:nvSpPr>
              <p:cNvPr id="51" name="TextBox 51"/>
              <p:cNvSpPr txBox="1"/>
              <p:nvPr/>
            </p:nvSpPr>
            <p:spPr>
              <a:xfrm>
                <a:off x="711518" y="4333399"/>
                <a:ext cx="1710751" cy="198120"/>
              </a:xfrm>
              <a:prstGeom prst="rect">
                <a:avLst/>
              </a:prstGeom>
              <a:noFill/>
              <a:ln>
                <a:noFill/>
              </a:ln>
            </p:spPr>
            <p:txBody>
              <a:bodyPr wrap="none" lIns="0" tIns="0" rIns="0" bIns="0" anchor="t" anchorCtr="0">
                <a:spAutoFit/>
              </a:bodyPr>
              <a:lstStyle/>
              <a:p>
                <a:pPr algn="l"/>
                <a:r>
                  <a:rPr lang="zh-CN" sz="975" b="1" dirty="0">
                    <a:solidFill>
                      <a:srgbClr val="C00000"/>
                    </a:solidFill>
                    <a:latin typeface="Arial"/>
                    <a:ea typeface="Microsoft YaHei"/>
                    <a:cs typeface="Arial"/>
                  </a:rPr>
                  <a:t>Decommission by Aug 2026</a:t>
                </a:r>
              </a:p>
            </p:txBody>
          </p:sp>
          <p:sp>
            <p:nvSpPr>
              <p:cNvPr id="52" name="Freeform 52"/>
              <p:cNvSpPr/>
              <p:nvPr/>
            </p:nvSpPr>
            <p:spPr>
              <a:xfrm>
                <a:off x="5826125" y="3914489"/>
                <a:ext cx="533833" cy="305358"/>
              </a:xfrm>
              <a:custGeom>
                <a:avLst/>
                <a:gdLst/>
                <a:ahLst/>
                <a:cxnLst/>
                <a:rect l="l" t="t" r="r" b="b"/>
                <a:pathLst>
                  <a:path w="533833" h="305358">
                    <a:moveTo>
                      <a:pt x="272277" y="6594"/>
                    </a:moveTo>
                    <a:cubicBezTo>
                      <a:pt x="254241" y="12566"/>
                      <a:pt x="242892" y="24569"/>
                      <a:pt x="242888" y="37678"/>
                    </a:cubicBezTo>
                    <a:lnTo>
                      <a:pt x="242861" y="82836"/>
                    </a:lnTo>
                    <a:lnTo>
                      <a:pt x="53975" y="82836"/>
                    </a:lnTo>
                    <a:cubicBezTo>
                      <a:pt x="24165" y="82836"/>
                      <a:pt x="0" y="98472"/>
                      <a:pt x="0" y="117761"/>
                    </a:cubicBezTo>
                    <a:lnTo>
                      <a:pt x="0" y="187611"/>
                    </a:lnTo>
                    <a:lnTo>
                      <a:pt x="135" y="190230"/>
                    </a:lnTo>
                    <a:cubicBezTo>
                      <a:pt x="2253" y="208455"/>
                      <a:pt x="25729" y="222542"/>
                      <a:pt x="53975" y="222536"/>
                    </a:cubicBezTo>
                    <a:lnTo>
                      <a:pt x="242861" y="222518"/>
                    </a:lnTo>
                    <a:lnTo>
                      <a:pt x="242888" y="267694"/>
                    </a:lnTo>
                    <a:cubicBezTo>
                      <a:pt x="242892" y="281817"/>
                      <a:pt x="256043" y="294549"/>
                      <a:pt x="276209" y="299953"/>
                    </a:cubicBezTo>
                    <a:cubicBezTo>
                      <a:pt x="296375" y="305358"/>
                      <a:pt x="319586" y="302371"/>
                      <a:pt x="335023" y="292386"/>
                    </a:cubicBezTo>
                    <a:lnTo>
                      <a:pt x="512763" y="177378"/>
                    </a:lnTo>
                    <a:cubicBezTo>
                      <a:pt x="533833" y="163740"/>
                      <a:pt x="533833" y="141632"/>
                      <a:pt x="512763" y="127994"/>
                    </a:cubicBezTo>
                    <a:lnTo>
                      <a:pt x="335023" y="12986"/>
                    </a:lnTo>
                    <a:cubicBezTo>
                      <a:pt x="319587" y="2991"/>
                      <a:pt x="296365" y="0"/>
                      <a:pt x="276190" y="5407"/>
                    </a:cubicBezTo>
                    <a:lnTo>
                      <a:pt x="272277" y="6594"/>
                    </a:lnTo>
                    <a:close/>
                  </a:path>
                </a:pathLst>
              </a:custGeom>
              <a:solidFill>
                <a:srgbClr val="1B1164"/>
              </a:solidFill>
              <a:ln>
                <a:noFill/>
              </a:ln>
            </p:spPr>
          </p:sp>
          <p:sp>
            <p:nvSpPr>
              <p:cNvPr id="53" name="Rectangle 53"/>
              <p:cNvSpPr/>
              <p:nvPr/>
            </p:nvSpPr>
            <p:spPr>
              <a:xfrm>
                <a:off x="6572250" y="3524250"/>
                <a:ext cx="5048250" cy="1047750"/>
              </a:xfrm>
              <a:prstGeom prst="rect">
                <a:avLst/>
              </a:prstGeom>
              <a:solidFill>
                <a:srgbClr val="FFFFFF">
                  <a:alpha val="90000"/>
                </a:srgbClr>
              </a:solidFill>
              <a:ln>
                <a:noFill/>
              </a:ln>
            </p:spPr>
          </p:sp>
          <p:sp>
            <p:nvSpPr>
              <p:cNvPr id="54" name="Rectangle 54"/>
              <p:cNvSpPr/>
              <p:nvPr/>
            </p:nvSpPr>
            <p:spPr>
              <a:xfrm>
                <a:off x="6572250" y="3524250"/>
                <a:ext cx="38100" cy="1047750"/>
              </a:xfrm>
              <a:prstGeom prst="rect">
                <a:avLst/>
              </a:prstGeom>
              <a:solidFill>
                <a:srgbClr val="3BBF92"/>
              </a:solidFill>
              <a:ln>
                <a:noFill/>
              </a:ln>
            </p:spPr>
          </p:sp>
          <p:sp>
            <p:nvSpPr>
              <p:cNvPr id="55" name="TextBox 55"/>
              <p:cNvSpPr txBox="1"/>
              <p:nvPr/>
            </p:nvSpPr>
            <p:spPr>
              <a:xfrm>
                <a:off x="6710362" y="3688556"/>
                <a:ext cx="1942439" cy="228600"/>
              </a:xfrm>
              <a:prstGeom prst="rect">
                <a:avLst/>
              </a:prstGeom>
              <a:noFill/>
              <a:ln>
                <a:noFill/>
              </a:ln>
            </p:spPr>
            <p:txBody>
              <a:bodyPr wrap="none" lIns="0" tIns="0" rIns="0" bIns="0" anchor="t" anchorCtr="0">
                <a:spAutoFit/>
              </a:bodyPr>
              <a:lstStyle/>
              <a:p>
                <a:pPr algn="l"/>
                <a:r>
                  <a:rPr lang="zh-CN" sz="1125" b="1" dirty="0">
                    <a:solidFill>
                      <a:srgbClr val="1B1164"/>
                    </a:solidFill>
                    <a:latin typeface="Arial"/>
                    <a:ea typeface="Microsoft YaHei"/>
                    <a:cs typeface="Arial"/>
                  </a:rPr>
                  <a:t>S/4HANA Controlling (CO)</a:t>
                </a:r>
              </a:p>
            </p:txBody>
          </p:sp>
          <p:sp>
            <p:nvSpPr>
              <p:cNvPr id="56" name="TextBox 56"/>
              <p:cNvSpPr txBox="1"/>
              <p:nvPr/>
            </p:nvSpPr>
            <p:spPr>
              <a:xfrm>
                <a:off x="6712268" y="3914299"/>
                <a:ext cx="2904625"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Native CO module · Real-time budget visibility</a:t>
                </a:r>
              </a:p>
            </p:txBody>
          </p:sp>
          <p:sp>
            <p:nvSpPr>
              <p:cNvPr id="57" name="TextBox 57"/>
              <p:cNvSpPr txBox="1"/>
              <p:nvPr/>
            </p:nvSpPr>
            <p:spPr>
              <a:xfrm>
                <a:off x="6712268" y="4123849"/>
                <a:ext cx="2768108"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Integrated with GL · Single source of truth</a:t>
                </a:r>
              </a:p>
            </p:txBody>
          </p:sp>
          <p:sp>
            <p:nvSpPr>
              <p:cNvPr id="58" name="TextBox 58"/>
              <p:cNvSpPr txBox="1"/>
              <p:nvPr/>
            </p:nvSpPr>
            <p:spPr>
              <a:xfrm>
                <a:off x="6712268" y="4333399"/>
                <a:ext cx="1151031" cy="198120"/>
              </a:xfrm>
              <a:prstGeom prst="rect">
                <a:avLst/>
              </a:prstGeom>
              <a:noFill/>
              <a:ln>
                <a:noFill/>
              </a:ln>
            </p:spPr>
            <p:txBody>
              <a:bodyPr wrap="none" lIns="0" tIns="0" rIns="0" bIns="0" anchor="t" anchorCtr="0">
                <a:spAutoFit/>
              </a:bodyPr>
              <a:lstStyle/>
              <a:p>
                <a:pPr algn="l"/>
                <a:r>
                  <a:rPr lang="zh-CN" sz="975" b="1" dirty="0">
                    <a:solidFill>
                      <a:srgbClr val="3BBF92"/>
                    </a:solidFill>
                    <a:latin typeface="Arial"/>
                    <a:ea typeface="Microsoft YaHei"/>
                    <a:cs typeface="Arial"/>
                  </a:rPr>
                  <a:t>Go-Live Oct 2026</a:t>
                </a:r>
              </a:p>
            </p:txBody>
          </p:sp>
          <p:sp>
            <p:nvSpPr>
              <p:cNvPr id="59" name="Line 59"/>
              <p:cNvSpPr/>
              <p:nvPr/>
            </p:nvSpPr>
            <p:spPr>
              <a:xfrm>
                <a:off x="571500" y="4572000"/>
                <a:ext cx="11049000" cy="9525"/>
              </a:xfrm>
              <a:custGeom>
                <a:avLst/>
                <a:gdLst/>
                <a:ahLst/>
                <a:cxnLst/>
                <a:rect l="l" t="t" r="r" b="b"/>
                <a:pathLst>
                  <a:path w="11049000" h="9525">
                    <a:moveTo>
                      <a:pt x="0" y="0"/>
                    </a:moveTo>
                    <a:lnTo>
                      <a:pt x="11049000" y="0"/>
                    </a:lnTo>
                  </a:path>
                </a:pathLst>
              </a:custGeom>
              <a:noFill/>
              <a:ln w="9525">
                <a:solidFill>
                  <a:srgbClr val="D5D5D5"/>
                </a:solidFill>
              </a:ln>
            </p:spPr>
          </p:sp>
        </p:grpSp>
        <p:grpSp>
          <p:nvGrpSpPr>
            <p:cNvPr id="69" name="Group 69"/>
            <p:cNvGrpSpPr/>
            <p:nvPr/>
          </p:nvGrpSpPr>
          <p:grpSpPr>
            <a:xfrm>
              <a:off x="571500" y="4581525"/>
              <a:ext cx="11049000" cy="857250"/>
              <a:chOff x="571500" y="4581525"/>
              <a:chExt cx="11049000" cy="857250"/>
            </a:xfrm>
          </p:grpSpPr>
          <p:sp>
            <p:nvSpPr>
              <p:cNvPr id="61" name="Rectangle 61"/>
              <p:cNvSpPr/>
              <p:nvPr/>
            </p:nvSpPr>
            <p:spPr>
              <a:xfrm>
                <a:off x="571500" y="4581525"/>
                <a:ext cx="5048250" cy="857250"/>
              </a:xfrm>
              <a:prstGeom prst="rect">
                <a:avLst/>
              </a:prstGeom>
              <a:solidFill>
                <a:srgbClr val="F5F5F5">
                  <a:alpha val="60000"/>
                </a:srgbClr>
              </a:solidFill>
              <a:ln>
                <a:noFill/>
              </a:ln>
            </p:spPr>
          </p:sp>
          <p:sp>
            <p:nvSpPr>
              <p:cNvPr id="62" name="TextBox 62"/>
              <p:cNvSpPr txBox="1"/>
              <p:nvPr/>
            </p:nvSpPr>
            <p:spPr>
              <a:xfrm>
                <a:off x="2399705" y="4973002"/>
                <a:ext cx="1391841" cy="213360"/>
              </a:xfrm>
              <a:prstGeom prst="rect">
                <a:avLst/>
              </a:prstGeom>
              <a:noFill/>
              <a:ln>
                <a:noFill/>
              </a:ln>
            </p:spPr>
            <p:txBody>
              <a:bodyPr wrap="none" lIns="0" tIns="0" rIns="0" bIns="0" anchor="t" anchorCtr="0">
                <a:spAutoFit/>
              </a:bodyPr>
              <a:lstStyle/>
              <a:p>
                <a:pPr algn="ctr"/>
                <a:r>
                  <a:rPr lang="zh-CN" sz="1050" i="1" dirty="0">
                    <a:solidFill>
                      <a:srgbClr val="5E5E5E"/>
                    </a:solidFill>
                    <a:latin typeface="Arial"/>
                    <a:ea typeface="Microsoft YaHei"/>
                    <a:cs typeface="Arial"/>
                  </a:rPr>
                  <a:t>No integration layer</a:t>
                </a:r>
              </a:p>
            </p:txBody>
          </p:sp>
          <p:sp>
            <p:nvSpPr>
              <p:cNvPr id="63" name="Freeform 63"/>
              <p:cNvSpPr/>
              <p:nvPr/>
            </p:nvSpPr>
            <p:spPr>
              <a:xfrm>
                <a:off x="5826125" y="4905089"/>
                <a:ext cx="533833" cy="305358"/>
              </a:xfrm>
              <a:custGeom>
                <a:avLst/>
                <a:gdLst/>
                <a:ahLst/>
                <a:cxnLst/>
                <a:rect l="l" t="t" r="r" b="b"/>
                <a:pathLst>
                  <a:path w="533833" h="305358">
                    <a:moveTo>
                      <a:pt x="272277" y="6594"/>
                    </a:moveTo>
                    <a:cubicBezTo>
                      <a:pt x="254241" y="12566"/>
                      <a:pt x="242892" y="24569"/>
                      <a:pt x="242888" y="37678"/>
                    </a:cubicBezTo>
                    <a:lnTo>
                      <a:pt x="242861" y="82836"/>
                    </a:lnTo>
                    <a:lnTo>
                      <a:pt x="53975" y="82836"/>
                    </a:lnTo>
                    <a:cubicBezTo>
                      <a:pt x="24165" y="82836"/>
                      <a:pt x="0" y="98472"/>
                      <a:pt x="0" y="117761"/>
                    </a:cubicBezTo>
                    <a:lnTo>
                      <a:pt x="0" y="187611"/>
                    </a:lnTo>
                    <a:lnTo>
                      <a:pt x="135" y="190230"/>
                    </a:lnTo>
                    <a:cubicBezTo>
                      <a:pt x="2253" y="208455"/>
                      <a:pt x="25729" y="222542"/>
                      <a:pt x="53975" y="222536"/>
                    </a:cubicBezTo>
                    <a:lnTo>
                      <a:pt x="242861" y="222518"/>
                    </a:lnTo>
                    <a:lnTo>
                      <a:pt x="242888" y="267694"/>
                    </a:lnTo>
                    <a:cubicBezTo>
                      <a:pt x="242892" y="281817"/>
                      <a:pt x="256043" y="294549"/>
                      <a:pt x="276209" y="299953"/>
                    </a:cubicBezTo>
                    <a:cubicBezTo>
                      <a:pt x="296375" y="305358"/>
                      <a:pt x="319586" y="302371"/>
                      <a:pt x="335023" y="292386"/>
                    </a:cubicBezTo>
                    <a:lnTo>
                      <a:pt x="512763" y="177378"/>
                    </a:lnTo>
                    <a:cubicBezTo>
                      <a:pt x="533833" y="163740"/>
                      <a:pt x="533833" y="141632"/>
                      <a:pt x="512763" y="127994"/>
                    </a:cubicBezTo>
                    <a:lnTo>
                      <a:pt x="335023" y="12986"/>
                    </a:lnTo>
                    <a:cubicBezTo>
                      <a:pt x="319587" y="2991"/>
                      <a:pt x="296365" y="0"/>
                      <a:pt x="276190" y="5407"/>
                    </a:cubicBezTo>
                    <a:lnTo>
                      <a:pt x="272277" y="6594"/>
                    </a:lnTo>
                    <a:close/>
                  </a:path>
                </a:pathLst>
              </a:custGeom>
              <a:solidFill>
                <a:srgbClr val="1B1164"/>
              </a:solidFill>
              <a:ln>
                <a:noFill/>
              </a:ln>
            </p:spPr>
          </p:sp>
          <p:sp>
            <p:nvSpPr>
              <p:cNvPr id="64" name="Rectangle 64"/>
              <p:cNvSpPr/>
              <p:nvPr/>
            </p:nvSpPr>
            <p:spPr>
              <a:xfrm>
                <a:off x="6572250" y="4581525"/>
                <a:ext cx="5048250" cy="857250"/>
              </a:xfrm>
              <a:prstGeom prst="rect">
                <a:avLst/>
              </a:prstGeom>
              <a:solidFill>
                <a:srgbClr val="1B1164">
                  <a:alpha val="6000"/>
                </a:srgbClr>
              </a:solidFill>
              <a:ln>
                <a:noFill/>
              </a:ln>
            </p:spPr>
          </p:sp>
          <p:sp>
            <p:nvSpPr>
              <p:cNvPr id="65" name="Rectangle 65"/>
              <p:cNvSpPr/>
              <p:nvPr/>
            </p:nvSpPr>
            <p:spPr>
              <a:xfrm>
                <a:off x="6572250" y="4581525"/>
                <a:ext cx="38100" cy="857250"/>
              </a:xfrm>
              <a:prstGeom prst="rect">
                <a:avLst/>
              </a:prstGeom>
              <a:solidFill>
                <a:srgbClr val="00AEEF"/>
              </a:solidFill>
              <a:ln>
                <a:noFill/>
              </a:ln>
            </p:spPr>
          </p:sp>
          <p:sp>
            <p:nvSpPr>
              <p:cNvPr id="66" name="TextBox 66"/>
              <p:cNvSpPr txBox="1"/>
              <p:nvPr/>
            </p:nvSpPr>
            <p:spPr>
              <a:xfrm>
                <a:off x="6710362" y="4745831"/>
                <a:ext cx="1800671" cy="228600"/>
              </a:xfrm>
              <a:prstGeom prst="rect">
                <a:avLst/>
              </a:prstGeom>
              <a:noFill/>
              <a:ln>
                <a:noFill/>
              </a:ln>
            </p:spPr>
            <p:txBody>
              <a:bodyPr wrap="none" lIns="0" tIns="0" rIns="0" bIns="0" anchor="t" anchorCtr="0">
                <a:spAutoFit/>
              </a:bodyPr>
              <a:lstStyle/>
              <a:p>
                <a:pPr algn="l"/>
                <a:r>
                  <a:rPr lang="zh-CN" sz="1125" b="1" dirty="0">
                    <a:solidFill>
                      <a:srgbClr val="1B1164"/>
                    </a:solidFill>
                    <a:latin typeface="Arial"/>
                    <a:ea typeface="Microsoft YaHei"/>
                    <a:cs typeface="Arial"/>
                  </a:rPr>
                  <a:t>Integration Middleware</a:t>
                </a:r>
              </a:p>
            </p:txBody>
          </p:sp>
          <p:sp>
            <p:nvSpPr>
              <p:cNvPr id="67" name="TextBox 67"/>
              <p:cNvSpPr txBox="1"/>
              <p:nvPr/>
            </p:nvSpPr>
            <p:spPr>
              <a:xfrm>
                <a:off x="6712268" y="4971574"/>
                <a:ext cx="2631591" cy="198120"/>
              </a:xfrm>
              <a:prstGeom prst="rect">
                <a:avLst/>
              </a:prstGeom>
              <a:noFill/>
              <a:ln>
                <a:noFill/>
              </a:ln>
            </p:spPr>
            <p:txBody>
              <a:bodyPr wrap="none" lIns="0" tIns="0" rIns="0" bIns="0" anchor="t" anchorCtr="0">
                <a:spAutoFit/>
              </a:bodyPr>
              <a:lstStyle/>
              <a:p>
                <a:pPr algn="l"/>
                <a:r>
                  <a:rPr lang="zh-CN" sz="975" dirty="0">
                    <a:solidFill>
                      <a:srgbClr val="5E5E5E"/>
                    </a:solidFill>
                    <a:latin typeface="Arial"/>
                    <a:ea typeface="Microsoft YaHei"/>
                    <a:cs typeface="Arial"/>
                  </a:rPr>
                  <a:t>SAP BTP / API Hub · Concur ⇔ S/4HANA sync</a:t>
                </a:r>
              </a:p>
            </p:txBody>
          </p:sp>
          <p:sp>
            <p:nvSpPr>
              <p:cNvPr id="68" name="TextBox 68"/>
              <p:cNvSpPr txBox="1"/>
              <p:nvPr/>
            </p:nvSpPr>
            <p:spPr>
              <a:xfrm>
                <a:off x="6712268" y="5181124"/>
                <a:ext cx="966733" cy="198120"/>
              </a:xfrm>
              <a:prstGeom prst="rect">
                <a:avLst/>
              </a:prstGeom>
              <a:noFill/>
              <a:ln>
                <a:noFill/>
              </a:ln>
            </p:spPr>
            <p:txBody>
              <a:bodyPr wrap="none" lIns="0" tIns="0" rIns="0" bIns="0" anchor="t" anchorCtr="0">
                <a:spAutoFit/>
              </a:bodyPr>
              <a:lstStyle/>
              <a:p>
                <a:pPr algn="l"/>
                <a:r>
                  <a:rPr lang="zh-CN" sz="975" b="1" dirty="0">
                    <a:solidFill>
                      <a:srgbClr val="00AEEF"/>
                    </a:solidFill>
                    <a:latin typeface="Arial"/>
                    <a:ea typeface="Microsoft YaHei"/>
                    <a:cs typeface="Arial"/>
                  </a:rPr>
                  <a:t>New capability</a:t>
                </a:r>
              </a:p>
            </p:txBody>
          </p:sp>
        </p:grpSp>
      </p:grpSp>
      <p:sp>
        <p:nvSpPr>
          <p:cNvPr id="71" name="Rectangle 71"/>
          <p:cNvSpPr/>
          <p:nvPr/>
        </p:nvSpPr>
        <p:spPr>
          <a:xfrm>
            <a:off x="571500" y="1409700"/>
            <a:ext cx="11049000" cy="4029075"/>
          </a:xfrm>
          <a:prstGeom prst="rect">
            <a:avLst/>
          </a:prstGeom>
          <a:noFill/>
          <a:ln w="9525">
            <a:solidFill>
              <a:srgbClr val="D5D5D5"/>
            </a:solidFill>
          </a:ln>
        </p:spPr>
      </p:sp>
      <p:grpSp>
        <p:nvGrpSpPr>
          <p:cNvPr id="78" name="Group 78"/>
          <p:cNvGrpSpPr/>
          <p:nvPr/>
        </p:nvGrpSpPr>
        <p:grpSpPr>
          <a:xfrm>
            <a:off x="571500" y="5543550"/>
            <a:ext cx="4287584" cy="200025"/>
            <a:chOff x="571500" y="5543550"/>
            <a:chExt cx="4287584" cy="200025"/>
          </a:xfrm>
        </p:grpSpPr>
        <p:sp>
          <p:nvSpPr>
            <p:cNvPr id="72" name="Rectangle 72"/>
            <p:cNvSpPr/>
            <p:nvPr/>
          </p:nvSpPr>
          <p:spPr>
            <a:xfrm>
              <a:off x="571500" y="5543550"/>
              <a:ext cx="133350" cy="133350"/>
            </a:xfrm>
            <a:prstGeom prst="rect">
              <a:avLst/>
            </a:prstGeom>
            <a:solidFill>
              <a:srgbClr val="C00000"/>
            </a:solidFill>
            <a:ln>
              <a:noFill/>
            </a:ln>
          </p:spPr>
        </p:sp>
        <p:sp>
          <p:nvSpPr>
            <p:cNvPr id="73" name="TextBox 73"/>
            <p:cNvSpPr txBox="1"/>
            <p:nvPr/>
          </p:nvSpPr>
          <p:spPr>
            <a:xfrm>
              <a:off x="769620" y="5560695"/>
              <a:ext cx="934974"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Decommissioned</a:t>
              </a:r>
            </a:p>
          </p:txBody>
        </p:sp>
        <p:sp>
          <p:nvSpPr>
            <p:cNvPr id="74" name="Rectangle 74"/>
            <p:cNvSpPr/>
            <p:nvPr/>
          </p:nvSpPr>
          <p:spPr>
            <a:xfrm>
              <a:off x="2190750" y="5543550"/>
              <a:ext cx="133350" cy="133350"/>
            </a:xfrm>
            <a:prstGeom prst="rect">
              <a:avLst/>
            </a:prstGeom>
            <a:solidFill>
              <a:srgbClr val="3BBF92"/>
            </a:solidFill>
            <a:ln>
              <a:noFill/>
            </a:ln>
          </p:spPr>
        </p:sp>
        <p:sp>
          <p:nvSpPr>
            <p:cNvPr id="75" name="TextBox 75"/>
            <p:cNvSpPr txBox="1"/>
            <p:nvPr/>
          </p:nvSpPr>
          <p:spPr>
            <a:xfrm>
              <a:off x="2388870" y="5560695"/>
              <a:ext cx="910971"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New / Upgraded</a:t>
              </a:r>
            </a:p>
          </p:txBody>
        </p:sp>
        <p:sp>
          <p:nvSpPr>
            <p:cNvPr id="76" name="Rectangle 76"/>
            <p:cNvSpPr/>
            <p:nvPr/>
          </p:nvSpPr>
          <p:spPr>
            <a:xfrm>
              <a:off x="3810000" y="5543550"/>
              <a:ext cx="133350" cy="133350"/>
            </a:xfrm>
            <a:prstGeom prst="rect">
              <a:avLst/>
            </a:prstGeom>
            <a:solidFill>
              <a:srgbClr val="00AEEF"/>
            </a:solidFill>
            <a:ln>
              <a:noFill/>
            </a:ln>
          </p:spPr>
        </p:sp>
        <p:sp>
          <p:nvSpPr>
            <p:cNvPr id="77" name="TextBox 77"/>
            <p:cNvSpPr txBox="1"/>
            <p:nvPr/>
          </p:nvSpPr>
          <p:spPr>
            <a:xfrm>
              <a:off x="4008120" y="5560695"/>
              <a:ext cx="850964"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New Capability</a:t>
              </a:r>
            </a:p>
          </p:txBody>
        </p:sp>
      </p:grpSp>
      <p:grpSp>
        <p:nvGrpSpPr>
          <p:cNvPr id="81" name="Group 81"/>
          <p:cNvGrpSpPr/>
          <p:nvPr/>
        </p:nvGrpSpPr>
        <p:grpSpPr>
          <a:xfrm>
            <a:off x="7402830" y="6557962"/>
            <a:ext cx="4179570" cy="152400"/>
            <a:chOff x="7402830" y="6557962"/>
            <a:chExt cx="4179570" cy="152400"/>
          </a:xfrm>
        </p:grpSpPr>
        <p:sp>
          <p:nvSpPr>
            <p:cNvPr id="79" name="TextBox 79"/>
            <p:cNvSpPr txBox="1"/>
            <p:nvPr/>
          </p:nvSpPr>
          <p:spPr>
            <a:xfrm>
              <a:off x="7402830" y="6574155"/>
              <a:ext cx="3323653" cy="121920"/>
            </a:xfrm>
            <a:prstGeom prst="rect">
              <a:avLst/>
            </a:prstGeom>
            <a:noFill/>
            <a:ln>
              <a:noFill/>
            </a:ln>
          </p:spPr>
          <p:txBody>
            <a:bodyPr wrap="none" lIns="0" tIns="0" rIns="0" bIns="0" anchor="t" anchorCtr="0">
              <a:spAutoFit/>
            </a:bodyPr>
            <a:lstStyle/>
            <a:p>
              <a:pPr algn="l"/>
              <a:r>
                <a:rPr lang="zh-CN" sz="600" dirty="0">
                  <a:solidFill>
                    <a:srgbClr val="000000"/>
                  </a:solidFill>
                  <a:latin typeface="Arial"/>
                  <a:ea typeface="Microsoft YaHei"/>
                  <a:cs typeface="Arial"/>
                </a:rPr>
                <a:t>Copyright © 2026 Accenture. All rights reserved. Accenture Confidential Information</a:t>
              </a:r>
            </a:p>
          </p:txBody>
        </p:sp>
        <p:sp>
          <p:nvSpPr>
            <p:cNvPr id="80" name="TextBox 80"/>
            <p:cNvSpPr txBox="1"/>
            <p:nvPr/>
          </p:nvSpPr>
          <p:spPr>
            <a:xfrm>
              <a:off x="11508343" y="6557962"/>
              <a:ext cx="74057" cy="152400"/>
            </a:xfrm>
            <a:prstGeom prst="rect">
              <a:avLst/>
            </a:prstGeom>
            <a:noFill/>
            <a:ln>
              <a:noFill/>
            </a:ln>
          </p:spPr>
          <p:txBody>
            <a:bodyPr wrap="none" lIns="0" tIns="0" rIns="0" bIns="0" anchor="t" anchorCtr="0">
              <a:spAutoFit/>
            </a:bodyPr>
            <a:lstStyle/>
            <a:p>
              <a:pPr algn="r"/>
              <a:r>
                <a:rPr lang="zh-CN" sz="750" dirty="0">
                  <a:solidFill>
                    <a:srgbClr val="000000"/>
                  </a:solidFill>
                  <a:latin typeface="Arial"/>
                  <a:ea typeface="Microsoft YaHei"/>
                  <a:cs typeface="Arial"/>
                </a:rPr>
                <a:t>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70"/>
                                        </p:tgtEl>
                                        <p:attrNameLst>
                                          <p:attrName>style.visibility</p:attrName>
                                        </p:attrNameLst>
                                      </p:cBhvr>
                                      <p:to>
                                        <p:strVal val="visible"/>
                                      </p:to>
                                    </p:set>
                                    <p:animEffect transition="in" filter="slide(fromBottom)">
                                      <p:cBhvr>
                                        <p:cTn id="11" dur="400"/>
                                        <p:tgtEl>
                                          <p:spTgt spid="70"/>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78"/>
                                        </p:tgtEl>
                                        <p:attrNameLst>
                                          <p:attrName>style.visibility</p:attrName>
                                        </p:attrNameLst>
                                      </p:cBhvr>
                                      <p:to>
                                        <p:strVal val="visible"/>
                                      </p:to>
                                    </p:set>
                                    <p:animEffect transition="in" filter="wipe(left)">
                                      <p:cBhvr>
                                        <p:cTn id="15" dur="4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70" grpId="0"/>
      <p:bldP spid="7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3739017" cy="476250"/>
            <a:chOff x="0" y="0"/>
            <a:chExt cx="3739017" cy="476250"/>
          </a:xfrm>
        </p:grpSpPr>
        <p:pic>
          <p:nvPicPr>
            <p:cNvPr id="3" name="Image 3"/>
            <p:cNvPicPr>
              <a:picLocks noChangeAspect="1"/>
            </p:cNvPicPr>
            <p:nvPr/>
          </p:nvPicPr>
          <p:blipFill>
            <a:blip r:embed="rId3"/>
            <a:stretch>
              <a:fillRect/>
            </a:stretch>
          </p:blipFill>
          <p:spPr>
            <a:xfrm>
              <a:off x="0" y="0"/>
              <a:ext cx="1466850" cy="381000"/>
            </a:xfrm>
            <a:prstGeom prst="rect">
              <a:avLst/>
            </a:prstGeom>
          </p:spPr>
        </p:pic>
        <p:pic>
          <p:nvPicPr>
            <p:cNvPr id="4" name="Image 4"/>
            <p:cNvPicPr>
              <a:picLocks noChangeAspect="1"/>
            </p:cNvPicPr>
            <p:nvPr/>
          </p:nvPicPr>
          <p:blipFill>
            <a:blip r:embed="rId4"/>
            <a:stretch>
              <a:fillRect/>
            </a:stretch>
          </p:blipFill>
          <p:spPr>
            <a:xfrm>
              <a:off x="1838325" y="19050"/>
              <a:ext cx="1028700" cy="457200"/>
            </a:xfrm>
            <a:prstGeom prst="rect">
              <a:avLst/>
            </a:prstGeom>
          </p:spPr>
        </p:pic>
        <p:pic>
          <p:nvPicPr>
            <p:cNvPr id="5" name="Image 5"/>
            <p:cNvPicPr>
              <a:picLocks noChangeAspect="1"/>
            </p:cNvPicPr>
            <p:nvPr/>
          </p:nvPicPr>
          <p:blipFill>
            <a:blip r:embed="rId5"/>
            <a:stretch>
              <a:fillRect/>
            </a:stretch>
          </p:blipFill>
          <p:spPr>
            <a:xfrm>
              <a:off x="2971800" y="47625"/>
              <a:ext cx="767217" cy="304800"/>
            </a:xfrm>
            <a:prstGeom prst="rect">
              <a:avLst/>
            </a:prstGeom>
          </p:spPr>
        </p:pic>
      </p:grpSp>
      <p:grpSp>
        <p:nvGrpSpPr>
          <p:cNvPr id="9" name="Group 9"/>
          <p:cNvGrpSpPr/>
          <p:nvPr/>
        </p:nvGrpSpPr>
        <p:grpSpPr>
          <a:xfrm>
            <a:off x="544830" y="592455"/>
            <a:ext cx="11075670" cy="426720"/>
            <a:chOff x="544830" y="592455"/>
            <a:chExt cx="11075670" cy="426720"/>
          </a:xfrm>
        </p:grpSpPr>
        <p:sp>
          <p:nvSpPr>
            <p:cNvPr id="7" name="TextBox 7"/>
            <p:cNvSpPr txBox="1"/>
            <p:nvPr/>
          </p:nvSpPr>
          <p:spPr>
            <a:xfrm>
              <a:off x="544830" y="592455"/>
              <a:ext cx="3155428" cy="426720"/>
            </a:xfrm>
            <a:prstGeom prst="rect">
              <a:avLst/>
            </a:prstGeom>
            <a:noFill/>
            <a:ln>
              <a:noFill/>
            </a:ln>
          </p:spPr>
          <p:txBody>
            <a:bodyPr wrap="none" lIns="0" tIns="0" rIns="0" bIns="0" anchor="t" anchorCtr="0">
              <a:spAutoFit/>
            </a:bodyPr>
            <a:lstStyle/>
            <a:p>
              <a:pPr algn="l"/>
              <a:r>
                <a:rPr lang="zh-CN" sz="2100" b="1" dirty="0">
                  <a:solidFill>
                    <a:srgbClr val="1B1164"/>
                  </a:solidFill>
                  <a:latin typeface="Arial"/>
                  <a:ea typeface="Microsoft YaHei"/>
                  <a:cs typeface="Arial"/>
                </a:rPr>
                <a:t>Key Actions &amp; Timeline</a:t>
              </a:r>
            </a:p>
          </p:txBody>
        </p:sp>
        <p:sp>
          <p:nvSpPr>
            <p:cNvPr id="8" name="Rectangle 8"/>
            <p:cNvSpPr/>
            <p:nvPr/>
          </p:nvSpPr>
          <p:spPr>
            <a:xfrm>
              <a:off x="571500" y="952500"/>
              <a:ext cx="11049000" cy="19050"/>
            </a:xfrm>
            <a:prstGeom prst="rect">
              <a:avLst/>
            </a:prstGeom>
            <a:solidFill>
              <a:srgbClr val="00AEEF"/>
            </a:solidFill>
            <a:ln>
              <a:noFill/>
            </a:ln>
          </p:spPr>
        </p:sp>
      </p:grpSp>
      <p:grpSp>
        <p:nvGrpSpPr>
          <p:cNvPr id="73" name="Group 73"/>
          <p:cNvGrpSpPr/>
          <p:nvPr/>
        </p:nvGrpSpPr>
        <p:grpSpPr>
          <a:xfrm>
            <a:off x="695325" y="1219200"/>
            <a:ext cx="10991850" cy="4438650"/>
            <a:chOff x="695325" y="1219200"/>
            <a:chExt cx="10991850" cy="4438650"/>
          </a:xfrm>
        </p:grpSpPr>
        <p:sp>
          <p:nvSpPr>
            <p:cNvPr id="10" name="Line 10"/>
            <p:cNvSpPr/>
            <p:nvPr/>
          </p:nvSpPr>
          <p:spPr>
            <a:xfrm>
              <a:off x="952500" y="3429000"/>
              <a:ext cx="10668000" cy="9525"/>
            </a:xfrm>
            <a:custGeom>
              <a:avLst/>
              <a:gdLst/>
              <a:ahLst/>
              <a:cxnLst/>
              <a:rect l="l" t="t" r="r" b="b"/>
              <a:pathLst>
                <a:path w="10668000" h="9525">
                  <a:moveTo>
                    <a:pt x="0" y="0"/>
                  </a:moveTo>
                  <a:lnTo>
                    <a:pt x="10668000" y="0"/>
                  </a:lnTo>
                </a:path>
              </a:pathLst>
            </a:custGeom>
            <a:noFill/>
            <a:ln w="19050">
              <a:solidFill>
                <a:srgbClr val="D5D5D5"/>
              </a:solidFill>
            </a:ln>
          </p:spPr>
        </p:sp>
        <p:grpSp>
          <p:nvGrpSpPr>
            <p:cNvPr id="25" name="Group 25"/>
            <p:cNvGrpSpPr/>
            <p:nvPr/>
          </p:nvGrpSpPr>
          <p:grpSpPr>
            <a:xfrm>
              <a:off x="695325" y="1219200"/>
              <a:ext cx="2286000" cy="2664619"/>
              <a:chOff x="695325" y="1219200"/>
              <a:chExt cx="2286000" cy="2664619"/>
            </a:xfrm>
          </p:grpSpPr>
          <p:sp>
            <p:nvSpPr>
              <p:cNvPr id="11" name="Ellipse 11"/>
              <p:cNvSpPr/>
              <p:nvPr/>
            </p:nvSpPr>
            <p:spPr>
              <a:xfrm>
                <a:off x="1666875" y="3257550"/>
                <a:ext cx="342900" cy="342900"/>
              </a:xfrm>
              <a:prstGeom prst="ellipse">
                <a:avLst/>
              </a:prstGeom>
              <a:solidFill>
                <a:srgbClr val="1B1164"/>
              </a:solidFill>
              <a:ln>
                <a:noFill/>
              </a:ln>
            </p:spPr>
          </p:sp>
          <p:sp>
            <p:nvSpPr>
              <p:cNvPr id="12" name="TextBox 12"/>
              <p:cNvSpPr txBox="1"/>
              <p:nvPr/>
            </p:nvSpPr>
            <p:spPr>
              <a:xfrm>
                <a:off x="1792241" y="3379470"/>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1</a:t>
                </a:r>
              </a:p>
            </p:txBody>
          </p:sp>
          <p:sp>
            <p:nvSpPr>
              <p:cNvPr id="13" name="Line 13"/>
              <p:cNvSpPr/>
              <p:nvPr/>
            </p:nvSpPr>
            <p:spPr>
              <a:xfrm>
                <a:off x="1838325" y="1905000"/>
                <a:ext cx="9525" cy="1352550"/>
              </a:xfrm>
              <a:custGeom>
                <a:avLst/>
                <a:gdLst/>
                <a:ahLst/>
                <a:cxnLst/>
                <a:rect l="l" t="t" r="r" b="b"/>
                <a:pathLst>
                  <a:path w="9525" h="1352550">
                    <a:moveTo>
                      <a:pt x="0" y="1352550"/>
                    </a:moveTo>
                    <a:lnTo>
                      <a:pt x="0" y="0"/>
                    </a:lnTo>
                  </a:path>
                </a:pathLst>
              </a:custGeom>
              <a:noFill/>
              <a:ln w="9525">
                <a:solidFill>
                  <a:srgbClr val="1B1164"/>
                </a:solidFill>
                <a:custDash>
                  <a:ds d="400000" sp="300000"/>
                </a:custDash>
              </a:ln>
            </p:spPr>
          </p:sp>
          <p:sp>
            <p:nvSpPr>
              <p:cNvPr id="14" name="Rectangle 14"/>
              <p:cNvSpPr/>
              <p:nvPr/>
            </p:nvSpPr>
            <p:spPr>
              <a:xfrm>
                <a:off x="695325" y="1219200"/>
                <a:ext cx="2286000" cy="1638300"/>
              </a:xfrm>
              <a:prstGeom prst="roundRect">
                <a:avLst>
                  <a:gd name="adj" fmla="val 3488"/>
                </a:avLst>
              </a:prstGeom>
              <a:solidFill>
                <a:srgbClr val="FFFFFF">
                  <a:alpha val="92000"/>
                </a:srgbClr>
              </a:solidFill>
              <a:ln>
                <a:noFill/>
              </a:ln>
            </p:spPr>
          </p:sp>
          <p:sp>
            <p:nvSpPr>
              <p:cNvPr id="15" name="Rectangle 15"/>
              <p:cNvSpPr/>
              <p:nvPr/>
            </p:nvSpPr>
            <p:spPr>
              <a:xfrm>
                <a:off x="695325" y="1219200"/>
                <a:ext cx="2286000" cy="57150"/>
              </a:xfrm>
              <a:prstGeom prst="roundRect">
                <a:avLst>
                  <a:gd name="adj" fmla="val 50000"/>
                </a:avLst>
              </a:prstGeom>
              <a:solidFill>
                <a:srgbClr val="1B1164"/>
              </a:solidFill>
              <a:ln>
                <a:noFill/>
              </a:ln>
            </p:spPr>
          </p:sp>
          <p:sp>
            <p:nvSpPr>
              <p:cNvPr id="16" name="TextBox 16"/>
              <p:cNvSpPr txBox="1"/>
              <p:nvPr/>
            </p:nvSpPr>
            <p:spPr>
              <a:xfrm>
                <a:off x="1559734" y="1399699"/>
                <a:ext cx="557182" cy="198120"/>
              </a:xfrm>
              <a:prstGeom prst="rect">
                <a:avLst/>
              </a:prstGeom>
              <a:noFill/>
              <a:ln>
                <a:noFill/>
              </a:ln>
            </p:spPr>
            <p:txBody>
              <a:bodyPr wrap="none" lIns="0" tIns="0" rIns="0" bIns="0" anchor="t" anchorCtr="0">
                <a:spAutoFit/>
              </a:bodyPr>
              <a:lstStyle/>
              <a:p>
                <a:pPr algn="ctr"/>
                <a:r>
                  <a:rPr lang="zh-CN" sz="975" b="1" dirty="0">
                    <a:solidFill>
                      <a:srgbClr val="1B1164"/>
                    </a:solidFill>
                    <a:latin typeface="Arial"/>
                    <a:ea typeface="Microsoft YaHei"/>
                    <a:cs typeface="Arial"/>
                  </a:rPr>
                  <a:t>Jul 2026</a:t>
                </a:r>
              </a:p>
            </p:txBody>
          </p:sp>
          <p:sp>
            <p:nvSpPr>
              <p:cNvPr id="17" name="TextBox 17"/>
              <p:cNvSpPr txBox="1"/>
              <p:nvPr/>
            </p:nvSpPr>
            <p:spPr>
              <a:xfrm>
                <a:off x="1439067" y="1563052"/>
                <a:ext cx="798516" cy="213360"/>
              </a:xfrm>
              <a:prstGeom prst="rect">
                <a:avLst/>
              </a:prstGeom>
              <a:noFill/>
              <a:ln>
                <a:noFill/>
              </a:ln>
            </p:spPr>
            <p:txBody>
              <a:bodyPr wrap="none" lIns="0" tIns="0" rIns="0" bIns="0" anchor="t" anchorCtr="0">
                <a:spAutoFit/>
              </a:bodyPr>
              <a:lstStyle/>
              <a:p>
                <a:pPr algn="ctr"/>
                <a:r>
                  <a:rPr lang="zh-CN" sz="1050" b="1" dirty="0">
                    <a:solidFill>
                      <a:srgbClr val="1B1164"/>
                    </a:solidFill>
                    <a:latin typeface="Arial"/>
                    <a:ea typeface="Microsoft YaHei"/>
                    <a:cs typeface="Arial"/>
                  </a:rPr>
                  <a:t>Foundation</a:t>
                </a:r>
              </a:p>
            </p:txBody>
          </p:sp>
          <p:sp>
            <p:nvSpPr>
              <p:cNvPr id="18" name="Line 18"/>
              <p:cNvSpPr/>
              <p:nvPr/>
            </p:nvSpPr>
            <p:spPr>
              <a:xfrm>
                <a:off x="885825" y="1762125"/>
                <a:ext cx="1905000" cy="9525"/>
              </a:xfrm>
              <a:custGeom>
                <a:avLst/>
                <a:gdLst/>
                <a:ahLst/>
                <a:cxnLst/>
                <a:rect l="l" t="t" r="r" b="b"/>
                <a:pathLst>
                  <a:path w="1905000" h="9525">
                    <a:moveTo>
                      <a:pt x="0" y="0"/>
                    </a:moveTo>
                    <a:lnTo>
                      <a:pt x="1905000" y="0"/>
                    </a:lnTo>
                  </a:path>
                </a:pathLst>
              </a:custGeom>
              <a:noFill/>
              <a:ln w="9525">
                <a:solidFill>
                  <a:srgbClr val="D5D5D5"/>
                </a:solidFill>
              </a:ln>
            </p:spPr>
          </p:sp>
          <p:sp>
            <p:nvSpPr>
              <p:cNvPr id="19" name="TextBox 19"/>
              <p:cNvSpPr txBox="1"/>
              <p:nvPr/>
            </p:nvSpPr>
            <p:spPr>
              <a:xfrm>
                <a:off x="874395" y="1845945"/>
                <a:ext cx="1421035"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Kick-off &amp; governance</a:t>
                </a:r>
              </a:p>
            </p:txBody>
          </p:sp>
          <p:sp>
            <p:nvSpPr>
              <p:cNvPr id="20" name="TextBox 20"/>
              <p:cNvSpPr txBox="1"/>
              <p:nvPr/>
            </p:nvSpPr>
            <p:spPr>
              <a:xfrm>
                <a:off x="874395" y="2017395"/>
                <a:ext cx="1313021"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Stakeholder mapping</a:t>
                </a:r>
              </a:p>
            </p:txBody>
          </p:sp>
          <p:sp>
            <p:nvSpPr>
              <p:cNvPr id="21" name="TextBox 21"/>
              <p:cNvSpPr txBox="1"/>
              <p:nvPr/>
            </p:nvSpPr>
            <p:spPr>
              <a:xfrm>
                <a:off x="874395" y="2188845"/>
                <a:ext cx="1703070"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Data migration assessment</a:t>
                </a:r>
              </a:p>
            </p:txBody>
          </p:sp>
          <p:sp>
            <p:nvSpPr>
              <p:cNvPr id="22" name="TextBox 22"/>
              <p:cNvSpPr txBox="1"/>
              <p:nvPr/>
            </p:nvSpPr>
            <p:spPr>
              <a:xfrm>
                <a:off x="874395" y="2360295"/>
                <a:ext cx="1463040"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Training needs analysis</a:t>
                </a:r>
              </a:p>
            </p:txBody>
          </p:sp>
          <p:sp>
            <p:nvSpPr>
              <p:cNvPr id="23" name="TextBox 23"/>
              <p:cNvSpPr txBox="1"/>
              <p:nvPr/>
            </p:nvSpPr>
            <p:spPr>
              <a:xfrm>
                <a:off x="874395" y="2569845"/>
                <a:ext cx="1181005"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SOP gap inventory</a:t>
                </a:r>
              </a:p>
            </p:txBody>
          </p:sp>
          <p:sp>
            <p:nvSpPr>
              <p:cNvPr id="24" name="TextBox 24"/>
              <p:cNvSpPr txBox="1"/>
              <p:nvPr/>
            </p:nvSpPr>
            <p:spPr>
              <a:xfrm>
                <a:off x="1730381" y="3685699"/>
                <a:ext cx="215889" cy="198120"/>
              </a:xfrm>
              <a:prstGeom prst="rect">
                <a:avLst/>
              </a:prstGeom>
              <a:noFill/>
              <a:ln>
                <a:noFill/>
              </a:ln>
            </p:spPr>
            <p:txBody>
              <a:bodyPr wrap="none" lIns="0" tIns="0" rIns="0" bIns="0" anchor="t" anchorCtr="0">
                <a:spAutoFit/>
              </a:bodyPr>
              <a:lstStyle/>
              <a:p>
                <a:pPr algn="ctr"/>
                <a:r>
                  <a:rPr lang="zh-CN" sz="975" b="1" dirty="0">
                    <a:solidFill>
                      <a:srgbClr val="1B1164"/>
                    </a:solidFill>
                    <a:latin typeface="Arial"/>
                    <a:ea typeface="Microsoft YaHei"/>
                    <a:cs typeface="Arial"/>
                  </a:rPr>
                  <a:t>Jul</a:t>
                </a:r>
              </a:p>
            </p:txBody>
          </p:sp>
        </p:grpSp>
        <p:grpSp>
          <p:nvGrpSpPr>
            <p:cNvPr id="40" name="Group 40"/>
            <p:cNvGrpSpPr/>
            <p:nvPr/>
          </p:nvGrpSpPr>
          <p:grpSpPr>
            <a:xfrm>
              <a:off x="3362325" y="3257550"/>
              <a:ext cx="2286000" cy="2400300"/>
              <a:chOff x="3362325" y="3257550"/>
              <a:chExt cx="2286000" cy="2400300"/>
            </a:xfrm>
          </p:grpSpPr>
          <p:sp>
            <p:nvSpPr>
              <p:cNvPr id="26" name="Ellipse 26"/>
              <p:cNvSpPr/>
              <p:nvPr/>
            </p:nvSpPr>
            <p:spPr>
              <a:xfrm>
                <a:off x="4333875" y="3257550"/>
                <a:ext cx="342900" cy="342900"/>
              </a:xfrm>
              <a:prstGeom prst="ellipse">
                <a:avLst/>
              </a:prstGeom>
              <a:solidFill>
                <a:srgbClr val="00AEEF"/>
              </a:solidFill>
              <a:ln>
                <a:noFill/>
              </a:ln>
            </p:spPr>
          </p:sp>
          <p:sp>
            <p:nvSpPr>
              <p:cNvPr id="27" name="TextBox 27"/>
              <p:cNvSpPr txBox="1"/>
              <p:nvPr/>
            </p:nvSpPr>
            <p:spPr>
              <a:xfrm>
                <a:off x="4459241" y="3379470"/>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2</a:t>
                </a:r>
              </a:p>
            </p:txBody>
          </p:sp>
          <p:sp>
            <p:nvSpPr>
              <p:cNvPr id="28" name="Line 28"/>
              <p:cNvSpPr/>
              <p:nvPr/>
            </p:nvSpPr>
            <p:spPr>
              <a:xfrm>
                <a:off x="4505325" y="3600450"/>
                <a:ext cx="9525" cy="1352550"/>
              </a:xfrm>
              <a:custGeom>
                <a:avLst/>
                <a:gdLst/>
                <a:ahLst/>
                <a:cxnLst/>
                <a:rect l="l" t="t" r="r" b="b"/>
                <a:pathLst>
                  <a:path w="9525" h="1352550">
                    <a:moveTo>
                      <a:pt x="0" y="0"/>
                    </a:moveTo>
                    <a:lnTo>
                      <a:pt x="0" y="1352550"/>
                    </a:lnTo>
                  </a:path>
                </a:pathLst>
              </a:custGeom>
              <a:noFill/>
              <a:ln w="9525">
                <a:solidFill>
                  <a:srgbClr val="00AEEF"/>
                </a:solidFill>
                <a:custDash>
                  <a:ds d="400000" sp="300000"/>
                </a:custDash>
              </a:ln>
            </p:spPr>
          </p:sp>
          <p:sp>
            <p:nvSpPr>
              <p:cNvPr id="29" name="Rectangle 29"/>
              <p:cNvSpPr/>
              <p:nvPr/>
            </p:nvSpPr>
            <p:spPr>
              <a:xfrm>
                <a:off x="3362325" y="4019550"/>
                <a:ext cx="2286000" cy="1638300"/>
              </a:xfrm>
              <a:prstGeom prst="roundRect">
                <a:avLst>
                  <a:gd name="adj" fmla="val 3488"/>
                </a:avLst>
              </a:prstGeom>
              <a:solidFill>
                <a:srgbClr val="FFFFFF">
                  <a:alpha val="92000"/>
                </a:srgbClr>
              </a:solidFill>
              <a:ln>
                <a:noFill/>
              </a:ln>
            </p:spPr>
          </p:sp>
          <p:sp>
            <p:nvSpPr>
              <p:cNvPr id="30" name="Rectangle 30"/>
              <p:cNvSpPr/>
              <p:nvPr/>
            </p:nvSpPr>
            <p:spPr>
              <a:xfrm>
                <a:off x="3362325" y="4019550"/>
                <a:ext cx="2286000" cy="57150"/>
              </a:xfrm>
              <a:prstGeom prst="roundRect">
                <a:avLst>
                  <a:gd name="adj" fmla="val 50000"/>
                </a:avLst>
              </a:prstGeom>
              <a:solidFill>
                <a:srgbClr val="00AEEF"/>
              </a:solidFill>
              <a:ln>
                <a:noFill/>
              </a:ln>
            </p:spPr>
          </p:sp>
          <p:sp>
            <p:nvSpPr>
              <p:cNvPr id="31" name="TextBox 31"/>
              <p:cNvSpPr txBox="1"/>
              <p:nvPr/>
            </p:nvSpPr>
            <p:spPr>
              <a:xfrm>
                <a:off x="4209670" y="4200049"/>
                <a:ext cx="591311" cy="198120"/>
              </a:xfrm>
              <a:prstGeom prst="rect">
                <a:avLst/>
              </a:prstGeom>
              <a:noFill/>
              <a:ln>
                <a:noFill/>
              </a:ln>
            </p:spPr>
            <p:txBody>
              <a:bodyPr wrap="none" lIns="0" tIns="0" rIns="0" bIns="0" anchor="t" anchorCtr="0">
                <a:spAutoFit/>
              </a:bodyPr>
              <a:lstStyle/>
              <a:p>
                <a:pPr algn="ctr"/>
                <a:r>
                  <a:rPr lang="zh-CN" sz="975" b="1" dirty="0">
                    <a:solidFill>
                      <a:srgbClr val="1B1164"/>
                    </a:solidFill>
                    <a:latin typeface="Arial"/>
                    <a:ea typeface="Microsoft YaHei"/>
                    <a:cs typeface="Arial"/>
                  </a:rPr>
                  <a:t>Aug 2026</a:t>
                </a:r>
              </a:p>
            </p:txBody>
          </p:sp>
          <p:sp>
            <p:nvSpPr>
              <p:cNvPr id="32" name="TextBox 32"/>
              <p:cNvSpPr txBox="1"/>
              <p:nvPr/>
            </p:nvSpPr>
            <p:spPr>
              <a:xfrm>
                <a:off x="3962724" y="4363402"/>
                <a:ext cx="1085202" cy="213360"/>
              </a:xfrm>
              <a:prstGeom prst="rect">
                <a:avLst/>
              </a:prstGeom>
              <a:noFill/>
              <a:ln>
                <a:noFill/>
              </a:ln>
            </p:spPr>
            <p:txBody>
              <a:bodyPr wrap="none" lIns="0" tIns="0" rIns="0" bIns="0" anchor="t" anchorCtr="0">
                <a:spAutoFit/>
              </a:bodyPr>
              <a:lstStyle/>
              <a:p>
                <a:pPr algn="ctr"/>
                <a:r>
                  <a:rPr lang="zh-CN" sz="1050" b="1" dirty="0">
                    <a:solidFill>
                      <a:srgbClr val="1B1164"/>
                    </a:solidFill>
                    <a:latin typeface="Arial"/>
                    <a:ea typeface="Microsoft YaHei"/>
                    <a:cs typeface="Arial"/>
                  </a:rPr>
                  <a:t>Concur Go-Live</a:t>
                </a:r>
              </a:p>
            </p:txBody>
          </p:sp>
          <p:sp>
            <p:nvSpPr>
              <p:cNvPr id="33" name="Line 33"/>
              <p:cNvSpPr/>
              <p:nvPr/>
            </p:nvSpPr>
            <p:spPr>
              <a:xfrm>
                <a:off x="3552825" y="4562475"/>
                <a:ext cx="1905000" cy="9525"/>
              </a:xfrm>
              <a:custGeom>
                <a:avLst/>
                <a:gdLst/>
                <a:ahLst/>
                <a:cxnLst/>
                <a:rect l="l" t="t" r="r" b="b"/>
                <a:pathLst>
                  <a:path w="1905000" h="9525">
                    <a:moveTo>
                      <a:pt x="0" y="0"/>
                    </a:moveTo>
                    <a:lnTo>
                      <a:pt x="1905000" y="0"/>
                    </a:lnTo>
                  </a:path>
                </a:pathLst>
              </a:custGeom>
              <a:noFill/>
              <a:ln w="9525">
                <a:solidFill>
                  <a:srgbClr val="D5D5D5"/>
                </a:solidFill>
              </a:ln>
            </p:spPr>
          </p:sp>
          <p:sp>
            <p:nvSpPr>
              <p:cNvPr id="34" name="TextBox 34"/>
              <p:cNvSpPr txBox="1"/>
              <p:nvPr/>
            </p:nvSpPr>
            <p:spPr>
              <a:xfrm>
                <a:off x="3541395" y="4646295"/>
                <a:ext cx="1859089"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T&amp;E Concur launch (all-staff)</a:t>
                </a:r>
              </a:p>
            </p:txBody>
          </p:sp>
          <p:sp>
            <p:nvSpPr>
              <p:cNvPr id="35" name="TextBox 35"/>
              <p:cNvSpPr txBox="1"/>
              <p:nvPr/>
            </p:nvSpPr>
            <p:spPr>
              <a:xfrm>
                <a:off x="3541395" y="4817745"/>
                <a:ext cx="1559052"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E-Payment decommission</a:t>
                </a:r>
              </a:p>
            </p:txBody>
          </p:sp>
          <p:sp>
            <p:nvSpPr>
              <p:cNvPr id="36" name="TextBox 36"/>
              <p:cNvSpPr txBox="1"/>
              <p:nvPr/>
            </p:nvSpPr>
            <p:spPr>
              <a:xfrm>
                <a:off x="3541395" y="4989195"/>
                <a:ext cx="1391031"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Excel tracker retired</a:t>
                </a:r>
              </a:p>
            </p:txBody>
          </p:sp>
          <p:sp>
            <p:nvSpPr>
              <p:cNvPr id="37" name="TextBox 37"/>
              <p:cNvSpPr txBox="1"/>
              <p:nvPr/>
            </p:nvSpPr>
            <p:spPr>
              <a:xfrm>
                <a:off x="3541395" y="5160645"/>
                <a:ext cx="1319022"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Wave 1 user training</a:t>
                </a:r>
              </a:p>
            </p:txBody>
          </p:sp>
          <p:sp>
            <p:nvSpPr>
              <p:cNvPr id="38" name="TextBox 38"/>
              <p:cNvSpPr txBox="1"/>
              <p:nvPr/>
            </p:nvSpPr>
            <p:spPr>
              <a:xfrm>
                <a:off x="3541395" y="5370195"/>
                <a:ext cx="1649063"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Hypercare support starts</a:t>
                </a:r>
              </a:p>
            </p:txBody>
          </p:sp>
          <p:sp>
            <p:nvSpPr>
              <p:cNvPr id="39" name="TextBox 39"/>
              <p:cNvSpPr txBox="1"/>
              <p:nvPr/>
            </p:nvSpPr>
            <p:spPr>
              <a:xfrm>
                <a:off x="4380316" y="3685699"/>
                <a:ext cx="250018" cy="198120"/>
              </a:xfrm>
              <a:prstGeom prst="rect">
                <a:avLst/>
              </a:prstGeom>
              <a:noFill/>
              <a:ln>
                <a:noFill/>
              </a:ln>
            </p:spPr>
            <p:txBody>
              <a:bodyPr wrap="none" lIns="0" tIns="0" rIns="0" bIns="0" anchor="t" anchorCtr="0">
                <a:spAutoFit/>
              </a:bodyPr>
              <a:lstStyle/>
              <a:p>
                <a:pPr algn="ctr"/>
                <a:r>
                  <a:rPr lang="zh-CN" sz="975" b="1" dirty="0">
                    <a:solidFill>
                      <a:srgbClr val="00AEEF"/>
                    </a:solidFill>
                    <a:latin typeface="Arial"/>
                    <a:ea typeface="Microsoft YaHei"/>
                    <a:cs typeface="Arial"/>
                  </a:rPr>
                  <a:t>Aug</a:t>
                </a:r>
              </a:p>
            </p:txBody>
          </p:sp>
        </p:grpSp>
        <p:grpSp>
          <p:nvGrpSpPr>
            <p:cNvPr id="55" name="Group 55"/>
            <p:cNvGrpSpPr/>
            <p:nvPr/>
          </p:nvGrpSpPr>
          <p:grpSpPr>
            <a:xfrm>
              <a:off x="6029325" y="1219200"/>
              <a:ext cx="2286000" cy="2664619"/>
              <a:chOff x="6029325" y="1219200"/>
              <a:chExt cx="2286000" cy="2664619"/>
            </a:xfrm>
          </p:grpSpPr>
          <p:sp>
            <p:nvSpPr>
              <p:cNvPr id="41" name="Ellipse 41"/>
              <p:cNvSpPr/>
              <p:nvPr/>
            </p:nvSpPr>
            <p:spPr>
              <a:xfrm>
                <a:off x="7000875" y="3257550"/>
                <a:ext cx="342900" cy="342900"/>
              </a:xfrm>
              <a:prstGeom prst="ellipse">
                <a:avLst/>
              </a:prstGeom>
              <a:solidFill>
                <a:srgbClr val="F4A261"/>
              </a:solidFill>
              <a:ln>
                <a:noFill/>
              </a:ln>
            </p:spPr>
          </p:sp>
          <p:sp>
            <p:nvSpPr>
              <p:cNvPr id="42" name="TextBox 42"/>
              <p:cNvSpPr txBox="1"/>
              <p:nvPr/>
            </p:nvSpPr>
            <p:spPr>
              <a:xfrm>
                <a:off x="7126241" y="3379470"/>
                <a:ext cx="92169"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a:ea typeface="Microsoft YaHei"/>
                    <a:cs typeface="Arial"/>
                  </a:rPr>
                  <a:t>3</a:t>
                </a:r>
              </a:p>
            </p:txBody>
          </p:sp>
          <p:sp>
            <p:nvSpPr>
              <p:cNvPr id="43" name="Line 43"/>
              <p:cNvSpPr/>
              <p:nvPr/>
            </p:nvSpPr>
            <p:spPr>
              <a:xfrm>
                <a:off x="7172325" y="1905000"/>
                <a:ext cx="9525" cy="1352550"/>
              </a:xfrm>
              <a:custGeom>
                <a:avLst/>
                <a:gdLst/>
                <a:ahLst/>
                <a:cxnLst/>
                <a:rect l="l" t="t" r="r" b="b"/>
                <a:pathLst>
                  <a:path w="9525" h="1352550">
                    <a:moveTo>
                      <a:pt x="0" y="1352550"/>
                    </a:moveTo>
                    <a:lnTo>
                      <a:pt x="0" y="0"/>
                    </a:lnTo>
                  </a:path>
                </a:pathLst>
              </a:custGeom>
              <a:noFill/>
              <a:ln w="9525">
                <a:solidFill>
                  <a:srgbClr val="F4A261"/>
                </a:solidFill>
                <a:custDash>
                  <a:ds d="400000" sp="300000"/>
                </a:custDash>
              </a:ln>
            </p:spPr>
          </p:sp>
          <p:sp>
            <p:nvSpPr>
              <p:cNvPr id="44" name="Rectangle 44"/>
              <p:cNvSpPr/>
              <p:nvPr/>
            </p:nvSpPr>
            <p:spPr>
              <a:xfrm>
                <a:off x="6029325" y="1219200"/>
                <a:ext cx="2286000" cy="1638300"/>
              </a:xfrm>
              <a:prstGeom prst="roundRect">
                <a:avLst>
                  <a:gd name="adj" fmla="val 3488"/>
                </a:avLst>
              </a:prstGeom>
              <a:solidFill>
                <a:srgbClr val="FFFFFF">
                  <a:alpha val="92000"/>
                </a:srgbClr>
              </a:solidFill>
              <a:ln>
                <a:noFill/>
              </a:ln>
            </p:spPr>
          </p:sp>
          <p:sp>
            <p:nvSpPr>
              <p:cNvPr id="45" name="Rectangle 45"/>
              <p:cNvSpPr/>
              <p:nvPr/>
            </p:nvSpPr>
            <p:spPr>
              <a:xfrm>
                <a:off x="6029325" y="1219200"/>
                <a:ext cx="2286000" cy="57150"/>
              </a:xfrm>
              <a:prstGeom prst="roundRect">
                <a:avLst>
                  <a:gd name="adj" fmla="val 50000"/>
                </a:avLst>
              </a:prstGeom>
              <a:solidFill>
                <a:srgbClr val="F4A261"/>
              </a:solidFill>
              <a:ln>
                <a:noFill/>
              </a:ln>
            </p:spPr>
          </p:sp>
          <p:sp>
            <p:nvSpPr>
              <p:cNvPr id="46" name="TextBox 46"/>
              <p:cNvSpPr txBox="1"/>
              <p:nvPr/>
            </p:nvSpPr>
            <p:spPr>
              <a:xfrm>
                <a:off x="6876670" y="1399699"/>
                <a:ext cx="591311" cy="198120"/>
              </a:xfrm>
              <a:prstGeom prst="rect">
                <a:avLst/>
              </a:prstGeom>
              <a:noFill/>
              <a:ln>
                <a:noFill/>
              </a:ln>
            </p:spPr>
            <p:txBody>
              <a:bodyPr wrap="none" lIns="0" tIns="0" rIns="0" bIns="0" anchor="t" anchorCtr="0">
                <a:spAutoFit/>
              </a:bodyPr>
              <a:lstStyle/>
              <a:p>
                <a:pPr algn="ctr"/>
                <a:r>
                  <a:rPr lang="zh-CN" sz="975" b="1" dirty="0">
                    <a:solidFill>
                      <a:srgbClr val="1B1164"/>
                    </a:solidFill>
                    <a:latin typeface="Arial"/>
                    <a:ea typeface="Microsoft YaHei"/>
                    <a:cs typeface="Arial"/>
                  </a:rPr>
                  <a:t>Sep 2026</a:t>
                </a:r>
              </a:p>
            </p:txBody>
          </p:sp>
          <p:sp>
            <p:nvSpPr>
              <p:cNvPr id="47" name="TextBox 47"/>
              <p:cNvSpPr txBox="1"/>
              <p:nvPr/>
            </p:nvSpPr>
            <p:spPr>
              <a:xfrm>
                <a:off x="6541513" y="1563052"/>
                <a:ext cx="1261624" cy="213360"/>
              </a:xfrm>
              <a:prstGeom prst="rect">
                <a:avLst/>
              </a:prstGeom>
              <a:noFill/>
              <a:ln>
                <a:noFill/>
              </a:ln>
            </p:spPr>
            <p:txBody>
              <a:bodyPr wrap="none" lIns="0" tIns="0" rIns="0" bIns="0" anchor="t" anchorCtr="0">
                <a:spAutoFit/>
              </a:bodyPr>
              <a:lstStyle/>
              <a:p>
                <a:pPr algn="ctr"/>
                <a:r>
                  <a:rPr lang="zh-CN" sz="1050" b="1" dirty="0">
                    <a:solidFill>
                      <a:srgbClr val="1B1164"/>
                    </a:solidFill>
                    <a:latin typeface="Arial"/>
                    <a:ea typeface="Microsoft YaHei"/>
                    <a:cs typeface="Arial"/>
                  </a:rPr>
                  <a:t>UAT &amp; Parallel Run</a:t>
                </a:r>
              </a:p>
            </p:txBody>
          </p:sp>
          <p:sp>
            <p:nvSpPr>
              <p:cNvPr id="48" name="Line 48"/>
              <p:cNvSpPr/>
              <p:nvPr/>
            </p:nvSpPr>
            <p:spPr>
              <a:xfrm>
                <a:off x="6219825" y="1762125"/>
                <a:ext cx="1905000" cy="9525"/>
              </a:xfrm>
              <a:custGeom>
                <a:avLst/>
                <a:gdLst/>
                <a:ahLst/>
                <a:cxnLst/>
                <a:rect l="l" t="t" r="r" b="b"/>
                <a:pathLst>
                  <a:path w="1905000" h="9525">
                    <a:moveTo>
                      <a:pt x="0" y="0"/>
                    </a:moveTo>
                    <a:lnTo>
                      <a:pt x="1905000" y="0"/>
                    </a:lnTo>
                  </a:path>
                </a:pathLst>
              </a:custGeom>
              <a:noFill/>
              <a:ln w="9525">
                <a:solidFill>
                  <a:srgbClr val="D5D5D5"/>
                </a:solidFill>
              </a:ln>
            </p:spPr>
          </p:sp>
          <p:sp>
            <p:nvSpPr>
              <p:cNvPr id="49" name="TextBox 49"/>
              <p:cNvSpPr txBox="1"/>
              <p:nvPr/>
            </p:nvSpPr>
            <p:spPr>
              <a:xfrm>
                <a:off x="6208395" y="1845945"/>
                <a:ext cx="1289018"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S/4HANA Finance UAT</a:t>
                </a:r>
              </a:p>
            </p:txBody>
          </p:sp>
          <p:sp>
            <p:nvSpPr>
              <p:cNvPr id="50" name="TextBox 50"/>
              <p:cNvSpPr txBox="1"/>
              <p:nvPr/>
            </p:nvSpPr>
            <p:spPr>
              <a:xfrm>
                <a:off x="6208395" y="2017395"/>
                <a:ext cx="1631061"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ECC parallel run (Finance)</a:t>
                </a:r>
              </a:p>
            </p:txBody>
          </p:sp>
          <p:sp>
            <p:nvSpPr>
              <p:cNvPr id="51" name="TextBox 51"/>
              <p:cNvSpPr txBox="1"/>
              <p:nvPr/>
            </p:nvSpPr>
            <p:spPr>
              <a:xfrm>
                <a:off x="6208395" y="2188845"/>
                <a:ext cx="1619059"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Wave 2 training (Finance)</a:t>
                </a:r>
              </a:p>
            </p:txBody>
          </p:sp>
          <p:sp>
            <p:nvSpPr>
              <p:cNvPr id="52" name="TextBox 52"/>
              <p:cNvSpPr txBox="1"/>
              <p:nvPr/>
            </p:nvSpPr>
            <p:spPr>
              <a:xfrm>
                <a:off x="6208395" y="2360295"/>
                <a:ext cx="1090993"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Cutover planning</a:t>
                </a:r>
              </a:p>
            </p:txBody>
          </p:sp>
          <p:sp>
            <p:nvSpPr>
              <p:cNvPr id="53" name="TextBox 53"/>
              <p:cNvSpPr txBox="1"/>
              <p:nvPr/>
            </p:nvSpPr>
            <p:spPr>
              <a:xfrm>
                <a:off x="6208395" y="2569845"/>
                <a:ext cx="1157002" cy="182880"/>
              </a:xfrm>
              <a:prstGeom prst="rect">
                <a:avLst/>
              </a:prstGeom>
              <a:noFill/>
              <a:ln>
                <a:noFill/>
              </a:ln>
            </p:spPr>
            <p:txBody>
              <a:bodyPr wrap="none" lIns="0" tIns="0" rIns="0" bIns="0" anchor="t" anchorCtr="0">
                <a:spAutoFit/>
              </a:bodyPr>
              <a:lstStyle/>
              <a:p>
                <a:pPr algn="l"/>
                <a:r>
                  <a:rPr lang="zh-CN" sz="900" dirty="0">
                    <a:solidFill>
                      <a:srgbClr val="5E5E5E"/>
                    </a:solidFill>
                    <a:latin typeface="Arial"/>
                    <a:ea typeface="Microsoft YaHei"/>
                    <a:cs typeface="Arial"/>
                  </a:rPr>
                  <a:t>• Defect resolution</a:t>
                </a:r>
              </a:p>
            </p:txBody>
          </p:sp>
          <p:sp>
            <p:nvSpPr>
              <p:cNvPr id="54" name="TextBox 54"/>
              <p:cNvSpPr txBox="1"/>
              <p:nvPr/>
            </p:nvSpPr>
            <p:spPr>
              <a:xfrm>
                <a:off x="7047316" y="3685699"/>
                <a:ext cx="250018" cy="198120"/>
              </a:xfrm>
              <a:prstGeom prst="rect">
                <a:avLst/>
              </a:prstGeom>
              <a:noFill/>
              <a:ln>
                <a:noFill/>
              </a:ln>
            </p:spPr>
            <p:txBody>
              <a:bodyPr wrap="none" lIns="0" tIns="0" rIns="0" bIns="0" anchor="t" anchorCtr="0">
                <a:spAutoFit/>
              </a:bodyPr>
              <a:lstStyle/>
              <a:p>
                <a:pPr algn="ctr"/>
                <a:r>
                  <a:rPr lang="zh-CN" sz="975" b="1" dirty="0">
                    <a:solidFill>
                      <a:srgbClr val="F4A261"/>
                    </a:solidFill>
                    <a:latin typeface="Arial"/>
                    <a:ea typeface="Microsoft YaHei"/>
                    <a:cs typeface="Arial"/>
                  </a:rPr>
                  <a:t>Sep</a:t>
                </a:r>
              </a:p>
            </p:txBody>
          </p:sp>
        </p:grpSp>
        <p:grpSp>
          <p:nvGrpSpPr>
            <p:cNvPr id="70" name="Group 70"/>
            <p:cNvGrpSpPr/>
            <p:nvPr/>
          </p:nvGrpSpPr>
          <p:grpSpPr>
            <a:xfrm>
              <a:off x="9591675" y="3219450"/>
              <a:ext cx="2095500" cy="2438400"/>
              <a:chOff x="9591675" y="3219450"/>
              <a:chExt cx="2095500" cy="2438400"/>
            </a:xfrm>
          </p:grpSpPr>
          <p:sp>
            <p:nvSpPr>
              <p:cNvPr id="56" name="Ellipse 56"/>
              <p:cNvSpPr/>
              <p:nvPr/>
            </p:nvSpPr>
            <p:spPr>
              <a:xfrm>
                <a:off x="10525125" y="3219450"/>
                <a:ext cx="419100" cy="419100"/>
              </a:xfrm>
              <a:prstGeom prst="ellipse">
                <a:avLst/>
              </a:prstGeom>
              <a:solidFill>
                <a:srgbClr val="3BBF92"/>
              </a:solidFill>
              <a:ln>
                <a:noFill/>
              </a:ln>
            </p:spPr>
          </p:sp>
          <p:sp>
            <p:nvSpPr>
              <p:cNvPr id="57" name="Freeform 57"/>
              <p:cNvSpPr/>
              <p:nvPr/>
            </p:nvSpPr>
            <p:spPr>
              <a:xfrm>
                <a:off x="10644820" y="3361243"/>
                <a:ext cx="190950" cy="135514"/>
              </a:xfrm>
              <a:custGeom>
                <a:avLst/>
                <a:gdLst/>
                <a:ahLst/>
                <a:cxnLst/>
                <a:rect l="l" t="t" r="r" b="b"/>
                <a:pathLst>
                  <a:path w="190950" h="135514">
                    <a:moveTo>
                      <a:pt x="186612" y="4338"/>
                    </a:moveTo>
                    <a:cubicBezTo>
                      <a:pt x="190950" y="8678"/>
                      <a:pt x="190950" y="15712"/>
                      <a:pt x="186612" y="20051"/>
                    </a:cubicBezTo>
                    <a:lnTo>
                      <a:pt x="75487" y="131176"/>
                    </a:lnTo>
                    <a:cubicBezTo>
                      <a:pt x="71147" y="135514"/>
                      <a:pt x="64113" y="135514"/>
                      <a:pt x="59774" y="131176"/>
                    </a:cubicBezTo>
                    <a:lnTo>
                      <a:pt x="4211" y="75614"/>
                    </a:lnTo>
                    <a:cubicBezTo>
                      <a:pt x="0" y="71253"/>
                      <a:pt x="60" y="64322"/>
                      <a:pt x="4347" y="60036"/>
                    </a:cubicBezTo>
                    <a:cubicBezTo>
                      <a:pt x="8633" y="55750"/>
                      <a:pt x="15564" y="55689"/>
                      <a:pt x="19924" y="59901"/>
                    </a:cubicBezTo>
                    <a:lnTo>
                      <a:pt x="67630" y="107607"/>
                    </a:lnTo>
                    <a:lnTo>
                      <a:pt x="170899" y="4338"/>
                    </a:lnTo>
                    <a:cubicBezTo>
                      <a:pt x="175238" y="0"/>
                      <a:pt x="182272" y="0"/>
                      <a:pt x="186612" y="4338"/>
                    </a:cubicBezTo>
                  </a:path>
                </a:pathLst>
              </a:custGeom>
              <a:solidFill>
                <a:srgbClr val="FFFFFF"/>
              </a:solidFill>
              <a:ln>
                <a:noFill/>
              </a:ln>
            </p:spPr>
          </p:sp>
          <p:sp>
            <p:nvSpPr>
              <p:cNvPr id="58" name="Line 58"/>
              <p:cNvSpPr/>
              <p:nvPr/>
            </p:nvSpPr>
            <p:spPr>
              <a:xfrm>
                <a:off x="10734675" y="3638550"/>
                <a:ext cx="9525" cy="1314450"/>
              </a:xfrm>
              <a:custGeom>
                <a:avLst/>
                <a:gdLst/>
                <a:ahLst/>
                <a:cxnLst/>
                <a:rect l="l" t="t" r="r" b="b"/>
                <a:pathLst>
                  <a:path w="9525" h="1314450">
                    <a:moveTo>
                      <a:pt x="0" y="0"/>
                    </a:moveTo>
                    <a:lnTo>
                      <a:pt x="0" y="1314450"/>
                    </a:lnTo>
                  </a:path>
                </a:pathLst>
              </a:custGeom>
              <a:noFill/>
              <a:ln w="9525">
                <a:solidFill>
                  <a:srgbClr val="3BBF92"/>
                </a:solidFill>
                <a:custDash>
                  <a:ds d="400000" sp="300000"/>
                </a:custDash>
              </a:ln>
            </p:spPr>
          </p:sp>
          <p:sp>
            <p:nvSpPr>
              <p:cNvPr id="59" name="Rectangle 59"/>
              <p:cNvSpPr/>
              <p:nvPr/>
            </p:nvSpPr>
            <p:spPr>
              <a:xfrm>
                <a:off x="9591675" y="4019550"/>
                <a:ext cx="2095500" cy="1638300"/>
              </a:xfrm>
              <a:prstGeom prst="roundRect">
                <a:avLst>
                  <a:gd name="adj" fmla="val 3488"/>
                </a:avLst>
              </a:prstGeom>
              <a:solidFill>
                <a:srgbClr val="1B1164"/>
              </a:solidFill>
              <a:ln>
                <a:noFill/>
              </a:ln>
            </p:spPr>
          </p:sp>
          <p:sp>
            <p:nvSpPr>
              <p:cNvPr id="60" name="Rectangle 60"/>
              <p:cNvSpPr/>
              <p:nvPr/>
            </p:nvSpPr>
            <p:spPr>
              <a:xfrm>
                <a:off x="9591675" y="4019550"/>
                <a:ext cx="2095500" cy="57150"/>
              </a:xfrm>
              <a:prstGeom prst="roundRect">
                <a:avLst>
                  <a:gd name="adj" fmla="val 50000"/>
                </a:avLst>
              </a:prstGeom>
              <a:solidFill>
                <a:srgbClr val="3BBF92"/>
              </a:solidFill>
              <a:ln>
                <a:noFill/>
              </a:ln>
            </p:spPr>
          </p:sp>
          <p:sp>
            <p:nvSpPr>
              <p:cNvPr id="61" name="TextBox 61"/>
              <p:cNvSpPr txBox="1"/>
              <p:nvPr/>
            </p:nvSpPr>
            <p:spPr>
              <a:xfrm>
                <a:off x="10330118" y="4200049"/>
                <a:ext cx="618614"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Arial"/>
                    <a:ea typeface="Microsoft YaHei"/>
                    <a:cs typeface="Arial"/>
                  </a:rPr>
                  <a:t>Oct 2026</a:t>
                </a:r>
              </a:p>
            </p:txBody>
          </p:sp>
          <p:sp>
            <p:nvSpPr>
              <p:cNvPr id="62" name="TextBox 62"/>
              <p:cNvSpPr txBox="1"/>
              <p:nvPr/>
            </p:nvSpPr>
            <p:spPr>
              <a:xfrm>
                <a:off x="10056394" y="4363402"/>
                <a:ext cx="1166062" cy="213360"/>
              </a:xfrm>
              <a:prstGeom prst="rect">
                <a:avLst/>
              </a:prstGeom>
              <a:noFill/>
              <a:ln>
                <a:noFill/>
              </a:ln>
            </p:spPr>
            <p:txBody>
              <a:bodyPr wrap="none" lIns="0" tIns="0" rIns="0" bIns="0" anchor="t" anchorCtr="0">
                <a:spAutoFit/>
              </a:bodyPr>
              <a:lstStyle/>
              <a:p>
                <a:pPr algn="ctr"/>
                <a:r>
                  <a:rPr lang="zh-CN" sz="1050" b="1" dirty="0">
                    <a:solidFill>
                      <a:srgbClr val="3BBF92"/>
                    </a:solidFill>
                    <a:latin typeface="Arial"/>
                    <a:ea typeface="Microsoft YaHei"/>
                    <a:cs typeface="Arial"/>
                  </a:rPr>
                  <a:t>S/4HANA Go-Live</a:t>
                </a:r>
              </a:p>
            </p:txBody>
          </p:sp>
          <p:sp>
            <p:nvSpPr>
              <p:cNvPr id="63" name="Line 63"/>
              <p:cNvSpPr/>
              <p:nvPr/>
            </p:nvSpPr>
            <p:spPr>
              <a:xfrm>
                <a:off x="9782175" y="4562475"/>
                <a:ext cx="1714500" cy="9525"/>
              </a:xfrm>
              <a:custGeom>
                <a:avLst/>
                <a:gdLst/>
                <a:ahLst/>
                <a:cxnLst/>
                <a:rect l="l" t="t" r="r" b="b"/>
                <a:pathLst>
                  <a:path w="1714500" h="9525">
                    <a:moveTo>
                      <a:pt x="0" y="0"/>
                    </a:moveTo>
                    <a:lnTo>
                      <a:pt x="1714500" y="0"/>
                    </a:lnTo>
                  </a:path>
                </a:pathLst>
              </a:custGeom>
              <a:noFill/>
              <a:ln w="9525">
                <a:solidFill>
                  <a:srgbClr val="3BBF92">
                    <a:alpha val="40000"/>
                  </a:srgbClr>
                </a:solidFill>
              </a:ln>
            </p:spPr>
          </p:sp>
          <p:sp>
            <p:nvSpPr>
              <p:cNvPr id="64" name="TextBox 64"/>
              <p:cNvSpPr txBox="1"/>
              <p:nvPr/>
            </p:nvSpPr>
            <p:spPr>
              <a:xfrm>
                <a:off x="9770745" y="4646295"/>
                <a:ext cx="1138999" cy="182880"/>
              </a:xfrm>
              <a:prstGeom prst="rect">
                <a:avLst/>
              </a:prstGeom>
              <a:noFill/>
              <a:ln>
                <a:noFill/>
              </a:ln>
            </p:spPr>
            <p:txBody>
              <a:bodyPr wrap="none" lIns="0" tIns="0" rIns="0" bIns="0" anchor="t" anchorCtr="0">
                <a:spAutoFit/>
              </a:bodyPr>
              <a:lstStyle/>
              <a:p>
                <a:pPr algn="l"/>
                <a:r>
                  <a:rPr lang="zh-CN" sz="900" dirty="0">
                    <a:solidFill>
                      <a:srgbClr val="FFFFFF"/>
                    </a:solidFill>
                    <a:latin typeface="Arial"/>
                    <a:ea typeface="Microsoft YaHei"/>
                    <a:cs typeface="Arial"/>
                  </a:rPr>
                  <a:t>• ECC decommission</a:t>
                </a:r>
              </a:p>
            </p:txBody>
          </p:sp>
          <p:sp>
            <p:nvSpPr>
              <p:cNvPr id="65" name="TextBox 65"/>
              <p:cNvSpPr txBox="1"/>
              <p:nvPr/>
            </p:nvSpPr>
            <p:spPr>
              <a:xfrm>
                <a:off x="9770745" y="4817745"/>
                <a:ext cx="1295019" cy="182880"/>
              </a:xfrm>
              <a:prstGeom prst="rect">
                <a:avLst/>
              </a:prstGeom>
              <a:noFill/>
              <a:ln>
                <a:noFill/>
              </a:ln>
            </p:spPr>
            <p:txBody>
              <a:bodyPr wrap="none" lIns="0" tIns="0" rIns="0" bIns="0" anchor="t" anchorCtr="0">
                <a:spAutoFit/>
              </a:bodyPr>
              <a:lstStyle/>
              <a:p>
                <a:pPr algn="l"/>
                <a:r>
                  <a:rPr lang="zh-CN" sz="900" dirty="0">
                    <a:solidFill>
                      <a:srgbClr val="FFFFFF"/>
                    </a:solidFill>
                    <a:latin typeface="Arial"/>
                    <a:ea typeface="Microsoft YaHei"/>
                    <a:cs typeface="Arial"/>
                  </a:rPr>
                  <a:t>• Finance full cutover</a:t>
                </a:r>
              </a:p>
            </p:txBody>
          </p:sp>
          <p:sp>
            <p:nvSpPr>
              <p:cNvPr id="66" name="TextBox 66"/>
              <p:cNvSpPr txBox="1"/>
              <p:nvPr/>
            </p:nvSpPr>
            <p:spPr>
              <a:xfrm>
                <a:off x="9770745" y="4989195"/>
                <a:ext cx="1361027" cy="182880"/>
              </a:xfrm>
              <a:prstGeom prst="rect">
                <a:avLst/>
              </a:prstGeom>
              <a:noFill/>
              <a:ln>
                <a:noFill/>
              </a:ln>
            </p:spPr>
            <p:txBody>
              <a:bodyPr wrap="none" lIns="0" tIns="0" rIns="0" bIns="0" anchor="t" anchorCtr="0">
                <a:spAutoFit/>
              </a:bodyPr>
              <a:lstStyle/>
              <a:p>
                <a:pPr algn="l"/>
                <a:r>
                  <a:rPr lang="zh-CN" sz="900" dirty="0">
                    <a:solidFill>
                      <a:srgbClr val="FFFFFF"/>
                    </a:solidFill>
                    <a:latin typeface="Arial"/>
                    <a:ea typeface="Microsoft YaHei"/>
                    <a:cs typeface="Arial"/>
                  </a:rPr>
                  <a:t>• S/4HANA + Concur live</a:t>
                </a:r>
              </a:p>
            </p:txBody>
          </p:sp>
          <p:sp>
            <p:nvSpPr>
              <p:cNvPr id="67" name="TextBox 67"/>
              <p:cNvSpPr txBox="1"/>
              <p:nvPr/>
            </p:nvSpPr>
            <p:spPr>
              <a:xfrm>
                <a:off x="9770745" y="5160645"/>
                <a:ext cx="1289018" cy="182880"/>
              </a:xfrm>
              <a:prstGeom prst="rect">
                <a:avLst/>
              </a:prstGeom>
              <a:noFill/>
              <a:ln>
                <a:noFill/>
              </a:ln>
            </p:spPr>
            <p:txBody>
              <a:bodyPr wrap="none" lIns="0" tIns="0" rIns="0" bIns="0" anchor="t" anchorCtr="0">
                <a:spAutoFit/>
              </a:bodyPr>
              <a:lstStyle/>
              <a:p>
                <a:pPr algn="l"/>
                <a:r>
                  <a:rPr lang="zh-CN" sz="900" dirty="0">
                    <a:solidFill>
                      <a:srgbClr val="FFFFFF"/>
                    </a:solidFill>
                    <a:latin typeface="Arial"/>
                    <a:ea typeface="Microsoft YaHei"/>
                    <a:cs typeface="Arial"/>
                  </a:rPr>
                  <a:t>• Stabilisation review</a:t>
                </a:r>
              </a:p>
            </p:txBody>
          </p:sp>
          <p:sp>
            <p:nvSpPr>
              <p:cNvPr id="68" name="TextBox 68"/>
              <p:cNvSpPr txBox="1"/>
              <p:nvPr/>
            </p:nvSpPr>
            <p:spPr>
              <a:xfrm>
                <a:off x="9770745" y="5370195"/>
                <a:ext cx="1213709" cy="182880"/>
              </a:xfrm>
              <a:prstGeom prst="rect">
                <a:avLst/>
              </a:prstGeom>
              <a:noFill/>
              <a:ln>
                <a:noFill/>
              </a:ln>
            </p:spPr>
            <p:txBody>
              <a:bodyPr wrap="none" lIns="0" tIns="0" rIns="0" bIns="0" anchor="t" anchorCtr="0">
                <a:spAutoFit/>
              </a:bodyPr>
              <a:lstStyle/>
              <a:p>
                <a:pPr algn="l"/>
                <a:r>
                  <a:rPr lang="zh-CN" sz="900" b="1" dirty="0">
                    <a:solidFill>
                      <a:srgbClr val="3BBF92"/>
                    </a:solidFill>
                    <a:latin typeface="Arial"/>
                    <a:ea typeface="Microsoft YaHei"/>
                    <a:cs typeface="Arial"/>
                  </a:rPr>
                  <a:t>• Project close-out</a:t>
                </a:r>
              </a:p>
            </p:txBody>
          </p:sp>
          <p:sp>
            <p:nvSpPr>
              <p:cNvPr id="69" name="TextBox 69"/>
              <p:cNvSpPr txBox="1"/>
              <p:nvPr/>
            </p:nvSpPr>
            <p:spPr>
              <a:xfrm>
                <a:off x="10596014" y="3685699"/>
                <a:ext cx="277322" cy="198120"/>
              </a:xfrm>
              <a:prstGeom prst="rect">
                <a:avLst/>
              </a:prstGeom>
              <a:noFill/>
              <a:ln>
                <a:noFill/>
              </a:ln>
            </p:spPr>
            <p:txBody>
              <a:bodyPr wrap="none" lIns="0" tIns="0" rIns="0" bIns="0" anchor="t" anchorCtr="0">
                <a:spAutoFit/>
              </a:bodyPr>
              <a:lstStyle/>
              <a:p>
                <a:pPr algn="ctr"/>
                <a:r>
                  <a:rPr lang="zh-CN" sz="975" b="1" dirty="0">
                    <a:solidFill>
                      <a:srgbClr val="3BBF92"/>
                    </a:solidFill>
                    <a:latin typeface="Arial"/>
                    <a:ea typeface="Microsoft YaHei"/>
                    <a:cs typeface="Arial"/>
                  </a:rPr>
                  <a:t>Oct</a:t>
                </a:r>
              </a:p>
            </p:txBody>
          </p:sp>
        </p:grpSp>
        <p:sp>
          <p:nvSpPr>
            <p:cNvPr id="71" name="Ellipse 71"/>
            <p:cNvSpPr/>
            <p:nvPr/>
          </p:nvSpPr>
          <p:spPr>
            <a:xfrm>
              <a:off x="876300" y="3352800"/>
              <a:ext cx="152400" cy="152400"/>
            </a:xfrm>
            <a:prstGeom prst="ellipse">
              <a:avLst/>
            </a:prstGeom>
            <a:solidFill>
              <a:srgbClr val="00AEEF"/>
            </a:solidFill>
            <a:ln>
              <a:noFill/>
            </a:ln>
          </p:spPr>
        </p:sp>
        <p:sp>
          <p:nvSpPr>
            <p:cNvPr id="72" name="TextBox 72"/>
            <p:cNvSpPr txBox="1"/>
            <p:nvPr/>
          </p:nvSpPr>
          <p:spPr>
            <a:xfrm>
              <a:off x="835172" y="3606641"/>
              <a:ext cx="234657" cy="167640"/>
            </a:xfrm>
            <a:prstGeom prst="rect">
              <a:avLst/>
            </a:prstGeom>
            <a:noFill/>
            <a:ln>
              <a:noFill/>
            </a:ln>
          </p:spPr>
          <p:txBody>
            <a:bodyPr wrap="none" lIns="0" tIns="0" rIns="0" bIns="0" anchor="t" anchorCtr="0">
              <a:spAutoFit/>
            </a:bodyPr>
            <a:lstStyle/>
            <a:p>
              <a:pPr algn="ctr"/>
              <a:r>
                <a:rPr lang="zh-CN" sz="825" b="1" dirty="0">
                  <a:solidFill>
                    <a:srgbClr val="00AEEF"/>
                  </a:solidFill>
                  <a:latin typeface="Arial"/>
                  <a:ea typeface="Microsoft YaHei"/>
                  <a:cs typeface="Arial"/>
                </a:rPr>
                <a:t>Now</a:t>
              </a:r>
            </a:p>
          </p:txBody>
        </p:sp>
      </p:grpSp>
      <p:grpSp>
        <p:nvGrpSpPr>
          <p:cNvPr id="76" name="Group 76"/>
          <p:cNvGrpSpPr/>
          <p:nvPr/>
        </p:nvGrpSpPr>
        <p:grpSpPr>
          <a:xfrm>
            <a:off x="7402830" y="6557962"/>
            <a:ext cx="4179570" cy="152400"/>
            <a:chOff x="7402830" y="6557962"/>
            <a:chExt cx="4179570" cy="152400"/>
          </a:xfrm>
        </p:grpSpPr>
        <p:sp>
          <p:nvSpPr>
            <p:cNvPr id="74" name="TextBox 74"/>
            <p:cNvSpPr txBox="1"/>
            <p:nvPr/>
          </p:nvSpPr>
          <p:spPr>
            <a:xfrm>
              <a:off x="7402830" y="6574155"/>
              <a:ext cx="3323653" cy="121920"/>
            </a:xfrm>
            <a:prstGeom prst="rect">
              <a:avLst/>
            </a:prstGeom>
            <a:noFill/>
            <a:ln>
              <a:noFill/>
            </a:ln>
          </p:spPr>
          <p:txBody>
            <a:bodyPr wrap="none" lIns="0" tIns="0" rIns="0" bIns="0" anchor="t" anchorCtr="0">
              <a:spAutoFit/>
            </a:bodyPr>
            <a:lstStyle/>
            <a:p>
              <a:pPr algn="l"/>
              <a:r>
                <a:rPr lang="zh-CN" sz="600" dirty="0">
                  <a:solidFill>
                    <a:srgbClr val="000000"/>
                  </a:solidFill>
                  <a:latin typeface="Arial"/>
                  <a:ea typeface="Microsoft YaHei"/>
                  <a:cs typeface="Arial"/>
                </a:rPr>
                <a:t>Copyright © 2026 Accenture. All rights reserved. Accenture Confidential Information</a:t>
              </a:r>
            </a:p>
          </p:txBody>
        </p:sp>
        <p:sp>
          <p:nvSpPr>
            <p:cNvPr id="75" name="TextBox 75"/>
            <p:cNvSpPr txBox="1"/>
            <p:nvPr/>
          </p:nvSpPr>
          <p:spPr>
            <a:xfrm>
              <a:off x="11508343" y="6557962"/>
              <a:ext cx="74057" cy="152400"/>
            </a:xfrm>
            <a:prstGeom prst="rect">
              <a:avLst/>
            </a:prstGeom>
            <a:noFill/>
            <a:ln>
              <a:noFill/>
            </a:ln>
          </p:spPr>
          <p:txBody>
            <a:bodyPr wrap="none" lIns="0" tIns="0" rIns="0" bIns="0" anchor="t" anchorCtr="0">
              <a:spAutoFit/>
            </a:bodyPr>
            <a:lstStyle/>
            <a:p>
              <a:pPr algn="r"/>
              <a:r>
                <a:rPr lang="zh-CN" sz="750" dirty="0">
                  <a:solidFill>
                    <a:srgbClr val="000000"/>
                  </a:solidFill>
                  <a:latin typeface="Arial"/>
                  <a:ea typeface="Microsoft YaHei"/>
                  <a:cs typeface="Arial"/>
                </a:rPr>
                <a:t>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400"/>
                                        <p:tgtEl>
                                          <p:spTgt spid="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2"/>
          <p:cNvPicPr>
            <a:picLocks noChangeAspect="1"/>
          </p:cNvPicPr>
          <p:nvPr/>
        </p:nvPicPr>
        <p:blipFill>
          <a:blip r:embed="rId2"/>
          <a:stretch>
            <a:fillRect/>
          </a:stretch>
        </p:blipFill>
        <p:spPr>
          <a:xfrm>
            <a:off x="0" y="0"/>
            <a:ext cx="12192000" cy="6858000"/>
          </a:xfrm>
          <a:prstGeom prst="rect">
            <a:avLst/>
          </a:prstGeom>
        </p:spPr>
      </p:pic>
      <p:grpSp>
        <p:nvGrpSpPr>
          <p:cNvPr id="6" name="Group 6"/>
          <p:cNvGrpSpPr/>
          <p:nvPr/>
        </p:nvGrpSpPr>
        <p:grpSpPr>
          <a:xfrm>
            <a:off x="0" y="0"/>
            <a:ext cx="6008576" cy="809625"/>
            <a:chOff x="0" y="0"/>
            <a:chExt cx="6008576" cy="809625"/>
          </a:xfrm>
        </p:grpSpPr>
        <p:pic>
          <p:nvPicPr>
            <p:cNvPr id="3" name="Image 3"/>
            <p:cNvPicPr>
              <a:picLocks noChangeAspect="1"/>
            </p:cNvPicPr>
            <p:nvPr/>
          </p:nvPicPr>
          <p:blipFill>
            <a:blip r:embed="rId3"/>
            <a:stretch>
              <a:fillRect/>
            </a:stretch>
          </p:blipFill>
          <p:spPr>
            <a:xfrm>
              <a:off x="0" y="19050"/>
              <a:ext cx="2417885" cy="628650"/>
            </a:xfrm>
            <a:prstGeom prst="rect">
              <a:avLst/>
            </a:prstGeom>
          </p:spPr>
        </p:pic>
        <p:pic>
          <p:nvPicPr>
            <p:cNvPr id="4" name="Image 4"/>
            <p:cNvPicPr>
              <a:picLocks noChangeAspect="1"/>
            </p:cNvPicPr>
            <p:nvPr/>
          </p:nvPicPr>
          <p:blipFill>
            <a:blip r:embed="rId4"/>
            <a:stretch>
              <a:fillRect/>
            </a:stretch>
          </p:blipFill>
          <p:spPr>
            <a:xfrm>
              <a:off x="3038475" y="0"/>
              <a:ext cx="1829452" cy="809625"/>
            </a:xfrm>
            <a:prstGeom prst="rect">
              <a:avLst/>
            </a:prstGeom>
          </p:spPr>
        </p:pic>
        <p:pic>
          <p:nvPicPr>
            <p:cNvPr id="5" name="Image 5"/>
            <p:cNvPicPr>
              <a:picLocks noChangeAspect="1"/>
            </p:cNvPicPr>
            <p:nvPr/>
          </p:nvPicPr>
          <p:blipFill>
            <a:blip r:embed="rId5"/>
            <a:stretch>
              <a:fillRect/>
            </a:stretch>
          </p:blipFill>
          <p:spPr>
            <a:xfrm>
              <a:off x="4857750" y="114300"/>
              <a:ext cx="1150826" cy="457200"/>
            </a:xfrm>
            <a:prstGeom prst="rect">
              <a:avLst/>
            </a:prstGeom>
          </p:spPr>
        </p:pic>
      </p:grpSp>
      <p:grpSp>
        <p:nvGrpSpPr>
          <p:cNvPr id="12" name="Group 12"/>
          <p:cNvGrpSpPr/>
          <p:nvPr/>
        </p:nvGrpSpPr>
        <p:grpSpPr>
          <a:xfrm>
            <a:off x="1143000" y="2476500"/>
            <a:ext cx="6569440" cy="1619250"/>
            <a:chOff x="1143000" y="2476500"/>
            <a:chExt cx="6569440" cy="1619250"/>
          </a:xfrm>
        </p:grpSpPr>
        <p:sp>
          <p:nvSpPr>
            <p:cNvPr id="7" name="Rectangle 7"/>
            <p:cNvSpPr/>
            <p:nvPr/>
          </p:nvSpPr>
          <p:spPr>
            <a:xfrm>
              <a:off x="1143000" y="2476500"/>
              <a:ext cx="57150" cy="1524000"/>
            </a:xfrm>
            <a:prstGeom prst="rect">
              <a:avLst/>
            </a:prstGeom>
            <a:solidFill>
              <a:srgbClr val="00AEEF"/>
            </a:solidFill>
            <a:ln>
              <a:noFill/>
            </a:ln>
          </p:spPr>
        </p:sp>
        <p:sp>
          <p:nvSpPr>
            <p:cNvPr id="8" name="TextBox 8"/>
            <p:cNvSpPr txBox="1"/>
            <p:nvPr/>
          </p:nvSpPr>
          <p:spPr>
            <a:xfrm>
              <a:off x="1356360" y="2594610"/>
              <a:ext cx="2870625" cy="853440"/>
            </a:xfrm>
            <a:prstGeom prst="rect">
              <a:avLst/>
            </a:prstGeom>
            <a:noFill/>
            <a:ln>
              <a:noFill/>
            </a:ln>
          </p:spPr>
          <p:txBody>
            <a:bodyPr wrap="none" lIns="0" tIns="0" rIns="0" bIns="0" anchor="t" anchorCtr="0">
              <a:spAutoFit/>
            </a:bodyPr>
            <a:lstStyle/>
            <a:p>
              <a:pPr algn="l"/>
              <a:r>
                <a:rPr lang="zh-CN" sz="4200" b="1" dirty="0">
                  <a:solidFill>
                    <a:srgbClr val="1B1164"/>
                  </a:solidFill>
                  <a:latin typeface="Arial"/>
                  <a:ea typeface="Microsoft YaHei"/>
                  <a:cs typeface="Arial"/>
                </a:rPr>
                <a:t>Thank You</a:t>
              </a:r>
            </a:p>
          </p:txBody>
        </p:sp>
        <p:sp>
          <p:nvSpPr>
            <p:cNvPr id="9" name="TextBox 9"/>
            <p:cNvSpPr txBox="1"/>
            <p:nvPr/>
          </p:nvSpPr>
          <p:spPr>
            <a:xfrm>
              <a:off x="1388745" y="3346132"/>
              <a:ext cx="6323695" cy="335280"/>
            </a:xfrm>
            <a:prstGeom prst="rect">
              <a:avLst/>
            </a:prstGeom>
            <a:noFill/>
            <a:ln>
              <a:noFill/>
            </a:ln>
          </p:spPr>
          <p:txBody>
            <a:bodyPr wrap="none" lIns="0" tIns="0" rIns="0" bIns="0" anchor="t" anchorCtr="0">
              <a:spAutoFit/>
            </a:bodyPr>
            <a:lstStyle/>
            <a:p>
              <a:pPr algn="l"/>
              <a:r>
                <a:rPr lang="zh-CN" sz="1650" dirty="0">
                  <a:solidFill>
                    <a:srgbClr val="2A6FA0"/>
                  </a:solidFill>
                  <a:latin typeface="Arial"/>
                  <a:ea typeface="Microsoft YaHei"/>
                  <a:cs typeface="Arial"/>
                </a:rPr>
                <a:t>Driving confident change for Finance &amp; T&amp;E transformation</a:t>
              </a:r>
            </a:p>
          </p:txBody>
        </p:sp>
        <p:sp>
          <p:nvSpPr>
            <p:cNvPr id="10" name="Rectangle 10"/>
            <p:cNvSpPr/>
            <p:nvPr/>
          </p:nvSpPr>
          <p:spPr>
            <a:xfrm>
              <a:off x="1409700" y="3695700"/>
              <a:ext cx="5334000" cy="28575"/>
            </a:xfrm>
            <a:prstGeom prst="rect">
              <a:avLst/>
            </a:prstGeom>
            <a:solidFill>
              <a:srgbClr val="3BBF92"/>
            </a:solidFill>
            <a:ln>
              <a:noFill/>
            </a:ln>
          </p:spPr>
        </p:sp>
        <p:sp>
          <p:nvSpPr>
            <p:cNvPr id="11" name="TextBox 11"/>
            <p:cNvSpPr txBox="1"/>
            <p:nvPr/>
          </p:nvSpPr>
          <p:spPr>
            <a:xfrm>
              <a:off x="1394460" y="3851910"/>
              <a:ext cx="3142869" cy="243840"/>
            </a:xfrm>
            <a:prstGeom prst="rect">
              <a:avLst/>
            </a:prstGeom>
            <a:noFill/>
            <a:ln>
              <a:noFill/>
            </a:ln>
          </p:spPr>
          <p:txBody>
            <a:bodyPr wrap="none" lIns="0" tIns="0" rIns="0" bIns="0" anchor="t" anchorCtr="0">
              <a:spAutoFit/>
            </a:bodyPr>
            <a:lstStyle/>
            <a:p>
              <a:pPr algn="l"/>
              <a:r>
                <a:rPr lang="zh-CN" sz="1200" dirty="0">
                  <a:solidFill>
                    <a:srgbClr val="1B1164"/>
                  </a:solidFill>
                  <a:latin typeface="Arial"/>
                  <a:ea typeface="Microsoft YaHei"/>
                  <a:cs typeface="Arial"/>
                </a:rPr>
                <a:t>Powered by SHANA CI | Accenture DigitalX</a:t>
              </a:r>
            </a:p>
          </p:txBody>
        </p:sp>
      </p:grpSp>
      <p:grpSp>
        <p:nvGrpSpPr>
          <p:cNvPr id="19" name="Group 19"/>
          <p:cNvGrpSpPr/>
          <p:nvPr/>
        </p:nvGrpSpPr>
        <p:grpSpPr>
          <a:xfrm>
            <a:off x="1409700" y="4286250"/>
            <a:ext cx="4762500" cy="1143000"/>
            <a:chOff x="1409700" y="4286250"/>
            <a:chExt cx="4762500" cy="1143000"/>
          </a:xfrm>
        </p:grpSpPr>
        <p:sp>
          <p:nvSpPr>
            <p:cNvPr id="13" name="Rectangle 13"/>
            <p:cNvSpPr/>
            <p:nvPr/>
          </p:nvSpPr>
          <p:spPr>
            <a:xfrm>
              <a:off x="1409700" y="4286250"/>
              <a:ext cx="4762500" cy="1143000"/>
            </a:xfrm>
            <a:prstGeom prst="roundRect">
              <a:avLst>
                <a:gd name="adj" fmla="val 5000"/>
              </a:avLst>
            </a:prstGeom>
            <a:solidFill>
              <a:srgbClr val="1B1164">
                <a:alpha val="8000"/>
              </a:srgbClr>
            </a:solidFill>
            <a:ln>
              <a:noFill/>
            </a:ln>
          </p:spPr>
        </p:sp>
        <p:sp>
          <p:nvSpPr>
            <p:cNvPr id="14" name="Rectangle 14"/>
            <p:cNvSpPr/>
            <p:nvPr/>
          </p:nvSpPr>
          <p:spPr>
            <a:xfrm>
              <a:off x="1409700" y="4286250"/>
              <a:ext cx="38100" cy="1143000"/>
            </a:xfrm>
            <a:prstGeom prst="rect">
              <a:avLst/>
            </a:prstGeom>
            <a:solidFill>
              <a:srgbClr val="00AEEF"/>
            </a:solidFill>
            <a:ln>
              <a:noFill/>
            </a:ln>
          </p:spPr>
        </p:sp>
        <p:sp>
          <p:nvSpPr>
            <p:cNvPr id="15" name="TextBox 15"/>
            <p:cNvSpPr txBox="1"/>
            <p:nvPr/>
          </p:nvSpPr>
          <p:spPr>
            <a:xfrm>
              <a:off x="1587818" y="4466749"/>
              <a:ext cx="1082772" cy="198120"/>
            </a:xfrm>
            <a:prstGeom prst="rect">
              <a:avLst/>
            </a:prstGeom>
            <a:noFill/>
            <a:ln>
              <a:noFill/>
            </a:ln>
          </p:spPr>
          <p:txBody>
            <a:bodyPr wrap="none" lIns="0" tIns="0" rIns="0" bIns="0" anchor="t" anchorCtr="0">
              <a:spAutoFit/>
            </a:bodyPr>
            <a:lstStyle/>
            <a:p>
              <a:pPr algn="l"/>
              <a:r>
                <a:rPr lang="zh-CN" sz="975" b="1" dirty="0">
                  <a:solidFill>
                    <a:srgbClr val="1B1164"/>
                  </a:solidFill>
                  <a:latin typeface="Arial"/>
                  <a:ea typeface="Microsoft YaHei"/>
                  <a:cs typeface="Arial"/>
                </a:rPr>
                <a:t>Project Contact</a:t>
              </a:r>
            </a:p>
          </p:txBody>
        </p:sp>
        <p:sp>
          <p:nvSpPr>
            <p:cNvPr id="16" name="TextBox 16"/>
            <p:cNvSpPr txBox="1"/>
            <p:nvPr/>
          </p:nvSpPr>
          <p:spPr>
            <a:xfrm>
              <a:off x="1586865" y="4668202"/>
              <a:ext cx="3058049"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Finance Transformation Lead | PTTEP DigitalX</a:t>
              </a:r>
            </a:p>
          </p:txBody>
        </p:sp>
        <p:sp>
          <p:nvSpPr>
            <p:cNvPr id="17" name="TextBox 17"/>
            <p:cNvSpPr txBox="1"/>
            <p:nvPr/>
          </p:nvSpPr>
          <p:spPr>
            <a:xfrm>
              <a:off x="1586865" y="4877752"/>
              <a:ext cx="1405842" cy="213360"/>
            </a:xfrm>
            <a:prstGeom prst="rect">
              <a:avLst/>
            </a:prstGeom>
            <a:noFill/>
            <a:ln>
              <a:noFill/>
            </a:ln>
          </p:spPr>
          <p:txBody>
            <a:bodyPr wrap="none" lIns="0" tIns="0" rIns="0" bIns="0" anchor="t" anchorCtr="0">
              <a:spAutoFit/>
            </a:bodyPr>
            <a:lstStyle/>
            <a:p>
              <a:pPr algn="l"/>
              <a:r>
                <a:rPr lang="zh-CN" sz="1050" dirty="0">
                  <a:solidFill>
                    <a:srgbClr val="5E5E5E"/>
                  </a:solidFill>
                  <a:latin typeface="Arial"/>
                  <a:ea typeface="Microsoft YaHei"/>
                  <a:cs typeface="Arial"/>
                </a:rPr>
                <a:t>shana-ci@pttep.com</a:t>
              </a:r>
            </a:p>
          </p:txBody>
        </p:sp>
        <p:sp>
          <p:nvSpPr>
            <p:cNvPr id="18" name="TextBox 18"/>
            <p:cNvSpPr txBox="1"/>
            <p:nvPr/>
          </p:nvSpPr>
          <p:spPr>
            <a:xfrm>
              <a:off x="1587818" y="5133499"/>
              <a:ext cx="3704225" cy="198120"/>
            </a:xfrm>
            <a:prstGeom prst="rect">
              <a:avLst/>
            </a:prstGeom>
            <a:noFill/>
            <a:ln>
              <a:noFill/>
            </a:ln>
          </p:spPr>
          <p:txBody>
            <a:bodyPr wrap="none" lIns="0" tIns="0" rIns="0" bIns="0" anchor="t" anchorCtr="0">
              <a:spAutoFit/>
            </a:bodyPr>
            <a:lstStyle/>
            <a:p>
              <a:pPr algn="l"/>
              <a:r>
                <a:rPr lang="zh-CN" sz="975" dirty="0">
                  <a:solidFill>
                    <a:srgbClr val="2A6FA0"/>
                  </a:solidFill>
                  <a:latin typeface="Arial"/>
                  <a:ea typeface="Microsoft YaHei"/>
                  <a:cs typeface="Arial"/>
                </a:rPr>
                <a:t>For questions on change impact scope or training schedule</a:t>
              </a:r>
            </a:p>
          </p:txBody>
        </p:sp>
      </p:grpSp>
      <p:sp>
        <p:nvSpPr>
          <p:cNvPr id="20" name="TextBox 20"/>
          <p:cNvSpPr txBox="1"/>
          <p:nvPr/>
        </p:nvSpPr>
        <p:spPr>
          <a:xfrm>
            <a:off x="4434173" y="6659880"/>
            <a:ext cx="3323653" cy="121920"/>
          </a:xfrm>
          <a:prstGeom prst="rect">
            <a:avLst/>
          </a:prstGeom>
          <a:noFill/>
          <a:ln>
            <a:noFill/>
          </a:ln>
        </p:spPr>
        <p:txBody>
          <a:bodyPr wrap="none" lIns="0" tIns="0" rIns="0" bIns="0" anchor="t" anchorCtr="0">
            <a:spAutoFit/>
          </a:bodyPr>
          <a:lstStyle/>
          <a:p>
            <a:pPr algn="ctr"/>
            <a:r>
              <a:rPr lang="zh-CN" sz="600" dirty="0">
                <a:solidFill>
                  <a:srgbClr val="000000"/>
                </a:solidFill>
                <a:latin typeface="Arial"/>
                <a:ea typeface="Microsoft YaHei"/>
                <a:cs typeface="Arial"/>
              </a:rPr>
              <a:t>Copyright © 2026 Accenture. All rights reserved. Accenture Confidential Information</a:t>
            </a:r>
          </a:p>
        </p:txBody>
      </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
                                        <p:tgtEl>
                                          <p:spTgt spid="12"/>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Bottom)">
                                      <p:cBhvr>
                                        <p:cTn id="11"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9</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2026-06-24T10:09:47Z</dcterms:created>
  <dcterms:modified xsi:type="dcterms:W3CDTF">2026-06-24T10:09:47Z</dcterms:modified>
  <cp:category/>
  <cp:contentStatus/>
</cp:coreProperties>
</file>